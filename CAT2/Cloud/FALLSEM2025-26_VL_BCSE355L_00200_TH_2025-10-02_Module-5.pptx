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charts/chart1.xml" ContentType="application/vnd.openxmlformats-officedocument.drawingml.chart+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56" r:id="rId2"/>
    <p:sldId id="257" r:id="rId3"/>
    <p:sldId id="258" r:id="rId4"/>
    <p:sldId id="260" r:id="rId5"/>
    <p:sldId id="259" r:id="rId6"/>
    <p:sldId id="263" r:id="rId7"/>
    <p:sldId id="262" r:id="rId8"/>
    <p:sldId id="261"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42" r:id="rId84"/>
    <p:sldId id="338" r:id="rId85"/>
    <p:sldId id="339" r:id="rId86"/>
    <p:sldId id="340" r:id="rId87"/>
    <p:sldId id="341" r:id="rId88"/>
    <p:sldId id="343" r:id="rId89"/>
    <p:sldId id="344" r:id="rId90"/>
    <p:sldId id="345" r:id="rId91"/>
    <p:sldId id="346" r:id="rId92"/>
    <p:sldId id="347" r:id="rId93"/>
    <p:sldId id="348"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bby Riker" initials="L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F178D-E6E5-469C-95A9-9399823DB8A1}" v="1" dt="2025-09-18T04:16:07.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ja bhattacharya" userId="724ec4db8bc51beb" providerId="LiveId" clId="{10159404-DE1B-4E92-BD9B-8AE638DDD844}"/>
    <pc:docChg chg="custSel modSld">
      <pc:chgData name="adrija bhattacharya" userId="724ec4db8bc51beb" providerId="LiveId" clId="{10159404-DE1B-4E92-BD9B-8AE638DDD844}" dt="2025-09-18T04:16:13.219" v="15" actId="20577"/>
      <pc:docMkLst>
        <pc:docMk/>
      </pc:docMkLst>
      <pc:sldChg chg="modSp mod">
        <pc:chgData name="adrija bhattacharya" userId="724ec4db8bc51beb" providerId="LiveId" clId="{10159404-DE1B-4E92-BD9B-8AE638DDD844}" dt="2025-09-18T04:16:07.936" v="12" actId="27636"/>
        <pc:sldMkLst>
          <pc:docMk/>
          <pc:sldMk cId="0" sldId="260"/>
        </pc:sldMkLst>
        <pc:spChg chg="mod">
          <ac:chgData name="adrija bhattacharya" userId="724ec4db8bc51beb" providerId="LiveId" clId="{10159404-DE1B-4E92-BD9B-8AE638DDD844}" dt="2025-09-18T04:16:07.936" v="12" actId="27636"/>
          <ac:spMkLst>
            <pc:docMk/>
            <pc:sldMk cId="0" sldId="260"/>
            <ac:spMk id="3" creationId="{00000000-0000-0000-0000-000000000000}"/>
          </ac:spMkLst>
        </pc:spChg>
      </pc:sldChg>
      <pc:sldChg chg="modSp mod">
        <pc:chgData name="adrija bhattacharya" userId="724ec4db8bc51beb" providerId="LiveId" clId="{10159404-DE1B-4E92-BD9B-8AE638DDD844}" dt="2025-09-18T04:16:07.956" v="13" actId="27636"/>
        <pc:sldMkLst>
          <pc:docMk/>
          <pc:sldMk cId="0" sldId="261"/>
        </pc:sldMkLst>
        <pc:spChg chg="mod">
          <ac:chgData name="adrija bhattacharya" userId="724ec4db8bc51beb" providerId="LiveId" clId="{10159404-DE1B-4E92-BD9B-8AE638DDD844}" dt="2025-09-18T04:16:07.956" v="13" actId="27636"/>
          <ac:spMkLst>
            <pc:docMk/>
            <pc:sldMk cId="0" sldId="261"/>
            <ac:spMk id="3" creationId="{00000000-0000-0000-0000-000000000000}"/>
          </ac:spMkLst>
        </pc:spChg>
      </pc:sldChg>
      <pc:sldChg chg="modSp mod">
        <pc:chgData name="adrija bhattacharya" userId="724ec4db8bc51beb" providerId="LiveId" clId="{10159404-DE1B-4E92-BD9B-8AE638DDD844}" dt="2025-09-18T04:16:13.219" v="15" actId="20577"/>
        <pc:sldMkLst>
          <pc:docMk/>
          <pc:sldMk cId="0" sldId="302"/>
        </pc:sldMkLst>
        <pc:spChg chg="mod">
          <ac:chgData name="adrija bhattacharya" userId="724ec4db8bc51beb" providerId="LiveId" clId="{10159404-DE1B-4E92-BD9B-8AE638DDD844}" dt="2025-09-18T04:16:13.219" v="15" actId="20577"/>
          <ac:spMkLst>
            <pc:docMk/>
            <pc:sldMk cId="0" sldId="302"/>
            <ac:spMk id="3" creationId="{00000000-0000-0000-0000-000000000000}"/>
          </ac:spMkLst>
        </pc:spChg>
      </pc:sldChg>
      <pc:sldChg chg="modNotes">
        <pc:chgData name="adrija bhattacharya" userId="724ec4db8bc51beb" providerId="LiveId" clId="{10159404-DE1B-4E92-BD9B-8AE638DDD844}" dt="2025-09-18T04:16:07.835" v="6" actId="27636"/>
        <pc:sldMkLst>
          <pc:docMk/>
          <pc:sldMk cId="417654237" sldId="309"/>
        </pc:sldMkLst>
      </pc:sldChg>
      <pc:sldChg chg="modSp mod modNotes">
        <pc:chgData name="adrija bhattacharya" userId="724ec4db8bc51beb" providerId="LiveId" clId="{10159404-DE1B-4E92-BD9B-8AE638DDD844}" dt="2025-09-18T04:16:07.849" v="7" actId="27636"/>
        <pc:sldMkLst>
          <pc:docMk/>
          <pc:sldMk cId="1997371432" sldId="316"/>
        </pc:sldMkLst>
        <pc:spChg chg="mod">
          <ac:chgData name="adrija bhattacharya" userId="724ec4db8bc51beb" providerId="LiveId" clId="{10159404-DE1B-4E92-BD9B-8AE638DDD844}" dt="2025-09-18T04:16:07.746" v="5" actId="27636"/>
          <ac:spMkLst>
            <pc:docMk/>
            <pc:sldMk cId="1997371432" sldId="316"/>
            <ac:spMk id="9" creationId="{B1E9B817-A385-47E7-AC11-B1A5003D3BA4}"/>
          </ac:spMkLst>
        </pc:spChg>
      </pc:sldChg>
      <pc:sldChg chg="modNotes">
        <pc:chgData name="adrija bhattacharya" userId="724ec4db8bc51beb" providerId="LiveId" clId="{10159404-DE1B-4E92-BD9B-8AE638DDD844}" dt="2025-09-18T04:16:07.861" v="8" actId="27636"/>
        <pc:sldMkLst>
          <pc:docMk/>
          <pc:sldMk cId="1003679337" sldId="319"/>
        </pc:sldMkLst>
      </pc:sldChg>
      <pc:sldChg chg="modNotes">
        <pc:chgData name="adrija bhattacharya" userId="724ec4db8bc51beb" providerId="LiveId" clId="{10159404-DE1B-4E92-BD9B-8AE638DDD844}" dt="2025-09-18T04:16:07.867" v="9" actId="27636"/>
        <pc:sldMkLst>
          <pc:docMk/>
          <pc:sldMk cId="2276314677" sldId="320"/>
        </pc:sldMkLst>
      </pc:sldChg>
      <pc:sldChg chg="modNotes">
        <pc:chgData name="adrija bhattacharya" userId="724ec4db8bc51beb" providerId="LiveId" clId="{10159404-DE1B-4E92-BD9B-8AE638DDD844}" dt="2025-09-18T04:16:07.874" v="10" actId="27636"/>
        <pc:sldMkLst>
          <pc:docMk/>
          <pc:sldMk cId="1636103265" sldId="321"/>
        </pc:sldMkLst>
      </pc:sldChg>
      <pc:sldChg chg="modNotes">
        <pc:chgData name="adrija bhattacharya" userId="724ec4db8bc51beb" providerId="LiveId" clId="{10159404-DE1B-4E92-BD9B-8AE638DDD844}" dt="2025-09-18T04:16:07.898" v="11" actId="27636"/>
        <pc:sldMkLst>
          <pc:docMk/>
          <pc:sldMk cId="1427647158" sldId="32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Sheet1!$A$2</c:f>
              <c:strCache>
                <c:ptCount val="1"/>
                <c:pt idx="0">
                  <c:v>Server</c:v>
                </c:pt>
              </c:strCache>
            </c:strRef>
          </c:tx>
          <c:spPr>
            <a:solidFill>
              <a:schemeClr val="accent1"/>
            </a:solidFill>
            <a:ln>
              <a:noFill/>
            </a:ln>
            <a:effectLst/>
          </c:spPr>
          <c:invertIfNegative val="0"/>
          <c:cat>
            <c:strRef>
              <c:f>Sheet1!$B$1:$C$1</c:f>
              <c:strCache>
                <c:ptCount val="2"/>
                <c:pt idx="0">
                  <c:v>On-Premises</c:v>
                </c:pt>
                <c:pt idx="1">
                  <c:v>AWS</c:v>
                </c:pt>
              </c:strCache>
            </c:strRef>
          </c:cat>
          <c:val>
            <c:numRef>
              <c:f>Sheet1!$B$2:$C$2</c:f>
              <c:numCache>
                <c:formatCode>General</c:formatCode>
                <c:ptCount val="2"/>
                <c:pt idx="0">
                  <c:v>91922</c:v>
                </c:pt>
                <c:pt idx="1">
                  <c:v>2547</c:v>
                </c:pt>
              </c:numCache>
            </c:numRef>
          </c:val>
          <c:extLst>
            <c:ext xmlns:c16="http://schemas.microsoft.com/office/drawing/2014/chart" uri="{C3380CC4-5D6E-409C-BE32-E72D297353CC}">
              <c16:uniqueId val="{00000000-BAEE-B146-986A-74504D552B91}"/>
            </c:ext>
          </c:extLst>
        </c:ser>
        <c:ser>
          <c:idx val="1"/>
          <c:order val="1"/>
          <c:tx>
            <c:strRef>
              <c:f>Sheet1!$A$3</c:f>
              <c:strCache>
                <c:ptCount val="1"/>
                <c:pt idx="0">
                  <c:v>Storage</c:v>
                </c:pt>
              </c:strCache>
            </c:strRef>
          </c:tx>
          <c:spPr>
            <a:solidFill>
              <a:schemeClr val="accent2"/>
            </a:solidFill>
            <a:ln>
              <a:noFill/>
            </a:ln>
            <a:effectLst/>
          </c:spPr>
          <c:invertIfNegative val="0"/>
          <c:cat>
            <c:strRef>
              <c:f>Sheet1!$B$1:$C$1</c:f>
              <c:strCache>
                <c:ptCount val="2"/>
                <c:pt idx="0">
                  <c:v>On-Premises</c:v>
                </c:pt>
                <c:pt idx="1">
                  <c:v>AWS</c:v>
                </c:pt>
              </c:strCache>
            </c:strRef>
          </c:cat>
          <c:val>
            <c:numRef>
              <c:f>Sheet1!$B$3:$C$3</c:f>
              <c:numCache>
                <c:formatCode>General</c:formatCode>
                <c:ptCount val="2"/>
                <c:pt idx="0">
                  <c:v>67840</c:v>
                </c:pt>
                <c:pt idx="1">
                  <c:v>4963</c:v>
                </c:pt>
              </c:numCache>
            </c:numRef>
          </c:val>
          <c:extLst>
            <c:ext xmlns:c16="http://schemas.microsoft.com/office/drawing/2014/chart" uri="{C3380CC4-5D6E-409C-BE32-E72D297353CC}">
              <c16:uniqueId val="{00000001-BAEE-B146-986A-74504D552B91}"/>
            </c:ext>
          </c:extLst>
        </c:ser>
        <c:ser>
          <c:idx val="2"/>
          <c:order val="2"/>
          <c:tx>
            <c:strRef>
              <c:f>Sheet1!$A$4</c:f>
              <c:strCache>
                <c:ptCount val="1"/>
                <c:pt idx="0">
                  <c:v>Network</c:v>
                </c:pt>
              </c:strCache>
            </c:strRef>
          </c:tx>
          <c:spPr>
            <a:solidFill>
              <a:schemeClr val="accent3"/>
            </a:solidFill>
            <a:ln>
              <a:noFill/>
            </a:ln>
            <a:effectLst/>
          </c:spPr>
          <c:invertIfNegative val="0"/>
          <c:cat>
            <c:strRef>
              <c:f>Sheet1!$B$1:$C$1</c:f>
              <c:strCache>
                <c:ptCount val="2"/>
                <c:pt idx="0">
                  <c:v>On-Premises</c:v>
                </c:pt>
                <c:pt idx="1">
                  <c:v>AWS</c:v>
                </c:pt>
              </c:strCache>
            </c:strRef>
          </c:cat>
          <c:val>
            <c:numRef>
              <c:f>Sheet1!$B$4:$C$4</c:f>
              <c:numCache>
                <c:formatCode>General</c:formatCode>
                <c:ptCount val="2"/>
                <c:pt idx="0">
                  <c:v>7660</c:v>
                </c:pt>
                <c:pt idx="1">
                  <c:v>0</c:v>
                </c:pt>
              </c:numCache>
            </c:numRef>
          </c:val>
          <c:extLst>
            <c:ext xmlns:c16="http://schemas.microsoft.com/office/drawing/2014/chart" uri="{C3380CC4-5D6E-409C-BE32-E72D297353CC}">
              <c16:uniqueId val="{00000003-BAEE-B146-986A-74504D552B91}"/>
            </c:ext>
          </c:extLst>
        </c:ser>
        <c:ser>
          <c:idx val="3"/>
          <c:order val="3"/>
          <c:tx>
            <c:strRef>
              <c:f>Sheet1!$A$5</c:f>
              <c:strCache>
                <c:ptCount val="1"/>
                <c:pt idx="0">
                  <c:v>IT-Labor</c:v>
                </c:pt>
              </c:strCache>
            </c:strRef>
          </c:tx>
          <c:spPr>
            <a:solidFill>
              <a:schemeClr val="accent4"/>
            </a:solidFill>
            <a:ln>
              <a:noFill/>
            </a:ln>
            <a:effectLst/>
          </c:spPr>
          <c:invertIfNegative val="0"/>
          <c:cat>
            <c:strRef>
              <c:f>Sheet1!$B$1:$C$1</c:f>
              <c:strCache>
                <c:ptCount val="2"/>
                <c:pt idx="0">
                  <c:v>On-Premises</c:v>
                </c:pt>
                <c:pt idx="1">
                  <c:v>AWS</c:v>
                </c:pt>
              </c:strCache>
            </c:strRef>
          </c:cat>
          <c:val>
            <c:numRef>
              <c:f>Sheet1!$B$5:$C$5</c:f>
              <c:numCache>
                <c:formatCode>General</c:formatCode>
                <c:ptCount val="2"/>
                <c:pt idx="0">
                  <c:v>0</c:v>
                </c:pt>
                <c:pt idx="1">
                  <c:v>0</c:v>
                </c:pt>
              </c:numCache>
            </c:numRef>
          </c:val>
          <c:extLst>
            <c:ext xmlns:c16="http://schemas.microsoft.com/office/drawing/2014/chart" uri="{C3380CC4-5D6E-409C-BE32-E72D297353CC}">
              <c16:uniqueId val="{00000004-BAEE-B146-986A-74504D552B91}"/>
            </c:ext>
          </c:extLst>
        </c:ser>
        <c:ser>
          <c:idx val="4"/>
          <c:order val="4"/>
          <c:tx>
            <c:strRef>
              <c:f>Sheet1!$A$6</c:f>
              <c:strCache>
                <c:ptCount val="1"/>
                <c:pt idx="0">
                  <c:v>Total</c:v>
                </c:pt>
              </c:strCache>
            </c:strRef>
          </c:tx>
          <c:spPr>
            <a:solidFill>
              <a:schemeClr val="accent5"/>
            </a:solidFill>
            <a:ln>
              <a:noFill/>
            </a:ln>
            <a:effectLst/>
          </c:spPr>
          <c:invertIfNegative val="0"/>
          <c:cat>
            <c:strRef>
              <c:f>Sheet1!$B$1:$C$1</c:f>
              <c:strCache>
                <c:ptCount val="2"/>
                <c:pt idx="0">
                  <c:v>On-Premises</c:v>
                </c:pt>
                <c:pt idx="1">
                  <c:v>AWS</c:v>
                </c:pt>
              </c:strCache>
            </c:strRef>
          </c:cat>
          <c:val>
            <c:numRef>
              <c:f>Sheet1!$B$6:$C$6</c:f>
              <c:numCache>
                <c:formatCode>General</c:formatCode>
                <c:ptCount val="2"/>
                <c:pt idx="0">
                  <c:v>167422</c:v>
                </c:pt>
                <c:pt idx="1">
                  <c:v>7510</c:v>
                </c:pt>
              </c:numCache>
            </c:numRef>
          </c:val>
          <c:extLst>
            <c:ext xmlns:c16="http://schemas.microsoft.com/office/drawing/2014/chart" uri="{C3380CC4-5D6E-409C-BE32-E72D297353CC}">
              <c16:uniqueId val="{00000005-BAEE-B146-986A-74504D552B91}"/>
            </c:ext>
          </c:extLst>
        </c:ser>
        <c:dLbls>
          <c:showLegendKey val="0"/>
          <c:showVal val="0"/>
          <c:showCatName val="0"/>
          <c:showSerName val="0"/>
          <c:showPercent val="0"/>
          <c:showBubbleSize val="0"/>
        </c:dLbls>
        <c:gapWidth val="219"/>
        <c:overlap val="100"/>
        <c:axId val="146909440"/>
        <c:axId val="146915328"/>
      </c:barChart>
      <c:catAx>
        <c:axId val="146909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6915328"/>
        <c:crosses val="autoZero"/>
        <c:auto val="1"/>
        <c:lblAlgn val="ctr"/>
        <c:lblOffset val="100"/>
        <c:noMultiLvlLbl val="0"/>
      </c:catAx>
      <c:valAx>
        <c:axId val="146915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690944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Amazon Ember" panose="020B0603020204020204" pitchFamily="34" charset="0"/>
              <a:ea typeface="Amazon Ember" panose="020B0603020204020204" pitchFamily="34" charset="0"/>
              <a:cs typeface="Amazon Ember" panose="020B0603020204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3CE263-5EFC-414D-8B60-DEAB8428B42B}" type="datetimeFigureOut">
              <a:rPr lang="en-US" smtClean="0"/>
              <a:pPr/>
              <a:t>9/18/2025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8A0B25-11E0-461D-B9EE-5EB38D2BE33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aws.amazon.com/pricing-calculator/latest/userguide/what-is-pricing-calculator.html"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7975" cy="3087688"/>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13932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2951545"/>
          </a:xfrm>
          <a:prstGeom prst="rect">
            <a:avLst/>
          </a:prstGeom>
        </p:spPr>
        <p:txBody>
          <a:bodyPr>
            <a:normAutofit/>
          </a:bodyPr>
          <a:lstStyle/>
          <a:p>
            <a:endParaRPr lang="en-US" dirty="0"/>
          </a:p>
        </p:txBody>
      </p:sp>
    </p:spTree>
    <p:extLst>
      <p:ext uri="{BB962C8B-B14F-4D97-AF65-F5344CB8AC3E}">
        <p14:creationId xmlns:p14="http://schemas.microsoft.com/office/powerpoint/2010/main" val="1076600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67181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50946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25468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227951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pPr defTabSz="820583">
              <a:defRPr/>
            </a:pPr>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84172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3188" y="1143000"/>
            <a:ext cx="4111625" cy="3084513"/>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pPr defTabSz="820583">
              <a:defRPr/>
            </a:pPr>
            <a:endParaRPr lang="en-US" kern="1200" baseline="0" dirty="0">
              <a:solidFill>
                <a:schemeClr val="tx1"/>
              </a:solidFill>
              <a:effectLst/>
              <a:ea typeface="+mn-ea"/>
              <a:cs typeface="+mn-cs"/>
            </a:endParaRPr>
          </a:p>
        </p:txBody>
      </p:sp>
    </p:spTree>
    <p:extLst>
      <p:ext uri="{BB962C8B-B14F-4D97-AF65-F5344CB8AC3E}">
        <p14:creationId xmlns:p14="http://schemas.microsoft.com/office/powerpoint/2010/main" val="3245438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3188" y="1143000"/>
            <a:ext cx="4111625" cy="3084513"/>
          </a:xfrm>
          <a:prstGeom prst="rect">
            <a:avLst/>
          </a:prstGeom>
        </p:spPr>
      </p:sp>
      <p:sp>
        <p:nvSpPr>
          <p:cNvPr id="3" name="Notes Placeholder 2"/>
          <p:cNvSpPr>
            <a:spLocks noGrp="1"/>
          </p:cNvSpPr>
          <p:nvPr>
            <p:ph type="body" idx="1"/>
          </p:nvPr>
        </p:nvSpPr>
        <p:spPr>
          <a:xfrm>
            <a:off x="686361" y="4400262"/>
            <a:ext cx="5485279" cy="4270375"/>
          </a:xfrm>
          <a:prstGeom prst="rect">
            <a:avLst/>
          </a:prstGeom>
        </p:spPr>
        <p:txBody>
          <a:bodyPr>
            <a:normAutofit/>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01024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42125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76060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298907"/>
          </a:xfrm>
          <a:prstGeom prst="rect">
            <a:avLst/>
          </a:prstGeom>
        </p:spPr>
        <p:txBody>
          <a:bodyPr>
            <a:normAutofit/>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36537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69181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a:bodyPr>
          <a:lstStyle/>
          <a:p>
            <a:endParaRPr lang="en-US" kern="1200" dirty="0">
              <a:solidFill>
                <a:schemeClr val="tx1"/>
              </a:solidFill>
              <a:effectLst/>
              <a:ea typeface="+mn-ea"/>
              <a:cs typeface="+mn-cs"/>
            </a:endParaRPr>
          </a:p>
        </p:txBody>
      </p:sp>
    </p:spTree>
    <p:extLst>
      <p:ext uri="{BB962C8B-B14F-4D97-AF65-F5344CB8AC3E}">
        <p14:creationId xmlns:p14="http://schemas.microsoft.com/office/powerpoint/2010/main" val="2428504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lnSpcReduction="10000"/>
          </a:bodyPr>
          <a:lstStyle/>
          <a:p>
            <a:r>
              <a:rPr lang="en-US" dirty="0"/>
              <a:t>AWS Pricing Calculator estimates are broken into:</a:t>
            </a:r>
          </a:p>
          <a:p>
            <a:pPr marL="153859" indent="-153859">
              <a:buFont typeface="Arial" panose="020B0604020202020204" pitchFamily="34" charset="0"/>
              <a:buChar char="•"/>
            </a:pPr>
            <a:r>
              <a:rPr lang="en-US" dirty="0"/>
              <a:t>The total for your </a:t>
            </a:r>
            <a:r>
              <a:rPr lang="en-US" b="0" dirty="0"/>
              <a:t>first 12 months – </a:t>
            </a:r>
            <a:r>
              <a:rPr lang="en-US" dirty="0"/>
              <a:t>The total estimate for your current group and all of the services and groups in your current group. It combines the upfront and monthly estimates. </a:t>
            </a:r>
            <a:endParaRPr lang="en-US" b="0" dirty="0"/>
          </a:p>
          <a:p>
            <a:pPr marL="153859" indent="-153859">
              <a:buFont typeface="Arial" panose="020B0604020202020204" pitchFamily="34" charset="0"/>
              <a:buChar char="•"/>
            </a:pPr>
            <a:r>
              <a:rPr lang="en-US" b="0" dirty="0"/>
              <a:t>Y</a:t>
            </a:r>
            <a:r>
              <a:rPr lang="en-US" dirty="0"/>
              <a:t>our total upfront – How much you are estimated to pay upfront as you set up your AWS stack.</a:t>
            </a:r>
          </a:p>
          <a:p>
            <a:pPr marL="153859" indent="-153859">
              <a:buFont typeface="Arial" panose="020B0604020202020204" pitchFamily="34" charset="0"/>
              <a:buChar char="•"/>
            </a:pPr>
            <a:r>
              <a:rPr lang="en-US" dirty="0"/>
              <a:t>Your total monthly – How much you're estimated to spend every month while you run your AWS stack.</a:t>
            </a:r>
          </a:p>
          <a:p>
            <a:endParaRPr lang="en-US" dirty="0"/>
          </a:p>
          <a:p>
            <a:r>
              <a:rPr lang="en-US" dirty="0"/>
              <a:t>Within a group, you can see how much each service is estimated to cost. If you want to price out different ways to build your AWS setup, you can use different groups for each variation of your setup and compare the estimates for the different setups. </a:t>
            </a:r>
          </a:p>
          <a:p>
            <a:endParaRPr lang="en-US" dirty="0"/>
          </a:p>
          <a:p>
            <a:pPr>
              <a:defRPr/>
            </a:pPr>
            <a:r>
              <a:rPr lang="en-US" dirty="0"/>
              <a:t>For more information, see </a:t>
            </a:r>
            <a:r>
              <a:rPr lang="en-US" dirty="0">
                <a:ea typeface="Amazon Ember Light" panose="020B0403020204020204" pitchFamily="34" charset="0"/>
                <a:cs typeface="Amazon Ember Light" panose="020B0403020204020204" pitchFamily="34" charset="0"/>
              </a:rPr>
              <a:t>Reading an estimate at </a:t>
            </a:r>
            <a:r>
              <a:rPr lang="en-US" dirty="0">
                <a:ea typeface="Amazon Ember Light" panose="020B0403020204020204" pitchFamily="34" charset="0"/>
                <a:cs typeface="Amazon Ember Light" panose="020B0403020204020204" pitchFamily="34" charset="0"/>
                <a:hlinkClick r:id="rId3"/>
              </a:rPr>
              <a:t>https://docs.aws.amazon.com/pricing-calculator/latest/userguide/what-is-pricing-</a:t>
            </a:r>
            <a:r>
              <a:rPr lang="en-US" dirty="0" err="1">
                <a:ea typeface="Amazon Ember Light" panose="020B0403020204020204" pitchFamily="34" charset="0"/>
                <a:cs typeface="Amazon Ember Light" panose="020B0403020204020204" pitchFamily="34" charset="0"/>
                <a:hlinkClick r:id="rId3"/>
              </a:rPr>
              <a:t>calculator.html</a:t>
            </a:r>
            <a:r>
              <a:rPr lang="en-US" dirty="0"/>
              <a:t>.</a:t>
            </a:r>
          </a:p>
          <a:p>
            <a:pPr>
              <a:defRPr/>
            </a:pPr>
            <a:endParaRPr lang="en-US" dirty="0"/>
          </a:p>
          <a:p>
            <a:pPr>
              <a:defRPr/>
            </a:pPr>
            <a:r>
              <a:rPr lang="en-AU" b="1" dirty="0">
                <a:effectLst/>
                <a:ea typeface="Calibri" panose="020F0502020204030204" pitchFamily="34" charset="0"/>
              </a:rPr>
              <a:t>For accessibility:</a:t>
            </a:r>
            <a:r>
              <a:rPr lang="en-AU" dirty="0">
                <a:effectLst/>
                <a:ea typeface="Calibri" panose="020F0502020204030204" pitchFamily="34" charset="0"/>
              </a:rPr>
              <a:t> Example AWS Pricing Calculator estimate. The first 12 month total is $886.92, the total upfront cost is $0, and the total monthly cost is $73.91. </a:t>
            </a:r>
            <a:r>
              <a:rPr lang="en-AU" b="1" dirty="0">
                <a:effectLst/>
                <a:ea typeface="Calibri" panose="020F0502020204030204" pitchFamily="34" charset="0"/>
              </a:rPr>
              <a:t>End of accessibility description.</a:t>
            </a:r>
            <a:endParaRPr lang="en-US" dirty="0"/>
          </a:p>
          <a:p>
            <a:endParaRPr lang="en-US" dirty="0"/>
          </a:p>
        </p:txBody>
      </p:sp>
    </p:spTree>
    <p:extLst>
      <p:ext uri="{BB962C8B-B14F-4D97-AF65-F5344CB8AC3E}">
        <p14:creationId xmlns:p14="http://schemas.microsoft.com/office/powerpoint/2010/main" val="274128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dirty="0"/>
              <a:t>Break up into groups of four or five and use the AWS Pricing Calculator and the specifications provided to develop a cost estimate.</a:t>
            </a:r>
          </a:p>
          <a:p>
            <a:endParaRPr lang="en-US" dirty="0"/>
          </a:p>
          <a:p>
            <a:r>
              <a:rPr lang="en-US" dirty="0"/>
              <a:t>Be prepared to report your findings back to the class.</a:t>
            </a:r>
          </a:p>
        </p:txBody>
      </p:sp>
    </p:spTree>
    <p:extLst>
      <p:ext uri="{BB962C8B-B14F-4D97-AF65-F5344CB8AC3E}">
        <p14:creationId xmlns:p14="http://schemas.microsoft.com/office/powerpoint/2010/main" val="3420052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55807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u="non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49494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55633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83517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85961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dirty="0"/>
          </a:p>
        </p:txBody>
      </p:sp>
    </p:spTree>
    <p:extLst>
      <p:ext uri="{BB962C8B-B14F-4D97-AF65-F5344CB8AC3E}">
        <p14:creationId xmlns:p14="http://schemas.microsoft.com/office/powerpoint/2010/main" val="394198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767281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b="1" kern="1200" dirty="0">
                <a:solidFill>
                  <a:schemeClr val="tx1"/>
                </a:solidFill>
                <a:effectLst/>
                <a:latin typeface="+mn-lt"/>
                <a:ea typeface="+mn-ea"/>
                <a:cs typeface="+mn-cs"/>
              </a:rPr>
              <a:t>AWS Billing and Cost Management </a:t>
            </a:r>
            <a:r>
              <a:rPr lang="en-US" kern="1200" dirty="0">
                <a:solidFill>
                  <a:schemeClr val="tx1"/>
                </a:solidFill>
                <a:effectLst/>
                <a:latin typeface="+mn-lt"/>
                <a:ea typeface="+mn-ea"/>
                <a:cs typeface="+mn-cs"/>
              </a:rPr>
              <a:t>is the service that you use to pay your AWS bill, monitor your usage, and budget your costs. Billing and Cost Management enables you to forecast and obtain a better idea of what your costs and usage might be in the future so that you can plan ahead.</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You can set a custom time period and determine whether you would like to view your data at a monthly or daily level of granularity.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With the filtering and grouping functionality, you can further analyze your data using a variety of available dimensions. The </a:t>
            </a:r>
            <a:r>
              <a:rPr lang="en-US" b="1" kern="1200" dirty="0">
                <a:solidFill>
                  <a:schemeClr val="tx1"/>
                </a:solidFill>
                <a:effectLst/>
                <a:latin typeface="+mn-lt"/>
                <a:ea typeface="+mn-ea"/>
                <a:cs typeface="+mn-cs"/>
              </a:rPr>
              <a:t>AWS Cost and Usage Report Tool </a:t>
            </a:r>
            <a:r>
              <a:rPr lang="en-US" kern="1200" dirty="0">
                <a:solidFill>
                  <a:schemeClr val="tx1"/>
                </a:solidFill>
                <a:effectLst/>
                <a:latin typeface="+mn-lt"/>
                <a:ea typeface="+mn-ea"/>
                <a:cs typeface="+mn-cs"/>
              </a:rPr>
              <a:t>enables you to identify opportunities for optimization by understanding</a:t>
            </a:r>
            <a:r>
              <a:rPr lang="en-US" kern="1200" baseline="0" dirty="0">
                <a:solidFill>
                  <a:schemeClr val="tx1"/>
                </a:solidFill>
                <a:effectLst/>
                <a:latin typeface="+mn-lt"/>
                <a:ea typeface="+mn-ea"/>
                <a:cs typeface="+mn-cs"/>
              </a:rPr>
              <a:t> yo</a:t>
            </a:r>
            <a:r>
              <a:rPr lang="en-US" kern="1200" dirty="0">
                <a:solidFill>
                  <a:schemeClr val="tx1"/>
                </a:solidFill>
                <a:effectLst/>
                <a:latin typeface="+mn-lt"/>
                <a:ea typeface="+mn-ea"/>
                <a:cs typeface="+mn-cs"/>
              </a:rPr>
              <a:t>ur cost and usage data trends and how you are using your AWS implementation.</a:t>
            </a:r>
          </a:p>
        </p:txBody>
      </p:sp>
    </p:spTree>
    <p:extLst>
      <p:ext uri="{BB962C8B-B14F-4D97-AF65-F5344CB8AC3E}">
        <p14:creationId xmlns:p14="http://schemas.microsoft.com/office/powerpoint/2010/main" val="1056359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kern="1200" dirty="0">
                <a:solidFill>
                  <a:schemeClr val="tx1"/>
                </a:solidFill>
                <a:effectLst/>
                <a:latin typeface="+mn-lt"/>
                <a:ea typeface="+mn-ea"/>
                <a:cs typeface="+mn-cs"/>
              </a:rPr>
              <a:t>The </a:t>
            </a:r>
            <a:r>
              <a:rPr lang="en-US" b="1" kern="1200" dirty="0">
                <a:solidFill>
                  <a:schemeClr val="tx1"/>
                </a:solidFill>
                <a:effectLst/>
                <a:latin typeface="+mn-lt"/>
                <a:ea typeface="+mn-ea"/>
                <a:cs typeface="+mn-cs"/>
              </a:rPr>
              <a:t>AWS Billing Dashboard </a:t>
            </a:r>
            <a:r>
              <a:rPr lang="en-US" kern="1200" dirty="0">
                <a:solidFill>
                  <a:schemeClr val="tx1"/>
                </a:solidFill>
                <a:effectLst/>
                <a:latin typeface="+mn-lt"/>
                <a:ea typeface="+mn-ea"/>
                <a:cs typeface="+mn-cs"/>
              </a:rPr>
              <a:t>lets you view the status of your month-to-date AWS expenditure, identify the services that account for the majority of your overall expenditure, and understand at a high level how costs are trending.</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One of the graphs that is located on the dashboard is the </a:t>
            </a:r>
            <a:r>
              <a:rPr lang="en-US" b="1" kern="1200" dirty="0">
                <a:solidFill>
                  <a:schemeClr val="tx1"/>
                </a:solidFill>
                <a:effectLst/>
                <a:latin typeface="+mn-lt"/>
                <a:ea typeface="+mn-ea"/>
                <a:cs typeface="+mn-cs"/>
              </a:rPr>
              <a:t>Spend Summary</a:t>
            </a:r>
            <a:r>
              <a:rPr lang="en-US" b="0" kern="1200" dirty="0">
                <a:solidFill>
                  <a:schemeClr val="tx1"/>
                </a:solidFill>
                <a:effectLst/>
                <a:latin typeface="+mn-lt"/>
                <a:ea typeface="+mn-ea"/>
                <a:cs typeface="+mn-cs"/>
              </a:rPr>
              <a:t>.</a:t>
            </a:r>
            <a:r>
              <a:rPr lang="en-US" b="0" kern="1200" baseline="0" dirty="0">
                <a:solidFill>
                  <a:schemeClr val="tx1"/>
                </a:solidFill>
                <a:effectLst/>
                <a:latin typeface="+mn-lt"/>
                <a:ea typeface="+mn-ea"/>
                <a:cs typeface="+mn-cs"/>
              </a:rPr>
              <a:t> The Spend Summary </a:t>
            </a:r>
            <a:r>
              <a:rPr lang="en-US" kern="1200" dirty="0">
                <a:solidFill>
                  <a:schemeClr val="tx1"/>
                </a:solidFill>
                <a:effectLst/>
                <a:latin typeface="+mn-lt"/>
                <a:ea typeface="+mn-ea"/>
                <a:cs typeface="+mn-cs"/>
              </a:rPr>
              <a:t>shows you how much you spent last month, the estimated costs of your AWS usage for the month to date, and a forecast for how much you are likely to spend this month.</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Another graph is </a:t>
            </a:r>
            <a:r>
              <a:rPr lang="en-US" b="1" kern="1200" dirty="0">
                <a:solidFill>
                  <a:schemeClr val="tx1"/>
                </a:solidFill>
                <a:effectLst/>
                <a:latin typeface="+mn-lt"/>
                <a:ea typeface="+mn-ea"/>
                <a:cs typeface="+mn-cs"/>
              </a:rPr>
              <a:t>Month-to-Date Spend by Service</a:t>
            </a:r>
            <a:r>
              <a:rPr lang="en-US" b="0" kern="1200" dirty="0">
                <a:solidFill>
                  <a:schemeClr val="tx1"/>
                </a:solidFill>
                <a:effectLst/>
                <a:latin typeface="+mn-lt"/>
                <a:ea typeface="+mn-ea"/>
                <a:cs typeface="+mn-cs"/>
              </a:rPr>
              <a:t>,</a:t>
            </a:r>
            <a:r>
              <a:rPr lang="en-US" b="0" kern="1200" baseline="0" dirty="0">
                <a:solidFill>
                  <a:schemeClr val="tx1"/>
                </a:solidFill>
                <a:effectLst/>
                <a:latin typeface="+mn-lt"/>
                <a:ea typeface="+mn-ea"/>
                <a:cs typeface="+mn-cs"/>
              </a:rPr>
              <a:t> which </a:t>
            </a:r>
            <a:r>
              <a:rPr lang="en-US" kern="1200" dirty="0">
                <a:solidFill>
                  <a:schemeClr val="tx1"/>
                </a:solidFill>
                <a:effectLst/>
                <a:latin typeface="+mn-lt"/>
                <a:ea typeface="+mn-ea"/>
                <a:cs typeface="+mn-cs"/>
              </a:rPr>
              <a:t>shows the top services that you use most and the proportion of costs that</a:t>
            </a:r>
            <a:r>
              <a:rPr lang="en-US" kern="1200" baseline="0" dirty="0">
                <a:solidFill>
                  <a:schemeClr val="tx1"/>
                </a:solidFill>
                <a:effectLst/>
                <a:latin typeface="+mn-lt"/>
                <a:ea typeface="+mn-ea"/>
                <a:cs typeface="+mn-cs"/>
              </a:rPr>
              <a:t> are </a:t>
            </a:r>
            <a:r>
              <a:rPr lang="en-US" kern="1200" dirty="0">
                <a:solidFill>
                  <a:schemeClr val="tx1"/>
                </a:solidFill>
                <a:effectLst/>
                <a:latin typeface="+mn-lt"/>
                <a:ea typeface="+mn-ea"/>
                <a:cs typeface="+mn-cs"/>
              </a:rPr>
              <a:t>attributed to that service.</a:t>
            </a:r>
          </a:p>
        </p:txBody>
      </p:sp>
    </p:spTree>
    <p:extLst>
      <p:ext uri="{BB962C8B-B14F-4D97-AF65-F5344CB8AC3E}">
        <p14:creationId xmlns:p14="http://schemas.microsoft.com/office/powerpoint/2010/main" val="13666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dirty="0"/>
              <a:t>From the billing dashboard, you can access several other cost management tools that you can use to estimate and plan your AWS costs.</a:t>
            </a:r>
            <a:r>
              <a:rPr lang="en-US" baseline="0" dirty="0"/>
              <a:t> These tools include </a:t>
            </a:r>
            <a:r>
              <a:rPr lang="en-US" dirty="0"/>
              <a:t>AWS Bills, AWS Cost Explorer, AWS Budgets, and AWS Cost and Usage Reports.</a:t>
            </a:r>
          </a:p>
        </p:txBody>
      </p:sp>
    </p:spTree>
    <p:extLst>
      <p:ext uri="{BB962C8B-B14F-4D97-AF65-F5344CB8AC3E}">
        <p14:creationId xmlns:p14="http://schemas.microsoft.com/office/powerpoint/2010/main" val="2532041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kern="1200" dirty="0">
                <a:solidFill>
                  <a:schemeClr val="tx1"/>
                </a:solidFill>
                <a:effectLst/>
                <a:latin typeface="+mn-lt"/>
                <a:ea typeface="+mn-ea"/>
                <a:cs typeface="+mn-cs"/>
              </a:rPr>
              <a:t>The </a:t>
            </a:r>
            <a:r>
              <a:rPr lang="en-US" b="1" kern="1200" dirty="0">
                <a:solidFill>
                  <a:schemeClr val="tx1"/>
                </a:solidFill>
                <a:effectLst/>
                <a:latin typeface="+mn-lt"/>
                <a:ea typeface="+mn-ea"/>
                <a:cs typeface="+mn-cs"/>
              </a:rPr>
              <a:t>AWS Bills page </a:t>
            </a:r>
            <a:r>
              <a:rPr lang="en-US" kern="1200" dirty="0">
                <a:solidFill>
                  <a:schemeClr val="tx1"/>
                </a:solidFill>
                <a:effectLst/>
                <a:latin typeface="+mn-lt"/>
                <a:ea typeface="+mn-ea"/>
                <a:cs typeface="+mn-cs"/>
              </a:rPr>
              <a:t>lists the costs that you incurred over the past month for each AWS service, with a further breakdown by AWS Region and linked account.</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This tool gives you access to the most up-to</a:t>
            </a:r>
            <a:r>
              <a:rPr lang="en-US" kern="1200" baseline="0" dirty="0">
                <a:solidFill>
                  <a:schemeClr val="tx1"/>
                </a:solidFill>
                <a:effectLst/>
                <a:latin typeface="+mn-lt"/>
                <a:ea typeface="+mn-ea"/>
                <a:cs typeface="+mn-cs"/>
              </a:rPr>
              <a:t>-</a:t>
            </a:r>
            <a:r>
              <a:rPr lang="en-US" kern="1200" dirty="0">
                <a:solidFill>
                  <a:schemeClr val="tx1"/>
                </a:solidFill>
                <a:effectLst/>
                <a:latin typeface="+mn-lt"/>
                <a:ea typeface="+mn-ea"/>
                <a:cs typeface="+mn-cs"/>
              </a:rPr>
              <a:t>date information on your costs and usage, including your monthly bill and the detailed breakdown of the AWS services that you use.</a:t>
            </a:r>
          </a:p>
        </p:txBody>
      </p:sp>
    </p:spTree>
    <p:extLst>
      <p:ext uri="{BB962C8B-B14F-4D97-AF65-F5344CB8AC3E}">
        <p14:creationId xmlns:p14="http://schemas.microsoft.com/office/powerpoint/2010/main" val="3515920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normAutofit lnSpcReduction="10000"/>
          </a:bodyPr>
          <a:lstStyle/>
          <a:p>
            <a:r>
              <a:rPr lang="en-US" kern="1200" dirty="0">
                <a:solidFill>
                  <a:schemeClr val="tx1"/>
                </a:solidFill>
                <a:effectLst/>
                <a:latin typeface="+mn-lt"/>
                <a:ea typeface="+mn-ea"/>
                <a:cs typeface="+mn-cs"/>
              </a:rPr>
              <a:t>The </a:t>
            </a:r>
            <a:r>
              <a:rPr lang="en-US" b="1" kern="1200" dirty="0">
                <a:solidFill>
                  <a:schemeClr val="tx1"/>
                </a:solidFill>
                <a:effectLst/>
                <a:latin typeface="+mn-lt"/>
                <a:ea typeface="+mn-ea"/>
                <a:cs typeface="+mn-cs"/>
              </a:rPr>
              <a:t>AWS Billing and Cost Management </a:t>
            </a:r>
            <a:r>
              <a:rPr lang="en-US" kern="1200" dirty="0">
                <a:solidFill>
                  <a:schemeClr val="tx1"/>
                </a:solidFill>
                <a:effectLst/>
                <a:latin typeface="+mn-lt"/>
                <a:ea typeface="+mn-ea"/>
                <a:cs typeface="+mn-cs"/>
              </a:rPr>
              <a:t>console includes the </a:t>
            </a:r>
            <a:r>
              <a:rPr lang="en-US" b="1" kern="1200" dirty="0">
                <a:solidFill>
                  <a:schemeClr val="tx1"/>
                </a:solidFill>
                <a:effectLst/>
                <a:latin typeface="+mn-lt"/>
                <a:ea typeface="+mn-ea"/>
                <a:cs typeface="+mn-cs"/>
              </a:rPr>
              <a:t>Cost Explorer page </a:t>
            </a:r>
            <a:r>
              <a:rPr lang="en-US" kern="1200" dirty="0">
                <a:solidFill>
                  <a:schemeClr val="tx1"/>
                </a:solidFill>
                <a:effectLst/>
                <a:latin typeface="+mn-lt"/>
                <a:ea typeface="+mn-ea"/>
                <a:cs typeface="+mn-cs"/>
              </a:rPr>
              <a:t>for viewing your AWS cost data as a graph.</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With Cost Explorer, you can visualize, understand, and manage your AWS costs and usage over time.</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The Cost Explorer includes a default report that visualizes your costs and usage for your top cost-incurring AWS services. The monthly running costs report gives you an overview of all your costs for the past 3 months.</a:t>
            </a:r>
            <a:r>
              <a:rPr lang="en-US" kern="1200" baseline="0" dirty="0">
                <a:solidFill>
                  <a:schemeClr val="tx1"/>
                </a:solidFill>
                <a:effectLst/>
                <a:latin typeface="+mn-lt"/>
                <a:ea typeface="+mn-ea"/>
                <a:cs typeface="+mn-cs"/>
              </a:rPr>
              <a:t> It also </a:t>
            </a:r>
            <a:r>
              <a:rPr lang="en-US" kern="1200" dirty="0">
                <a:solidFill>
                  <a:schemeClr val="tx1"/>
                </a:solidFill>
                <a:effectLst/>
                <a:latin typeface="+mn-lt"/>
                <a:ea typeface="+mn-ea"/>
                <a:cs typeface="+mn-cs"/>
              </a:rPr>
              <a:t>provides forecasted numbers for the coming month, with a corresponding confidence interval.</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The Cost Explorer is a free tool that enables you to:</a:t>
            </a:r>
          </a:p>
          <a:p>
            <a:pPr marL="153859" indent="-153859">
              <a:buFont typeface="Arial" panose="020B0604020202020204" pitchFamily="34" charset="0"/>
              <a:buChar char="•"/>
            </a:pPr>
            <a:r>
              <a:rPr lang="en-US" kern="1200" dirty="0">
                <a:solidFill>
                  <a:schemeClr val="tx1"/>
                </a:solidFill>
                <a:effectLst/>
                <a:latin typeface="+mn-lt"/>
                <a:ea typeface="+mn-ea"/>
                <a:cs typeface="+mn-cs"/>
              </a:rPr>
              <a:t>View charts of your costs.</a:t>
            </a:r>
          </a:p>
          <a:p>
            <a:pPr marL="153859" indent="-153859">
              <a:buFont typeface="Arial" panose="020B0604020202020204" pitchFamily="34" charset="0"/>
              <a:buChar char="•"/>
            </a:pPr>
            <a:r>
              <a:rPr lang="en-US" kern="1200" dirty="0">
                <a:solidFill>
                  <a:schemeClr val="tx1"/>
                </a:solidFill>
                <a:effectLst/>
                <a:latin typeface="+mn-lt"/>
                <a:ea typeface="+mn-ea"/>
                <a:cs typeface="+mn-cs"/>
              </a:rPr>
              <a:t>View cost data for the past 13 months.</a:t>
            </a:r>
          </a:p>
          <a:p>
            <a:pPr marL="153859" indent="-153859">
              <a:buFont typeface="Arial" panose="020B0604020202020204" pitchFamily="34" charset="0"/>
              <a:buChar char="•"/>
            </a:pPr>
            <a:r>
              <a:rPr lang="en-US" kern="1200" dirty="0">
                <a:solidFill>
                  <a:schemeClr val="tx1"/>
                </a:solidFill>
                <a:effectLst/>
                <a:latin typeface="+mn-lt"/>
                <a:ea typeface="+mn-ea"/>
                <a:cs typeface="+mn-cs"/>
              </a:rPr>
              <a:t>Forecast how much you are likely to spend over the next 3 months.</a:t>
            </a:r>
          </a:p>
          <a:p>
            <a:pPr marL="153859" indent="-153859">
              <a:buFont typeface="Arial" panose="020B0604020202020204" pitchFamily="34" charset="0"/>
              <a:buChar char="•"/>
            </a:pPr>
            <a:r>
              <a:rPr lang="en-US" kern="1200" dirty="0">
                <a:solidFill>
                  <a:schemeClr val="tx1"/>
                </a:solidFill>
                <a:effectLst/>
                <a:latin typeface="+mn-lt"/>
                <a:ea typeface="+mn-ea"/>
                <a:cs typeface="+mn-cs"/>
              </a:rPr>
              <a:t>Discover patterns in how much you spend on AWS resources over time and identify cost</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problem areas.</a:t>
            </a:r>
          </a:p>
          <a:p>
            <a:pPr marL="153859" indent="-153859">
              <a:buFont typeface="Arial" panose="020B0604020202020204" pitchFamily="34" charset="0"/>
              <a:buChar char="•"/>
            </a:pPr>
            <a:r>
              <a:rPr lang="en-US" kern="1200" dirty="0">
                <a:solidFill>
                  <a:schemeClr val="tx1"/>
                </a:solidFill>
                <a:effectLst/>
                <a:latin typeface="+mn-lt"/>
                <a:ea typeface="+mn-ea"/>
                <a:cs typeface="+mn-cs"/>
              </a:rPr>
              <a:t>Identify the services that you use the most</a:t>
            </a:r>
          </a:p>
          <a:p>
            <a:pPr marL="153859" indent="-153859">
              <a:buFont typeface="Arial" panose="020B0604020202020204" pitchFamily="34" charset="0"/>
              <a:buChar char="•"/>
            </a:pPr>
            <a:r>
              <a:rPr lang="en-US" kern="1200" dirty="0">
                <a:solidFill>
                  <a:schemeClr val="tx1"/>
                </a:solidFill>
                <a:effectLst/>
                <a:latin typeface="+mn-lt"/>
                <a:ea typeface="+mn-ea"/>
                <a:cs typeface="+mn-cs"/>
              </a:rPr>
              <a:t>View metrics, like which Availability Zones have the most traffic or which linked AWS account is used the most.</a:t>
            </a:r>
          </a:p>
        </p:txBody>
      </p:sp>
    </p:spTree>
    <p:extLst>
      <p:ext uri="{BB962C8B-B14F-4D97-AF65-F5344CB8AC3E}">
        <p14:creationId xmlns:p14="http://schemas.microsoft.com/office/powerpoint/2010/main" val="2538174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b="1" kern="1200" dirty="0">
                <a:solidFill>
                  <a:schemeClr val="tx1"/>
                </a:solidFill>
                <a:effectLst/>
                <a:latin typeface="+mn-lt"/>
                <a:ea typeface="+mn-ea"/>
                <a:cs typeface="+mn-cs"/>
              </a:rPr>
              <a:t>AWS Budgets </a:t>
            </a:r>
            <a:r>
              <a:rPr lang="en-US" kern="1200" dirty="0">
                <a:solidFill>
                  <a:schemeClr val="tx1"/>
                </a:solidFill>
                <a:effectLst/>
                <a:latin typeface="+mn-lt"/>
                <a:ea typeface="+mn-ea"/>
                <a:cs typeface="+mn-cs"/>
              </a:rPr>
              <a:t>uses the cost visualization that is provided by Cost Explorer to show you the status of your budgets and to provide forecasts of your estimated costs.</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You can also use AWS Budgets to create notifications for</a:t>
            </a:r>
            <a:r>
              <a:rPr lang="en-US" kern="1200" baseline="0" dirty="0">
                <a:solidFill>
                  <a:schemeClr val="tx1"/>
                </a:solidFill>
                <a:effectLst/>
                <a:latin typeface="+mn-lt"/>
                <a:ea typeface="+mn-ea"/>
                <a:cs typeface="+mn-cs"/>
              </a:rPr>
              <a:t> when </a:t>
            </a:r>
            <a:r>
              <a:rPr lang="en-US" kern="1200" dirty="0">
                <a:solidFill>
                  <a:schemeClr val="tx1"/>
                </a:solidFill>
                <a:effectLst/>
                <a:latin typeface="+mn-lt"/>
                <a:ea typeface="+mn-ea"/>
                <a:cs typeface="+mn-cs"/>
              </a:rPr>
              <a:t>you go over your budget for the month,</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or when your estimated costs exceed your budget. Budgets can be tracked at the monthly, quarterly, or yearly level, and you can customize the start and end dates. Budget alerts can be sent via email or via </a:t>
            </a:r>
            <a:r>
              <a:rPr lang="en-US" b="1" kern="1200" dirty="0">
                <a:solidFill>
                  <a:schemeClr val="tx1"/>
                </a:solidFill>
                <a:effectLst/>
                <a:latin typeface="+mn-lt"/>
                <a:ea typeface="+mn-ea"/>
                <a:cs typeface="+mn-cs"/>
              </a:rPr>
              <a:t>Amazon Simple Notification Service (Amazon </a:t>
            </a:r>
            <a:r>
              <a:rPr lang="en-US" b="1" kern="1200" dirty="0" err="1">
                <a:solidFill>
                  <a:schemeClr val="tx1"/>
                </a:solidFill>
                <a:effectLst/>
                <a:latin typeface="+mn-lt"/>
                <a:ea typeface="+mn-ea"/>
                <a:cs typeface="+mn-cs"/>
              </a:rPr>
              <a:t>SNS</a:t>
            </a:r>
            <a:r>
              <a:rPr lang="en-US" b="1" kern="1200" dirty="0">
                <a:solidFill>
                  <a:schemeClr val="tx1"/>
                </a:solidFill>
                <a:effectLst/>
                <a:latin typeface="+mn-lt"/>
                <a:ea typeface="+mn-ea"/>
                <a:cs typeface="+mn-cs"/>
              </a:rPr>
              <a:t>).</a:t>
            </a:r>
          </a:p>
          <a:p>
            <a:endParaRPr lang="en-US" b="1" kern="1200" dirty="0">
              <a:solidFill>
                <a:schemeClr val="tx1"/>
              </a:solidFill>
              <a:effectLst/>
              <a:latin typeface="+mn-lt"/>
              <a:ea typeface="+mn-ea"/>
              <a:cs typeface="+mn-cs"/>
            </a:endParaRPr>
          </a:p>
          <a:p>
            <a:r>
              <a:rPr lang="en-AU" b="1" dirty="0">
                <a:effectLst/>
                <a:latin typeface="Calibri" panose="020F0502020204030204" pitchFamily="34" charset="0"/>
                <a:ea typeface="Calibri" panose="020F0502020204030204" pitchFamily="34" charset="0"/>
              </a:rPr>
              <a:t>For accessibility:</a:t>
            </a:r>
            <a:r>
              <a:rPr lang="en-AU" dirty="0">
                <a:effectLst/>
                <a:latin typeface="Calibri" panose="020F0502020204030204" pitchFamily="34" charset="0"/>
                <a:ea typeface="Calibri" panose="020F0502020204030204" pitchFamily="34" charset="0"/>
              </a:rPr>
              <a:t> The AWS Billing budgets panel showing budget names, current and future costs and usages, and headings for current and forecasted versus budgets. </a:t>
            </a:r>
            <a:r>
              <a:rPr lang="en-AU" b="1" dirty="0">
                <a:effectLst/>
                <a:latin typeface="Calibri" panose="020F0502020204030204" pitchFamily="34" charset="0"/>
                <a:ea typeface="Calibri" panose="020F0502020204030204" pitchFamily="34" charset="0"/>
              </a:rPr>
              <a:t>End of accessibility description.</a:t>
            </a:r>
            <a:endParaRPr lang="en-US" b="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86229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6361" y="4400262"/>
            <a:ext cx="5485279" cy="3600738"/>
          </a:xfrm>
          <a:prstGeom prst="rect">
            <a:avLst/>
          </a:prstGeom>
        </p:spPr>
        <p:txBody>
          <a:bodyPr/>
          <a:lstStyle/>
          <a:p>
            <a:r>
              <a:rPr lang="en-US" kern="1200" dirty="0">
                <a:solidFill>
                  <a:schemeClr val="tx1"/>
                </a:solidFill>
                <a:effectLst/>
                <a:latin typeface="+mn-lt"/>
                <a:ea typeface="+mn-ea"/>
                <a:cs typeface="+mn-cs"/>
              </a:rPr>
              <a:t>The </a:t>
            </a:r>
            <a:r>
              <a:rPr lang="en-US" b="1" kern="1200" dirty="0">
                <a:solidFill>
                  <a:schemeClr val="tx1"/>
                </a:solidFill>
                <a:effectLst/>
                <a:latin typeface="+mn-lt"/>
                <a:ea typeface="+mn-ea"/>
                <a:cs typeface="+mn-cs"/>
              </a:rPr>
              <a:t>AWS Cost and Usage Report </a:t>
            </a:r>
            <a:r>
              <a:rPr lang="en-US" kern="1200" dirty="0">
                <a:solidFill>
                  <a:schemeClr val="tx1"/>
                </a:solidFill>
                <a:effectLst/>
                <a:latin typeface="+mn-lt"/>
                <a:ea typeface="+mn-ea"/>
                <a:cs typeface="+mn-cs"/>
              </a:rPr>
              <a:t>is a single location for accessing comprehensive information about your AWS costs and usage. This tool lists the usage for each service category that is used by an account (and its users) in hourly or daily line items,</a:t>
            </a:r>
            <a:r>
              <a:rPr lang="en-US" kern="1200" baseline="0" dirty="0">
                <a:solidFill>
                  <a:schemeClr val="tx1"/>
                </a:solidFill>
                <a:effectLst/>
                <a:latin typeface="+mn-lt"/>
                <a:ea typeface="+mn-ea"/>
                <a:cs typeface="+mn-cs"/>
              </a:rPr>
              <a:t> and </a:t>
            </a:r>
            <a:r>
              <a:rPr lang="en-US" kern="1200" dirty="0">
                <a:solidFill>
                  <a:schemeClr val="tx1"/>
                </a:solidFill>
                <a:effectLst/>
                <a:latin typeface="+mn-lt"/>
                <a:ea typeface="+mn-ea"/>
                <a:cs typeface="+mn-cs"/>
              </a:rPr>
              <a:t>any tax that you activated for tax allocation purposes.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You can choose to have AWS to publish billing reports to an S3 bucket. These reports can be updated once a day. </a:t>
            </a:r>
          </a:p>
        </p:txBody>
      </p:sp>
    </p:spTree>
    <p:extLst>
      <p:ext uri="{BB962C8B-B14F-4D97-AF65-F5344CB8AC3E}">
        <p14:creationId xmlns:p14="http://schemas.microsoft.com/office/powerpoint/2010/main" val="1958459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2D22910-D91E-430D-B0D5-3F021D62A7C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D22910-D91E-430D-B0D5-3F021D62A7C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D22910-D91E-430D-B0D5-3F021D62A7C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D22910-D91E-430D-B0D5-3F021D62A7CE}" type="datetimeFigureOut">
              <a:rPr lang="en-US" smtClean="0"/>
              <a:pPr/>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D22910-D91E-430D-B0D5-3F021D62A7CE}" type="datetimeFigureOut">
              <a:rPr lang="en-US" smtClean="0"/>
              <a:pPr/>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22910-D91E-430D-B0D5-3F021D62A7CE}" type="datetimeFigureOut">
              <a:rPr lang="en-US" smtClean="0"/>
              <a:pPr/>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22910-D91E-430D-B0D5-3F021D62A7CE}" type="datetimeFigureOut">
              <a:rPr lang="en-US" smtClean="0"/>
              <a:pPr/>
              <a:t>9/18/2025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7AA780-50D9-476A-81C5-9B35B33CD80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3.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5.xml"/><Relationship Id="rId7"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6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notesSlide" Target="../notesSlides/notesSlide10.xml"/><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chart" Target="../charts/chart1.xml"/><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6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hyperlink" Target="https://calculator.aws/" TargetMode="Externa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64.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64.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6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64.png"/><Relationship Id="rId4" Type="http://schemas.openxmlformats.org/officeDocument/2006/relationships/image" Target="../media/image65.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6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67.svg"/><Relationship Id="rId4" Type="http://schemas.openxmlformats.org/officeDocument/2006/relationships/image" Target="../media/image66.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68.png"/></Relationships>
</file>

<file path=ppt/slides/_rels/slide7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26.xml"/><Relationship Id="rId7" Type="http://schemas.openxmlformats.org/officeDocument/2006/relationships/image" Target="../media/image72.sv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 Id="rId9" Type="http://schemas.openxmlformats.org/officeDocument/2006/relationships/image" Target="../media/image74.sv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75.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76.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77.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7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AWS</a:t>
            </a:r>
          </a:p>
        </p:txBody>
      </p:sp>
      <p:sp>
        <p:nvSpPr>
          <p:cNvPr id="3" name="Subtitle 2"/>
          <p:cNvSpPr>
            <a:spLocks noGrp="1"/>
          </p:cNvSpPr>
          <p:nvPr>
            <p:ph type="subTitle" idx="1"/>
          </p:nvPr>
        </p:nvSpPr>
        <p:spPr/>
        <p:txBody>
          <a:bodyPr/>
          <a:lstStyle/>
          <a:p>
            <a:r>
              <a:rPr lang="en-US" dirty="0"/>
              <a:t>Module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Details</a:t>
            </a:r>
          </a:p>
        </p:txBody>
      </p:sp>
      <p:sp>
        <p:nvSpPr>
          <p:cNvPr id="3" name="Content Placeholder 2"/>
          <p:cNvSpPr>
            <a:spLocks noGrp="1"/>
          </p:cNvSpPr>
          <p:nvPr>
            <p:ph idx="1"/>
          </p:nvPr>
        </p:nvSpPr>
        <p:spPr/>
        <p:txBody>
          <a:bodyPr/>
          <a:lstStyle/>
          <a:p>
            <a:r>
              <a:rPr lang="en-US" dirty="0"/>
              <a:t>AWS Management Tools, AWS </a:t>
            </a:r>
            <a:r>
              <a:rPr lang="en-US" dirty="0" err="1"/>
              <a:t>CloudWatch</a:t>
            </a:r>
            <a:r>
              <a:rPr lang="en-US" dirty="0"/>
              <a:t>, AWS </a:t>
            </a:r>
            <a:r>
              <a:rPr lang="en-US" dirty="0" err="1"/>
              <a:t>CloudTrail</a:t>
            </a:r>
            <a:r>
              <a:rPr lang="en-US" dirty="0"/>
              <a:t>, AWS </a:t>
            </a:r>
            <a:r>
              <a:rPr lang="en-US" dirty="0" err="1"/>
              <a:t>Config</a:t>
            </a:r>
            <a:r>
              <a:rPr lang="en-US" dirty="0"/>
              <a:t>, </a:t>
            </a:r>
          </a:p>
          <a:p>
            <a:r>
              <a:rPr lang="en-US" dirty="0"/>
              <a:t>AWS Systems Manager, AWS Cost Management, AWS Free Tier, </a:t>
            </a:r>
          </a:p>
          <a:p>
            <a:r>
              <a:rPr lang="en-US" dirty="0"/>
              <a:t>AWS Billing and Account Management, AWS Budgets, AWS Trusted Advisor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Management Tools</a:t>
            </a:r>
          </a:p>
        </p:txBody>
      </p:sp>
      <p:sp>
        <p:nvSpPr>
          <p:cNvPr id="3" name="Content Placeholder 2"/>
          <p:cNvSpPr>
            <a:spLocks noGrp="1"/>
          </p:cNvSpPr>
          <p:nvPr>
            <p:ph idx="1"/>
          </p:nvPr>
        </p:nvSpPr>
        <p:spPr>
          <a:xfrm>
            <a:off x="457200" y="1600201"/>
            <a:ext cx="8077200" cy="1676400"/>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AWS Management &amp; Governance product suite allows you to enable, provision, and operate AWS resources to determine the health and predictability of your cloud workloads</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16BCC26F-97D9-1248-9B74-EAE0AED4BC60}"/>
              </a:ext>
            </a:extLst>
          </p:cNvPr>
          <p:cNvSpPr txBox="1"/>
          <p:nvPr/>
        </p:nvSpPr>
        <p:spPr>
          <a:xfrm>
            <a:off x="3146695" y="2097113"/>
            <a:ext cx="184731" cy="461665"/>
          </a:xfrm>
          <a:prstGeom prst="rect">
            <a:avLst/>
          </a:prstGeom>
          <a:noFill/>
        </p:spPr>
        <p:txBody>
          <a:bodyPr wrap="none" rtlCol="0">
            <a:spAutoFit/>
          </a:bodyPr>
          <a:lstStyle/>
          <a:p>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TextBox 20">
            <a:extLst>
              <a:ext uri="{FF2B5EF4-FFF2-40B4-BE49-F238E27FC236}">
                <a16:creationId xmlns:a16="http://schemas.microsoft.com/office/drawing/2014/main" id="{9C758EC6-70BA-AD4A-97E2-F8AC43A0E541}"/>
              </a:ext>
            </a:extLst>
          </p:cNvPr>
          <p:cNvSpPr txBox="1"/>
          <p:nvPr/>
        </p:nvSpPr>
        <p:spPr>
          <a:xfrm>
            <a:off x="609600" y="4520625"/>
            <a:ext cx="1893922"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Management Console</a:t>
            </a:r>
          </a:p>
        </p:txBody>
      </p:sp>
      <p:sp>
        <p:nvSpPr>
          <p:cNvPr id="22" name="TextBox 21">
            <a:extLst>
              <a:ext uri="{FF2B5EF4-FFF2-40B4-BE49-F238E27FC236}">
                <a16:creationId xmlns:a16="http://schemas.microsoft.com/office/drawing/2014/main" id="{11763954-0406-9C4A-A38D-4CF454878E9A}"/>
              </a:ext>
            </a:extLst>
          </p:cNvPr>
          <p:cNvSpPr txBox="1"/>
          <p:nvPr/>
        </p:nvSpPr>
        <p:spPr>
          <a:xfrm>
            <a:off x="2529402" y="4519114"/>
            <a:ext cx="1359131"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Config</a:t>
            </a:r>
          </a:p>
        </p:txBody>
      </p:sp>
      <p:sp>
        <p:nvSpPr>
          <p:cNvPr id="23" name="TextBox 22">
            <a:extLst>
              <a:ext uri="{FF2B5EF4-FFF2-40B4-BE49-F238E27FC236}">
                <a16:creationId xmlns:a16="http://schemas.microsoft.com/office/drawing/2014/main" id="{D964D7DB-132C-9648-8402-E5670A709AE6}"/>
              </a:ext>
            </a:extLst>
          </p:cNvPr>
          <p:cNvSpPr txBox="1"/>
          <p:nvPr/>
        </p:nvSpPr>
        <p:spPr>
          <a:xfrm>
            <a:off x="3810000" y="4499168"/>
            <a:ext cx="2133600"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CloudWatch</a:t>
            </a:r>
          </a:p>
        </p:txBody>
      </p:sp>
      <p:sp>
        <p:nvSpPr>
          <p:cNvPr id="24" name="TextBox 23">
            <a:extLst>
              <a:ext uri="{FF2B5EF4-FFF2-40B4-BE49-F238E27FC236}">
                <a16:creationId xmlns:a16="http://schemas.microsoft.com/office/drawing/2014/main" id="{13761F13-5E8E-D046-BB83-8F52BCD62CFB}"/>
              </a:ext>
            </a:extLst>
          </p:cNvPr>
          <p:cNvSpPr txBox="1"/>
          <p:nvPr/>
        </p:nvSpPr>
        <p:spPr>
          <a:xfrm>
            <a:off x="5756984" y="4577170"/>
            <a:ext cx="1939216"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Auto Scaling</a:t>
            </a:r>
          </a:p>
        </p:txBody>
      </p:sp>
      <p:sp>
        <p:nvSpPr>
          <p:cNvPr id="25" name="TextBox 24">
            <a:extLst>
              <a:ext uri="{FF2B5EF4-FFF2-40B4-BE49-F238E27FC236}">
                <a16:creationId xmlns:a16="http://schemas.microsoft.com/office/drawing/2014/main" id="{09D07F57-01BC-2C46-A09A-E6D7DEAF0212}"/>
              </a:ext>
            </a:extLst>
          </p:cNvPr>
          <p:cNvSpPr txBox="1"/>
          <p:nvPr/>
        </p:nvSpPr>
        <p:spPr>
          <a:xfrm>
            <a:off x="699378" y="5991200"/>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Command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Line Interface</a:t>
            </a:r>
          </a:p>
        </p:txBody>
      </p:sp>
      <p:sp>
        <p:nvSpPr>
          <p:cNvPr id="26" name="TextBox 25">
            <a:extLst>
              <a:ext uri="{FF2B5EF4-FFF2-40B4-BE49-F238E27FC236}">
                <a16:creationId xmlns:a16="http://schemas.microsoft.com/office/drawing/2014/main" id="{4A98BAB5-A45E-0E4A-A83D-AD7F47F3C663}"/>
              </a:ext>
            </a:extLst>
          </p:cNvPr>
          <p:cNvSpPr txBox="1"/>
          <p:nvPr/>
        </p:nvSpPr>
        <p:spPr>
          <a:xfrm>
            <a:off x="2523130" y="6027003"/>
            <a:ext cx="1357122"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Trusted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Advisor</a:t>
            </a:r>
          </a:p>
        </p:txBody>
      </p:sp>
      <p:sp>
        <p:nvSpPr>
          <p:cNvPr id="27" name="TextBox 26">
            <a:extLst>
              <a:ext uri="{FF2B5EF4-FFF2-40B4-BE49-F238E27FC236}">
                <a16:creationId xmlns:a16="http://schemas.microsoft.com/office/drawing/2014/main" id="{D9CC2CD7-28CC-7A4D-8887-32BE6D184A0C}"/>
              </a:ext>
            </a:extLst>
          </p:cNvPr>
          <p:cNvSpPr txBox="1"/>
          <p:nvPr/>
        </p:nvSpPr>
        <p:spPr>
          <a:xfrm>
            <a:off x="3957418" y="6024066"/>
            <a:ext cx="1712699"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Well-</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Architected Tool </a:t>
            </a:r>
          </a:p>
        </p:txBody>
      </p:sp>
      <p:sp>
        <p:nvSpPr>
          <p:cNvPr id="28" name="TextBox 27">
            <a:extLst>
              <a:ext uri="{FF2B5EF4-FFF2-40B4-BE49-F238E27FC236}">
                <a16:creationId xmlns:a16="http://schemas.microsoft.com/office/drawing/2014/main" id="{E71E6A68-F283-F44E-BD0F-835FE3811D61}"/>
              </a:ext>
            </a:extLst>
          </p:cNvPr>
          <p:cNvSpPr txBox="1"/>
          <p:nvPr/>
        </p:nvSpPr>
        <p:spPr>
          <a:xfrm>
            <a:off x="5720586" y="6027556"/>
            <a:ext cx="1619150"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CloudTrail</a:t>
            </a:r>
          </a:p>
        </p:txBody>
      </p:sp>
      <p:grpSp>
        <p:nvGrpSpPr>
          <p:cNvPr id="29" name="Group 28">
            <a:extLst>
              <a:ext uri="{FF2B5EF4-FFF2-40B4-BE49-F238E27FC236}">
                <a16:creationId xmlns:a16="http://schemas.microsoft.com/office/drawing/2014/main" id="{1527605D-D163-1409-E41C-16A52F2BC311}"/>
              </a:ext>
              <a:ext uri="{C183D7F6-B498-43B3-948B-1728B52AA6E4}">
                <adec:decorative xmlns:adec="http://schemas.microsoft.com/office/drawing/2017/decorative" val="1"/>
              </a:ext>
            </a:extLst>
          </p:cNvPr>
          <p:cNvGrpSpPr/>
          <p:nvPr/>
        </p:nvGrpSpPr>
        <p:grpSpPr>
          <a:xfrm>
            <a:off x="1219928" y="3860800"/>
            <a:ext cx="5740377" cy="2128662"/>
            <a:chOff x="5535058" y="3520298"/>
            <a:chExt cx="5740377" cy="2128662"/>
          </a:xfrm>
        </p:grpSpPr>
        <p:pic>
          <p:nvPicPr>
            <p:cNvPr id="30" name="Graphic 8">
              <a:extLst>
                <a:ext uri="{FF2B5EF4-FFF2-40B4-BE49-F238E27FC236}">
                  <a16:creationId xmlns:a16="http://schemas.microsoft.com/office/drawing/2014/main" id="{F3FF6B72-C858-5A44-A833-CC192B74293A}"/>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8799567" y="3520298"/>
              <a:ext cx="711200" cy="711200"/>
            </a:xfrm>
            <a:prstGeom prst="rect">
              <a:avLst/>
            </a:prstGeom>
          </p:spPr>
        </p:pic>
        <p:pic>
          <p:nvPicPr>
            <p:cNvPr id="31" name="Graphic 9">
              <a:extLst>
                <a:ext uri="{FF2B5EF4-FFF2-40B4-BE49-F238E27FC236}">
                  <a16:creationId xmlns:a16="http://schemas.microsoft.com/office/drawing/2014/main" id="{1B6C0BF0-9CF6-414A-B2DC-0DEDD2C690DE}"/>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10564235" y="3520298"/>
              <a:ext cx="711200" cy="711200"/>
            </a:xfrm>
            <a:prstGeom prst="rect">
              <a:avLst/>
            </a:prstGeom>
          </p:spPr>
        </p:pic>
        <p:pic>
          <p:nvPicPr>
            <p:cNvPr id="32" name="Graphic 10">
              <a:extLst>
                <a:ext uri="{FF2B5EF4-FFF2-40B4-BE49-F238E27FC236}">
                  <a16:creationId xmlns:a16="http://schemas.microsoft.com/office/drawing/2014/main" id="{B9D8BC08-9C16-3944-89AA-1F894A611C03}"/>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10489692" y="4937760"/>
              <a:ext cx="711200" cy="711200"/>
            </a:xfrm>
            <a:prstGeom prst="rect">
              <a:avLst/>
            </a:prstGeom>
          </p:spPr>
        </p:pic>
        <p:pic>
          <p:nvPicPr>
            <p:cNvPr id="33" name="Graphic 12">
              <a:extLst>
                <a:ext uri="{FF2B5EF4-FFF2-40B4-BE49-F238E27FC236}">
                  <a16:creationId xmlns:a16="http://schemas.microsoft.com/office/drawing/2014/main" id="{63A13CDB-14D7-3649-80EF-3DF23E67EFF4}"/>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5535058" y="4937760"/>
              <a:ext cx="711200" cy="711200"/>
            </a:xfrm>
            <a:prstGeom prst="rect">
              <a:avLst/>
            </a:prstGeom>
          </p:spPr>
        </p:pic>
        <p:pic>
          <p:nvPicPr>
            <p:cNvPr id="34" name="Graphic 14">
              <a:extLst>
                <a:ext uri="{FF2B5EF4-FFF2-40B4-BE49-F238E27FC236}">
                  <a16:creationId xmlns:a16="http://schemas.microsoft.com/office/drawing/2014/main" id="{C7D0D9FA-AEA2-BB4B-8BBF-90B1B8A60863}"/>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7192772" y="3520298"/>
              <a:ext cx="711200" cy="711200"/>
            </a:xfrm>
            <a:prstGeom prst="rect">
              <a:avLst/>
            </a:prstGeom>
          </p:spPr>
        </p:pic>
        <p:pic>
          <p:nvPicPr>
            <p:cNvPr id="35" name="Graphic 16">
              <a:extLst>
                <a:ext uri="{FF2B5EF4-FFF2-40B4-BE49-F238E27FC236}">
                  <a16:creationId xmlns:a16="http://schemas.microsoft.com/office/drawing/2014/main" id="{158BEA10-3C84-2A4B-A68C-80DDFF4ADBB3}"/>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5535058" y="3520298"/>
              <a:ext cx="711200" cy="711200"/>
            </a:xfrm>
            <a:prstGeom prst="rect">
              <a:avLst/>
            </a:prstGeom>
          </p:spPr>
        </p:pic>
        <p:pic>
          <p:nvPicPr>
            <p:cNvPr id="36" name="Graphic 18">
              <a:extLst>
                <a:ext uri="{FF2B5EF4-FFF2-40B4-BE49-F238E27FC236}">
                  <a16:creationId xmlns:a16="http://schemas.microsoft.com/office/drawing/2014/main" id="{342B86BF-B4C2-A84D-A401-09AEFF65F589}"/>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7180580" y="4937760"/>
              <a:ext cx="711200" cy="711200"/>
            </a:xfrm>
            <a:prstGeom prst="rect">
              <a:avLst/>
            </a:prstGeom>
          </p:spPr>
        </p:pic>
        <p:pic>
          <p:nvPicPr>
            <p:cNvPr id="37" name="Graphic 20">
              <a:extLst>
                <a:ext uri="{FF2B5EF4-FFF2-40B4-BE49-F238E27FC236}">
                  <a16:creationId xmlns:a16="http://schemas.microsoft.com/office/drawing/2014/main" id="{CEB35706-B695-174A-B1C4-224C18E4857D}"/>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8738717" y="4937760"/>
              <a:ext cx="711200" cy="711200"/>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Amazon </a:t>
            </a:r>
            <a:r>
              <a:rPr lang="en-US" dirty="0" err="1">
                <a:latin typeface="Times New Roman" panose="02020603050405020304" pitchFamily="18" charset="0"/>
                <a:cs typeface="Times New Roman" panose="02020603050405020304" pitchFamily="18" charset="0"/>
              </a:rPr>
              <a:t>CloudWatch</a:t>
            </a:r>
            <a:r>
              <a:rPr lang="en-US" dirty="0">
                <a:latin typeface="Times New Roman" panose="02020603050405020304" pitchFamily="18" charset="0"/>
                <a:cs typeface="Times New Roman" panose="02020603050405020304" pitchFamily="18" charset="0"/>
              </a:rPr>
              <a:t> is a service used for monitoring and </a:t>
            </a:r>
            <a:r>
              <a:rPr lang="en-US" b="1" dirty="0">
                <a:solidFill>
                  <a:schemeClr val="accent2">
                    <a:lumMod val="75000"/>
                  </a:schemeClr>
                </a:solidFill>
                <a:latin typeface="Times New Roman" panose="02020603050405020304" pitchFamily="18" charset="0"/>
                <a:cs typeface="Times New Roman" panose="02020603050405020304" pitchFamily="18" charset="0"/>
              </a:rPr>
              <a:t>observing resources in real-time</a:t>
            </a:r>
            <a:r>
              <a:rPr lang="en-US" dirty="0">
                <a:latin typeface="Times New Roman" panose="02020603050405020304" pitchFamily="18" charset="0"/>
                <a:cs typeface="Times New Roman" panose="02020603050405020304" pitchFamily="18" charset="0"/>
              </a:rPr>
              <a:t>, built for </a:t>
            </a:r>
            <a:r>
              <a:rPr lang="en-US" dirty="0" err="1">
                <a:latin typeface="Times New Roman" panose="02020603050405020304" pitchFamily="18" charset="0"/>
                <a:cs typeface="Times New Roman" panose="02020603050405020304" pitchFamily="18" charset="0"/>
              </a:rPr>
              <a:t>DevOps</a:t>
            </a:r>
            <a:r>
              <a:rPr lang="en-US" dirty="0">
                <a:latin typeface="Times New Roman" panose="02020603050405020304" pitchFamily="18" charset="0"/>
                <a:cs typeface="Times New Roman" panose="02020603050405020304" pitchFamily="18" charset="0"/>
              </a:rPr>
              <a:t> engineers, developers, site reliability engineers (SREs), and IT managers. </a:t>
            </a:r>
          </a:p>
          <a:p>
            <a:pPr algn="just"/>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CloudWatch</a:t>
            </a:r>
            <a:r>
              <a:rPr lang="en-US" dirty="0">
                <a:latin typeface="Times New Roman" panose="02020603050405020304" pitchFamily="18" charset="0"/>
                <a:cs typeface="Times New Roman" panose="02020603050405020304" pitchFamily="18" charset="0"/>
              </a:rPr>
              <a:t> provides users with data and actionable insights to monitor their respective applications, stimulate system-wide performance changes, and optimize resource utilization. </a:t>
            </a:r>
          </a:p>
          <a:p>
            <a:pPr algn="just"/>
            <a:endParaRPr lang="en-US" dirty="0">
              <a:latin typeface="Times New Roman" panose="02020603050405020304" pitchFamily="18" charset="0"/>
              <a:cs typeface="Times New Roman" panose="02020603050405020304" pitchFamily="18" charset="0"/>
            </a:endParaRPr>
          </a:p>
          <a:p>
            <a:pPr algn="just"/>
            <a:r>
              <a:rPr lang="en-US" b="1" dirty="0" err="1">
                <a:solidFill>
                  <a:schemeClr val="accent2">
                    <a:lumMod val="75000"/>
                  </a:schemeClr>
                </a:solidFill>
                <a:latin typeface="Times New Roman" panose="02020603050405020304" pitchFamily="18" charset="0"/>
                <a:cs typeface="Times New Roman" panose="02020603050405020304" pitchFamily="18" charset="0"/>
              </a:rPr>
              <a:t>CloudWatch</a:t>
            </a:r>
            <a:r>
              <a:rPr lang="en-US" b="1" dirty="0">
                <a:solidFill>
                  <a:schemeClr val="accent2">
                    <a:lumMod val="75000"/>
                  </a:schemeClr>
                </a:solidFill>
                <a:latin typeface="Times New Roman" panose="02020603050405020304" pitchFamily="18" charset="0"/>
                <a:cs typeface="Times New Roman" panose="02020603050405020304" pitchFamily="18" charset="0"/>
              </a:rPr>
              <a:t> collects monitoring and operational data in the form of logs, metrics, and events, providing its users with an aggregated view of AWS resources, applications, and services that run on AWS.</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CloudWatch</a:t>
            </a:r>
            <a:r>
              <a:rPr lang="en-US" dirty="0">
                <a:latin typeface="Times New Roman" panose="02020603050405020304" pitchFamily="18" charset="0"/>
                <a:cs typeface="Times New Roman" panose="02020603050405020304" pitchFamily="18" charset="0"/>
              </a:rPr>
              <a:t> can also be used to </a:t>
            </a:r>
            <a:r>
              <a:rPr lang="en-US" b="1" dirty="0">
                <a:solidFill>
                  <a:schemeClr val="accent2">
                    <a:lumMod val="75000"/>
                  </a:schemeClr>
                </a:solidFill>
                <a:latin typeface="Times New Roman" panose="02020603050405020304" pitchFamily="18" charset="0"/>
                <a:cs typeface="Times New Roman" panose="02020603050405020304" pitchFamily="18" charset="0"/>
              </a:rPr>
              <a:t>detect anomalous behavior in the environments</a:t>
            </a:r>
            <a:r>
              <a:rPr lang="en-US" dirty="0">
                <a:latin typeface="Times New Roman" panose="02020603050405020304" pitchFamily="18" charset="0"/>
                <a:cs typeface="Times New Roman" panose="02020603050405020304" pitchFamily="18" charset="0"/>
              </a:rPr>
              <a:t>, set warnings and alarms, visualize logs and metrics side by side, take automated actions, and troubleshoot issues.</a:t>
            </a:r>
            <a:endParaRPr lang="en-IN"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Metrics by </a:t>
            </a:r>
            <a:r>
              <a:rPr lang="en-US" dirty="0" err="1">
                <a:solidFill>
                  <a:srgbClr val="FF0000"/>
                </a:solidFill>
              </a:rPr>
              <a:t>Cloudwatch</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err="1"/>
              <a:t>CloudWatch</a:t>
            </a:r>
            <a:r>
              <a:rPr lang="en-US" dirty="0"/>
              <a:t> provides metrics for </a:t>
            </a:r>
            <a:r>
              <a:rPr lang="en-US" i="1" dirty="0"/>
              <a:t>every services in AWS</a:t>
            </a:r>
          </a:p>
          <a:p>
            <a:r>
              <a:rPr lang="en-US" dirty="0"/>
              <a:t>Metric is a variable to monitor (</a:t>
            </a:r>
            <a:r>
              <a:rPr lang="en-US" dirty="0" err="1"/>
              <a:t>CPUUtilization</a:t>
            </a:r>
            <a:r>
              <a:rPr lang="en-US" dirty="0"/>
              <a:t>, </a:t>
            </a:r>
            <a:r>
              <a:rPr lang="en-US" dirty="0" err="1"/>
              <a:t>NetworkIn</a:t>
            </a:r>
            <a:r>
              <a:rPr lang="en-US" dirty="0"/>
              <a:t>…)</a:t>
            </a:r>
          </a:p>
          <a:p>
            <a:r>
              <a:rPr lang="en-US" dirty="0"/>
              <a:t>Metrics belong to namespaces</a:t>
            </a:r>
          </a:p>
          <a:p>
            <a:r>
              <a:rPr lang="en-US" dirty="0"/>
              <a:t>Dimension is an attribute of a metric (instance id, environment, etc…).</a:t>
            </a:r>
          </a:p>
          <a:p>
            <a:r>
              <a:rPr lang="en-US" dirty="0"/>
              <a:t>Up to 30 dimensions per metric</a:t>
            </a:r>
          </a:p>
          <a:p>
            <a:r>
              <a:rPr lang="en-US" dirty="0"/>
              <a:t>Metrics have timestamps</a:t>
            </a:r>
          </a:p>
          <a:p>
            <a:r>
              <a:rPr lang="en-US" dirty="0"/>
              <a:t>Can create </a:t>
            </a:r>
            <a:r>
              <a:rPr lang="en-US" dirty="0" err="1"/>
              <a:t>CloudWatch</a:t>
            </a:r>
            <a:r>
              <a:rPr lang="en-US" dirty="0"/>
              <a:t> dashboards of metrics</a:t>
            </a:r>
          </a:p>
          <a:p>
            <a:r>
              <a:rPr lang="en-US"/>
              <a:t>Can </a:t>
            </a:r>
            <a:r>
              <a:rPr lang="en-US" dirty="0"/>
              <a:t>create </a:t>
            </a:r>
            <a:r>
              <a:rPr lang="en-US" dirty="0" err="1"/>
              <a:t>CloudWatch</a:t>
            </a:r>
            <a:r>
              <a:rPr lang="en-US" dirty="0"/>
              <a:t> Custom Metrics (for the RAM for example)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Components</a:t>
            </a:r>
          </a:p>
        </p:txBody>
      </p:sp>
      <p:sp>
        <p:nvSpPr>
          <p:cNvPr id="3" name="Content Placeholder 2"/>
          <p:cNvSpPr>
            <a:spLocks noGrp="1"/>
          </p:cNvSpPr>
          <p:nvPr>
            <p:ph idx="1"/>
          </p:nvPr>
        </p:nvSpPr>
        <p:spPr/>
        <p:txBody>
          <a:bodyPr>
            <a:normAutofit fontScale="77500" lnSpcReduction="20000"/>
          </a:bodyPr>
          <a:lstStyle/>
          <a:p>
            <a:r>
              <a:rPr lang="en-US" dirty="0"/>
              <a:t>Amazon </a:t>
            </a:r>
            <a:r>
              <a:rPr lang="en-US" dirty="0" err="1"/>
              <a:t>CloudWatch</a:t>
            </a:r>
            <a:r>
              <a:rPr lang="en-US" dirty="0"/>
              <a:t> is an open-source lightweight tool that is used to collect the data of the resources in which they are deployed. Some of the data is as follows</a:t>
            </a:r>
          </a:p>
          <a:p>
            <a:endParaRPr lang="en-US" dirty="0"/>
          </a:p>
          <a:p>
            <a:r>
              <a:rPr lang="en-US" b="1" dirty="0"/>
              <a:t>Metrics</a:t>
            </a:r>
            <a:r>
              <a:rPr lang="en-US" dirty="0"/>
              <a:t>: Amazon </a:t>
            </a:r>
            <a:r>
              <a:rPr lang="en-US" dirty="0" err="1"/>
              <a:t>CloudWatch</a:t>
            </a:r>
            <a:r>
              <a:rPr lang="en-US" dirty="0"/>
              <a:t> agent will record the data of CPU utilization, memory usage, disk i/o other system-level stats.</a:t>
            </a:r>
          </a:p>
          <a:p>
            <a:endParaRPr lang="en-US" dirty="0"/>
          </a:p>
          <a:p>
            <a:r>
              <a:rPr lang="en-US" b="1" dirty="0"/>
              <a:t>Logs</a:t>
            </a:r>
            <a:r>
              <a:rPr lang="en-US" dirty="0"/>
              <a:t>: It will collect all the logs which are used for the further analysis</a:t>
            </a:r>
          </a:p>
          <a:p>
            <a:endParaRPr lang="en-US" dirty="0"/>
          </a:p>
          <a:p>
            <a:r>
              <a:rPr lang="en-US" b="1" dirty="0"/>
              <a:t>Events</a:t>
            </a:r>
            <a:r>
              <a:rPr lang="en-US" dirty="0"/>
              <a:t>: Launching of significant instances, modifications to security groups, and other events.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docs.aws.amazon.com/images/AmazonCloudWatch/latest/monitoring/images/CW-Overvie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8" y="620688"/>
            <a:ext cx="9037469" cy="5760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Metric Streams</a:t>
            </a:r>
          </a:p>
        </p:txBody>
      </p:sp>
      <p:sp>
        <p:nvSpPr>
          <p:cNvPr id="3" name="Content Placeholder 2"/>
          <p:cNvSpPr>
            <a:spLocks noGrp="1"/>
          </p:cNvSpPr>
          <p:nvPr>
            <p:ph idx="1"/>
          </p:nvPr>
        </p:nvSpPr>
        <p:spPr/>
        <p:txBody>
          <a:bodyPr>
            <a:normAutofit lnSpcReduction="10000"/>
          </a:bodyPr>
          <a:lstStyle/>
          <a:p>
            <a:r>
              <a:rPr lang="en-US" dirty="0"/>
              <a:t>Continually stream </a:t>
            </a:r>
            <a:r>
              <a:rPr lang="en-US" dirty="0" err="1"/>
              <a:t>CloudWatch</a:t>
            </a:r>
            <a:r>
              <a:rPr lang="en-US" dirty="0"/>
              <a:t> metrics to a destination of your choice, with near-real-time delivery and low latency.</a:t>
            </a:r>
          </a:p>
          <a:p>
            <a:r>
              <a:rPr lang="en-US" dirty="0"/>
              <a:t>Amazon Kinesis Data </a:t>
            </a:r>
            <a:r>
              <a:rPr lang="en-US" dirty="0" err="1"/>
              <a:t>Firehose</a:t>
            </a:r>
            <a:r>
              <a:rPr lang="en-US" dirty="0"/>
              <a:t> (and then its destinations)</a:t>
            </a:r>
          </a:p>
          <a:p>
            <a:r>
              <a:rPr lang="en-US" dirty="0"/>
              <a:t>3rd party service provider: </a:t>
            </a:r>
            <a:r>
              <a:rPr lang="en-US" dirty="0" err="1"/>
              <a:t>Datadog</a:t>
            </a:r>
            <a:r>
              <a:rPr lang="en-US" dirty="0"/>
              <a:t>, </a:t>
            </a:r>
            <a:r>
              <a:rPr lang="en-US" dirty="0" err="1"/>
              <a:t>Dynatrace</a:t>
            </a:r>
            <a:r>
              <a:rPr lang="en-US" dirty="0"/>
              <a:t>, New Relic, </a:t>
            </a:r>
            <a:r>
              <a:rPr lang="en-US" dirty="0" err="1"/>
              <a:t>Splunk</a:t>
            </a:r>
            <a:r>
              <a:rPr lang="en-US" dirty="0"/>
              <a:t>, Sumo Logic…</a:t>
            </a:r>
          </a:p>
          <a:p>
            <a:r>
              <a:rPr lang="en-US" dirty="0"/>
              <a:t>Option to filter metrics to only stream a subset of them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Logs (Destinations)</a:t>
            </a:r>
          </a:p>
        </p:txBody>
      </p:sp>
      <p:sp>
        <p:nvSpPr>
          <p:cNvPr id="3" name="Content Placeholder 2"/>
          <p:cNvSpPr>
            <a:spLocks noGrp="1"/>
          </p:cNvSpPr>
          <p:nvPr>
            <p:ph idx="1"/>
          </p:nvPr>
        </p:nvSpPr>
        <p:spPr>
          <a:xfrm>
            <a:off x="304800" y="1600200"/>
            <a:ext cx="8382000" cy="5029200"/>
          </a:xfrm>
        </p:spPr>
        <p:txBody>
          <a:bodyPr>
            <a:normAutofit fontScale="77500" lnSpcReduction="20000"/>
          </a:bodyPr>
          <a:lstStyle/>
          <a:p>
            <a:r>
              <a:rPr lang="en-US" dirty="0"/>
              <a:t>Log groups: arbitrary name, usually representing an application</a:t>
            </a:r>
          </a:p>
          <a:p>
            <a:r>
              <a:rPr lang="en-US" dirty="0"/>
              <a:t>Log stream: instances within application / log files / containers</a:t>
            </a:r>
          </a:p>
          <a:p>
            <a:r>
              <a:rPr lang="en-US" dirty="0"/>
              <a:t>Can define log expiration policies (never expire, 1 day to 10 years…)</a:t>
            </a:r>
          </a:p>
          <a:p>
            <a:r>
              <a:rPr lang="en-US" dirty="0" err="1"/>
              <a:t>CloudWatch</a:t>
            </a:r>
            <a:r>
              <a:rPr lang="en-US" dirty="0"/>
              <a:t> Logs can send logs to:</a:t>
            </a:r>
          </a:p>
          <a:p>
            <a:pPr lvl="1"/>
            <a:r>
              <a:rPr lang="en-US" dirty="0"/>
              <a:t>Amazon S3 (exports)</a:t>
            </a:r>
          </a:p>
          <a:p>
            <a:pPr lvl="1"/>
            <a:r>
              <a:rPr lang="en-US" dirty="0"/>
              <a:t>Kinesis Data Streams</a:t>
            </a:r>
          </a:p>
          <a:p>
            <a:pPr lvl="1"/>
            <a:r>
              <a:rPr lang="en-US" dirty="0"/>
              <a:t>Kinesis Data </a:t>
            </a:r>
            <a:r>
              <a:rPr lang="en-US" dirty="0" err="1"/>
              <a:t>Firehose</a:t>
            </a:r>
            <a:endParaRPr lang="en-US" dirty="0"/>
          </a:p>
          <a:p>
            <a:pPr lvl="1"/>
            <a:r>
              <a:rPr lang="en-US" dirty="0"/>
              <a:t>AWS Lambda</a:t>
            </a:r>
          </a:p>
          <a:p>
            <a:pPr lvl="1"/>
            <a:r>
              <a:rPr lang="en-US" dirty="0"/>
              <a:t> </a:t>
            </a:r>
            <a:r>
              <a:rPr lang="en-US" dirty="0" err="1"/>
              <a:t>OpenSearch</a:t>
            </a:r>
            <a:endParaRPr lang="en-US" dirty="0"/>
          </a:p>
          <a:p>
            <a:r>
              <a:rPr lang="en-US" dirty="0"/>
              <a:t>Logs are encrypted by default</a:t>
            </a:r>
          </a:p>
          <a:p>
            <a:r>
              <a:rPr lang="en-US" dirty="0"/>
              <a:t>Can setup KMS-based encryption with your own keys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Logs (Sources)</a:t>
            </a:r>
          </a:p>
        </p:txBody>
      </p:sp>
      <p:sp>
        <p:nvSpPr>
          <p:cNvPr id="3" name="Content Placeholder 2"/>
          <p:cNvSpPr>
            <a:spLocks noGrp="1"/>
          </p:cNvSpPr>
          <p:nvPr>
            <p:ph idx="1"/>
          </p:nvPr>
        </p:nvSpPr>
        <p:spPr/>
        <p:txBody>
          <a:bodyPr>
            <a:normAutofit fontScale="92500" lnSpcReduction="20000"/>
          </a:bodyPr>
          <a:lstStyle/>
          <a:p>
            <a:r>
              <a:rPr lang="en-US" dirty="0"/>
              <a:t>SDK, </a:t>
            </a:r>
            <a:r>
              <a:rPr lang="en-US" dirty="0" err="1"/>
              <a:t>CloudWatch</a:t>
            </a:r>
            <a:r>
              <a:rPr lang="en-US" dirty="0"/>
              <a:t> Logs Agent, </a:t>
            </a:r>
            <a:r>
              <a:rPr lang="en-US" dirty="0" err="1"/>
              <a:t>CloudWatch</a:t>
            </a:r>
            <a:r>
              <a:rPr lang="en-US" dirty="0"/>
              <a:t> Unified Agent</a:t>
            </a:r>
          </a:p>
          <a:p>
            <a:r>
              <a:rPr lang="en-US" dirty="0"/>
              <a:t>Elastic Beanstalk: collection of logs from application</a:t>
            </a:r>
          </a:p>
          <a:p>
            <a:r>
              <a:rPr lang="en-US" dirty="0"/>
              <a:t>ECS: collection from containers</a:t>
            </a:r>
          </a:p>
          <a:p>
            <a:r>
              <a:rPr lang="en-US" dirty="0"/>
              <a:t>AWS Lambda: collection from function logs</a:t>
            </a:r>
          </a:p>
          <a:p>
            <a:r>
              <a:rPr lang="en-US" dirty="0"/>
              <a:t>VPC Flow Logs: VPC specific logs</a:t>
            </a:r>
          </a:p>
          <a:p>
            <a:r>
              <a:rPr lang="en-US" dirty="0"/>
              <a:t>API Gateway</a:t>
            </a:r>
          </a:p>
          <a:p>
            <a:r>
              <a:rPr lang="en-US" dirty="0" err="1"/>
              <a:t>CloudTrail</a:t>
            </a:r>
            <a:r>
              <a:rPr lang="en-US" dirty="0"/>
              <a:t> based on filter</a:t>
            </a:r>
          </a:p>
          <a:p>
            <a:r>
              <a:rPr lang="en-US" dirty="0"/>
              <a:t>Route53: Log DNS queries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Insights</a:t>
            </a:r>
          </a:p>
        </p:txBody>
      </p:sp>
      <p:pic>
        <p:nvPicPr>
          <p:cNvPr id="1026" name="Picture 2"/>
          <p:cNvPicPr>
            <a:picLocks noChangeAspect="1" noChangeArrowheads="1"/>
          </p:cNvPicPr>
          <p:nvPr/>
        </p:nvPicPr>
        <p:blipFill>
          <a:blip r:embed="rId2"/>
          <a:srcRect/>
          <a:stretch>
            <a:fillRect/>
          </a:stretch>
        </p:blipFill>
        <p:spPr bwMode="auto">
          <a:xfrm>
            <a:off x="0" y="1295400"/>
            <a:ext cx="9144000" cy="538709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can be done?</a:t>
            </a:r>
          </a:p>
        </p:txBody>
      </p:sp>
      <p:sp>
        <p:nvSpPr>
          <p:cNvPr id="3" name="Content Placeholder 2"/>
          <p:cNvSpPr>
            <a:spLocks noGrp="1"/>
          </p:cNvSpPr>
          <p:nvPr>
            <p:ph idx="1"/>
          </p:nvPr>
        </p:nvSpPr>
        <p:spPr>
          <a:xfrm>
            <a:off x="228600" y="1295400"/>
            <a:ext cx="8458200" cy="5334000"/>
          </a:xfrm>
        </p:spPr>
        <p:txBody>
          <a:bodyPr>
            <a:normAutofit fontScale="85000" lnSpcReduction="10000"/>
          </a:bodyPr>
          <a:lstStyle/>
          <a:p>
            <a:r>
              <a:rPr lang="en-US" dirty="0"/>
              <a:t>Search and analyze log data stored in </a:t>
            </a:r>
            <a:r>
              <a:rPr lang="en-US" dirty="0" err="1"/>
              <a:t>CloudWatch</a:t>
            </a:r>
            <a:r>
              <a:rPr lang="en-US" dirty="0"/>
              <a:t> Logs</a:t>
            </a:r>
          </a:p>
          <a:p>
            <a:r>
              <a:rPr lang="en-US" dirty="0"/>
              <a:t>Example: find a specific IP inside a log, count occurrences of “ERROR” in your logs…</a:t>
            </a:r>
          </a:p>
          <a:p>
            <a:r>
              <a:rPr lang="en-US" dirty="0"/>
              <a:t>Provides a purpose-built query language</a:t>
            </a:r>
          </a:p>
          <a:p>
            <a:pPr lvl="1"/>
            <a:r>
              <a:rPr lang="en-US" dirty="0"/>
              <a:t>Automatically discovers fields from AWS services and JSON log events</a:t>
            </a:r>
          </a:p>
          <a:p>
            <a:pPr lvl="1"/>
            <a:r>
              <a:rPr lang="en-US" dirty="0"/>
              <a:t>Fetch desired event fields, filter based on conditions, calculate aggregate statistics, sort events, limit number of events…</a:t>
            </a:r>
          </a:p>
          <a:p>
            <a:pPr lvl="1"/>
            <a:r>
              <a:rPr lang="en-US" dirty="0"/>
              <a:t>Can save queries and add them to </a:t>
            </a:r>
            <a:r>
              <a:rPr lang="en-US" dirty="0" err="1"/>
              <a:t>CloudWatch</a:t>
            </a:r>
            <a:r>
              <a:rPr lang="en-US" dirty="0"/>
              <a:t> Dashboards</a:t>
            </a:r>
          </a:p>
          <a:p>
            <a:r>
              <a:rPr lang="en-US" dirty="0"/>
              <a:t>Can query multiple Log Groups in different AWS accounts</a:t>
            </a:r>
          </a:p>
          <a:p>
            <a:r>
              <a:rPr lang="en-US" dirty="0"/>
              <a:t>It’s a query engine, not a real-time engine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Sample</a:t>
            </a:r>
          </a:p>
        </p:txBody>
      </p:sp>
      <p:pic>
        <p:nvPicPr>
          <p:cNvPr id="2050" name="Picture 2"/>
          <p:cNvPicPr>
            <a:picLocks noChangeAspect="1" noChangeArrowheads="1"/>
          </p:cNvPicPr>
          <p:nvPr/>
        </p:nvPicPr>
        <p:blipFill>
          <a:blip r:embed="rId2"/>
          <a:srcRect/>
          <a:stretch>
            <a:fillRect/>
          </a:stretch>
        </p:blipFill>
        <p:spPr bwMode="auto">
          <a:xfrm>
            <a:off x="2667000" y="1414463"/>
            <a:ext cx="4038599" cy="5125793"/>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solidFill>
                  <a:srgbClr val="FF0000"/>
                </a:solidFill>
              </a:rPr>
              <a:t>CloudWatch</a:t>
            </a:r>
            <a:r>
              <a:rPr lang="en-US" dirty="0">
                <a:solidFill>
                  <a:srgbClr val="FF0000"/>
                </a:solidFill>
              </a:rPr>
              <a:t> Logs – S3 Export</a:t>
            </a:r>
          </a:p>
        </p:txBody>
      </p:sp>
      <p:sp>
        <p:nvSpPr>
          <p:cNvPr id="3" name="Content Placeholder 2"/>
          <p:cNvSpPr>
            <a:spLocks noGrp="1"/>
          </p:cNvSpPr>
          <p:nvPr>
            <p:ph idx="1"/>
          </p:nvPr>
        </p:nvSpPr>
        <p:spPr>
          <a:xfrm>
            <a:off x="457200" y="1600201"/>
            <a:ext cx="8229600" cy="2743200"/>
          </a:xfrm>
        </p:spPr>
        <p:txBody>
          <a:bodyPr/>
          <a:lstStyle/>
          <a:p>
            <a:r>
              <a:rPr lang="en-US" dirty="0"/>
              <a:t>Log data can take up to 12 hours to become available for export</a:t>
            </a:r>
          </a:p>
          <a:p>
            <a:r>
              <a:rPr lang="en-US" dirty="0"/>
              <a:t>The API call is </a:t>
            </a:r>
            <a:r>
              <a:rPr lang="en-US" dirty="0" err="1"/>
              <a:t>CreateExportTask</a:t>
            </a:r>
            <a:endParaRPr lang="en-US" dirty="0"/>
          </a:p>
          <a:p>
            <a:r>
              <a:rPr lang="en-US" dirty="0"/>
              <a:t>Not near-real time or real-time… use Logs Subscriptions instead</a:t>
            </a:r>
            <a:endParaRPr lang="en-US" b="1" dirty="0"/>
          </a:p>
        </p:txBody>
      </p:sp>
      <p:pic>
        <p:nvPicPr>
          <p:cNvPr id="3074" name="Picture 2"/>
          <p:cNvPicPr>
            <a:picLocks noChangeAspect="1" noChangeArrowheads="1"/>
          </p:cNvPicPr>
          <p:nvPr/>
        </p:nvPicPr>
        <p:blipFill>
          <a:blip r:embed="rId2"/>
          <a:srcRect/>
          <a:stretch>
            <a:fillRect/>
          </a:stretch>
        </p:blipFill>
        <p:spPr bwMode="auto">
          <a:xfrm>
            <a:off x="2143125" y="4380712"/>
            <a:ext cx="4105275" cy="1943888"/>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Logs Subscriptions</a:t>
            </a:r>
          </a:p>
        </p:txBody>
      </p:sp>
      <p:sp>
        <p:nvSpPr>
          <p:cNvPr id="3" name="Content Placeholder 2"/>
          <p:cNvSpPr>
            <a:spLocks noGrp="1"/>
          </p:cNvSpPr>
          <p:nvPr>
            <p:ph idx="1"/>
          </p:nvPr>
        </p:nvSpPr>
        <p:spPr>
          <a:xfrm>
            <a:off x="381000" y="1600201"/>
            <a:ext cx="8305800" cy="1600200"/>
          </a:xfrm>
        </p:spPr>
        <p:txBody>
          <a:bodyPr>
            <a:normAutofit fontScale="70000" lnSpcReduction="20000"/>
          </a:bodyPr>
          <a:lstStyle/>
          <a:p>
            <a:r>
              <a:rPr lang="en-US" dirty="0"/>
              <a:t>Get a real-time log events from </a:t>
            </a:r>
            <a:r>
              <a:rPr lang="en-US" dirty="0" err="1"/>
              <a:t>CloudWatch</a:t>
            </a:r>
            <a:r>
              <a:rPr lang="en-US" dirty="0"/>
              <a:t> Logs for processing and analysis</a:t>
            </a:r>
          </a:p>
          <a:p>
            <a:r>
              <a:rPr lang="en-US" dirty="0"/>
              <a:t>Send to Kinesis Data Streams, Kinesis Data </a:t>
            </a:r>
            <a:r>
              <a:rPr lang="en-US" dirty="0" err="1"/>
              <a:t>Firehose</a:t>
            </a:r>
            <a:r>
              <a:rPr lang="en-US" dirty="0"/>
              <a:t>, or Lambda</a:t>
            </a:r>
          </a:p>
          <a:p>
            <a:r>
              <a:rPr lang="en-US" dirty="0"/>
              <a:t>Subscription Filter – filter which logs are events delivered to your destination</a:t>
            </a:r>
          </a:p>
        </p:txBody>
      </p:sp>
      <p:pic>
        <p:nvPicPr>
          <p:cNvPr id="4098" name="Picture 2"/>
          <p:cNvPicPr>
            <a:picLocks noChangeAspect="1" noChangeArrowheads="1"/>
          </p:cNvPicPr>
          <p:nvPr/>
        </p:nvPicPr>
        <p:blipFill>
          <a:blip r:embed="rId2"/>
          <a:srcRect/>
          <a:stretch>
            <a:fillRect/>
          </a:stretch>
        </p:blipFill>
        <p:spPr bwMode="auto">
          <a:xfrm>
            <a:off x="129956" y="3429000"/>
            <a:ext cx="8937844" cy="31242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CloudWatch</a:t>
            </a:r>
            <a:r>
              <a:rPr lang="en-US" dirty="0">
                <a:solidFill>
                  <a:srgbClr val="FF0000"/>
                </a:solidFill>
              </a:rPr>
              <a:t> Logs Aggregation</a:t>
            </a:r>
            <a:br>
              <a:rPr lang="en-US" dirty="0">
                <a:solidFill>
                  <a:srgbClr val="FF0000"/>
                </a:solidFill>
              </a:rPr>
            </a:br>
            <a:r>
              <a:rPr lang="en-US" dirty="0">
                <a:solidFill>
                  <a:srgbClr val="FF0000"/>
                </a:solidFill>
              </a:rPr>
              <a:t>Multi-Account &amp; Multi Region</a:t>
            </a:r>
          </a:p>
        </p:txBody>
      </p:sp>
      <p:pic>
        <p:nvPicPr>
          <p:cNvPr id="5122" name="Picture 2"/>
          <p:cNvPicPr>
            <a:picLocks noChangeAspect="1" noChangeArrowheads="1"/>
          </p:cNvPicPr>
          <p:nvPr/>
        </p:nvPicPr>
        <p:blipFill>
          <a:blip r:embed="rId2"/>
          <a:srcRect/>
          <a:stretch>
            <a:fillRect/>
          </a:stretch>
        </p:blipFill>
        <p:spPr bwMode="auto">
          <a:xfrm>
            <a:off x="47625" y="1752600"/>
            <a:ext cx="9048750" cy="4191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solidFill>
                  <a:srgbClr val="FF0000"/>
                </a:solidFill>
              </a:rPr>
              <a:t>CloudWatch</a:t>
            </a:r>
            <a:r>
              <a:rPr lang="en-US" dirty="0">
                <a:solidFill>
                  <a:srgbClr val="FF0000"/>
                </a:solidFill>
              </a:rPr>
              <a:t> Logs Subscriptions</a:t>
            </a:r>
          </a:p>
        </p:txBody>
      </p:sp>
      <p:sp>
        <p:nvSpPr>
          <p:cNvPr id="3" name="Content Placeholder 2"/>
          <p:cNvSpPr>
            <a:spLocks noGrp="1"/>
          </p:cNvSpPr>
          <p:nvPr>
            <p:ph idx="1"/>
          </p:nvPr>
        </p:nvSpPr>
        <p:spPr>
          <a:xfrm>
            <a:off x="457200" y="1600201"/>
            <a:ext cx="8229600" cy="1600200"/>
          </a:xfrm>
        </p:spPr>
        <p:txBody>
          <a:bodyPr/>
          <a:lstStyle/>
          <a:p>
            <a:r>
              <a:rPr lang="en-US" dirty="0"/>
              <a:t>Cross-Account Subscription – send log events to resources in a different AWS account (KDS, KDF)</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133517" y="3200401"/>
            <a:ext cx="8934283" cy="33528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Logs for EC2</a:t>
            </a:r>
          </a:p>
        </p:txBody>
      </p:sp>
      <p:sp>
        <p:nvSpPr>
          <p:cNvPr id="3" name="Content Placeholder 2"/>
          <p:cNvSpPr>
            <a:spLocks noGrp="1"/>
          </p:cNvSpPr>
          <p:nvPr>
            <p:ph idx="1"/>
          </p:nvPr>
        </p:nvSpPr>
        <p:spPr>
          <a:xfrm>
            <a:off x="457200" y="1600201"/>
            <a:ext cx="8229600" cy="1905000"/>
          </a:xfrm>
        </p:spPr>
        <p:txBody>
          <a:bodyPr>
            <a:normAutofit fontScale="70000" lnSpcReduction="20000"/>
          </a:bodyPr>
          <a:lstStyle/>
          <a:p>
            <a:r>
              <a:rPr lang="en-US" dirty="0"/>
              <a:t>By default, no logs from your EC2 machine will go to </a:t>
            </a:r>
            <a:r>
              <a:rPr lang="en-US" dirty="0" err="1"/>
              <a:t>CloudWatch</a:t>
            </a:r>
            <a:endParaRPr lang="en-US" dirty="0"/>
          </a:p>
          <a:p>
            <a:r>
              <a:rPr lang="en-US" dirty="0"/>
              <a:t>You need to run a </a:t>
            </a:r>
            <a:r>
              <a:rPr lang="en-US" dirty="0" err="1"/>
              <a:t>CloudWatch</a:t>
            </a:r>
            <a:r>
              <a:rPr lang="en-US" dirty="0"/>
              <a:t> agent on EC2 to push the log files you want</a:t>
            </a:r>
          </a:p>
          <a:p>
            <a:r>
              <a:rPr lang="en-US" dirty="0"/>
              <a:t>Make sure IAM permissions are correct</a:t>
            </a:r>
          </a:p>
          <a:p>
            <a:r>
              <a:rPr lang="en-US" dirty="0"/>
              <a:t>The </a:t>
            </a:r>
            <a:r>
              <a:rPr lang="en-US" dirty="0" err="1"/>
              <a:t>CloudWatch</a:t>
            </a:r>
            <a:r>
              <a:rPr lang="en-US" dirty="0"/>
              <a:t> log agent can be setup on-premises too</a:t>
            </a:r>
          </a:p>
        </p:txBody>
      </p:sp>
      <p:pic>
        <p:nvPicPr>
          <p:cNvPr id="7170" name="Picture 2"/>
          <p:cNvPicPr>
            <a:picLocks noChangeAspect="1" noChangeArrowheads="1"/>
          </p:cNvPicPr>
          <p:nvPr/>
        </p:nvPicPr>
        <p:blipFill>
          <a:blip r:embed="rId2"/>
          <a:srcRect/>
          <a:stretch>
            <a:fillRect/>
          </a:stretch>
        </p:blipFill>
        <p:spPr bwMode="auto">
          <a:xfrm>
            <a:off x="2667000" y="3267075"/>
            <a:ext cx="3590925" cy="349963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CloudWatch</a:t>
            </a:r>
            <a:r>
              <a:rPr lang="en-US" dirty="0">
                <a:solidFill>
                  <a:srgbClr val="FF0000"/>
                </a:solidFill>
              </a:rPr>
              <a:t> Logs Agent &amp; Unified Agent</a:t>
            </a:r>
          </a:p>
        </p:txBody>
      </p:sp>
      <p:sp>
        <p:nvSpPr>
          <p:cNvPr id="3" name="Content Placeholder 2"/>
          <p:cNvSpPr>
            <a:spLocks noGrp="1"/>
          </p:cNvSpPr>
          <p:nvPr>
            <p:ph idx="1"/>
          </p:nvPr>
        </p:nvSpPr>
        <p:spPr/>
        <p:txBody>
          <a:bodyPr>
            <a:normAutofit fontScale="92500" lnSpcReduction="10000"/>
          </a:bodyPr>
          <a:lstStyle/>
          <a:p>
            <a:r>
              <a:rPr lang="en-US" dirty="0"/>
              <a:t>For virtual servers (EC2 instances, on-premises servers…)</a:t>
            </a:r>
          </a:p>
          <a:p>
            <a:r>
              <a:rPr lang="en-US" dirty="0" err="1"/>
              <a:t>CloudWatch</a:t>
            </a:r>
            <a:r>
              <a:rPr lang="en-US" dirty="0"/>
              <a:t> Logs Agent</a:t>
            </a:r>
          </a:p>
          <a:p>
            <a:pPr lvl="1"/>
            <a:r>
              <a:rPr lang="en-US" dirty="0"/>
              <a:t>Old version of the agent</a:t>
            </a:r>
          </a:p>
          <a:p>
            <a:pPr lvl="1"/>
            <a:r>
              <a:rPr lang="en-US" dirty="0"/>
              <a:t>Can only send to </a:t>
            </a:r>
            <a:r>
              <a:rPr lang="en-US" dirty="0" err="1"/>
              <a:t>CloudWatch</a:t>
            </a:r>
            <a:r>
              <a:rPr lang="en-US" dirty="0"/>
              <a:t> Logs</a:t>
            </a:r>
          </a:p>
          <a:p>
            <a:r>
              <a:rPr lang="en-US" dirty="0" err="1"/>
              <a:t>CloudWatch</a:t>
            </a:r>
            <a:r>
              <a:rPr lang="en-US" dirty="0"/>
              <a:t> Unified Agent</a:t>
            </a:r>
          </a:p>
          <a:p>
            <a:pPr lvl="1"/>
            <a:r>
              <a:rPr lang="en-US" dirty="0"/>
              <a:t>Collect additional system-level metrics such as RAM, processes, etc…</a:t>
            </a:r>
          </a:p>
          <a:p>
            <a:pPr lvl="1"/>
            <a:r>
              <a:rPr lang="en-US" dirty="0"/>
              <a:t>Collect logs to send to </a:t>
            </a:r>
            <a:r>
              <a:rPr lang="en-US" dirty="0" err="1"/>
              <a:t>CloudWatch</a:t>
            </a:r>
            <a:r>
              <a:rPr lang="en-US" dirty="0"/>
              <a:t> Logs</a:t>
            </a:r>
          </a:p>
          <a:p>
            <a:pPr lvl="1"/>
            <a:r>
              <a:rPr lang="en-US" dirty="0"/>
              <a:t>Centralized configuration using SSM Parameter Store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CloudWatch</a:t>
            </a:r>
            <a:r>
              <a:rPr lang="en-US" dirty="0">
                <a:solidFill>
                  <a:srgbClr val="FF0000"/>
                </a:solidFill>
              </a:rPr>
              <a:t> Unified Agent – Metrics</a:t>
            </a:r>
          </a:p>
        </p:txBody>
      </p:sp>
      <p:sp>
        <p:nvSpPr>
          <p:cNvPr id="3" name="Content Placeholder 2"/>
          <p:cNvSpPr>
            <a:spLocks noGrp="1"/>
          </p:cNvSpPr>
          <p:nvPr>
            <p:ph idx="1"/>
          </p:nvPr>
        </p:nvSpPr>
        <p:spPr/>
        <p:txBody>
          <a:bodyPr>
            <a:normAutofit fontScale="85000" lnSpcReduction="20000"/>
          </a:bodyPr>
          <a:lstStyle/>
          <a:p>
            <a:pPr>
              <a:buNone/>
            </a:pPr>
            <a:r>
              <a:rPr lang="en-US" dirty="0"/>
              <a:t>Collected directly on your Linux server / EC2 instance</a:t>
            </a:r>
          </a:p>
          <a:p>
            <a:r>
              <a:rPr lang="en-US" dirty="0"/>
              <a:t> CPU (active, guest, idle, system, user, steal)</a:t>
            </a:r>
          </a:p>
          <a:p>
            <a:r>
              <a:rPr lang="en-US" dirty="0"/>
              <a:t>Disk metrics (free, used, total), Disk IO (writes, reads, bytes, </a:t>
            </a:r>
            <a:r>
              <a:rPr lang="en-US" dirty="0" err="1"/>
              <a:t>iops</a:t>
            </a:r>
            <a:r>
              <a:rPr lang="en-US" dirty="0"/>
              <a:t>)</a:t>
            </a:r>
          </a:p>
          <a:p>
            <a:r>
              <a:rPr lang="en-US" dirty="0"/>
              <a:t> RAM (free, inactive, used, total, cached)</a:t>
            </a:r>
          </a:p>
          <a:p>
            <a:r>
              <a:rPr lang="en-US" dirty="0" err="1"/>
              <a:t>Netstat</a:t>
            </a:r>
            <a:r>
              <a:rPr lang="en-US" dirty="0"/>
              <a:t> (number of TCP and UDP connections, net packets, bytes)</a:t>
            </a:r>
          </a:p>
          <a:p>
            <a:r>
              <a:rPr lang="en-US" dirty="0"/>
              <a:t>Processes (total, dead, </a:t>
            </a:r>
            <a:r>
              <a:rPr lang="en-US" dirty="0" err="1"/>
              <a:t>bloqued</a:t>
            </a:r>
            <a:r>
              <a:rPr lang="en-US" dirty="0"/>
              <a:t>, idle, running, sleep)</a:t>
            </a:r>
          </a:p>
          <a:p>
            <a:r>
              <a:rPr lang="en-US" dirty="0"/>
              <a:t>Swap Space (free, used, used %)</a:t>
            </a:r>
          </a:p>
          <a:p>
            <a:pPr>
              <a:buNone/>
            </a:pPr>
            <a:r>
              <a:rPr lang="en-US" b="1" dirty="0"/>
              <a:t>Reminder:</a:t>
            </a:r>
            <a:r>
              <a:rPr lang="en-US" dirty="0"/>
              <a:t> out-of-the box metrics for EC2 – disk, CPU, network (high level)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Alarms</a:t>
            </a:r>
          </a:p>
        </p:txBody>
      </p:sp>
      <p:sp>
        <p:nvSpPr>
          <p:cNvPr id="3" name="Content Placeholder 2"/>
          <p:cNvSpPr>
            <a:spLocks noGrp="1"/>
          </p:cNvSpPr>
          <p:nvPr>
            <p:ph idx="1"/>
          </p:nvPr>
        </p:nvSpPr>
        <p:spPr/>
        <p:txBody>
          <a:bodyPr>
            <a:normAutofit fontScale="92500" lnSpcReduction="20000"/>
          </a:bodyPr>
          <a:lstStyle/>
          <a:p>
            <a:r>
              <a:rPr lang="en-US" dirty="0"/>
              <a:t>Alarms are used to trigger notifications for any metric</a:t>
            </a:r>
          </a:p>
          <a:p>
            <a:r>
              <a:rPr lang="en-US" dirty="0"/>
              <a:t>Various options (sampling, %, max, min, etc…)</a:t>
            </a:r>
          </a:p>
          <a:p>
            <a:r>
              <a:rPr lang="en-US" dirty="0"/>
              <a:t>Alarm States:</a:t>
            </a:r>
          </a:p>
          <a:p>
            <a:pPr lvl="1"/>
            <a:r>
              <a:rPr lang="en-US" dirty="0"/>
              <a:t>OK</a:t>
            </a:r>
          </a:p>
          <a:p>
            <a:pPr lvl="1"/>
            <a:r>
              <a:rPr lang="en-US" dirty="0"/>
              <a:t>INSUFFICIENT_DATA</a:t>
            </a:r>
          </a:p>
          <a:p>
            <a:pPr lvl="1"/>
            <a:r>
              <a:rPr lang="en-US" dirty="0"/>
              <a:t>ALARM</a:t>
            </a:r>
          </a:p>
          <a:p>
            <a:r>
              <a:rPr lang="en-US" dirty="0"/>
              <a:t>Period:</a:t>
            </a:r>
          </a:p>
          <a:p>
            <a:pPr lvl="1"/>
            <a:r>
              <a:rPr lang="en-US" dirty="0"/>
              <a:t>Length of time in seconds to evaluate the metric</a:t>
            </a:r>
          </a:p>
          <a:p>
            <a:pPr lvl="1"/>
            <a:r>
              <a:rPr lang="en-US" dirty="0"/>
              <a:t>High resolution custom metrics: 10 sec, 30 sec or multiples of 60 sec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Alarm Targets</a:t>
            </a:r>
          </a:p>
        </p:txBody>
      </p:sp>
      <p:sp>
        <p:nvSpPr>
          <p:cNvPr id="3" name="Content Placeholder 2"/>
          <p:cNvSpPr>
            <a:spLocks noGrp="1"/>
          </p:cNvSpPr>
          <p:nvPr>
            <p:ph idx="1"/>
          </p:nvPr>
        </p:nvSpPr>
        <p:spPr>
          <a:xfrm>
            <a:off x="304800" y="1600201"/>
            <a:ext cx="8382000" cy="1600200"/>
          </a:xfrm>
        </p:spPr>
        <p:txBody>
          <a:bodyPr>
            <a:normAutofit fontScale="85000" lnSpcReduction="20000"/>
          </a:bodyPr>
          <a:lstStyle/>
          <a:p>
            <a:r>
              <a:rPr lang="en-US" dirty="0"/>
              <a:t>Stop, Terminate, Reboot, or Recover an EC2 Instance</a:t>
            </a:r>
          </a:p>
          <a:p>
            <a:r>
              <a:rPr lang="en-US" dirty="0"/>
              <a:t>Trigger Auto Scaling Action</a:t>
            </a:r>
          </a:p>
          <a:p>
            <a:r>
              <a:rPr lang="en-US" dirty="0"/>
              <a:t>Send notification to SNS (from which you can do pretty much anything)</a:t>
            </a:r>
          </a:p>
        </p:txBody>
      </p:sp>
      <p:pic>
        <p:nvPicPr>
          <p:cNvPr id="8194" name="Picture 2"/>
          <p:cNvPicPr>
            <a:picLocks noChangeAspect="1" noChangeArrowheads="1"/>
          </p:cNvPicPr>
          <p:nvPr/>
        </p:nvPicPr>
        <p:blipFill>
          <a:blip r:embed="rId2"/>
          <a:srcRect/>
          <a:stretch>
            <a:fillRect/>
          </a:stretch>
        </p:blipFill>
        <p:spPr bwMode="auto">
          <a:xfrm>
            <a:off x="847725" y="3771900"/>
            <a:ext cx="7448550" cy="16383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CloudWatch</a:t>
            </a:r>
            <a:r>
              <a:rPr lang="en-US" dirty="0">
                <a:solidFill>
                  <a:srgbClr val="FF0000"/>
                </a:solidFill>
              </a:rPr>
              <a:t> Alarms – Composite Alarms</a:t>
            </a:r>
          </a:p>
        </p:txBody>
      </p:sp>
      <p:sp>
        <p:nvSpPr>
          <p:cNvPr id="3" name="Content Placeholder 2"/>
          <p:cNvSpPr>
            <a:spLocks noGrp="1"/>
          </p:cNvSpPr>
          <p:nvPr>
            <p:ph idx="1"/>
          </p:nvPr>
        </p:nvSpPr>
        <p:spPr>
          <a:xfrm>
            <a:off x="457200" y="1600200"/>
            <a:ext cx="8229600" cy="1981199"/>
          </a:xfrm>
        </p:spPr>
        <p:txBody>
          <a:bodyPr>
            <a:normAutofit fontScale="70000" lnSpcReduction="20000"/>
          </a:bodyPr>
          <a:lstStyle/>
          <a:p>
            <a:r>
              <a:rPr lang="en-US" dirty="0" err="1"/>
              <a:t>CloudWatch</a:t>
            </a:r>
            <a:r>
              <a:rPr lang="en-US" dirty="0"/>
              <a:t> Alarms are on a single metric</a:t>
            </a:r>
          </a:p>
          <a:p>
            <a:r>
              <a:rPr lang="en-US" dirty="0"/>
              <a:t>Composite Alarms are monitoring the states of multiple other alarms</a:t>
            </a:r>
          </a:p>
          <a:p>
            <a:r>
              <a:rPr lang="en-US" dirty="0"/>
              <a:t>AND </a:t>
            </a:r>
            <a:r>
              <a:rPr lang="en-US" dirty="0" err="1"/>
              <a:t>and</a:t>
            </a:r>
            <a:r>
              <a:rPr lang="en-US" dirty="0"/>
              <a:t> OR conditions</a:t>
            </a:r>
          </a:p>
          <a:p>
            <a:r>
              <a:rPr lang="en-US" dirty="0"/>
              <a:t>Helpful to reduce “alarm noise” by creating complex composite alarms</a:t>
            </a:r>
          </a:p>
        </p:txBody>
      </p:sp>
      <p:pic>
        <p:nvPicPr>
          <p:cNvPr id="9218" name="Picture 2"/>
          <p:cNvPicPr>
            <a:picLocks noChangeAspect="1" noChangeArrowheads="1"/>
          </p:cNvPicPr>
          <p:nvPr/>
        </p:nvPicPr>
        <p:blipFill>
          <a:blip r:embed="rId2"/>
          <a:srcRect/>
          <a:stretch>
            <a:fillRect/>
          </a:stretch>
        </p:blipFill>
        <p:spPr bwMode="auto">
          <a:xfrm>
            <a:off x="47297" y="3657600"/>
            <a:ext cx="8868103" cy="27432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EC2 Instance Recovery</a:t>
            </a:r>
          </a:p>
        </p:txBody>
      </p:sp>
      <p:sp>
        <p:nvSpPr>
          <p:cNvPr id="3" name="Content Placeholder 2"/>
          <p:cNvSpPr>
            <a:spLocks noGrp="1"/>
          </p:cNvSpPr>
          <p:nvPr>
            <p:ph idx="1"/>
          </p:nvPr>
        </p:nvSpPr>
        <p:spPr>
          <a:xfrm>
            <a:off x="304800" y="1600200"/>
            <a:ext cx="8382000" cy="5257800"/>
          </a:xfrm>
        </p:spPr>
        <p:txBody>
          <a:bodyPr>
            <a:normAutofit/>
          </a:bodyPr>
          <a:lstStyle/>
          <a:p>
            <a:r>
              <a:rPr lang="en-US" dirty="0"/>
              <a:t>Status Check:</a:t>
            </a:r>
          </a:p>
          <a:p>
            <a:r>
              <a:rPr lang="en-US" dirty="0"/>
              <a:t>Instance status = check the EC2 VM</a:t>
            </a:r>
          </a:p>
          <a:p>
            <a:r>
              <a:rPr lang="en-US" dirty="0"/>
              <a:t>System status = check the underlying hardware</a:t>
            </a:r>
          </a:p>
          <a:p>
            <a:endParaRPr lang="en-US" dirty="0"/>
          </a:p>
          <a:p>
            <a:endParaRPr lang="en-US" dirty="0"/>
          </a:p>
          <a:p>
            <a:endParaRPr lang="en-US" dirty="0"/>
          </a:p>
          <a:p>
            <a:endParaRPr lang="en-US" dirty="0"/>
          </a:p>
          <a:p>
            <a:pPr>
              <a:buNone/>
            </a:pPr>
            <a:r>
              <a:rPr lang="en-US" b="1" dirty="0"/>
              <a:t>Recovery:</a:t>
            </a:r>
            <a:r>
              <a:rPr lang="en-US" dirty="0"/>
              <a:t> Same Private, Public, Elastic IP, metadata, placement group</a:t>
            </a:r>
          </a:p>
        </p:txBody>
      </p:sp>
      <p:pic>
        <p:nvPicPr>
          <p:cNvPr id="10242" name="Picture 2"/>
          <p:cNvPicPr>
            <a:picLocks noChangeAspect="1" noChangeArrowheads="1"/>
          </p:cNvPicPr>
          <p:nvPr/>
        </p:nvPicPr>
        <p:blipFill>
          <a:blip r:embed="rId2"/>
          <a:srcRect/>
          <a:stretch>
            <a:fillRect/>
          </a:stretch>
        </p:blipFill>
        <p:spPr bwMode="auto">
          <a:xfrm>
            <a:off x="762001" y="3371850"/>
            <a:ext cx="7119938" cy="2192326"/>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Alarm: good to know</a:t>
            </a:r>
          </a:p>
        </p:txBody>
      </p:sp>
      <p:sp>
        <p:nvSpPr>
          <p:cNvPr id="3" name="Content Placeholder 2"/>
          <p:cNvSpPr>
            <a:spLocks noGrp="1"/>
          </p:cNvSpPr>
          <p:nvPr>
            <p:ph idx="1"/>
          </p:nvPr>
        </p:nvSpPr>
        <p:spPr>
          <a:xfrm>
            <a:off x="381000" y="1600200"/>
            <a:ext cx="8305800" cy="5257800"/>
          </a:xfrm>
        </p:spPr>
        <p:txBody>
          <a:bodyPr>
            <a:normAutofit fontScale="85000" lnSpcReduction="20000"/>
          </a:bodyPr>
          <a:lstStyle/>
          <a:p>
            <a:r>
              <a:rPr lang="en-US" dirty="0"/>
              <a:t>Alarms can be created based on </a:t>
            </a:r>
            <a:r>
              <a:rPr lang="en-US" dirty="0" err="1"/>
              <a:t>CloudWatch</a:t>
            </a:r>
            <a:r>
              <a:rPr lang="en-US" dirty="0"/>
              <a:t> Logs Metrics Filters</a:t>
            </a:r>
          </a:p>
          <a:p>
            <a:endParaRPr lang="en-US" dirty="0"/>
          </a:p>
          <a:p>
            <a:endParaRPr lang="en-US" dirty="0"/>
          </a:p>
          <a:p>
            <a:endParaRPr lang="en-US" dirty="0"/>
          </a:p>
          <a:p>
            <a:endParaRPr lang="en-US" dirty="0"/>
          </a:p>
          <a:p>
            <a:endParaRPr lang="en-US" dirty="0"/>
          </a:p>
          <a:p>
            <a:endParaRPr lang="en-US" dirty="0"/>
          </a:p>
          <a:p>
            <a:r>
              <a:rPr lang="en-US" dirty="0"/>
              <a:t>• To test alarms and notifications, set the alarm state to Alarm using CLI</a:t>
            </a:r>
          </a:p>
          <a:p>
            <a:r>
              <a:rPr lang="en-US" dirty="0" err="1"/>
              <a:t>aws</a:t>
            </a:r>
            <a:r>
              <a:rPr lang="en-US" dirty="0"/>
              <a:t> </a:t>
            </a:r>
            <a:r>
              <a:rPr lang="en-US" dirty="0" err="1"/>
              <a:t>cloudwatch</a:t>
            </a:r>
            <a:r>
              <a:rPr lang="en-US" dirty="0"/>
              <a:t> set-alarm-state --alarm-name "</a:t>
            </a:r>
            <a:r>
              <a:rPr lang="en-US" dirty="0" err="1"/>
              <a:t>myalarm</a:t>
            </a:r>
            <a:r>
              <a:rPr lang="en-US" dirty="0"/>
              <a:t>" --state-value</a:t>
            </a:r>
          </a:p>
          <a:p>
            <a:r>
              <a:rPr lang="en-US" dirty="0"/>
              <a:t>ALARM --state-reason "testing purposes"</a:t>
            </a:r>
          </a:p>
        </p:txBody>
      </p:sp>
      <p:pic>
        <p:nvPicPr>
          <p:cNvPr id="11266" name="Picture 2"/>
          <p:cNvPicPr>
            <a:picLocks noChangeAspect="1" noChangeArrowheads="1"/>
          </p:cNvPicPr>
          <p:nvPr/>
        </p:nvPicPr>
        <p:blipFill>
          <a:blip r:embed="rId2"/>
          <a:srcRect/>
          <a:stretch>
            <a:fillRect/>
          </a:stretch>
        </p:blipFill>
        <p:spPr bwMode="auto">
          <a:xfrm>
            <a:off x="1465688" y="2590800"/>
            <a:ext cx="5849512" cy="207645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Amazon </a:t>
            </a:r>
            <a:r>
              <a:rPr lang="en-US" dirty="0" err="1">
                <a:solidFill>
                  <a:srgbClr val="FF0000"/>
                </a:solidFill>
              </a:rPr>
              <a:t>EventBridge</a:t>
            </a:r>
            <a:br>
              <a:rPr lang="en-US" dirty="0">
                <a:solidFill>
                  <a:srgbClr val="FF0000"/>
                </a:solidFill>
              </a:rPr>
            </a:br>
            <a:r>
              <a:rPr lang="en-US" dirty="0">
                <a:solidFill>
                  <a:srgbClr val="FF0000"/>
                </a:solidFill>
              </a:rPr>
              <a:t>(formerly </a:t>
            </a:r>
            <a:r>
              <a:rPr lang="en-US" dirty="0" err="1">
                <a:solidFill>
                  <a:srgbClr val="FF0000"/>
                </a:solidFill>
              </a:rPr>
              <a:t>CloudWatch</a:t>
            </a:r>
            <a:r>
              <a:rPr lang="en-US" dirty="0">
                <a:solidFill>
                  <a:srgbClr val="FF0000"/>
                </a:solidFill>
              </a:rPr>
              <a:t> Events)</a:t>
            </a:r>
          </a:p>
        </p:txBody>
      </p:sp>
      <p:sp>
        <p:nvSpPr>
          <p:cNvPr id="3" name="Content Placeholder 2"/>
          <p:cNvSpPr>
            <a:spLocks noGrp="1"/>
          </p:cNvSpPr>
          <p:nvPr>
            <p:ph idx="1"/>
          </p:nvPr>
        </p:nvSpPr>
        <p:spPr/>
        <p:txBody>
          <a:bodyPr>
            <a:normAutofit fontScale="85000" lnSpcReduction="10000"/>
          </a:bodyPr>
          <a:lstStyle/>
          <a:p>
            <a:r>
              <a:rPr lang="en-US" dirty="0"/>
              <a:t>Schedule: </a:t>
            </a:r>
            <a:r>
              <a:rPr lang="en-US" dirty="0" err="1"/>
              <a:t>Cron</a:t>
            </a:r>
            <a:r>
              <a:rPr lang="en-US" dirty="0"/>
              <a:t> jobs (scheduled scripts)</a:t>
            </a:r>
          </a:p>
          <a:p>
            <a:endParaRPr lang="en-US" dirty="0"/>
          </a:p>
          <a:p>
            <a:endParaRPr lang="en-US" dirty="0"/>
          </a:p>
          <a:p>
            <a:endParaRPr lang="en-US" dirty="0"/>
          </a:p>
          <a:p>
            <a:r>
              <a:rPr lang="en-US" dirty="0"/>
              <a:t>• Event Pattern: Event rules to react to a service doing something</a:t>
            </a:r>
          </a:p>
          <a:p>
            <a:endParaRPr lang="en-US" dirty="0"/>
          </a:p>
          <a:p>
            <a:endParaRPr lang="en-US" dirty="0"/>
          </a:p>
          <a:p>
            <a:endParaRPr lang="en-US" dirty="0"/>
          </a:p>
          <a:p>
            <a:r>
              <a:rPr lang="en-US" dirty="0"/>
              <a:t>• Trigger Lambda functions, send SQS/SNS messages…</a:t>
            </a:r>
          </a:p>
        </p:txBody>
      </p:sp>
      <p:pic>
        <p:nvPicPr>
          <p:cNvPr id="12290" name="Picture 2"/>
          <p:cNvPicPr>
            <a:picLocks noChangeAspect="1" noChangeArrowheads="1"/>
          </p:cNvPicPr>
          <p:nvPr/>
        </p:nvPicPr>
        <p:blipFill>
          <a:blip r:embed="rId2"/>
          <a:srcRect/>
          <a:stretch>
            <a:fillRect/>
          </a:stretch>
        </p:blipFill>
        <p:spPr bwMode="auto">
          <a:xfrm>
            <a:off x="471311" y="2209800"/>
            <a:ext cx="8139289" cy="914400"/>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619125" y="4352925"/>
            <a:ext cx="8143875" cy="90487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EventBridge</a:t>
            </a:r>
            <a:r>
              <a:rPr lang="en-US" dirty="0">
                <a:solidFill>
                  <a:srgbClr val="FF0000"/>
                </a:solidFill>
              </a:rPr>
              <a:t> Rules</a:t>
            </a:r>
          </a:p>
        </p:txBody>
      </p:sp>
      <p:pic>
        <p:nvPicPr>
          <p:cNvPr id="13315" name="Picture 3"/>
          <p:cNvPicPr>
            <a:picLocks noChangeAspect="1" noChangeArrowheads="1"/>
          </p:cNvPicPr>
          <p:nvPr/>
        </p:nvPicPr>
        <p:blipFill>
          <a:blip r:embed="rId2"/>
          <a:srcRect/>
          <a:stretch>
            <a:fillRect/>
          </a:stretch>
        </p:blipFill>
        <p:spPr bwMode="auto">
          <a:xfrm>
            <a:off x="61913" y="1590675"/>
            <a:ext cx="9020175" cy="4657725"/>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a:t>
            </a:r>
            <a:r>
              <a:rPr lang="en-US" dirty="0" err="1">
                <a:solidFill>
                  <a:srgbClr val="FF0000"/>
                </a:solidFill>
              </a:rPr>
              <a:t>EventBridge</a:t>
            </a:r>
            <a:endParaRPr lang="en-US" dirty="0">
              <a:solidFill>
                <a:srgbClr val="FF0000"/>
              </a:solidFill>
            </a:endParaRPr>
          </a:p>
        </p:txBody>
      </p:sp>
      <p:sp>
        <p:nvSpPr>
          <p:cNvPr id="3" name="Content Placeholder 2"/>
          <p:cNvSpPr>
            <a:spLocks noGrp="1"/>
          </p:cNvSpPr>
          <p:nvPr>
            <p:ph idx="1"/>
          </p:nvPr>
        </p:nvSpPr>
        <p:spPr>
          <a:xfrm>
            <a:off x="457200" y="1600200"/>
            <a:ext cx="8229600" cy="1981199"/>
          </a:xfrm>
        </p:spPr>
        <p:txBody>
          <a:bodyPr>
            <a:normAutofit fontScale="85000" lnSpcReduction="20000"/>
          </a:bodyPr>
          <a:lstStyle/>
          <a:p>
            <a:r>
              <a:rPr lang="en-US" dirty="0"/>
              <a:t>Event buses can be accessed by other AWS accounts using Resource-based Policies</a:t>
            </a:r>
          </a:p>
          <a:p>
            <a:r>
              <a:rPr lang="en-US" dirty="0"/>
              <a:t>You can archive events (all/filter) sent to an event bus (indefinitely or set period)</a:t>
            </a:r>
          </a:p>
          <a:p>
            <a:r>
              <a:rPr lang="en-US" dirty="0"/>
              <a:t>Ability to replay archived events</a:t>
            </a:r>
          </a:p>
        </p:txBody>
      </p:sp>
      <p:pic>
        <p:nvPicPr>
          <p:cNvPr id="14339" name="Picture 3"/>
          <p:cNvPicPr>
            <a:picLocks noChangeAspect="1" noChangeArrowheads="1"/>
          </p:cNvPicPr>
          <p:nvPr/>
        </p:nvPicPr>
        <p:blipFill>
          <a:blip r:embed="rId2"/>
          <a:srcRect/>
          <a:stretch>
            <a:fillRect/>
          </a:stretch>
        </p:blipFill>
        <p:spPr bwMode="auto">
          <a:xfrm>
            <a:off x="76200" y="3962401"/>
            <a:ext cx="8991600" cy="23622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Container Insights</a:t>
            </a:r>
          </a:p>
        </p:txBody>
      </p:sp>
      <p:sp>
        <p:nvSpPr>
          <p:cNvPr id="3" name="Content Placeholder 2"/>
          <p:cNvSpPr>
            <a:spLocks noGrp="1"/>
          </p:cNvSpPr>
          <p:nvPr>
            <p:ph idx="1"/>
          </p:nvPr>
        </p:nvSpPr>
        <p:spPr>
          <a:xfrm>
            <a:off x="228600" y="1600200"/>
            <a:ext cx="4800600" cy="5257800"/>
          </a:xfrm>
        </p:spPr>
        <p:txBody>
          <a:bodyPr>
            <a:normAutofit fontScale="77500" lnSpcReduction="20000"/>
          </a:bodyPr>
          <a:lstStyle/>
          <a:p>
            <a:r>
              <a:rPr lang="en-US" dirty="0"/>
              <a:t>Collect, aggregate, summarize metrics and logs from containers</a:t>
            </a:r>
          </a:p>
          <a:p>
            <a:r>
              <a:rPr lang="en-US" dirty="0"/>
              <a:t>Available for containers on…</a:t>
            </a:r>
          </a:p>
          <a:p>
            <a:r>
              <a:rPr lang="en-US" dirty="0"/>
              <a:t>Amazon Elastic Container Service (Amazon ECS)</a:t>
            </a:r>
          </a:p>
          <a:p>
            <a:pPr lvl="1"/>
            <a:r>
              <a:rPr lang="pt-BR" dirty="0"/>
              <a:t>• Amazon Elastic Kubernetes Services (Amazon EKS)</a:t>
            </a:r>
          </a:p>
          <a:p>
            <a:pPr lvl="1"/>
            <a:r>
              <a:rPr lang="en-US" dirty="0"/>
              <a:t>• </a:t>
            </a:r>
            <a:r>
              <a:rPr lang="en-US" dirty="0" err="1"/>
              <a:t>Kubernetes</a:t>
            </a:r>
            <a:r>
              <a:rPr lang="en-US" dirty="0"/>
              <a:t> platforms on EC2</a:t>
            </a:r>
          </a:p>
          <a:p>
            <a:pPr lvl="1"/>
            <a:r>
              <a:rPr lang="en-US" dirty="0"/>
              <a:t>• </a:t>
            </a:r>
            <a:r>
              <a:rPr lang="en-US" dirty="0" err="1"/>
              <a:t>Fargate</a:t>
            </a:r>
            <a:r>
              <a:rPr lang="en-US" dirty="0"/>
              <a:t> (both for ECS and EKS)</a:t>
            </a:r>
          </a:p>
          <a:p>
            <a:r>
              <a:rPr lang="en-US" dirty="0"/>
              <a:t>In Amazon EKS and </a:t>
            </a:r>
            <a:r>
              <a:rPr lang="en-US" dirty="0" err="1"/>
              <a:t>Kubernetes</a:t>
            </a:r>
            <a:r>
              <a:rPr lang="en-US" dirty="0"/>
              <a:t>, </a:t>
            </a:r>
            <a:r>
              <a:rPr lang="en-US" dirty="0" err="1"/>
              <a:t>CloudWatch</a:t>
            </a:r>
            <a:r>
              <a:rPr lang="en-US" dirty="0"/>
              <a:t> Insights is using a containerized version of the </a:t>
            </a:r>
            <a:r>
              <a:rPr lang="en-US" dirty="0" err="1"/>
              <a:t>CloudWatch</a:t>
            </a:r>
            <a:r>
              <a:rPr lang="en-US" dirty="0"/>
              <a:t> Agent to discover containers</a:t>
            </a:r>
          </a:p>
        </p:txBody>
      </p:sp>
      <p:pic>
        <p:nvPicPr>
          <p:cNvPr id="15362" name="Picture 2"/>
          <p:cNvPicPr>
            <a:picLocks noChangeAspect="1" noChangeArrowheads="1"/>
          </p:cNvPicPr>
          <p:nvPr/>
        </p:nvPicPr>
        <p:blipFill>
          <a:blip r:embed="rId2"/>
          <a:srcRect/>
          <a:stretch>
            <a:fillRect/>
          </a:stretch>
        </p:blipFill>
        <p:spPr bwMode="auto">
          <a:xfrm>
            <a:off x="4962525" y="1414463"/>
            <a:ext cx="3913592" cy="5062537"/>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Lambda Insights</a:t>
            </a:r>
          </a:p>
        </p:txBody>
      </p:sp>
      <p:sp>
        <p:nvSpPr>
          <p:cNvPr id="3" name="Content Placeholder 2"/>
          <p:cNvSpPr>
            <a:spLocks noGrp="1"/>
          </p:cNvSpPr>
          <p:nvPr>
            <p:ph idx="1"/>
          </p:nvPr>
        </p:nvSpPr>
        <p:spPr/>
        <p:txBody>
          <a:bodyPr>
            <a:normAutofit fontScale="92500" lnSpcReduction="20000"/>
          </a:bodyPr>
          <a:lstStyle/>
          <a:p>
            <a:r>
              <a:rPr lang="en-US" dirty="0"/>
              <a:t>Monitoring and troubleshooting solution for </a:t>
            </a:r>
            <a:r>
              <a:rPr lang="en-US" dirty="0" err="1"/>
              <a:t>serverless</a:t>
            </a:r>
            <a:r>
              <a:rPr lang="en-US" dirty="0"/>
              <a:t> applications running on AWS Lambda</a:t>
            </a:r>
          </a:p>
          <a:p>
            <a:r>
              <a:rPr lang="en-US" dirty="0"/>
              <a:t>Collects, aggregates, and summarizes system-level metrics including CPU time, memory, disk, and network</a:t>
            </a:r>
          </a:p>
          <a:p>
            <a:r>
              <a:rPr lang="en-US" dirty="0"/>
              <a:t>Collects, aggregates, and summarizes diagnostic information such as cold starts and Lambda worker shutdowns</a:t>
            </a:r>
          </a:p>
          <a:p>
            <a:r>
              <a:rPr lang="en-US" dirty="0"/>
              <a:t>Lambda Insights is provided as a</a:t>
            </a:r>
          </a:p>
          <a:p>
            <a:r>
              <a:rPr lang="en-US" dirty="0"/>
              <a:t>Lambda Layer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Contributor Insights</a:t>
            </a:r>
          </a:p>
        </p:txBody>
      </p:sp>
      <p:sp>
        <p:nvSpPr>
          <p:cNvPr id="3" name="Content Placeholder 2"/>
          <p:cNvSpPr>
            <a:spLocks noGrp="1"/>
          </p:cNvSpPr>
          <p:nvPr>
            <p:ph idx="1"/>
          </p:nvPr>
        </p:nvSpPr>
        <p:spPr>
          <a:xfrm>
            <a:off x="0" y="1371600"/>
            <a:ext cx="6400800" cy="5486400"/>
          </a:xfrm>
        </p:spPr>
        <p:txBody>
          <a:bodyPr>
            <a:normAutofit fontScale="70000" lnSpcReduction="20000"/>
          </a:bodyPr>
          <a:lstStyle/>
          <a:p>
            <a:r>
              <a:rPr lang="en-US" dirty="0"/>
              <a:t>Analyze log data and create time series that display contributor data.</a:t>
            </a:r>
          </a:p>
          <a:p>
            <a:pPr lvl="1"/>
            <a:r>
              <a:rPr lang="en-US" dirty="0"/>
              <a:t>See metrics about the top-N contributors</a:t>
            </a:r>
          </a:p>
          <a:p>
            <a:pPr lvl="1"/>
            <a:r>
              <a:rPr lang="en-US" dirty="0"/>
              <a:t>The total number of unique contributors, and their usage.</a:t>
            </a:r>
          </a:p>
          <a:p>
            <a:r>
              <a:rPr lang="en-US" dirty="0"/>
              <a:t>This helps you find top talkers and understand who or what is impacting system performance.</a:t>
            </a:r>
          </a:p>
          <a:p>
            <a:r>
              <a:rPr lang="en-US" dirty="0"/>
              <a:t>Works for any AWS-generated logs (VPC, DNS, etc..)</a:t>
            </a:r>
          </a:p>
          <a:p>
            <a:r>
              <a:rPr lang="en-US" dirty="0"/>
              <a:t>For example, you can find bad hosts, identify the heaviest network users, or find the URLs that generate the most errors.</a:t>
            </a:r>
          </a:p>
          <a:p>
            <a:r>
              <a:rPr lang="en-US" dirty="0"/>
              <a:t>You can build your rules from scratch, or you can also use sample rules that AWS has created – leverages your </a:t>
            </a:r>
            <a:r>
              <a:rPr lang="en-US" dirty="0" err="1"/>
              <a:t>CloudWatch</a:t>
            </a:r>
            <a:r>
              <a:rPr lang="en-US" dirty="0"/>
              <a:t> Logs</a:t>
            </a:r>
          </a:p>
          <a:p>
            <a:r>
              <a:rPr lang="en-US" dirty="0" err="1"/>
              <a:t>CloudWatch</a:t>
            </a:r>
            <a:r>
              <a:rPr lang="en-US" dirty="0"/>
              <a:t> also provides built-in rules that you can use to analyze metrics from other AWS services.</a:t>
            </a:r>
          </a:p>
        </p:txBody>
      </p:sp>
      <p:pic>
        <p:nvPicPr>
          <p:cNvPr id="16386" name="Picture 2"/>
          <p:cNvPicPr>
            <a:picLocks noChangeAspect="1" noChangeArrowheads="1"/>
          </p:cNvPicPr>
          <p:nvPr/>
        </p:nvPicPr>
        <p:blipFill>
          <a:blip r:embed="rId2"/>
          <a:srcRect/>
          <a:stretch>
            <a:fillRect/>
          </a:stretch>
        </p:blipFill>
        <p:spPr bwMode="auto">
          <a:xfrm>
            <a:off x="6324600" y="1509713"/>
            <a:ext cx="2819400" cy="383857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Application Insights</a:t>
            </a:r>
          </a:p>
        </p:txBody>
      </p:sp>
      <p:sp>
        <p:nvSpPr>
          <p:cNvPr id="3" name="Content Placeholder 2"/>
          <p:cNvSpPr>
            <a:spLocks noGrp="1"/>
          </p:cNvSpPr>
          <p:nvPr>
            <p:ph idx="1"/>
          </p:nvPr>
        </p:nvSpPr>
        <p:spPr>
          <a:xfrm>
            <a:off x="304800" y="1600200"/>
            <a:ext cx="8382000" cy="5029200"/>
          </a:xfrm>
        </p:spPr>
        <p:txBody>
          <a:bodyPr>
            <a:normAutofit fontScale="70000" lnSpcReduction="20000"/>
          </a:bodyPr>
          <a:lstStyle/>
          <a:p>
            <a:r>
              <a:rPr lang="en-US" dirty="0"/>
              <a:t>Provides automated dashboards that show potential problems with monitored applications, to help isolate ongoing issues</a:t>
            </a:r>
          </a:p>
          <a:p>
            <a:r>
              <a:rPr lang="en-US" dirty="0"/>
              <a:t>Your applications run on Amazon EC2 Instances with select technologies only (Java, .NET, Microsoft IIS Web Server, databases…)</a:t>
            </a:r>
          </a:p>
          <a:p>
            <a:r>
              <a:rPr lang="en-US" dirty="0"/>
              <a:t>And you can use other AWS resources such as Amazon EBS, RDS, ELB, ASG, Lambda, SQS, </a:t>
            </a:r>
            <a:r>
              <a:rPr lang="en-US" dirty="0" err="1"/>
              <a:t>DynamoDB</a:t>
            </a:r>
            <a:r>
              <a:rPr lang="en-US" dirty="0"/>
              <a:t>, S3 bucket, ECS, EKS, SNS, API Gateway…</a:t>
            </a:r>
          </a:p>
          <a:p>
            <a:endParaRPr lang="en-US" dirty="0"/>
          </a:p>
          <a:p>
            <a:r>
              <a:rPr lang="en-US" dirty="0"/>
              <a:t>Powered by </a:t>
            </a:r>
            <a:r>
              <a:rPr lang="en-US" dirty="0" err="1"/>
              <a:t>SageMaker</a:t>
            </a:r>
            <a:endParaRPr lang="en-US" dirty="0"/>
          </a:p>
          <a:p>
            <a:r>
              <a:rPr lang="en-US" dirty="0"/>
              <a:t>Enhanced visibility into your application health to reduce the time it will take you to troubleshoot and repair your applications</a:t>
            </a:r>
          </a:p>
          <a:p>
            <a:r>
              <a:rPr lang="en-US" dirty="0"/>
              <a:t>Findings and alerts are sent to Amazon </a:t>
            </a:r>
            <a:r>
              <a:rPr lang="en-US" dirty="0" err="1"/>
              <a:t>EventBridge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Operational Visibility</a:t>
            </a:r>
          </a:p>
        </p:txBody>
      </p:sp>
      <p:sp>
        <p:nvSpPr>
          <p:cNvPr id="3" name="Content Placeholder 2"/>
          <p:cNvSpPr>
            <a:spLocks noGrp="1"/>
          </p:cNvSpPr>
          <p:nvPr>
            <p:ph idx="1"/>
          </p:nvPr>
        </p:nvSpPr>
        <p:spPr/>
        <p:txBody>
          <a:bodyPr>
            <a:normAutofit fontScale="85000" lnSpcReduction="10000"/>
          </a:bodyPr>
          <a:lstStyle/>
          <a:p>
            <a:r>
              <a:rPr lang="en-US" dirty="0" err="1"/>
              <a:t>CloudWatch</a:t>
            </a:r>
            <a:r>
              <a:rPr lang="en-US" dirty="0"/>
              <a:t> Container Insights</a:t>
            </a:r>
          </a:p>
          <a:p>
            <a:pPr lvl="1"/>
            <a:r>
              <a:rPr lang="en-US" dirty="0"/>
              <a:t>ECS, EKS, </a:t>
            </a:r>
            <a:r>
              <a:rPr lang="en-US" dirty="0" err="1"/>
              <a:t>Kubernetes</a:t>
            </a:r>
            <a:r>
              <a:rPr lang="en-US" dirty="0"/>
              <a:t> on EC2, </a:t>
            </a:r>
            <a:r>
              <a:rPr lang="en-US" dirty="0" err="1"/>
              <a:t>Fargate</a:t>
            </a:r>
            <a:r>
              <a:rPr lang="en-US" dirty="0"/>
              <a:t>, needs agent for </a:t>
            </a:r>
            <a:r>
              <a:rPr lang="en-US" dirty="0" err="1"/>
              <a:t>Kubernetes</a:t>
            </a:r>
            <a:endParaRPr lang="en-US" dirty="0"/>
          </a:p>
          <a:p>
            <a:pPr lvl="1"/>
            <a:r>
              <a:rPr lang="en-US" dirty="0"/>
              <a:t>Metrics and logs</a:t>
            </a:r>
          </a:p>
          <a:p>
            <a:r>
              <a:rPr lang="en-US" dirty="0" err="1"/>
              <a:t>CloudWatch</a:t>
            </a:r>
            <a:r>
              <a:rPr lang="en-US" dirty="0"/>
              <a:t> Lambda Insights</a:t>
            </a:r>
          </a:p>
          <a:p>
            <a:pPr lvl="1"/>
            <a:r>
              <a:rPr lang="en-US" dirty="0"/>
              <a:t>Detailed metrics to troubleshoot </a:t>
            </a:r>
            <a:r>
              <a:rPr lang="en-US" dirty="0" err="1"/>
              <a:t>serverless</a:t>
            </a:r>
            <a:r>
              <a:rPr lang="en-US" dirty="0"/>
              <a:t> applications</a:t>
            </a:r>
          </a:p>
          <a:p>
            <a:r>
              <a:rPr lang="en-US" dirty="0" err="1"/>
              <a:t>CloudWatch</a:t>
            </a:r>
            <a:r>
              <a:rPr lang="en-US" dirty="0"/>
              <a:t> Contributors Insights</a:t>
            </a:r>
          </a:p>
          <a:p>
            <a:pPr lvl="1"/>
            <a:r>
              <a:rPr lang="en-US" dirty="0"/>
              <a:t>Find “Top-N” Contributors through </a:t>
            </a:r>
            <a:r>
              <a:rPr lang="en-US" dirty="0" err="1"/>
              <a:t>CloudWatch</a:t>
            </a:r>
            <a:r>
              <a:rPr lang="en-US" dirty="0"/>
              <a:t> Logs</a:t>
            </a:r>
          </a:p>
          <a:p>
            <a:r>
              <a:rPr lang="en-US" dirty="0" err="1"/>
              <a:t>CloudWatch</a:t>
            </a:r>
            <a:r>
              <a:rPr lang="en-US" dirty="0"/>
              <a:t> Application Insights</a:t>
            </a:r>
          </a:p>
          <a:p>
            <a:pPr lvl="1"/>
            <a:r>
              <a:rPr lang="en-US" dirty="0"/>
              <a:t>Automatic dashboard to troubleshoot your application and related AWS services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Cloud Trail</a:t>
            </a:r>
          </a:p>
        </p:txBody>
      </p:sp>
      <p:sp>
        <p:nvSpPr>
          <p:cNvPr id="3" name="Content Placeholder 2"/>
          <p:cNvSpPr>
            <a:spLocks noGrp="1"/>
          </p:cNvSpPr>
          <p:nvPr>
            <p:ph idx="1"/>
          </p:nvPr>
        </p:nvSpPr>
        <p:spPr>
          <a:xfrm>
            <a:off x="457200" y="1600200"/>
            <a:ext cx="8382000" cy="4800600"/>
          </a:xfrm>
        </p:spPr>
        <p:txBody>
          <a:bodyPr>
            <a:normAutofit fontScale="77500" lnSpcReduction="20000"/>
          </a:bodyPr>
          <a:lstStyle/>
          <a:p>
            <a:r>
              <a:rPr lang="en-US" dirty="0"/>
              <a:t>Provides governance, compliance and audit for your AWS Account</a:t>
            </a:r>
          </a:p>
          <a:p>
            <a:r>
              <a:rPr lang="en-US" dirty="0" err="1"/>
              <a:t>CloudTrail</a:t>
            </a:r>
            <a:r>
              <a:rPr lang="en-US" dirty="0"/>
              <a:t> is enabled by default!</a:t>
            </a:r>
          </a:p>
          <a:p>
            <a:r>
              <a:rPr lang="en-US" dirty="0"/>
              <a:t>Get an history of events / API calls made within your AWS Account by:</a:t>
            </a:r>
          </a:p>
          <a:p>
            <a:pPr lvl="1"/>
            <a:r>
              <a:rPr lang="en-US" dirty="0"/>
              <a:t>• Console</a:t>
            </a:r>
          </a:p>
          <a:p>
            <a:pPr lvl="1"/>
            <a:r>
              <a:rPr lang="en-US" dirty="0"/>
              <a:t>SDK</a:t>
            </a:r>
          </a:p>
          <a:p>
            <a:pPr lvl="1"/>
            <a:r>
              <a:rPr lang="en-US" dirty="0"/>
              <a:t>CLI</a:t>
            </a:r>
          </a:p>
          <a:p>
            <a:pPr lvl="1"/>
            <a:r>
              <a:rPr lang="en-US" dirty="0"/>
              <a:t>AWS Services</a:t>
            </a:r>
          </a:p>
          <a:p>
            <a:r>
              <a:rPr lang="en-US" dirty="0"/>
              <a:t>Can put logs from </a:t>
            </a:r>
            <a:r>
              <a:rPr lang="en-US" dirty="0" err="1"/>
              <a:t>CloudTrail</a:t>
            </a:r>
            <a:r>
              <a:rPr lang="en-US" dirty="0"/>
              <a:t> into </a:t>
            </a:r>
            <a:r>
              <a:rPr lang="en-US" dirty="0" err="1"/>
              <a:t>CloudWatch</a:t>
            </a:r>
            <a:r>
              <a:rPr lang="en-US" dirty="0"/>
              <a:t> Logs or S3</a:t>
            </a:r>
          </a:p>
          <a:p>
            <a:r>
              <a:rPr lang="en-US" dirty="0"/>
              <a:t>A trail can be applied to All Regions (default) or a single Region.</a:t>
            </a:r>
          </a:p>
          <a:p>
            <a:r>
              <a:rPr lang="en-US" dirty="0"/>
              <a:t>If a resource is deleted in AWS, investigate </a:t>
            </a:r>
            <a:r>
              <a:rPr lang="en-US" dirty="0" err="1"/>
              <a:t>CloudTrail</a:t>
            </a:r>
            <a:r>
              <a:rPr lang="en-US" dirty="0"/>
              <a:t> first!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Diagram</a:t>
            </a:r>
          </a:p>
        </p:txBody>
      </p:sp>
      <p:pic>
        <p:nvPicPr>
          <p:cNvPr id="1026" name="Picture 2"/>
          <p:cNvPicPr>
            <a:picLocks noChangeAspect="1" noChangeArrowheads="1"/>
          </p:cNvPicPr>
          <p:nvPr/>
        </p:nvPicPr>
        <p:blipFill>
          <a:blip r:embed="rId2"/>
          <a:srcRect/>
          <a:stretch>
            <a:fillRect/>
          </a:stretch>
        </p:blipFill>
        <p:spPr bwMode="auto">
          <a:xfrm>
            <a:off x="190500" y="1609725"/>
            <a:ext cx="8763000" cy="36385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Events</a:t>
            </a:r>
          </a:p>
        </p:txBody>
      </p:sp>
      <p:sp>
        <p:nvSpPr>
          <p:cNvPr id="3" name="Content Placeholder 2"/>
          <p:cNvSpPr>
            <a:spLocks noGrp="1"/>
          </p:cNvSpPr>
          <p:nvPr>
            <p:ph idx="1"/>
          </p:nvPr>
        </p:nvSpPr>
        <p:spPr>
          <a:xfrm>
            <a:off x="457200" y="1600200"/>
            <a:ext cx="8305800" cy="4953000"/>
          </a:xfrm>
        </p:spPr>
        <p:txBody>
          <a:bodyPr>
            <a:normAutofit fontScale="70000" lnSpcReduction="20000"/>
          </a:bodyPr>
          <a:lstStyle/>
          <a:p>
            <a:r>
              <a:rPr lang="en-US" dirty="0"/>
              <a:t>Management Events:</a:t>
            </a:r>
          </a:p>
          <a:p>
            <a:pPr lvl="1"/>
            <a:r>
              <a:rPr lang="en-US" dirty="0"/>
              <a:t>Operations that are performed on resources in your AWS account</a:t>
            </a:r>
          </a:p>
          <a:p>
            <a:pPr lvl="1"/>
            <a:r>
              <a:rPr lang="en-US" dirty="0"/>
              <a:t>Examples:</a:t>
            </a:r>
          </a:p>
          <a:p>
            <a:pPr lvl="2"/>
            <a:r>
              <a:rPr lang="en-US" dirty="0"/>
              <a:t>Configuring security (IAM </a:t>
            </a:r>
            <a:r>
              <a:rPr lang="en-US" dirty="0" err="1"/>
              <a:t>AttachRolePolicy</a:t>
            </a:r>
            <a:r>
              <a:rPr lang="en-US" dirty="0"/>
              <a:t>)</a:t>
            </a:r>
          </a:p>
          <a:p>
            <a:pPr lvl="2"/>
            <a:r>
              <a:rPr lang="en-US" dirty="0"/>
              <a:t>Configuring rules for routing data (Amazon EC2 </a:t>
            </a:r>
            <a:r>
              <a:rPr lang="en-US" dirty="0" err="1"/>
              <a:t>CreateSubnet</a:t>
            </a:r>
            <a:r>
              <a:rPr lang="en-US" dirty="0"/>
              <a:t>)</a:t>
            </a:r>
          </a:p>
          <a:p>
            <a:pPr lvl="2"/>
            <a:r>
              <a:rPr lang="en-US" dirty="0"/>
              <a:t>Setting up logging (AWS </a:t>
            </a:r>
            <a:r>
              <a:rPr lang="en-US" dirty="0" err="1"/>
              <a:t>CloudTrail</a:t>
            </a:r>
            <a:r>
              <a:rPr lang="en-US" dirty="0"/>
              <a:t> </a:t>
            </a:r>
            <a:r>
              <a:rPr lang="en-US" dirty="0" err="1"/>
              <a:t>CreateTrail</a:t>
            </a:r>
            <a:r>
              <a:rPr lang="en-US" dirty="0"/>
              <a:t>)</a:t>
            </a:r>
          </a:p>
          <a:p>
            <a:pPr lvl="1"/>
            <a:r>
              <a:rPr lang="en-US" dirty="0"/>
              <a:t>By default, trails are configured to log management events.</a:t>
            </a:r>
          </a:p>
          <a:p>
            <a:pPr lvl="1"/>
            <a:r>
              <a:rPr lang="en-US" dirty="0"/>
              <a:t>Can separate Read Events (that don’t modify resources) from Write Events (that may modify resources)</a:t>
            </a:r>
          </a:p>
          <a:p>
            <a:r>
              <a:rPr lang="en-US" dirty="0"/>
              <a:t> Data Events:</a:t>
            </a:r>
          </a:p>
          <a:p>
            <a:pPr lvl="1"/>
            <a:r>
              <a:rPr lang="en-US" dirty="0"/>
              <a:t>By default, data events are not logged (because high volume operations)</a:t>
            </a:r>
          </a:p>
          <a:p>
            <a:pPr lvl="1"/>
            <a:r>
              <a:rPr lang="en-US" dirty="0"/>
              <a:t>Amazon S3 object-level activity (ex: </a:t>
            </a:r>
            <a:r>
              <a:rPr lang="en-US" dirty="0" err="1"/>
              <a:t>GetObject</a:t>
            </a:r>
            <a:r>
              <a:rPr lang="en-US" dirty="0"/>
              <a:t>, </a:t>
            </a:r>
            <a:r>
              <a:rPr lang="en-US" dirty="0" err="1"/>
              <a:t>DeleteObject</a:t>
            </a:r>
            <a:r>
              <a:rPr lang="en-US" dirty="0"/>
              <a:t>, </a:t>
            </a:r>
            <a:r>
              <a:rPr lang="en-US" dirty="0" err="1"/>
              <a:t>PutObject</a:t>
            </a:r>
            <a:r>
              <a:rPr lang="en-US" dirty="0"/>
              <a:t>): can separate Read and Write Events</a:t>
            </a:r>
          </a:p>
          <a:p>
            <a:r>
              <a:rPr lang="en-US" dirty="0"/>
              <a:t>• AWS Lambda function execution activity (the Invoke API)</a:t>
            </a:r>
          </a:p>
          <a:p>
            <a:r>
              <a:rPr lang="en-US" dirty="0" err="1"/>
              <a:t>CloudTrail</a:t>
            </a:r>
            <a:r>
              <a:rPr lang="en-US" dirty="0"/>
              <a:t> Insights Events: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CloudTrail</a:t>
            </a:r>
            <a:r>
              <a:rPr lang="en-US" dirty="0">
                <a:solidFill>
                  <a:srgbClr val="FF0000"/>
                </a:solidFill>
              </a:rPr>
              <a:t> Insights</a:t>
            </a:r>
          </a:p>
        </p:txBody>
      </p:sp>
      <p:sp>
        <p:nvSpPr>
          <p:cNvPr id="3" name="Content Placeholder 2"/>
          <p:cNvSpPr>
            <a:spLocks noGrp="1"/>
          </p:cNvSpPr>
          <p:nvPr>
            <p:ph idx="1"/>
          </p:nvPr>
        </p:nvSpPr>
        <p:spPr>
          <a:xfrm>
            <a:off x="609600" y="1143001"/>
            <a:ext cx="8077200" cy="3352800"/>
          </a:xfrm>
        </p:spPr>
        <p:txBody>
          <a:bodyPr>
            <a:normAutofit fontScale="62500" lnSpcReduction="20000"/>
          </a:bodyPr>
          <a:lstStyle/>
          <a:p>
            <a:r>
              <a:rPr lang="en-US" dirty="0"/>
              <a:t>Enable </a:t>
            </a:r>
            <a:r>
              <a:rPr lang="en-US" dirty="0" err="1"/>
              <a:t>CloudTrail</a:t>
            </a:r>
            <a:r>
              <a:rPr lang="en-US" dirty="0"/>
              <a:t> Insights to detect unusual activity in your account:</a:t>
            </a:r>
          </a:p>
          <a:p>
            <a:pPr lvl="1"/>
            <a:r>
              <a:rPr lang="en-US" dirty="0"/>
              <a:t>• inaccurate resource provisioning</a:t>
            </a:r>
          </a:p>
          <a:p>
            <a:pPr lvl="1"/>
            <a:r>
              <a:rPr lang="en-US" dirty="0"/>
              <a:t>hitting service limits</a:t>
            </a:r>
          </a:p>
          <a:p>
            <a:pPr lvl="1"/>
            <a:r>
              <a:rPr lang="en-US" dirty="0"/>
              <a:t>Bursts of AWS IAM actions</a:t>
            </a:r>
          </a:p>
          <a:p>
            <a:pPr lvl="1"/>
            <a:r>
              <a:rPr lang="en-US" dirty="0"/>
              <a:t>Gaps in periodic maintenance activity</a:t>
            </a:r>
          </a:p>
          <a:p>
            <a:r>
              <a:rPr lang="en-US" dirty="0" err="1"/>
              <a:t>CloudTrail</a:t>
            </a:r>
            <a:r>
              <a:rPr lang="en-US" dirty="0"/>
              <a:t> Insights analyzes normal management events to create a baseline</a:t>
            </a:r>
          </a:p>
          <a:p>
            <a:r>
              <a:rPr lang="en-US" dirty="0"/>
              <a:t>And then continuously analyzes write events to detect unusual patterns</a:t>
            </a:r>
          </a:p>
          <a:p>
            <a:pPr lvl="1"/>
            <a:r>
              <a:rPr lang="en-US" dirty="0"/>
              <a:t>Anomalies appear in the </a:t>
            </a:r>
            <a:r>
              <a:rPr lang="en-US" dirty="0" err="1"/>
              <a:t>CloudTrail</a:t>
            </a:r>
            <a:r>
              <a:rPr lang="en-US" dirty="0"/>
              <a:t> console</a:t>
            </a:r>
          </a:p>
          <a:p>
            <a:pPr lvl="1"/>
            <a:r>
              <a:rPr lang="en-US" dirty="0"/>
              <a:t>Event is sent to Amazon S3</a:t>
            </a:r>
          </a:p>
          <a:p>
            <a:pPr lvl="1"/>
            <a:r>
              <a:rPr lang="en-US" dirty="0"/>
              <a:t>An </a:t>
            </a:r>
            <a:r>
              <a:rPr lang="en-US" dirty="0" err="1"/>
              <a:t>EventBridge</a:t>
            </a:r>
            <a:r>
              <a:rPr lang="en-US" dirty="0"/>
              <a:t> event is generated (for automation needs)</a:t>
            </a:r>
          </a:p>
        </p:txBody>
      </p:sp>
      <p:grpSp>
        <p:nvGrpSpPr>
          <p:cNvPr id="6" name="Group 5"/>
          <p:cNvGrpSpPr/>
          <p:nvPr/>
        </p:nvGrpSpPr>
        <p:grpSpPr>
          <a:xfrm>
            <a:off x="76200" y="4514850"/>
            <a:ext cx="8991600" cy="1733550"/>
            <a:chOff x="0" y="4514850"/>
            <a:chExt cx="8991600" cy="1733550"/>
          </a:xfrm>
        </p:grpSpPr>
        <p:pic>
          <p:nvPicPr>
            <p:cNvPr id="2050" name="Picture 2"/>
            <p:cNvPicPr>
              <a:picLocks noChangeAspect="1" noChangeArrowheads="1"/>
            </p:cNvPicPr>
            <p:nvPr/>
          </p:nvPicPr>
          <p:blipFill>
            <a:blip r:embed="rId2"/>
            <a:srcRect/>
            <a:stretch>
              <a:fillRect/>
            </a:stretch>
          </p:blipFill>
          <p:spPr bwMode="auto">
            <a:xfrm>
              <a:off x="6010275" y="4514850"/>
              <a:ext cx="2981325" cy="17335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0" y="4867275"/>
              <a:ext cx="6067425" cy="1228725"/>
            </a:xfrm>
            <a:prstGeom prst="rect">
              <a:avLst/>
            </a:prstGeom>
            <a:noFill/>
            <a:ln w="9525">
              <a:noFill/>
              <a:miter lim="800000"/>
              <a:headEnd/>
              <a:tailEnd/>
            </a:ln>
            <a:effectLst/>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CloudTrail</a:t>
            </a:r>
            <a:r>
              <a:rPr lang="en-US" dirty="0">
                <a:solidFill>
                  <a:srgbClr val="FF0000"/>
                </a:solidFill>
              </a:rPr>
              <a:t> Events Retention</a:t>
            </a:r>
          </a:p>
        </p:txBody>
      </p:sp>
      <p:sp>
        <p:nvSpPr>
          <p:cNvPr id="3" name="Content Placeholder 2"/>
          <p:cNvSpPr>
            <a:spLocks noGrp="1"/>
          </p:cNvSpPr>
          <p:nvPr>
            <p:ph idx="1"/>
          </p:nvPr>
        </p:nvSpPr>
        <p:spPr/>
        <p:txBody>
          <a:bodyPr/>
          <a:lstStyle/>
          <a:p>
            <a:r>
              <a:rPr lang="en-US" dirty="0"/>
              <a:t>Events are stored for 90 days in </a:t>
            </a:r>
            <a:r>
              <a:rPr lang="en-US" dirty="0" err="1"/>
              <a:t>CloudTrail</a:t>
            </a:r>
            <a:endParaRPr lang="en-US" dirty="0"/>
          </a:p>
          <a:p>
            <a:r>
              <a:rPr lang="en-US" dirty="0"/>
              <a:t>• To keep events beyond this period, log them to S3 and use Athena</a:t>
            </a:r>
          </a:p>
        </p:txBody>
      </p:sp>
      <p:pic>
        <p:nvPicPr>
          <p:cNvPr id="3074" name="Picture 2"/>
          <p:cNvPicPr>
            <a:picLocks noChangeAspect="1" noChangeArrowheads="1"/>
          </p:cNvPicPr>
          <p:nvPr/>
        </p:nvPicPr>
        <p:blipFill>
          <a:blip r:embed="rId2"/>
          <a:srcRect/>
          <a:stretch>
            <a:fillRect/>
          </a:stretch>
        </p:blipFill>
        <p:spPr bwMode="auto">
          <a:xfrm>
            <a:off x="185468" y="3352800"/>
            <a:ext cx="8806132" cy="21336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Work with API calls</a:t>
            </a:r>
          </a:p>
        </p:txBody>
      </p:sp>
      <p:pic>
        <p:nvPicPr>
          <p:cNvPr id="4098" name="Picture 2"/>
          <p:cNvPicPr>
            <a:picLocks noChangeAspect="1" noChangeArrowheads="1"/>
          </p:cNvPicPr>
          <p:nvPr/>
        </p:nvPicPr>
        <p:blipFill>
          <a:blip r:embed="rId2"/>
          <a:srcRect/>
          <a:stretch>
            <a:fillRect/>
          </a:stretch>
        </p:blipFill>
        <p:spPr bwMode="auto">
          <a:xfrm>
            <a:off x="131846" y="2057400"/>
            <a:ext cx="8859754" cy="32766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Cloud Trail </a:t>
            </a:r>
            <a:r>
              <a:rPr lang="en-US" dirty="0" err="1">
                <a:solidFill>
                  <a:srgbClr val="FF0000"/>
                </a:solidFill>
              </a:rPr>
              <a:t>usecases</a:t>
            </a:r>
            <a:endParaRPr lang="en-US" dirty="0">
              <a:solidFill>
                <a:srgbClr val="FF0000"/>
              </a:solidFill>
            </a:endParaRPr>
          </a:p>
        </p:txBody>
      </p:sp>
      <p:pic>
        <p:nvPicPr>
          <p:cNvPr id="5122" name="Picture 2"/>
          <p:cNvPicPr>
            <a:picLocks noChangeAspect="1" noChangeArrowheads="1"/>
          </p:cNvPicPr>
          <p:nvPr/>
        </p:nvPicPr>
        <p:blipFill>
          <a:blip r:embed="rId2"/>
          <a:srcRect/>
          <a:stretch>
            <a:fillRect/>
          </a:stretch>
        </p:blipFill>
        <p:spPr bwMode="auto">
          <a:xfrm>
            <a:off x="-46333" y="1819275"/>
            <a:ext cx="9190333" cy="3590925"/>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AWS </a:t>
            </a:r>
            <a:r>
              <a:rPr lang="en-US" dirty="0" err="1">
                <a:solidFill>
                  <a:srgbClr val="FF0000"/>
                </a:solidFill>
              </a:rPr>
              <a:t>Config</a:t>
            </a:r>
            <a:endParaRPr lang="en-US"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r>
              <a:rPr lang="en-US" dirty="0"/>
              <a:t>Helps with auditing and recording compliance of your AWS resources</a:t>
            </a:r>
          </a:p>
          <a:p>
            <a:r>
              <a:rPr lang="en-US" dirty="0"/>
              <a:t>Helps record configurations and changes over time</a:t>
            </a:r>
          </a:p>
          <a:p>
            <a:r>
              <a:rPr lang="en-US" dirty="0"/>
              <a:t>Questions that can be solved by AWS </a:t>
            </a:r>
            <a:r>
              <a:rPr lang="en-US" dirty="0" err="1"/>
              <a:t>Config</a:t>
            </a:r>
            <a:r>
              <a:rPr lang="en-US" dirty="0"/>
              <a:t>:</a:t>
            </a:r>
          </a:p>
          <a:p>
            <a:pPr lvl="1"/>
            <a:r>
              <a:rPr lang="en-US" dirty="0"/>
              <a:t>Is there unrestricted SSH access to my security groups?</a:t>
            </a:r>
          </a:p>
          <a:p>
            <a:pPr lvl="1"/>
            <a:r>
              <a:rPr lang="en-US" dirty="0"/>
              <a:t>Do my buckets have any public access?</a:t>
            </a:r>
          </a:p>
          <a:p>
            <a:pPr lvl="1"/>
            <a:r>
              <a:rPr lang="en-US" dirty="0"/>
              <a:t>How has my ALB configuration changed over time?</a:t>
            </a:r>
          </a:p>
          <a:p>
            <a:r>
              <a:rPr lang="en-US" dirty="0"/>
              <a:t>You can receive alerts (SNS notifications) for any changes</a:t>
            </a:r>
          </a:p>
          <a:p>
            <a:r>
              <a:rPr lang="en-US" dirty="0"/>
              <a:t>AWS </a:t>
            </a:r>
            <a:r>
              <a:rPr lang="en-US" dirty="0" err="1"/>
              <a:t>Config</a:t>
            </a:r>
            <a:r>
              <a:rPr lang="en-US" dirty="0"/>
              <a:t> is a per-region service</a:t>
            </a:r>
          </a:p>
          <a:p>
            <a:r>
              <a:rPr lang="en-US" dirty="0"/>
              <a:t>Can be aggregated across regions and accounts</a:t>
            </a:r>
          </a:p>
          <a:p>
            <a:r>
              <a:rPr lang="en-US" dirty="0"/>
              <a:t>Possibility of storing the configuration data into S3 (analyzed by Athena)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Details</a:t>
            </a:r>
          </a:p>
        </p:txBody>
      </p:sp>
      <p:sp>
        <p:nvSpPr>
          <p:cNvPr id="3" name="Content Placeholder 2"/>
          <p:cNvSpPr>
            <a:spLocks noGrp="1"/>
          </p:cNvSpPr>
          <p:nvPr>
            <p:ph idx="1"/>
          </p:nvPr>
        </p:nvSpPr>
        <p:spPr>
          <a:xfrm>
            <a:off x="304800" y="1600200"/>
            <a:ext cx="8382000" cy="5029200"/>
          </a:xfrm>
        </p:spPr>
        <p:txBody>
          <a:bodyPr>
            <a:normAutofit fontScale="77500" lnSpcReduction="20000"/>
          </a:bodyPr>
          <a:lstStyle/>
          <a:p>
            <a:r>
              <a:rPr lang="en-US" dirty="0"/>
              <a:t>Can use AWS managed </a:t>
            </a:r>
            <a:r>
              <a:rPr lang="en-US" dirty="0" err="1"/>
              <a:t>config</a:t>
            </a:r>
            <a:r>
              <a:rPr lang="en-US" dirty="0"/>
              <a:t> rules (over 75)</a:t>
            </a:r>
          </a:p>
          <a:p>
            <a:r>
              <a:rPr lang="en-US" dirty="0"/>
              <a:t>Can make custom </a:t>
            </a:r>
            <a:r>
              <a:rPr lang="en-US" dirty="0" err="1"/>
              <a:t>config</a:t>
            </a:r>
            <a:r>
              <a:rPr lang="en-US" dirty="0"/>
              <a:t> rules (must be defined in AWS Lambda)</a:t>
            </a:r>
          </a:p>
          <a:p>
            <a:pPr lvl="1"/>
            <a:r>
              <a:rPr lang="en-US" dirty="0"/>
              <a:t>Ex: evaluate if each EBS disk is of type gp2</a:t>
            </a:r>
          </a:p>
          <a:p>
            <a:pPr lvl="1"/>
            <a:r>
              <a:rPr lang="en-US" dirty="0"/>
              <a:t>Ex: evaluate if each EC2 instance is t2.micro</a:t>
            </a:r>
          </a:p>
          <a:p>
            <a:r>
              <a:rPr lang="en-US" dirty="0"/>
              <a:t>Rules can be evaluated / triggered:</a:t>
            </a:r>
          </a:p>
          <a:p>
            <a:pPr lvl="1"/>
            <a:r>
              <a:rPr lang="en-US" dirty="0"/>
              <a:t>• For each </a:t>
            </a:r>
            <a:r>
              <a:rPr lang="en-US" dirty="0" err="1"/>
              <a:t>config</a:t>
            </a:r>
            <a:r>
              <a:rPr lang="en-US" dirty="0"/>
              <a:t> change</a:t>
            </a:r>
          </a:p>
          <a:p>
            <a:pPr lvl="1"/>
            <a:r>
              <a:rPr lang="en-US" dirty="0"/>
              <a:t>• And / or: at regular time intervals</a:t>
            </a:r>
          </a:p>
          <a:p>
            <a:r>
              <a:rPr lang="en-US" dirty="0"/>
              <a:t>AWS </a:t>
            </a:r>
            <a:r>
              <a:rPr lang="en-US" dirty="0" err="1"/>
              <a:t>Config</a:t>
            </a:r>
            <a:r>
              <a:rPr lang="en-US" dirty="0"/>
              <a:t> Rules does not prevent actions from happening (no deny)</a:t>
            </a:r>
          </a:p>
          <a:p>
            <a:endParaRPr lang="en-US" dirty="0"/>
          </a:p>
          <a:p>
            <a:pPr>
              <a:buNone/>
            </a:pPr>
            <a:r>
              <a:rPr lang="en-US" dirty="0"/>
              <a:t>	</a:t>
            </a:r>
            <a:r>
              <a:rPr lang="en-US" b="1" dirty="0"/>
              <a:t>Pricing: no free tier, $0.003 per configuration item recorded per region, $0.001 per </a:t>
            </a:r>
            <a:r>
              <a:rPr lang="en-US" b="1" dirty="0" err="1"/>
              <a:t>config</a:t>
            </a:r>
            <a:r>
              <a:rPr lang="en-US" b="1" dirty="0"/>
              <a:t> rule evaluation per region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Resource</a:t>
            </a:r>
          </a:p>
        </p:txBody>
      </p:sp>
      <p:pic>
        <p:nvPicPr>
          <p:cNvPr id="6146" name="Picture 2"/>
          <p:cNvPicPr>
            <a:picLocks noChangeAspect="1" noChangeArrowheads="1"/>
          </p:cNvPicPr>
          <p:nvPr/>
        </p:nvPicPr>
        <p:blipFill>
          <a:blip r:embed="rId2"/>
          <a:srcRect/>
          <a:stretch>
            <a:fillRect/>
          </a:stretch>
        </p:blipFill>
        <p:spPr bwMode="auto">
          <a:xfrm>
            <a:off x="19148" y="1581150"/>
            <a:ext cx="9124852" cy="428625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Remediations</a:t>
            </a:r>
            <a:endParaRPr lang="en-US" dirty="0">
              <a:solidFill>
                <a:srgbClr val="FF0000"/>
              </a:solidFill>
            </a:endParaRPr>
          </a:p>
        </p:txBody>
      </p:sp>
      <p:sp>
        <p:nvSpPr>
          <p:cNvPr id="3" name="Content Placeholder 2"/>
          <p:cNvSpPr>
            <a:spLocks noGrp="1"/>
          </p:cNvSpPr>
          <p:nvPr>
            <p:ph idx="1"/>
          </p:nvPr>
        </p:nvSpPr>
        <p:spPr>
          <a:xfrm>
            <a:off x="457200" y="1371600"/>
            <a:ext cx="8153400" cy="2895600"/>
          </a:xfrm>
        </p:spPr>
        <p:txBody>
          <a:bodyPr>
            <a:normAutofit fontScale="85000" lnSpcReduction="20000"/>
          </a:bodyPr>
          <a:lstStyle/>
          <a:p>
            <a:r>
              <a:rPr lang="en-US" dirty="0"/>
              <a:t>Automate remediation of non-compliant resources using SSM Automation</a:t>
            </a:r>
          </a:p>
          <a:p>
            <a:r>
              <a:rPr lang="en-US" dirty="0"/>
              <a:t>Documents</a:t>
            </a:r>
          </a:p>
          <a:p>
            <a:r>
              <a:rPr lang="en-US" dirty="0"/>
              <a:t>Use AWS-Managed Automation Documents or create custom Automation Documents</a:t>
            </a:r>
          </a:p>
          <a:p>
            <a:r>
              <a:rPr lang="en-US" dirty="0"/>
              <a:t>You can set Remediation Retries if the resource is still non-compliant after </a:t>
            </a:r>
            <a:r>
              <a:rPr lang="en-US" dirty="0" err="1"/>
              <a:t>autoremediation</a:t>
            </a:r>
            <a:endParaRPr lang="en-US" dirty="0"/>
          </a:p>
        </p:txBody>
      </p:sp>
      <p:pic>
        <p:nvPicPr>
          <p:cNvPr id="7171" name="Picture 3"/>
          <p:cNvPicPr>
            <a:picLocks noChangeAspect="1" noChangeArrowheads="1"/>
          </p:cNvPicPr>
          <p:nvPr/>
        </p:nvPicPr>
        <p:blipFill>
          <a:blip r:embed="rId2"/>
          <a:srcRect/>
          <a:stretch>
            <a:fillRect/>
          </a:stretch>
        </p:blipFill>
        <p:spPr bwMode="auto">
          <a:xfrm>
            <a:off x="542925" y="4857750"/>
            <a:ext cx="8058150" cy="184785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Notifications</a:t>
            </a:r>
          </a:p>
        </p:txBody>
      </p:sp>
      <p:pic>
        <p:nvPicPr>
          <p:cNvPr id="8194" name="Picture 2"/>
          <p:cNvPicPr>
            <a:picLocks noChangeAspect="1" noChangeArrowheads="1"/>
          </p:cNvPicPr>
          <p:nvPr/>
        </p:nvPicPr>
        <p:blipFill>
          <a:blip r:embed="rId2"/>
          <a:srcRect/>
          <a:stretch>
            <a:fillRect/>
          </a:stretch>
        </p:blipFill>
        <p:spPr bwMode="auto">
          <a:xfrm>
            <a:off x="76200" y="1581150"/>
            <a:ext cx="8950898" cy="382905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CloudWatch</a:t>
            </a:r>
            <a:r>
              <a:rPr lang="en-US" dirty="0">
                <a:solidFill>
                  <a:srgbClr val="FF0000"/>
                </a:solidFill>
              </a:rPr>
              <a:t> </a:t>
            </a:r>
            <a:r>
              <a:rPr lang="en-US" dirty="0" err="1">
                <a:solidFill>
                  <a:srgbClr val="FF0000"/>
                </a:solidFill>
              </a:rPr>
              <a:t>vs</a:t>
            </a:r>
            <a:r>
              <a:rPr lang="en-US" dirty="0">
                <a:solidFill>
                  <a:srgbClr val="FF0000"/>
                </a:solidFill>
              </a:rPr>
              <a:t> </a:t>
            </a:r>
            <a:r>
              <a:rPr lang="en-US" dirty="0" err="1">
                <a:solidFill>
                  <a:srgbClr val="FF0000"/>
                </a:solidFill>
              </a:rPr>
              <a:t>CloudTrail</a:t>
            </a:r>
            <a:r>
              <a:rPr lang="en-US" dirty="0">
                <a:solidFill>
                  <a:srgbClr val="FF0000"/>
                </a:solidFill>
              </a:rPr>
              <a:t> </a:t>
            </a:r>
            <a:r>
              <a:rPr lang="en-US" dirty="0" err="1">
                <a:solidFill>
                  <a:srgbClr val="FF0000"/>
                </a:solidFill>
              </a:rPr>
              <a:t>vs</a:t>
            </a:r>
            <a:r>
              <a:rPr lang="en-US" dirty="0">
                <a:solidFill>
                  <a:srgbClr val="FF0000"/>
                </a:solidFill>
              </a:rPr>
              <a:t> </a:t>
            </a:r>
            <a:r>
              <a:rPr lang="en-US" dirty="0" err="1">
                <a:solidFill>
                  <a:srgbClr val="FF0000"/>
                </a:solidFill>
              </a:rPr>
              <a:t>Config</a:t>
            </a:r>
            <a:endParaRPr lang="en-US"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r>
              <a:rPr lang="en-US" dirty="0" err="1"/>
              <a:t>CloudWatch</a:t>
            </a:r>
            <a:endParaRPr lang="en-US" dirty="0"/>
          </a:p>
          <a:p>
            <a:pPr lvl="1"/>
            <a:r>
              <a:rPr lang="en-US" dirty="0"/>
              <a:t>• Performance monitoring (metrics, CPU, network, etc…) &amp; dashboards</a:t>
            </a:r>
          </a:p>
          <a:p>
            <a:pPr lvl="1"/>
            <a:r>
              <a:rPr lang="en-US" dirty="0"/>
              <a:t>• Events &amp; Alerting</a:t>
            </a:r>
          </a:p>
          <a:p>
            <a:pPr lvl="1"/>
            <a:r>
              <a:rPr lang="en-US" dirty="0"/>
              <a:t>• Log Aggregation &amp; Analysis</a:t>
            </a:r>
          </a:p>
          <a:p>
            <a:r>
              <a:rPr lang="en-US" dirty="0"/>
              <a:t>• </a:t>
            </a:r>
            <a:r>
              <a:rPr lang="en-US" dirty="0" err="1"/>
              <a:t>CloudTrail</a:t>
            </a:r>
            <a:endParaRPr lang="en-US" dirty="0"/>
          </a:p>
          <a:p>
            <a:pPr lvl="1"/>
            <a:r>
              <a:rPr lang="en-US" dirty="0"/>
              <a:t>• Record API calls made within your Account by everyone</a:t>
            </a:r>
          </a:p>
          <a:p>
            <a:pPr lvl="1"/>
            <a:r>
              <a:rPr lang="en-US" dirty="0"/>
              <a:t>• Can define trails for specific resources</a:t>
            </a:r>
          </a:p>
          <a:p>
            <a:pPr lvl="1"/>
            <a:r>
              <a:rPr lang="en-US" dirty="0"/>
              <a:t>• Global Service</a:t>
            </a:r>
          </a:p>
          <a:p>
            <a:r>
              <a:rPr lang="en-US" dirty="0"/>
              <a:t>• </a:t>
            </a:r>
            <a:r>
              <a:rPr lang="en-US" dirty="0" err="1"/>
              <a:t>Config</a:t>
            </a:r>
            <a:endParaRPr lang="en-US" dirty="0"/>
          </a:p>
          <a:p>
            <a:pPr lvl="1"/>
            <a:r>
              <a:rPr lang="en-US" dirty="0"/>
              <a:t>• Record configuration changes</a:t>
            </a:r>
          </a:p>
          <a:p>
            <a:pPr lvl="1"/>
            <a:r>
              <a:rPr lang="en-US" dirty="0"/>
              <a:t>• Evaluate resources against compliance rules</a:t>
            </a:r>
          </a:p>
          <a:p>
            <a:pPr lvl="1"/>
            <a:r>
              <a:rPr lang="en-US" dirty="0"/>
              <a:t>• Get timeline of changes and compliance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 Load Balancer</a:t>
            </a:r>
          </a:p>
        </p:txBody>
      </p:sp>
      <p:sp>
        <p:nvSpPr>
          <p:cNvPr id="3" name="Content Placeholder 2"/>
          <p:cNvSpPr>
            <a:spLocks noGrp="1"/>
          </p:cNvSpPr>
          <p:nvPr>
            <p:ph idx="1"/>
          </p:nvPr>
        </p:nvSpPr>
        <p:spPr/>
        <p:txBody>
          <a:bodyPr>
            <a:normAutofit fontScale="77500" lnSpcReduction="20000"/>
          </a:bodyPr>
          <a:lstStyle/>
          <a:p>
            <a:r>
              <a:rPr lang="en-US" dirty="0" err="1"/>
              <a:t>CloudWatch</a:t>
            </a:r>
            <a:r>
              <a:rPr lang="en-US" dirty="0"/>
              <a:t>:</a:t>
            </a:r>
          </a:p>
          <a:p>
            <a:pPr lvl="1"/>
            <a:r>
              <a:rPr lang="en-US" dirty="0"/>
              <a:t>Monitoring Incoming connections metric</a:t>
            </a:r>
          </a:p>
          <a:p>
            <a:pPr lvl="1"/>
            <a:r>
              <a:rPr lang="en-US" dirty="0"/>
              <a:t>Visualize error codes as % over time</a:t>
            </a:r>
          </a:p>
          <a:p>
            <a:pPr lvl="1"/>
            <a:r>
              <a:rPr lang="en-US" dirty="0"/>
              <a:t>Make a dashboard to get an idea of your load balancer performance</a:t>
            </a:r>
          </a:p>
          <a:p>
            <a:r>
              <a:rPr lang="en-US" dirty="0"/>
              <a:t>CloudTrail:</a:t>
            </a:r>
          </a:p>
          <a:p>
            <a:pPr lvl="1"/>
            <a:r>
              <a:rPr lang="en-US" dirty="0"/>
              <a:t>Track who made any changes to the Load Balancer with API calls</a:t>
            </a:r>
          </a:p>
          <a:p>
            <a:r>
              <a:rPr lang="en-US" dirty="0"/>
              <a:t>Config:</a:t>
            </a:r>
          </a:p>
          <a:p>
            <a:pPr lvl="1"/>
            <a:r>
              <a:rPr lang="en-US" dirty="0"/>
              <a:t>Track security group rules for the Load Balancer</a:t>
            </a:r>
          </a:p>
          <a:p>
            <a:pPr lvl="1"/>
            <a:r>
              <a:rPr lang="en-US" dirty="0"/>
              <a:t>Track configuration changes for the Load Balancer</a:t>
            </a:r>
          </a:p>
          <a:p>
            <a:pPr lvl="1"/>
            <a:r>
              <a:rPr lang="en-US" dirty="0"/>
              <a:t>Ensure an SSL certificate is always assigned to the Load Balancer (</a:t>
            </a:r>
            <a:r>
              <a:rPr lang="en-US"/>
              <a:t>compliance)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System Manager</a:t>
            </a:r>
          </a:p>
        </p:txBody>
      </p:sp>
      <p:sp>
        <p:nvSpPr>
          <p:cNvPr id="3" name="Content Placeholder 2"/>
          <p:cNvSpPr>
            <a:spLocks noGrp="1"/>
          </p:cNvSpPr>
          <p:nvPr>
            <p:ph idx="1"/>
          </p:nvPr>
        </p:nvSpPr>
        <p:spPr/>
        <p:txBody>
          <a:bodyPr/>
          <a:lstStyle/>
          <a:p>
            <a:r>
              <a:rPr lang="en-US" dirty="0"/>
              <a:t>is the operations hub for your AWS applications and resources </a:t>
            </a:r>
          </a:p>
          <a:p>
            <a:r>
              <a:rPr lang="en-US" dirty="0"/>
              <a:t>a secure end-to-end management solution for hybrid and </a:t>
            </a:r>
            <a:r>
              <a:rPr lang="en-US" dirty="0" err="1"/>
              <a:t>multicloud</a:t>
            </a:r>
            <a:r>
              <a:rPr lang="en-US" dirty="0"/>
              <a:t> environments that enables secure operations at scale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7150" y="1028700"/>
            <a:ext cx="9029700" cy="48006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Capabilities</a:t>
            </a:r>
          </a:p>
        </p:txBody>
      </p:sp>
      <p:sp>
        <p:nvSpPr>
          <p:cNvPr id="5" name="Content Placeholder 4"/>
          <p:cNvSpPr>
            <a:spLocks noGrp="1"/>
          </p:cNvSpPr>
          <p:nvPr>
            <p:ph idx="1"/>
          </p:nvPr>
        </p:nvSpPr>
        <p:spPr/>
        <p:txBody>
          <a:bodyPr>
            <a:normAutofit fontScale="70000" lnSpcReduction="20000"/>
          </a:bodyPr>
          <a:lstStyle/>
          <a:p>
            <a:endParaRPr lang="en-US" dirty="0"/>
          </a:p>
          <a:p>
            <a:r>
              <a:rPr lang="en-US" dirty="0"/>
              <a:t>Application management</a:t>
            </a:r>
          </a:p>
          <a:p>
            <a:endParaRPr lang="en-US" dirty="0"/>
          </a:p>
          <a:p>
            <a:r>
              <a:rPr lang="en-US" dirty="0"/>
              <a:t>Change management</a:t>
            </a:r>
          </a:p>
          <a:p>
            <a:endParaRPr lang="en-US" dirty="0"/>
          </a:p>
          <a:p>
            <a:r>
              <a:rPr lang="en-US" dirty="0"/>
              <a:t>Node management</a:t>
            </a:r>
          </a:p>
          <a:p>
            <a:endParaRPr lang="en-US" dirty="0"/>
          </a:p>
          <a:p>
            <a:r>
              <a:rPr lang="en-US" dirty="0"/>
              <a:t>Operations management</a:t>
            </a:r>
          </a:p>
          <a:p>
            <a:endParaRPr lang="en-US" dirty="0"/>
          </a:p>
          <a:p>
            <a:r>
              <a:rPr lang="en-US" dirty="0"/>
              <a:t>Quick Setup</a:t>
            </a:r>
          </a:p>
          <a:p>
            <a:endParaRPr lang="en-US" dirty="0"/>
          </a:p>
          <a:p>
            <a:r>
              <a:rPr lang="en-US" dirty="0"/>
              <a:t>Shared resources</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Os support</a:t>
            </a:r>
          </a:p>
        </p:txBody>
      </p:sp>
      <p:sp>
        <p:nvSpPr>
          <p:cNvPr id="3" name="Content Placeholder 2"/>
          <p:cNvSpPr>
            <a:spLocks noGrp="1"/>
          </p:cNvSpPr>
          <p:nvPr>
            <p:ph idx="1"/>
          </p:nvPr>
        </p:nvSpPr>
        <p:spPr/>
        <p:txBody>
          <a:bodyPr>
            <a:normAutofit fontScale="77500" lnSpcReduction="20000"/>
          </a:bodyPr>
          <a:lstStyle/>
          <a:p>
            <a:endParaRPr lang="en-US" dirty="0"/>
          </a:p>
          <a:p>
            <a:endParaRPr lang="en-US" dirty="0"/>
          </a:p>
          <a:p>
            <a:endParaRPr lang="en-US" dirty="0"/>
          </a:p>
          <a:p>
            <a:endParaRPr lang="en-US" dirty="0"/>
          </a:p>
          <a:p>
            <a:r>
              <a:rPr lang="en-US" dirty="0"/>
              <a:t>Linux</a:t>
            </a:r>
          </a:p>
          <a:p>
            <a:endParaRPr lang="en-US" dirty="0"/>
          </a:p>
          <a:p>
            <a:r>
              <a:rPr lang="en-US" dirty="0" err="1"/>
              <a:t>macOS</a:t>
            </a:r>
            <a:r>
              <a:rPr lang="en-US" dirty="0"/>
              <a:t> (Amazon EC2 instances only)</a:t>
            </a:r>
          </a:p>
          <a:p>
            <a:endParaRPr lang="en-US" dirty="0"/>
          </a:p>
          <a:p>
            <a:r>
              <a:rPr lang="en-US" dirty="0"/>
              <a:t>Raspberry Pi OS (formerly </a:t>
            </a:r>
            <a:r>
              <a:rPr lang="en-US" dirty="0" err="1"/>
              <a:t>Raspbian</a:t>
            </a:r>
            <a:r>
              <a:rPr lang="en-US" dirty="0"/>
              <a:t>)</a:t>
            </a:r>
          </a:p>
          <a:p>
            <a:endParaRPr lang="en-US" dirty="0"/>
          </a:p>
          <a:p>
            <a:r>
              <a:rPr lang="en-US" dirty="0"/>
              <a:t>Windows Server</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50838"/>
          </a:xfrm>
        </p:spPr>
        <p:txBody>
          <a:bodyPr>
            <a:normAutofit fontScale="90000"/>
          </a:bodyPr>
          <a:lstStyle/>
          <a:p>
            <a:br>
              <a:rPr lang="en-US" dirty="0">
                <a:solidFill>
                  <a:srgbClr val="FF0000"/>
                </a:solidFill>
              </a:rPr>
            </a:br>
            <a:br>
              <a:rPr lang="en-US" dirty="0">
                <a:solidFill>
                  <a:srgbClr val="FF0000"/>
                </a:solidFill>
              </a:rPr>
            </a:br>
            <a:r>
              <a:rPr lang="en-US" dirty="0">
                <a:solidFill>
                  <a:srgbClr val="FF0000"/>
                </a:solidFill>
              </a:rPr>
              <a:t>Security in AWS Systems Manager</a:t>
            </a:r>
          </a:p>
        </p:txBody>
      </p:sp>
      <p:sp>
        <p:nvSpPr>
          <p:cNvPr id="3" name="Content Placeholder 2"/>
          <p:cNvSpPr>
            <a:spLocks noGrp="1"/>
          </p:cNvSpPr>
          <p:nvPr>
            <p:ph idx="1"/>
          </p:nvPr>
        </p:nvSpPr>
        <p:spPr/>
        <p:txBody>
          <a:bodyPr>
            <a:normAutofit fontScale="85000" lnSpcReduction="20000"/>
          </a:bodyPr>
          <a:lstStyle/>
          <a:p>
            <a:r>
              <a:rPr lang="en-US" dirty="0"/>
              <a:t>Data protection in AWS Systems Manager</a:t>
            </a:r>
          </a:p>
          <a:p>
            <a:r>
              <a:rPr lang="en-US" dirty="0"/>
              <a:t>Identity and access management for AWS Systems Manager</a:t>
            </a:r>
          </a:p>
          <a:p>
            <a:r>
              <a:rPr lang="en-US" dirty="0"/>
              <a:t>Using service-linked roles for Systems Manager</a:t>
            </a:r>
          </a:p>
          <a:p>
            <a:r>
              <a:rPr lang="en-US" dirty="0"/>
              <a:t>Logging and monitoring in AWS Systems Manager</a:t>
            </a:r>
          </a:p>
          <a:p>
            <a:r>
              <a:rPr lang="en-US" dirty="0"/>
              <a:t>Compliance validation for AWS Systems Manager</a:t>
            </a:r>
          </a:p>
          <a:p>
            <a:r>
              <a:rPr lang="en-US" dirty="0"/>
              <a:t>Resilience in AWS Systems Manager</a:t>
            </a:r>
          </a:p>
          <a:p>
            <a:r>
              <a:rPr lang="en-US" dirty="0"/>
              <a:t>Infrastructure security in AWS Systems Manager</a:t>
            </a:r>
          </a:p>
          <a:p>
            <a:r>
              <a:rPr lang="en-US" dirty="0"/>
              <a:t>Configuration and vulnerability analysis in AWS Systems Manager</a:t>
            </a:r>
          </a:p>
          <a:p>
            <a:r>
              <a:rPr lang="en-US" dirty="0"/>
              <a:t>Security best practices for Systems Manager</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1FFB82-4FB0-4DDF-BD28-7DD40EE92E8A}"/>
              </a:ext>
              <a:ext uri="{C183D7F6-B498-43B3-948B-1728B52AA6E4}">
                <adec:decorative xmlns:adec="http://schemas.microsoft.com/office/drawing/2017/decorative" val="1"/>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53</a:t>
            </a:fld>
            <a:endParaRPr lang="en-US" dirty="0"/>
          </a:p>
        </p:txBody>
      </p:sp>
      <p:sp>
        <p:nvSpPr>
          <p:cNvPr id="4" name="Title 1"/>
          <p:cNvSpPr>
            <a:spLocks noGrp="1"/>
          </p:cNvSpPr>
          <p:nvPr>
            <p:ph type="title"/>
          </p:nvPr>
        </p:nvSpPr>
        <p:spPr/>
        <p:txBody>
          <a:bodyPr/>
          <a:lstStyle/>
          <a:p>
            <a:r>
              <a:rPr lang="en-US" dirty="0">
                <a:solidFill>
                  <a:srgbClr val="FF0000"/>
                </a:solidFill>
              </a:rPr>
              <a:t>AWS pricing model</a:t>
            </a:r>
          </a:p>
        </p:txBody>
      </p:sp>
      <p:sp>
        <p:nvSpPr>
          <p:cNvPr id="5" name="Content Placeholder 2"/>
          <p:cNvSpPr>
            <a:spLocks noGrp="1"/>
          </p:cNvSpPr>
          <p:nvPr>
            <p:ph sz="quarter" idx="4294967295"/>
          </p:nvPr>
        </p:nvSpPr>
        <p:spPr>
          <a:xfrm>
            <a:off x="274320" y="1143000"/>
            <a:ext cx="8690918" cy="5291750"/>
          </a:xfrm>
          <a:prstGeom prst="rect">
            <a:avLst/>
          </a:prstGeom>
        </p:spPr>
        <p:txBody>
          <a:bodyPr>
            <a:normAutofit/>
          </a:bodyPr>
          <a:lstStyle/>
          <a:p>
            <a:pPr marL="0" indent="0" algn="ctr">
              <a:buNone/>
            </a:pPr>
            <a:r>
              <a:rPr lang="en-US" sz="3200" dirty="0"/>
              <a:t>Three fundamental drivers of cost with AWS</a:t>
            </a:r>
          </a:p>
          <a:p>
            <a:pPr marL="0" indent="0">
              <a:buNone/>
            </a:pPr>
            <a:endParaRPr lang="en-US" sz="3200" dirty="0"/>
          </a:p>
        </p:txBody>
      </p:sp>
      <p:sp>
        <p:nvSpPr>
          <p:cNvPr id="12" name="Rounded Rectangle 3">
            <a:extLst>
              <a:ext uri="{FF2B5EF4-FFF2-40B4-BE49-F238E27FC236}">
                <a16:creationId xmlns:a16="http://schemas.microsoft.com/office/drawing/2014/main" id="{6186DDE2-BF9E-41A8-A508-8590E434F71E}"/>
              </a:ext>
              <a:ext uri="{C183D7F6-B498-43B3-948B-1728B52AA6E4}">
                <adec:decorative xmlns:adec="http://schemas.microsoft.com/office/drawing/2017/decorative" val="1"/>
              </a:ext>
            </a:extLst>
          </p:cNvPr>
          <p:cNvSpPr/>
          <p:nvPr/>
        </p:nvSpPr>
        <p:spPr bwMode="auto">
          <a:xfrm>
            <a:off x="248296" y="2300243"/>
            <a:ext cx="2685586" cy="3567157"/>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sp>
        <p:nvSpPr>
          <p:cNvPr id="14" name="Rounded Rectangle 5">
            <a:extLst>
              <a:ext uri="{FF2B5EF4-FFF2-40B4-BE49-F238E27FC236}">
                <a16:creationId xmlns:a16="http://schemas.microsoft.com/office/drawing/2014/main" id="{B1DC8492-2312-4D68-8900-C2E4AE78A56E}"/>
              </a:ext>
              <a:ext uri="{C183D7F6-B498-43B3-948B-1728B52AA6E4}">
                <adec:decorative xmlns:adec="http://schemas.microsoft.com/office/drawing/2017/decorative" val="1"/>
              </a:ext>
            </a:extLst>
          </p:cNvPr>
          <p:cNvSpPr/>
          <p:nvPr/>
        </p:nvSpPr>
        <p:spPr bwMode="auto">
          <a:xfrm>
            <a:off x="3196193" y="2303009"/>
            <a:ext cx="2685586" cy="3792991"/>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sp>
        <p:nvSpPr>
          <p:cNvPr id="13" name="Rounded Rectangle 4">
            <a:extLst>
              <a:ext uri="{FF2B5EF4-FFF2-40B4-BE49-F238E27FC236}">
                <a16:creationId xmlns:a16="http://schemas.microsoft.com/office/drawing/2014/main" id="{CB87D253-3BA4-4FAB-85E6-D7B48BF8C52E}"/>
              </a:ext>
              <a:ext uri="{C183D7F6-B498-43B3-948B-1728B52AA6E4}">
                <adec:decorative xmlns:adec="http://schemas.microsoft.com/office/drawing/2017/decorative" val="1"/>
              </a:ext>
            </a:extLst>
          </p:cNvPr>
          <p:cNvSpPr/>
          <p:nvPr/>
        </p:nvSpPr>
        <p:spPr bwMode="auto">
          <a:xfrm>
            <a:off x="6144090" y="2303009"/>
            <a:ext cx="2685586" cy="3945391"/>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ts val="600"/>
              </a:spcAft>
            </a:pPr>
            <a:endParaRPr lang="en-US" sz="2400" dirty="0">
              <a:solidFill>
                <a:schemeClr val="tx1"/>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CFC3F2B5-AD5D-4AFD-A2AC-DF4F1AE9B1A0}"/>
              </a:ext>
            </a:extLst>
          </p:cNvPr>
          <p:cNvSpPr txBox="1"/>
          <p:nvPr/>
        </p:nvSpPr>
        <p:spPr>
          <a:xfrm>
            <a:off x="959064" y="2506173"/>
            <a:ext cx="1537345" cy="627864"/>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solidFill>
                  <a:srgbClr val="504BAB"/>
                </a:solidFill>
              </a:rPr>
              <a:t>Compute</a:t>
            </a:r>
          </a:p>
        </p:txBody>
      </p:sp>
      <p:sp>
        <p:nvSpPr>
          <p:cNvPr id="18" name="Content Placeholder 2">
            <a:extLst>
              <a:ext uri="{FF2B5EF4-FFF2-40B4-BE49-F238E27FC236}">
                <a16:creationId xmlns:a16="http://schemas.microsoft.com/office/drawing/2014/main" id="{6A0F735E-090E-437A-9312-8194E87A598C}"/>
              </a:ext>
            </a:extLst>
          </p:cNvPr>
          <p:cNvSpPr txBox="1">
            <a:spLocks/>
          </p:cNvSpPr>
          <p:nvPr/>
        </p:nvSpPr>
        <p:spPr>
          <a:xfrm>
            <a:off x="248296" y="3046557"/>
            <a:ext cx="2821906" cy="2554545"/>
          </a:xfrm>
          <a:prstGeom prst="rect">
            <a:avLst/>
          </a:prstGeom>
        </p:spPr>
        <p:txBody>
          <a:bodyPr vert="horz" wrap="square" lIns="182880" tIns="146304" rIns="182880" bIns="146304" rtlCol="0">
            <a:spAutoFit/>
          </a:bodyPr>
          <a:lstStyle>
            <a:defPPr>
              <a:defRPr lang="en-US"/>
            </a:defPPr>
            <a:lvl1pPr marL="290513" marR="0" indent="-290513" defTabSz="914362" fontAlgn="auto">
              <a:lnSpc>
                <a:spcPct val="90000"/>
              </a:lnSpc>
              <a:spcBef>
                <a:spcPts val="0"/>
              </a:spcBef>
              <a:spcAft>
                <a:spcPts val="1200"/>
              </a:spcAft>
              <a:buClrTx/>
              <a:buSzPct val="90000"/>
              <a:buFont typeface="Arial" pitchFamily="34" charset="0"/>
              <a:buChar char="•"/>
              <a:tabLst/>
              <a:defRPr sz="2000" b="0" spc="0" baseline="0">
                <a:latin typeface="Amazon Ember" panose="020B0603020204020204" pitchFamily="34" charset="0"/>
                <a:ea typeface="Amazon Ember" panose="020B0603020204020204" pitchFamily="34" charset="0"/>
                <a:cs typeface="Amazon Ember" panose="020B0603020204020204" pitchFamily="34" charset="0"/>
              </a:defRPr>
            </a:lvl1pPr>
            <a:lvl2pPr marL="290513" marR="0" lvl="1" indent="-290513" defTabSz="914362" fontAlgn="auto">
              <a:lnSpc>
                <a:spcPct val="90000"/>
              </a:lnSpc>
              <a:spcBef>
                <a:spcPts val="0"/>
              </a:spcBef>
              <a:spcAft>
                <a:spcPts val="1200"/>
              </a:spcAft>
              <a:buClrTx/>
              <a:buSzPct val="90000"/>
              <a:buFont typeface="Arial" pitchFamily="34" charset="0"/>
              <a:buNone/>
              <a:tabLst/>
              <a:defRPr sz="2000" spc="0" baseline="0">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defTabSz="914362" fontAlgn="auto">
              <a:lnSpc>
                <a:spcPct val="90000"/>
              </a:lnSpc>
              <a:spcBef>
                <a:spcPts val="500"/>
              </a:spcBef>
              <a:spcAft>
                <a:spcPts val="0"/>
              </a:spcAft>
              <a:buClrTx/>
              <a:buSzPct val="90000"/>
              <a:buFont typeface="Arial" pitchFamily="34" charset="0"/>
              <a:buNone/>
              <a:tabLst/>
              <a:defRPr sz="2000" spc="0" baseline="0">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defTabSz="914362" fontAlgn="auto">
              <a:lnSpc>
                <a:spcPct val="90000"/>
              </a:lnSpc>
              <a:spcBef>
                <a:spcPts val="500"/>
              </a:spcBef>
              <a:spcAft>
                <a:spcPts val="0"/>
              </a:spcAft>
              <a:buClrTx/>
              <a:buSzPct val="90000"/>
              <a:buFont typeface="Arial" pitchFamily="34" charset="0"/>
              <a:buNone/>
              <a:tabLst/>
              <a:defRPr sz="1667" spc="0" baseline="0">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defTabSz="914362" fontAlgn="auto">
              <a:lnSpc>
                <a:spcPct val="90000"/>
              </a:lnSpc>
              <a:spcBef>
                <a:spcPts val="500"/>
              </a:spcBef>
              <a:spcAft>
                <a:spcPts val="0"/>
              </a:spcAft>
              <a:buClrTx/>
              <a:buSzPct val="90000"/>
              <a:buFont typeface="Arial" pitchFamily="34" charset="0"/>
              <a:buNone/>
              <a:tabLst/>
              <a:defRPr sz="1667" spc="0" baseline="0">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defTabSz="914362">
              <a:spcBef>
                <a:spcPct val="20000"/>
              </a:spcBef>
              <a:buFont typeface="Arial" pitchFamily="34" charset="0"/>
              <a:buChar char="•"/>
              <a:defRPr sz="1961"/>
            </a:lvl6pPr>
            <a:lvl7pPr marL="2971675" indent="-228591" defTabSz="914362">
              <a:spcBef>
                <a:spcPct val="20000"/>
              </a:spcBef>
              <a:buFont typeface="Arial" pitchFamily="34" charset="0"/>
              <a:buChar char="•"/>
              <a:defRPr sz="1961"/>
            </a:lvl7pPr>
            <a:lvl8pPr marL="3428856" indent="-228591" defTabSz="914362">
              <a:spcBef>
                <a:spcPct val="20000"/>
              </a:spcBef>
              <a:buFont typeface="Arial" pitchFamily="34" charset="0"/>
              <a:buChar char="•"/>
              <a:defRPr sz="1961"/>
            </a:lvl8pPr>
            <a:lvl9pPr marL="3886038" indent="-228591" defTabSz="914362">
              <a:spcBef>
                <a:spcPct val="20000"/>
              </a:spcBef>
              <a:buFont typeface="Arial" pitchFamily="34" charset="0"/>
              <a:buChar char="•"/>
              <a:defRPr sz="1961"/>
            </a:lvl9pPr>
          </a:lstStyle>
          <a:p>
            <a:r>
              <a:rPr lang="en-US" dirty="0"/>
              <a:t>Charged per hour/second*</a:t>
            </a:r>
          </a:p>
          <a:p>
            <a:r>
              <a:rPr lang="en-US" dirty="0"/>
              <a:t>Varies by instance type</a:t>
            </a:r>
            <a:br>
              <a:rPr lang="en-US" dirty="0"/>
            </a:br>
            <a:br>
              <a:rPr lang="en-US" dirty="0"/>
            </a:br>
            <a:br>
              <a:rPr lang="en-US" dirty="0"/>
            </a:br>
            <a:br>
              <a:rPr lang="en-US" sz="1600" dirty="0"/>
            </a:br>
            <a:r>
              <a:rPr lang="en-US" sz="1600" dirty="0"/>
              <a:t>*Linux only</a:t>
            </a:r>
          </a:p>
        </p:txBody>
      </p:sp>
      <p:sp>
        <p:nvSpPr>
          <p:cNvPr id="16" name="TextBox 15">
            <a:extLst>
              <a:ext uri="{FF2B5EF4-FFF2-40B4-BE49-F238E27FC236}">
                <a16:creationId xmlns:a16="http://schemas.microsoft.com/office/drawing/2014/main" id="{84976DA3-F6BC-45EB-8BDB-9C597B66327B}"/>
              </a:ext>
            </a:extLst>
          </p:cNvPr>
          <p:cNvSpPr txBox="1"/>
          <p:nvPr/>
        </p:nvSpPr>
        <p:spPr>
          <a:xfrm>
            <a:off x="3977894" y="2506173"/>
            <a:ext cx="1337289" cy="627864"/>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solidFill>
                  <a:schemeClr val="accent2"/>
                </a:solidFill>
              </a:rPr>
              <a:t>Storage</a:t>
            </a:r>
          </a:p>
        </p:txBody>
      </p:sp>
      <p:sp>
        <p:nvSpPr>
          <p:cNvPr id="19" name="Content Placeholder 2">
            <a:extLst>
              <a:ext uri="{FF2B5EF4-FFF2-40B4-BE49-F238E27FC236}">
                <a16:creationId xmlns:a16="http://schemas.microsoft.com/office/drawing/2014/main" id="{6317CAA8-FF47-4E23-8932-D3215409A39D}"/>
              </a:ext>
            </a:extLst>
          </p:cNvPr>
          <p:cNvSpPr txBox="1">
            <a:spLocks/>
          </p:cNvSpPr>
          <p:nvPr/>
        </p:nvSpPr>
        <p:spPr>
          <a:xfrm>
            <a:off x="3170268" y="3046557"/>
            <a:ext cx="2777065" cy="849463"/>
          </a:xfrm>
          <a:prstGeom prst="rect">
            <a:avLst/>
          </a:prstGeom>
        </p:spPr>
        <p:txBody>
          <a:bodyPr vert="horz" wrap="square" lIns="182880" tIns="146304" rIns="182880" bIns="146304" rtlCol="0">
            <a:spAutoFit/>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290513" indent="-290513">
              <a:buFont typeface="Arial" panose="020B0604020202020204" pitchFamily="34" charset="0"/>
              <a:buChar char="•"/>
            </a:pPr>
            <a:r>
              <a:rPr lang="en-US" sz="2000" dirty="0"/>
              <a:t>Charged typically per GB</a:t>
            </a:r>
          </a:p>
        </p:txBody>
      </p:sp>
      <p:sp>
        <p:nvSpPr>
          <p:cNvPr id="17" name="TextBox 16">
            <a:extLst>
              <a:ext uri="{FF2B5EF4-FFF2-40B4-BE49-F238E27FC236}">
                <a16:creationId xmlns:a16="http://schemas.microsoft.com/office/drawing/2014/main" id="{1F7673F4-EDA4-4CD1-A103-2B44B4332D2B}"/>
              </a:ext>
            </a:extLst>
          </p:cNvPr>
          <p:cNvSpPr txBox="1"/>
          <p:nvPr/>
        </p:nvSpPr>
        <p:spPr>
          <a:xfrm>
            <a:off x="6632442" y="2506173"/>
            <a:ext cx="2043124" cy="627864"/>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solidFill>
                  <a:schemeClr val="accent5"/>
                </a:solidFill>
              </a:rPr>
              <a:t>Data transfer</a:t>
            </a:r>
          </a:p>
        </p:txBody>
      </p:sp>
      <p:sp>
        <p:nvSpPr>
          <p:cNvPr id="20" name="Content Placeholder 2">
            <a:extLst>
              <a:ext uri="{FF2B5EF4-FFF2-40B4-BE49-F238E27FC236}">
                <a16:creationId xmlns:a16="http://schemas.microsoft.com/office/drawing/2014/main" id="{1AEFBC19-A6BE-49AC-BDCA-A86BBEDB08A9}"/>
              </a:ext>
            </a:extLst>
          </p:cNvPr>
          <p:cNvSpPr txBox="1">
            <a:spLocks/>
          </p:cNvSpPr>
          <p:nvPr/>
        </p:nvSpPr>
        <p:spPr>
          <a:xfrm>
            <a:off x="6144089" y="3046558"/>
            <a:ext cx="2785652" cy="2819233"/>
          </a:xfrm>
          <a:prstGeom prst="rect">
            <a:avLst/>
          </a:prstGeom>
        </p:spPr>
        <p:txBody>
          <a:bodyPr vert="horz" wrap="square" lIns="182880" tIns="146304" rIns="182880" bIns="146304" rtlCol="0">
            <a:spAutoFit/>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290513" indent="-290513">
              <a:spcBef>
                <a:spcPts val="0"/>
              </a:spcBef>
              <a:spcAft>
                <a:spcPts val="1200"/>
              </a:spcAft>
              <a:buFont typeface="Arial" pitchFamily="34" charset="0"/>
              <a:buChar char="•"/>
            </a:pPr>
            <a:r>
              <a:rPr lang="en-US" sz="2000" dirty="0"/>
              <a:t>Outbound is aggregated and charged</a:t>
            </a:r>
          </a:p>
          <a:p>
            <a:pPr marL="290513" indent="-290513">
              <a:spcBef>
                <a:spcPts val="0"/>
              </a:spcBef>
              <a:spcAft>
                <a:spcPts val="1200"/>
              </a:spcAft>
              <a:buFont typeface="Arial" pitchFamily="34" charset="0"/>
              <a:buChar char="•"/>
            </a:pPr>
            <a:r>
              <a:rPr lang="en-US" sz="2000" dirty="0"/>
              <a:t>Inbound has no charge (with some exceptions)</a:t>
            </a:r>
          </a:p>
          <a:p>
            <a:pPr marL="290513" indent="-290513">
              <a:spcBef>
                <a:spcPts val="0"/>
              </a:spcBef>
              <a:spcAft>
                <a:spcPts val="1200"/>
              </a:spcAft>
              <a:buFont typeface="Arial" pitchFamily="34" charset="0"/>
              <a:buChar char="•"/>
            </a:pPr>
            <a:r>
              <a:rPr lang="en-US" sz="2000" dirty="0"/>
              <a:t>Charged typically per GB</a:t>
            </a:r>
          </a:p>
        </p:txBody>
      </p:sp>
    </p:spTree>
    <p:custDataLst>
      <p:tags r:id="rId1"/>
    </p:custDataLst>
    <p:extLst>
      <p:ext uri="{BB962C8B-B14F-4D97-AF65-F5344CB8AC3E}">
        <p14:creationId xmlns:p14="http://schemas.microsoft.com/office/powerpoint/2010/main" val="2293702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How do you pay for AWS?</a:t>
            </a:r>
          </a:p>
        </p:txBody>
      </p:sp>
      <p:grpSp>
        <p:nvGrpSpPr>
          <p:cNvPr id="6" name="Group 9">
            <a:extLst>
              <a:ext uri="{FF2B5EF4-FFF2-40B4-BE49-F238E27FC236}">
                <a16:creationId xmlns:a16="http://schemas.microsoft.com/office/drawing/2014/main" id="{36D0FACA-8E6E-823C-3A24-A26D2979F659}"/>
              </a:ext>
              <a:ext uri="{C183D7F6-B498-43B3-948B-1728B52AA6E4}">
                <adec:decorative xmlns:adec="http://schemas.microsoft.com/office/drawing/2017/decorative" val="1"/>
              </a:ext>
            </a:extLst>
          </p:cNvPr>
          <p:cNvGrpSpPr/>
          <p:nvPr/>
        </p:nvGrpSpPr>
        <p:grpSpPr>
          <a:xfrm>
            <a:off x="237958" y="2006965"/>
            <a:ext cx="8581379" cy="3604426"/>
            <a:chOff x="317277" y="2006965"/>
            <a:chExt cx="11441839" cy="3604426"/>
          </a:xfrm>
        </p:grpSpPr>
        <p:sp>
          <p:nvSpPr>
            <p:cNvPr id="15" name="Rounded Rectangle 14">
              <a:extLst>
                <a:ext uri="{C183D7F6-B498-43B3-948B-1728B52AA6E4}">
                  <adec:decorative xmlns:adec="http://schemas.microsoft.com/office/drawing/2017/decorative" val="1"/>
                </a:ext>
              </a:extLst>
            </p:cNvPr>
            <p:cNvSpPr/>
            <p:nvPr/>
          </p:nvSpPr>
          <p:spPr bwMode="auto">
            <a:xfrm>
              <a:off x="317277" y="2006965"/>
              <a:ext cx="3580781" cy="3601660"/>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3314" name="Picture 2" descr="pricing_pay-as-you-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979" y="2585130"/>
              <a:ext cx="2619375" cy="2857500"/>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C183D7F6-B498-43B3-948B-1728B52AA6E4}">
                  <adec:decorative xmlns:adec="http://schemas.microsoft.com/office/drawing/2017/decorative" val="1"/>
                </a:ext>
              </a:extLst>
            </p:cNvPr>
            <p:cNvSpPr/>
            <p:nvPr/>
          </p:nvSpPr>
          <p:spPr bwMode="auto">
            <a:xfrm>
              <a:off x="4247806" y="2009731"/>
              <a:ext cx="3580781" cy="3601660"/>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3316" name="Picture 4" descr="pricing_reserved-instances-chan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8507" y="2585130"/>
              <a:ext cx="2619375" cy="2857500"/>
            </a:xfrm>
            <a:prstGeom prst="rect">
              <a:avLst/>
            </a:prstGeom>
            <a:noFill/>
            <a:extLst>
              <a:ext uri="{909E8E84-426E-40DD-AFC4-6F175D3DCCD1}">
                <a14:hiddenFill xmlns:a14="http://schemas.microsoft.com/office/drawing/2010/main">
                  <a:solidFill>
                    <a:srgbClr val="FFFFFF"/>
                  </a:solidFill>
                </a14:hiddenFill>
              </a:ext>
            </a:extLst>
          </p:spPr>
        </p:pic>
        <p:sp>
          <p:nvSpPr>
            <p:cNvPr id="16" name="Rounded Rectangle 15">
              <a:extLst>
                <a:ext uri="{C183D7F6-B498-43B3-948B-1728B52AA6E4}">
                  <adec:decorative xmlns:adec="http://schemas.microsoft.com/office/drawing/2017/decorative" val="1"/>
                </a:ext>
              </a:extLst>
            </p:cNvPr>
            <p:cNvSpPr/>
            <p:nvPr/>
          </p:nvSpPr>
          <p:spPr bwMode="auto">
            <a:xfrm>
              <a:off x="8178335" y="2009731"/>
              <a:ext cx="3580781" cy="3601660"/>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3318" name="Picture 6" descr="pricing_pay-less-by-using-mo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59039" y="2753891"/>
              <a:ext cx="2619375" cy="28575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descr="Pay for what you use."/>
          <p:cNvSpPr txBox="1"/>
          <p:nvPr/>
        </p:nvSpPr>
        <p:spPr>
          <a:xfrm>
            <a:off x="439575" y="2212896"/>
            <a:ext cx="2747419" cy="600164"/>
          </a:xfrm>
          <a:prstGeom prst="rect">
            <a:avLst/>
          </a:prstGeom>
          <a:noFill/>
        </p:spPr>
        <p:txBody>
          <a:bodyPr wrap="none" lIns="182880" tIns="146304" rIns="182880" bIns="146304" rtlCol="0">
            <a:spAutoFit/>
          </a:bodyPr>
          <a:lstStyle/>
          <a:p>
            <a:pPr algn="ctr">
              <a:lnSpc>
                <a:spcPct val="90000"/>
              </a:lnSpc>
              <a:spcAft>
                <a:spcPts val="1800"/>
              </a:spcAft>
            </a:pPr>
            <a:r>
              <a:rPr lang="en-US" sz="2200" dirty="0">
                <a:gradFill>
                  <a:gsLst>
                    <a:gs pos="2917">
                      <a:schemeClr val="tx1"/>
                    </a:gs>
                    <a:gs pos="30000">
                      <a:schemeClr val="tx1"/>
                    </a:gs>
                  </a:gsLst>
                  <a:lin ang="5400000" scaled="0"/>
                </a:gradFill>
              </a:rPr>
              <a:t>Pay for what you use</a:t>
            </a:r>
          </a:p>
        </p:txBody>
      </p:sp>
      <p:sp>
        <p:nvSpPr>
          <p:cNvPr id="5" name="TextBox 4" descr="Pay less when you reserve."/>
          <p:cNvSpPr txBox="1"/>
          <p:nvPr/>
        </p:nvSpPr>
        <p:spPr>
          <a:xfrm>
            <a:off x="3144617" y="2212896"/>
            <a:ext cx="2570384" cy="904863"/>
          </a:xfrm>
          <a:prstGeom prst="rect">
            <a:avLst/>
          </a:prstGeom>
          <a:noFill/>
        </p:spPr>
        <p:txBody>
          <a:bodyPr wrap="square" lIns="182880" tIns="146304" rIns="182880" bIns="146304" rtlCol="0">
            <a:spAutoFit/>
          </a:bodyPr>
          <a:lstStyle/>
          <a:p>
            <a:pPr algn="ctr">
              <a:lnSpc>
                <a:spcPct val="90000"/>
              </a:lnSpc>
              <a:spcAft>
                <a:spcPts val="1800"/>
              </a:spcAft>
            </a:pPr>
            <a:r>
              <a:rPr lang="en-US" sz="2200" dirty="0">
                <a:gradFill>
                  <a:gsLst>
                    <a:gs pos="2917">
                      <a:schemeClr val="tx1"/>
                    </a:gs>
                    <a:gs pos="30000">
                      <a:schemeClr val="tx1"/>
                    </a:gs>
                  </a:gsLst>
                  <a:lin ang="5400000" scaled="0"/>
                </a:gradFill>
              </a:rPr>
              <a:t>Pay less when you reserve</a:t>
            </a:r>
          </a:p>
        </p:txBody>
      </p:sp>
      <p:sp>
        <p:nvSpPr>
          <p:cNvPr id="9" name="TextBox 8" descr="Pay less when you use more and as AWS grows."/>
          <p:cNvSpPr txBox="1"/>
          <p:nvPr/>
        </p:nvSpPr>
        <p:spPr>
          <a:xfrm>
            <a:off x="6231966" y="2212896"/>
            <a:ext cx="2454835" cy="1209562"/>
          </a:xfrm>
          <a:prstGeom prst="rect">
            <a:avLst/>
          </a:prstGeom>
          <a:noFill/>
        </p:spPr>
        <p:txBody>
          <a:bodyPr wrap="square" lIns="182880" tIns="146304" rIns="182880" bIns="146304" rtlCol="0">
            <a:spAutoFit/>
          </a:bodyPr>
          <a:lstStyle/>
          <a:p>
            <a:pPr algn="ctr">
              <a:lnSpc>
                <a:spcPct val="90000"/>
              </a:lnSpc>
              <a:spcAft>
                <a:spcPts val="1800"/>
              </a:spcAft>
            </a:pPr>
            <a:r>
              <a:rPr lang="en-US" sz="2200" dirty="0">
                <a:gradFill>
                  <a:gsLst>
                    <a:gs pos="2917">
                      <a:schemeClr val="tx1"/>
                    </a:gs>
                    <a:gs pos="30000">
                      <a:schemeClr val="tx1"/>
                    </a:gs>
                  </a:gsLst>
                  <a:lin ang="5400000" scaled="0"/>
                </a:gradFill>
              </a:rPr>
              <a:t>Pay less when you use more and as AWS grows</a:t>
            </a:r>
          </a:p>
        </p:txBody>
      </p:sp>
    </p:spTree>
    <p:custDataLst>
      <p:tags r:id="rId1"/>
    </p:custDataLst>
    <p:extLst>
      <p:ext uri="{BB962C8B-B14F-4D97-AF65-F5344CB8AC3E}">
        <p14:creationId xmlns:p14="http://schemas.microsoft.com/office/powerpoint/2010/main" val="4176542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Pay for what you use</a:t>
            </a:r>
          </a:p>
        </p:txBody>
      </p:sp>
      <p:sp>
        <p:nvSpPr>
          <p:cNvPr id="18" name="Rectangle 17">
            <a:extLst>
              <a:ext uri="{FF2B5EF4-FFF2-40B4-BE49-F238E27FC236}">
                <a16:creationId xmlns:a16="http://schemas.microsoft.com/office/drawing/2014/main" id="{D9683434-E8CD-44CA-9BF1-0FD8519FD87E}"/>
              </a:ext>
            </a:extLst>
          </p:cNvPr>
          <p:cNvSpPr/>
          <p:nvPr/>
        </p:nvSpPr>
        <p:spPr>
          <a:xfrm>
            <a:off x="1229886" y="1195586"/>
            <a:ext cx="6950293" cy="954107"/>
          </a:xfrm>
          <a:prstGeom prst="rect">
            <a:avLst/>
          </a:prstGeom>
        </p:spPr>
        <p:txBody>
          <a:bodyPr wrap="square">
            <a:spAutoFit/>
          </a:bodyPr>
          <a:lstStyle/>
          <a:p>
            <a:pPr algn="ctr"/>
            <a:r>
              <a:rPr lang="en-US" sz="2800" dirty="0"/>
              <a:t>Pay only for the services that you consume, with no large upfront expenses.</a:t>
            </a:r>
          </a:p>
        </p:txBody>
      </p:sp>
      <p:grpSp>
        <p:nvGrpSpPr>
          <p:cNvPr id="3" name="Group 5" descr="Summary of on premises and AWS costs. On-premises costs show an increase in cost with usage. AWS costs show an increase for service, then a decrease.">
            <a:extLst>
              <a:ext uri="{FF2B5EF4-FFF2-40B4-BE49-F238E27FC236}">
                <a16:creationId xmlns:a16="http://schemas.microsoft.com/office/drawing/2014/main" id="{435101BA-A775-48D4-987C-BE3166D8882B}"/>
              </a:ext>
            </a:extLst>
          </p:cNvPr>
          <p:cNvGrpSpPr/>
          <p:nvPr/>
        </p:nvGrpSpPr>
        <p:grpSpPr>
          <a:xfrm>
            <a:off x="576775" y="2200922"/>
            <a:ext cx="7873445" cy="3397697"/>
            <a:chOff x="769033" y="2200921"/>
            <a:chExt cx="10497927" cy="3397697"/>
          </a:xfrm>
        </p:grpSpPr>
        <p:sp>
          <p:nvSpPr>
            <p:cNvPr id="8" name="Rounded Rectangle 14">
              <a:extLst>
                <a:ext uri="{FF2B5EF4-FFF2-40B4-BE49-F238E27FC236}">
                  <a16:creationId xmlns:a16="http://schemas.microsoft.com/office/drawing/2014/main" id="{464993B5-55E7-4036-BC60-2E9DB295538B}"/>
                </a:ext>
                <a:ext uri="{C183D7F6-B498-43B3-948B-1728B52AA6E4}">
                  <adec:decorative xmlns:adec="http://schemas.microsoft.com/office/drawing/2017/decorative" val="1"/>
                </a:ext>
              </a:extLst>
            </p:cNvPr>
            <p:cNvSpPr/>
            <p:nvPr/>
          </p:nvSpPr>
          <p:spPr bwMode="auto">
            <a:xfrm>
              <a:off x="6480145" y="2200921"/>
              <a:ext cx="4786815" cy="3397697"/>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1" name="Picture 6" descr="AWS costs.">
              <a:extLst>
                <a:ext uri="{FF2B5EF4-FFF2-40B4-BE49-F238E27FC236}">
                  <a16:creationId xmlns:a16="http://schemas.microsoft.com/office/drawing/2014/main" id="{B51B518B-C8CA-4379-8BA5-194D8ED348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1993" y="2915973"/>
              <a:ext cx="4524375" cy="238125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CF62203-37C8-4372-A834-A41BFBE9422B}"/>
                </a:ext>
              </a:extLst>
            </p:cNvPr>
            <p:cNvSpPr txBox="1"/>
            <p:nvPr/>
          </p:nvSpPr>
          <p:spPr>
            <a:xfrm>
              <a:off x="8349851" y="2409753"/>
              <a:ext cx="1288729" cy="627864"/>
            </a:xfrm>
            <a:prstGeom prst="rect">
              <a:avLst/>
            </a:prstGeom>
            <a:noFill/>
          </p:spPr>
          <p:txBody>
            <a:bodyPr wrap="none" lIns="182880" tIns="146304" rIns="182880" bIns="146304" rtlCol="0">
              <a:spAutoFit/>
            </a:bodyPr>
            <a:lstStyle/>
            <a:p>
              <a:pPr>
                <a:lnSpc>
                  <a:spcPct val="90000"/>
                </a:lnSpc>
                <a:spcAft>
                  <a:spcPts val="1800"/>
                </a:spcAft>
              </a:pPr>
              <a:r>
                <a:rPr lang="en-US" sz="2400" b="1" dirty="0">
                  <a:solidFill>
                    <a:srgbClr val="F98E13"/>
                  </a:solidFill>
                </a:rPr>
                <a:t>AWS</a:t>
              </a:r>
            </a:p>
          </p:txBody>
        </p:sp>
        <p:sp>
          <p:nvSpPr>
            <p:cNvPr id="9" name="Rounded Rectangle 13">
              <a:extLst>
                <a:ext uri="{FF2B5EF4-FFF2-40B4-BE49-F238E27FC236}">
                  <a16:creationId xmlns:a16="http://schemas.microsoft.com/office/drawing/2014/main" id="{3A722446-41E2-430D-A6BF-E24515CF8A7E}"/>
                </a:ext>
                <a:ext uri="{C183D7F6-B498-43B3-948B-1728B52AA6E4}">
                  <adec:decorative xmlns:adec="http://schemas.microsoft.com/office/drawing/2017/decorative" val="1"/>
                </a:ext>
              </a:extLst>
            </p:cNvPr>
            <p:cNvSpPr/>
            <p:nvPr/>
          </p:nvSpPr>
          <p:spPr bwMode="auto">
            <a:xfrm>
              <a:off x="769033" y="2200921"/>
              <a:ext cx="4786815" cy="3397697"/>
            </a:xfrm>
            <a:prstGeom prst="roundRect">
              <a:avLst>
                <a:gd name="adj" fmla="val 859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0" name="Picture 4" descr="On-premises costs.">
              <a:extLst>
                <a:ext uri="{FF2B5EF4-FFF2-40B4-BE49-F238E27FC236}">
                  <a16:creationId xmlns:a16="http://schemas.microsoft.com/office/drawing/2014/main" id="{CA488C8F-B644-4E9B-AC70-4D9D73F411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033" y="2907424"/>
              <a:ext cx="4524375" cy="23812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D4E5B42-8B4F-4669-8C29-D43580126731}"/>
                </a:ext>
              </a:extLst>
            </p:cNvPr>
            <p:cNvSpPr txBox="1"/>
            <p:nvPr/>
          </p:nvSpPr>
          <p:spPr>
            <a:xfrm>
              <a:off x="2070632" y="2391789"/>
              <a:ext cx="2620888" cy="627864"/>
            </a:xfrm>
            <a:prstGeom prst="rect">
              <a:avLst/>
            </a:prstGeom>
            <a:noFill/>
          </p:spPr>
          <p:txBody>
            <a:bodyPr wrap="none" lIns="182880" tIns="146304" rIns="182880" bIns="146304" rtlCol="0">
              <a:spAutoFit/>
            </a:bodyPr>
            <a:lstStyle/>
            <a:p>
              <a:pPr>
                <a:lnSpc>
                  <a:spcPct val="90000"/>
                </a:lnSpc>
                <a:spcAft>
                  <a:spcPts val="1800"/>
                </a:spcAft>
              </a:pPr>
              <a:r>
                <a:rPr lang="en-US" sz="2400" b="1" dirty="0">
                  <a:solidFill>
                    <a:srgbClr val="DB4949"/>
                  </a:solidFill>
                </a:rPr>
                <a:t>On premises</a:t>
              </a:r>
            </a:p>
          </p:txBody>
        </p:sp>
      </p:grpSp>
    </p:spTree>
    <p:custDataLst>
      <p:tags r:id="rId1"/>
    </p:custDataLst>
    <p:extLst>
      <p:ext uri="{BB962C8B-B14F-4D97-AF65-F5344CB8AC3E}">
        <p14:creationId xmlns:p14="http://schemas.microsoft.com/office/powerpoint/2010/main" val="5421068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Pay less when you reserve</a:t>
            </a:r>
          </a:p>
        </p:txBody>
      </p:sp>
      <p:sp>
        <p:nvSpPr>
          <p:cNvPr id="8" name="Content Placeholder 7"/>
          <p:cNvSpPr>
            <a:spLocks noGrp="1"/>
          </p:cNvSpPr>
          <p:nvPr>
            <p:ph sz="quarter" idx="4294967295"/>
          </p:nvPr>
        </p:nvSpPr>
        <p:spPr>
          <a:xfrm>
            <a:off x="169504" y="1293389"/>
            <a:ext cx="2942082" cy="5025044"/>
          </a:xfrm>
          <a:prstGeom prst="rect">
            <a:avLst/>
          </a:prstGeom>
        </p:spPr>
        <p:txBody>
          <a:bodyPr>
            <a:normAutofit fontScale="77500" lnSpcReduction="20000"/>
          </a:bodyPr>
          <a:lstStyle/>
          <a:p>
            <a:pPr marL="0" indent="0">
              <a:buNone/>
            </a:pPr>
            <a:r>
              <a:rPr lang="en-US" sz="3000" dirty="0"/>
              <a:t>Invest in Reserved Instances (RIs):</a:t>
            </a:r>
            <a:endParaRPr lang="en-US" dirty="0"/>
          </a:p>
          <a:p>
            <a:pPr marL="471488" indent="-471488"/>
            <a:r>
              <a:rPr lang="en-US" dirty="0"/>
              <a:t>Save up to 75 percent</a:t>
            </a:r>
          </a:p>
          <a:p>
            <a:pPr marL="471488" indent="-471488"/>
            <a:r>
              <a:rPr lang="en-US" dirty="0"/>
              <a:t>Options:</a:t>
            </a:r>
          </a:p>
          <a:p>
            <a:pPr marL="928688" lvl="2" indent="-471488"/>
            <a:r>
              <a:rPr lang="en-US" sz="2400" dirty="0"/>
              <a:t>All Upfront Reserved Instance </a:t>
            </a:r>
            <a:r>
              <a:rPr lang="en-US" sz="2200" b="1" dirty="0">
                <a:solidFill>
                  <a:srgbClr val="504BAB"/>
                </a:solidFill>
              </a:rPr>
              <a:t>(AURI) </a:t>
            </a:r>
            <a:r>
              <a:rPr lang="en-US" sz="2200" b="1" dirty="0">
                <a:sym typeface="Wingdings" pitchFamily="2" charset="2"/>
              </a:rPr>
              <a:t> largest discount</a:t>
            </a:r>
            <a:endParaRPr lang="en-US" sz="2200" b="1" dirty="0"/>
          </a:p>
          <a:p>
            <a:pPr marL="928688" lvl="2" indent="-471488"/>
            <a:r>
              <a:rPr lang="en-US" sz="2400" dirty="0"/>
              <a:t>Partial Upfront Reserved Instance </a:t>
            </a:r>
            <a:r>
              <a:rPr lang="en-US" sz="2200" b="1" dirty="0">
                <a:solidFill>
                  <a:srgbClr val="504BAB"/>
                </a:solidFill>
              </a:rPr>
              <a:t>(PURI) </a:t>
            </a:r>
            <a:r>
              <a:rPr lang="en-US" sz="2200" b="1" dirty="0">
                <a:sym typeface="Wingdings" pitchFamily="2" charset="2"/>
              </a:rPr>
              <a:t> lower discounts</a:t>
            </a:r>
            <a:endParaRPr lang="en-US" sz="2200" b="1" dirty="0">
              <a:solidFill>
                <a:schemeClr val="accent4"/>
              </a:solidFill>
            </a:endParaRPr>
          </a:p>
          <a:p>
            <a:pPr marL="928688" lvl="2" indent="-471488">
              <a:lnSpc>
                <a:spcPct val="100000"/>
              </a:lnSpc>
            </a:pPr>
            <a:r>
              <a:rPr lang="en-US" sz="2400" dirty="0"/>
              <a:t>No Upfront Payments Reserved Instance </a:t>
            </a:r>
            <a:r>
              <a:rPr lang="en-US" sz="2200" b="1" dirty="0">
                <a:solidFill>
                  <a:srgbClr val="504BAB"/>
                </a:solidFill>
              </a:rPr>
              <a:t>(NURI) </a:t>
            </a:r>
            <a:r>
              <a:rPr lang="en-US" sz="2200" b="1" dirty="0">
                <a:sym typeface="Wingdings" pitchFamily="2" charset="2"/>
              </a:rPr>
              <a:t> smaller discount</a:t>
            </a:r>
            <a:endParaRPr lang="en-US" dirty="0"/>
          </a:p>
          <a:p>
            <a:pPr marL="457200" lvl="1" indent="0">
              <a:buNone/>
            </a:pPr>
            <a:endParaRPr lang="en-US" dirty="0"/>
          </a:p>
        </p:txBody>
      </p:sp>
      <p:grpSp>
        <p:nvGrpSpPr>
          <p:cNvPr id="3" name="Group 6">
            <a:extLst>
              <a:ext uri="{FF2B5EF4-FFF2-40B4-BE49-F238E27FC236}">
                <a16:creationId xmlns:a16="http://schemas.microsoft.com/office/drawing/2014/main" id="{226EFAE3-A1D1-472D-800D-E76D60665C43}"/>
              </a:ext>
              <a:ext uri="{C183D7F6-B498-43B3-948B-1728B52AA6E4}">
                <adec:decorative xmlns:adec="http://schemas.microsoft.com/office/drawing/2017/decorative" val="1"/>
              </a:ext>
            </a:extLst>
          </p:cNvPr>
          <p:cNvGrpSpPr/>
          <p:nvPr/>
        </p:nvGrpSpPr>
        <p:grpSpPr>
          <a:xfrm>
            <a:off x="3300633" y="1653974"/>
            <a:ext cx="5418503" cy="3138291"/>
            <a:chOff x="2049403" y="2636108"/>
            <a:chExt cx="7224671" cy="3138291"/>
          </a:xfrm>
        </p:grpSpPr>
        <p:sp>
          <p:nvSpPr>
            <p:cNvPr id="9" name="Rounded Rectangle 25">
              <a:extLst>
                <a:ext uri="{FF2B5EF4-FFF2-40B4-BE49-F238E27FC236}">
                  <a16:creationId xmlns:a16="http://schemas.microsoft.com/office/drawing/2014/main" id="{B2A9B3B4-40CB-43E9-9EAA-295C6A3125DD}"/>
                </a:ext>
                <a:ext uri="{C183D7F6-B498-43B3-948B-1728B52AA6E4}">
                  <adec:decorative xmlns:adec="http://schemas.microsoft.com/office/drawing/2017/decorative" val="1"/>
                </a:ext>
              </a:extLst>
            </p:cNvPr>
            <p:cNvSpPr/>
            <p:nvPr/>
          </p:nvSpPr>
          <p:spPr bwMode="auto">
            <a:xfrm>
              <a:off x="2049403" y="2636108"/>
              <a:ext cx="7224671" cy="3138291"/>
            </a:xfrm>
            <a:prstGeom prst="roundRect">
              <a:avLst>
                <a:gd name="adj" fmla="val 1013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0" name="Picture 8" descr="On Demand costs.">
              <a:extLst>
                <a:ext uri="{FF2B5EF4-FFF2-40B4-BE49-F238E27FC236}">
                  <a16:creationId xmlns:a16="http://schemas.microsoft.com/office/drawing/2014/main" id="{3D5C584E-3CFE-4C04-8428-4BDA3204D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7806" y="2759221"/>
              <a:ext cx="714375" cy="21431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7A35BD4-BCC0-4A0A-B48B-1966A5D34FDC}"/>
                </a:ext>
              </a:extLst>
            </p:cNvPr>
            <p:cNvSpPr txBox="1"/>
            <p:nvPr/>
          </p:nvSpPr>
          <p:spPr>
            <a:xfrm>
              <a:off x="4183284" y="4819156"/>
              <a:ext cx="1571799" cy="794064"/>
            </a:xfrm>
            <a:prstGeom prst="rect">
              <a:avLst/>
            </a:prstGeom>
            <a:noFill/>
          </p:spPr>
          <p:txBody>
            <a:bodyPr wrap="none" lIns="182880" tIns="146304" rIns="182880" bIns="146304" rtlCol="0">
              <a:spAutoFit/>
            </a:bodyPr>
            <a:lstStyle/>
            <a:p>
              <a:pPr algn="ctr">
                <a:lnSpc>
                  <a:spcPct val="90000"/>
                </a:lnSpc>
                <a:spcAft>
                  <a:spcPts val="1800"/>
                </a:spcAft>
              </a:pPr>
              <a:r>
                <a:rPr lang="en-US" sz="1800" b="1" dirty="0">
                  <a:gradFill>
                    <a:gsLst>
                      <a:gs pos="2917">
                        <a:schemeClr val="tx1"/>
                      </a:gs>
                      <a:gs pos="30000">
                        <a:schemeClr val="tx1"/>
                      </a:gs>
                    </a:gsLst>
                    <a:lin ang="5400000" scaled="0"/>
                  </a:gradFill>
                </a:rPr>
                <a:t>On</a:t>
              </a:r>
              <a:br>
                <a:rPr lang="en-US" sz="1800" b="1" dirty="0">
                  <a:gradFill>
                    <a:gsLst>
                      <a:gs pos="2917">
                        <a:schemeClr val="tx1"/>
                      </a:gs>
                      <a:gs pos="30000">
                        <a:schemeClr val="tx1"/>
                      </a:gs>
                    </a:gsLst>
                    <a:lin ang="5400000" scaled="0"/>
                  </a:gradFill>
                </a:rPr>
              </a:br>
              <a:r>
                <a:rPr lang="en-US" sz="1800" b="1" dirty="0">
                  <a:gradFill>
                    <a:gsLst>
                      <a:gs pos="2917">
                        <a:schemeClr val="tx1"/>
                      </a:gs>
                      <a:gs pos="30000">
                        <a:schemeClr val="tx1"/>
                      </a:gs>
                    </a:gsLst>
                    <a:lin ang="5400000" scaled="0"/>
                  </a:gradFill>
                </a:rPr>
                <a:t>Demand</a:t>
              </a:r>
            </a:p>
          </p:txBody>
        </p:sp>
        <p:pic>
          <p:nvPicPr>
            <p:cNvPr id="11" name="Picture 10" descr="No upfront payments.">
              <a:extLst>
                <a:ext uri="{FF2B5EF4-FFF2-40B4-BE49-F238E27FC236}">
                  <a16:creationId xmlns:a16="http://schemas.microsoft.com/office/drawing/2014/main" id="{90769CE0-A432-4CA5-B4E0-0ADA559CF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6593" y="2738340"/>
              <a:ext cx="714375" cy="214312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0AC3788-AD6F-4280-8654-33EBB9CE94AE}"/>
                </a:ext>
              </a:extLst>
            </p:cNvPr>
            <p:cNvSpPr txBox="1"/>
            <p:nvPr/>
          </p:nvSpPr>
          <p:spPr>
            <a:xfrm>
              <a:off x="5677217" y="4819156"/>
              <a:ext cx="1150743" cy="544765"/>
            </a:xfrm>
            <a:prstGeom prst="rect">
              <a:avLst/>
            </a:prstGeom>
            <a:noFill/>
          </p:spPr>
          <p:txBody>
            <a:bodyPr wrap="none" lIns="182880" tIns="146304" rIns="182880" bIns="146304" rtlCol="0">
              <a:spAutoFit/>
            </a:bodyPr>
            <a:lstStyle/>
            <a:p>
              <a:pPr algn="ctr">
                <a:lnSpc>
                  <a:spcPct val="90000"/>
                </a:lnSpc>
                <a:spcAft>
                  <a:spcPts val="1800"/>
                </a:spcAft>
              </a:pPr>
              <a:r>
                <a:rPr lang="en-US" sz="1800" b="1" dirty="0">
                  <a:solidFill>
                    <a:srgbClr val="DB4949"/>
                  </a:solidFill>
                </a:rPr>
                <a:t>NURI</a:t>
              </a:r>
            </a:p>
          </p:txBody>
        </p:sp>
        <p:pic>
          <p:nvPicPr>
            <p:cNvPr id="12" name="Picture 12" descr="Partial upfront reserved instance.">
              <a:extLst>
                <a:ext uri="{FF2B5EF4-FFF2-40B4-BE49-F238E27FC236}">
                  <a16:creationId xmlns:a16="http://schemas.microsoft.com/office/drawing/2014/main" id="{9F964676-EA6A-44A0-93E8-DA6CA6DED8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325" y="2738340"/>
              <a:ext cx="714375" cy="214312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2E9210D-0B5A-49C8-BB9A-F27404EBEEF5}"/>
                </a:ext>
              </a:extLst>
            </p:cNvPr>
            <p:cNvSpPr txBox="1"/>
            <p:nvPr/>
          </p:nvSpPr>
          <p:spPr>
            <a:xfrm>
              <a:off x="6851993" y="4819156"/>
              <a:ext cx="1112272" cy="544765"/>
            </a:xfrm>
            <a:prstGeom prst="rect">
              <a:avLst/>
            </a:prstGeom>
            <a:noFill/>
          </p:spPr>
          <p:txBody>
            <a:bodyPr wrap="none" lIns="182880" tIns="146304" rIns="182880" bIns="146304" rtlCol="0">
              <a:spAutoFit/>
            </a:bodyPr>
            <a:lstStyle/>
            <a:p>
              <a:pPr algn="ctr">
                <a:lnSpc>
                  <a:spcPct val="90000"/>
                </a:lnSpc>
                <a:spcAft>
                  <a:spcPts val="1800"/>
                </a:spcAft>
              </a:pPr>
              <a:r>
                <a:rPr lang="en-US" sz="1800" b="1" dirty="0">
                  <a:solidFill>
                    <a:srgbClr val="F98E13"/>
                  </a:solidFill>
                </a:rPr>
                <a:t>PURI</a:t>
              </a:r>
            </a:p>
          </p:txBody>
        </p:sp>
        <p:pic>
          <p:nvPicPr>
            <p:cNvPr id="13" name="Picture 14" descr="All upfront reserved instance.">
              <a:extLst>
                <a:ext uri="{FF2B5EF4-FFF2-40B4-BE49-F238E27FC236}">
                  <a16:creationId xmlns:a16="http://schemas.microsoft.com/office/drawing/2014/main" id="{A74D8AD4-B2C9-4E18-9B92-BADE180FCA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057" y="2738339"/>
              <a:ext cx="714375" cy="214312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7C175025-D93A-4568-91CC-0E5CBC172649}"/>
                </a:ext>
              </a:extLst>
            </p:cNvPr>
            <p:cNvSpPr txBox="1"/>
            <p:nvPr/>
          </p:nvSpPr>
          <p:spPr>
            <a:xfrm>
              <a:off x="8045655" y="4819156"/>
              <a:ext cx="1128344" cy="544765"/>
            </a:xfrm>
            <a:prstGeom prst="rect">
              <a:avLst/>
            </a:prstGeom>
            <a:noFill/>
          </p:spPr>
          <p:txBody>
            <a:bodyPr wrap="none" lIns="182880" tIns="146304" rIns="182880" bIns="146304" rtlCol="0">
              <a:spAutoFit/>
            </a:bodyPr>
            <a:lstStyle/>
            <a:p>
              <a:pPr algn="ctr">
                <a:lnSpc>
                  <a:spcPct val="90000"/>
                </a:lnSpc>
                <a:spcAft>
                  <a:spcPts val="1800"/>
                </a:spcAft>
              </a:pPr>
              <a:r>
                <a:rPr lang="en-US" sz="1800" b="1" dirty="0">
                  <a:solidFill>
                    <a:srgbClr val="577AFB"/>
                  </a:solidFill>
                </a:rPr>
                <a:t>AURI</a:t>
              </a:r>
            </a:p>
          </p:txBody>
        </p:sp>
        <p:pic>
          <p:nvPicPr>
            <p:cNvPr id="18" name="Graphic 135" descr="EC2 instance.">
              <a:extLst>
                <a:ext uri="{FF2B5EF4-FFF2-40B4-BE49-F238E27FC236}">
                  <a16:creationId xmlns:a16="http://schemas.microsoft.com/office/drawing/2014/main" id="{D668DAEE-2496-4E07-AA4E-152CEF7E650F}"/>
                </a:ext>
              </a:extLst>
            </p:cNvPr>
            <p:cNvPicPr>
              <a:picLocks noChangeAspect="1"/>
            </p:cNvPicPr>
            <p:nvPr/>
          </p:nvPicPr>
          <p:blipFill>
            <a:blip/>
            <a:stretch>
              <a:fillRect/>
            </a:stretch>
          </p:blipFill>
          <p:spPr>
            <a:xfrm>
              <a:off x="2360735" y="3155099"/>
              <a:ext cx="1632947" cy="1632947"/>
            </a:xfrm>
            <a:prstGeom prst="rect">
              <a:avLst/>
            </a:prstGeom>
          </p:spPr>
        </p:pic>
        <p:sp>
          <p:nvSpPr>
            <p:cNvPr id="19" name="TextBox 18" descr="EC2 instance.">
              <a:extLst>
                <a:ext uri="{FF2B5EF4-FFF2-40B4-BE49-F238E27FC236}">
                  <a16:creationId xmlns:a16="http://schemas.microsoft.com/office/drawing/2014/main" id="{E1A39C72-9426-4D93-8AEE-AEC5EA06F1BC}"/>
                </a:ext>
              </a:extLst>
            </p:cNvPr>
            <p:cNvSpPr txBox="1"/>
            <p:nvPr/>
          </p:nvSpPr>
          <p:spPr>
            <a:xfrm>
              <a:off x="2420555" y="3648406"/>
              <a:ext cx="1513305" cy="646331"/>
            </a:xfrm>
            <a:prstGeom prst="rect">
              <a:avLst/>
            </a:prstGeom>
            <a:noFill/>
          </p:spPr>
          <p:txBody>
            <a:bodyPr wrap="square" rtlCol="0">
              <a:spAutoFit/>
            </a:bodyPr>
            <a:lstStyle/>
            <a:p>
              <a:pPr algn="ctr"/>
              <a:r>
                <a:rPr lang="en-US" dirty="0"/>
                <a:t>EC2</a:t>
              </a:r>
            </a:p>
            <a:p>
              <a:pPr algn="ctr"/>
              <a:r>
                <a:rPr lang="en-US" dirty="0"/>
                <a:t>instance</a:t>
              </a:r>
            </a:p>
          </p:txBody>
        </p:sp>
      </p:grpSp>
    </p:spTree>
    <p:custDataLst>
      <p:tags r:id="rId1"/>
    </p:custDataLst>
    <p:extLst>
      <p:ext uri="{BB962C8B-B14F-4D97-AF65-F5344CB8AC3E}">
        <p14:creationId xmlns:p14="http://schemas.microsoft.com/office/powerpoint/2010/main" val="35855726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562A51F-614B-4012-B324-D6623F9E3366}"/>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57</a:t>
            </a:fld>
            <a:endParaRPr lang="en-US" dirty="0"/>
          </a:p>
        </p:txBody>
      </p:sp>
      <p:sp>
        <p:nvSpPr>
          <p:cNvPr id="2" name="Title 1"/>
          <p:cNvSpPr>
            <a:spLocks noGrp="1"/>
          </p:cNvSpPr>
          <p:nvPr>
            <p:ph type="title"/>
          </p:nvPr>
        </p:nvSpPr>
        <p:spPr/>
        <p:txBody>
          <a:bodyPr/>
          <a:lstStyle/>
          <a:p>
            <a:r>
              <a:rPr lang="en-US" dirty="0">
                <a:solidFill>
                  <a:srgbClr val="FF0000"/>
                </a:solidFill>
              </a:rPr>
              <a:t>Pay less by using more</a:t>
            </a:r>
          </a:p>
        </p:txBody>
      </p:sp>
      <p:sp>
        <p:nvSpPr>
          <p:cNvPr id="4" name="Content Placeholder 3"/>
          <p:cNvSpPr>
            <a:spLocks noGrp="1"/>
          </p:cNvSpPr>
          <p:nvPr>
            <p:ph sz="quarter" idx="4294967295"/>
          </p:nvPr>
        </p:nvSpPr>
        <p:spPr>
          <a:xfrm>
            <a:off x="178308" y="1143000"/>
            <a:ext cx="4718304" cy="4910328"/>
          </a:xfrm>
          <a:prstGeom prst="rect">
            <a:avLst/>
          </a:prstGeom>
        </p:spPr>
        <p:txBody>
          <a:bodyPr>
            <a:noAutofit/>
          </a:bodyPr>
          <a:lstStyle/>
          <a:p>
            <a:pPr marL="0" indent="0">
              <a:buNone/>
            </a:pPr>
            <a:r>
              <a:rPr lang="en-US" sz="2400" dirty="0"/>
              <a:t>Realize volume-based discounts:</a:t>
            </a:r>
          </a:p>
          <a:p>
            <a:pPr marL="519113" indent="-519113"/>
            <a:r>
              <a:rPr lang="en-US" sz="2400" b="1" dirty="0">
                <a:solidFill>
                  <a:srgbClr val="504BAB"/>
                </a:solidFill>
              </a:rPr>
              <a:t>Savings</a:t>
            </a:r>
            <a:r>
              <a:rPr lang="en-US" sz="2400" dirty="0"/>
              <a:t> as usage increases.</a:t>
            </a:r>
          </a:p>
          <a:p>
            <a:pPr marL="519113" indent="-519113"/>
            <a:r>
              <a:rPr lang="en-US" sz="2400" b="1" dirty="0">
                <a:solidFill>
                  <a:srgbClr val="504BAB"/>
                </a:solidFill>
              </a:rPr>
              <a:t>Tiered pricing</a:t>
            </a:r>
            <a:r>
              <a:rPr lang="en-US" sz="2400" b="1" dirty="0">
                <a:solidFill>
                  <a:schemeClr val="accent5"/>
                </a:solidFill>
              </a:rPr>
              <a:t> </a:t>
            </a:r>
            <a:r>
              <a:rPr lang="en-US" sz="2400" dirty="0"/>
              <a:t>for services like Amazon Simple Storage Service (Amazon S3), Amazon Elastic Block Store (Amazon EBS), or Amazon Elastic File System (Amazon EFS) </a:t>
            </a:r>
            <a:r>
              <a:rPr lang="en-US" sz="2400" dirty="0">
                <a:sym typeface="Wingdings" pitchFamily="2" charset="2"/>
              </a:rPr>
              <a:t> the more you use, the less you pay per GB.</a:t>
            </a:r>
            <a:endParaRPr lang="en-US" sz="2400" dirty="0"/>
          </a:p>
          <a:p>
            <a:pPr marL="519113" indent="-519113"/>
            <a:r>
              <a:rPr lang="en-US" sz="2400" dirty="0"/>
              <a:t>Multiple storage services deliver </a:t>
            </a:r>
            <a:r>
              <a:rPr lang="en-US" sz="2400" b="1" dirty="0">
                <a:solidFill>
                  <a:srgbClr val="504BAB"/>
                </a:solidFill>
              </a:rPr>
              <a:t>lower</a:t>
            </a:r>
            <a:r>
              <a:rPr lang="en-US" sz="2400" dirty="0"/>
              <a:t> storage costs based on needs.</a:t>
            </a:r>
          </a:p>
        </p:txBody>
      </p:sp>
      <p:grpSp>
        <p:nvGrpSpPr>
          <p:cNvPr id="3" name="Group 12">
            <a:extLst>
              <a:ext uri="{FF2B5EF4-FFF2-40B4-BE49-F238E27FC236}">
                <a16:creationId xmlns:a16="http://schemas.microsoft.com/office/drawing/2014/main" id="{6EDAD0C5-3F6C-4EE5-9486-48028C028353}"/>
              </a:ext>
              <a:ext uri="{C183D7F6-B498-43B3-948B-1728B52AA6E4}">
                <adec:decorative xmlns:adec="http://schemas.microsoft.com/office/drawing/2017/decorative" val="1"/>
              </a:ext>
            </a:extLst>
          </p:cNvPr>
          <p:cNvGrpSpPr/>
          <p:nvPr/>
        </p:nvGrpSpPr>
        <p:grpSpPr>
          <a:xfrm>
            <a:off x="5030148" y="2000051"/>
            <a:ext cx="3686832" cy="3015057"/>
            <a:chOff x="6706864" y="2000051"/>
            <a:chExt cx="4915776" cy="3015057"/>
          </a:xfrm>
        </p:grpSpPr>
        <p:sp>
          <p:nvSpPr>
            <p:cNvPr id="6" name="Rounded Rectangle 15">
              <a:extLst>
                <a:ext uri="{FF2B5EF4-FFF2-40B4-BE49-F238E27FC236}">
                  <a16:creationId xmlns:a16="http://schemas.microsoft.com/office/drawing/2014/main" id="{C8BD6AFB-95EF-40B5-8540-D617AAFEA2C5}"/>
                </a:ext>
                <a:ext uri="{C183D7F6-B498-43B3-948B-1728B52AA6E4}">
                  <adec:decorative xmlns:adec="http://schemas.microsoft.com/office/drawing/2017/decorative" val="1"/>
                </a:ext>
              </a:extLst>
            </p:cNvPr>
            <p:cNvSpPr/>
            <p:nvPr/>
          </p:nvSpPr>
          <p:spPr bwMode="auto">
            <a:xfrm>
              <a:off x="6706864" y="2000051"/>
              <a:ext cx="4915775" cy="3015057"/>
            </a:xfrm>
            <a:prstGeom prst="roundRect">
              <a:avLst>
                <a:gd name="adj" fmla="val 1013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7" name="Picture 6" descr="S3 instance.">
              <a:extLst>
                <a:ext uri="{FF2B5EF4-FFF2-40B4-BE49-F238E27FC236}">
                  <a16:creationId xmlns:a16="http://schemas.microsoft.com/office/drawing/2014/main" id="{49C652A8-40C1-484B-ACB0-9766B788A92E}"/>
                </a:ext>
              </a:extLst>
            </p:cNvPr>
            <p:cNvPicPr>
              <a:picLocks noChangeAspect="1"/>
            </p:cNvPicPr>
            <p:nvPr/>
          </p:nvPicPr>
          <p:blipFill>
            <a:blip r:embed="rId4"/>
            <a:stretch>
              <a:fillRect/>
            </a:stretch>
          </p:blipFill>
          <p:spPr>
            <a:xfrm>
              <a:off x="6706864" y="2000051"/>
              <a:ext cx="1571844" cy="1428949"/>
            </a:xfrm>
            <a:prstGeom prst="rect">
              <a:avLst/>
            </a:prstGeom>
          </p:spPr>
        </p:pic>
        <p:pic>
          <p:nvPicPr>
            <p:cNvPr id="10" name="Picture 9">
              <a:extLst>
                <a:ext uri="{FF2B5EF4-FFF2-40B4-BE49-F238E27FC236}">
                  <a16:creationId xmlns:a16="http://schemas.microsoft.com/office/drawing/2014/main" id="{0AD126C1-06FC-49AB-86BD-B91D4FC9310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706864" y="3435219"/>
              <a:ext cx="1571844" cy="1428949"/>
            </a:xfrm>
            <a:prstGeom prst="rect">
              <a:avLst/>
            </a:prstGeom>
          </p:spPr>
        </p:pic>
        <p:pic>
          <p:nvPicPr>
            <p:cNvPr id="8" name="Picture 7" descr="S3 instance.">
              <a:extLst>
                <a:ext uri="{FF2B5EF4-FFF2-40B4-BE49-F238E27FC236}">
                  <a16:creationId xmlns:a16="http://schemas.microsoft.com/office/drawing/2014/main" id="{A9920280-CA77-4964-AF92-C9CC678998DF}"/>
                </a:ext>
              </a:extLst>
            </p:cNvPr>
            <p:cNvPicPr>
              <a:picLocks noChangeAspect="1"/>
            </p:cNvPicPr>
            <p:nvPr/>
          </p:nvPicPr>
          <p:blipFill>
            <a:blip r:embed="rId6"/>
            <a:stretch>
              <a:fillRect/>
            </a:stretch>
          </p:blipFill>
          <p:spPr>
            <a:xfrm>
              <a:off x="8378830" y="2000051"/>
              <a:ext cx="1571844" cy="1428949"/>
            </a:xfrm>
            <a:prstGeom prst="rect">
              <a:avLst/>
            </a:prstGeom>
          </p:spPr>
        </p:pic>
        <p:pic>
          <p:nvPicPr>
            <p:cNvPr id="11" name="Picture 10">
              <a:extLst>
                <a:ext uri="{FF2B5EF4-FFF2-40B4-BE49-F238E27FC236}">
                  <a16:creationId xmlns:a16="http://schemas.microsoft.com/office/drawing/2014/main" id="{D06CFE61-6EE2-4E99-92CF-08263DA59130}"/>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8830" y="3435219"/>
              <a:ext cx="1571844" cy="1428949"/>
            </a:xfrm>
            <a:prstGeom prst="rect">
              <a:avLst/>
            </a:prstGeom>
          </p:spPr>
        </p:pic>
        <p:pic>
          <p:nvPicPr>
            <p:cNvPr id="9" name="Picture 8" descr="S3 instance.">
              <a:extLst>
                <a:ext uri="{FF2B5EF4-FFF2-40B4-BE49-F238E27FC236}">
                  <a16:creationId xmlns:a16="http://schemas.microsoft.com/office/drawing/2014/main" id="{38389666-10EF-4554-A47F-2229109AFCE5}"/>
                </a:ext>
              </a:extLst>
            </p:cNvPr>
            <p:cNvPicPr>
              <a:picLocks noChangeAspect="1"/>
            </p:cNvPicPr>
            <p:nvPr/>
          </p:nvPicPr>
          <p:blipFill>
            <a:blip r:embed="rId8"/>
            <a:stretch>
              <a:fillRect/>
            </a:stretch>
          </p:blipFill>
          <p:spPr>
            <a:xfrm>
              <a:off x="10050796" y="2000051"/>
              <a:ext cx="1571844" cy="1428949"/>
            </a:xfrm>
            <a:prstGeom prst="rect">
              <a:avLst/>
            </a:prstGeom>
          </p:spPr>
        </p:pic>
        <p:pic>
          <p:nvPicPr>
            <p:cNvPr id="12" name="Picture 11">
              <a:extLst>
                <a:ext uri="{FF2B5EF4-FFF2-40B4-BE49-F238E27FC236}">
                  <a16:creationId xmlns:a16="http://schemas.microsoft.com/office/drawing/2014/main" id="{16A0877C-4846-4F0F-BE8F-46B2E1B461F1}"/>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050796" y="3435218"/>
              <a:ext cx="1571844" cy="1428949"/>
            </a:xfrm>
            <a:prstGeom prst="rect">
              <a:avLst/>
            </a:prstGeom>
          </p:spPr>
        </p:pic>
      </p:grpSp>
    </p:spTree>
    <p:custDataLst>
      <p:tags r:id="rId1"/>
    </p:custDataLst>
    <p:extLst>
      <p:ext uri="{BB962C8B-B14F-4D97-AF65-F5344CB8AC3E}">
        <p14:creationId xmlns:p14="http://schemas.microsoft.com/office/powerpoint/2010/main" val="5695437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Pay even less as AWS grows</a:t>
            </a:r>
          </a:p>
        </p:txBody>
      </p:sp>
      <p:sp>
        <p:nvSpPr>
          <p:cNvPr id="6" name="Content Placeholder 5"/>
          <p:cNvSpPr>
            <a:spLocks noGrp="1"/>
          </p:cNvSpPr>
          <p:nvPr>
            <p:ph sz="quarter" idx="4294967295"/>
          </p:nvPr>
        </p:nvSpPr>
        <p:spPr>
          <a:xfrm>
            <a:off x="178308" y="1143000"/>
            <a:ext cx="8660892" cy="4910328"/>
          </a:xfrm>
          <a:prstGeom prst="rect">
            <a:avLst/>
          </a:prstGeom>
        </p:spPr>
        <p:txBody>
          <a:bodyPr/>
          <a:lstStyle/>
          <a:p>
            <a:pPr marL="0" indent="0">
              <a:buNone/>
            </a:pPr>
            <a:r>
              <a:rPr lang="en-US" dirty="0"/>
              <a:t>As AWS grows:</a:t>
            </a:r>
          </a:p>
          <a:p>
            <a:pPr marL="519113" indent="-519113"/>
            <a:r>
              <a:rPr lang="en-US" dirty="0"/>
              <a:t>AWS focuses on lowering cost of doing business.</a:t>
            </a:r>
          </a:p>
          <a:p>
            <a:pPr marL="519113" indent="-519113"/>
            <a:r>
              <a:rPr lang="en-US" dirty="0"/>
              <a:t>This practice results in AWS passing savings from economies of scale to you.</a:t>
            </a:r>
          </a:p>
          <a:p>
            <a:pPr marL="519113" indent="-519113"/>
            <a:r>
              <a:rPr lang="en-US" dirty="0"/>
              <a:t>Since 2006, AWS has </a:t>
            </a:r>
            <a:r>
              <a:rPr lang="en-US" b="1" dirty="0">
                <a:solidFill>
                  <a:srgbClr val="504BAB"/>
                </a:solidFill>
              </a:rPr>
              <a:t>lowered pricing 75</a:t>
            </a:r>
            <a:r>
              <a:rPr lang="en-US" dirty="0">
                <a:solidFill>
                  <a:srgbClr val="504BAB"/>
                </a:solidFill>
              </a:rPr>
              <a:t> </a:t>
            </a:r>
            <a:r>
              <a:rPr lang="en-US" dirty="0"/>
              <a:t>times (as of September 2019).</a:t>
            </a:r>
          </a:p>
          <a:p>
            <a:pPr marL="519113" indent="-519113"/>
            <a:r>
              <a:rPr lang="en-US" dirty="0"/>
              <a:t>Future higher-performing resources replace current resources for no extra charge. </a:t>
            </a:r>
          </a:p>
          <a:p>
            <a:pPr marL="0" indent="0">
              <a:buNone/>
            </a:pPr>
            <a:endParaRPr lang="en-US" dirty="0"/>
          </a:p>
        </p:txBody>
      </p:sp>
    </p:spTree>
    <p:custDataLst>
      <p:tags r:id="rId1"/>
    </p:custDataLst>
    <p:extLst>
      <p:ext uri="{BB962C8B-B14F-4D97-AF65-F5344CB8AC3E}">
        <p14:creationId xmlns:p14="http://schemas.microsoft.com/office/powerpoint/2010/main" val="14282174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Custom pricing</a:t>
            </a:r>
          </a:p>
        </p:txBody>
      </p:sp>
      <p:sp>
        <p:nvSpPr>
          <p:cNvPr id="9" name="Rounded Rectangle 3">
            <a:extLst>
              <a:ext uri="{FF2B5EF4-FFF2-40B4-BE49-F238E27FC236}">
                <a16:creationId xmlns:a16="http://schemas.microsoft.com/office/drawing/2014/main" id="{598F7750-06ED-42BD-A783-9DE23732297B}"/>
              </a:ext>
              <a:ext uri="{C183D7F6-B498-43B3-948B-1728B52AA6E4}">
                <adec:decorative xmlns:adec="http://schemas.microsoft.com/office/drawing/2017/decorative" val="1"/>
              </a:ext>
            </a:extLst>
          </p:cNvPr>
          <p:cNvSpPr/>
          <p:nvPr/>
        </p:nvSpPr>
        <p:spPr bwMode="auto">
          <a:xfrm>
            <a:off x="1062990" y="1795775"/>
            <a:ext cx="6343650" cy="2793077"/>
          </a:xfrm>
          <a:prstGeom prst="roundRect">
            <a:avLst>
              <a:gd name="adj" fmla="val 12820"/>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sp>
        <p:nvSpPr>
          <p:cNvPr id="10" name="Content Placeholder 2">
            <a:extLst>
              <a:ext uri="{FF2B5EF4-FFF2-40B4-BE49-F238E27FC236}">
                <a16:creationId xmlns:a16="http://schemas.microsoft.com/office/drawing/2014/main" id="{F5C6B21B-D4A5-4AA7-89B3-70AE85123B62}"/>
              </a:ext>
            </a:extLst>
          </p:cNvPr>
          <p:cNvSpPr txBox="1">
            <a:spLocks/>
          </p:cNvSpPr>
          <p:nvPr/>
        </p:nvSpPr>
        <p:spPr>
          <a:xfrm>
            <a:off x="1254305" y="1971669"/>
            <a:ext cx="6105525" cy="2616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indent="-460375"/>
            <a:r>
              <a:rPr lang="en-US" dirty="0"/>
              <a:t>Meet varying needs through custom pricing.</a:t>
            </a:r>
          </a:p>
          <a:p>
            <a:pPr marL="460375" indent="-460375"/>
            <a:r>
              <a:rPr lang="en-US" dirty="0"/>
              <a:t>Available for high-volume projects with unique </a:t>
            </a:r>
            <a:br>
              <a:rPr lang="en-US" dirty="0"/>
            </a:br>
            <a:r>
              <a:rPr lang="en-US" dirty="0"/>
              <a:t>requirements.</a:t>
            </a:r>
          </a:p>
        </p:txBody>
      </p:sp>
      <p:pic>
        <p:nvPicPr>
          <p:cNvPr id="7" name="Picture 6" descr="Building."/>
          <p:cNvPicPr>
            <a:picLocks noChangeAspect="1"/>
          </p:cNvPicPr>
          <p:nvPr/>
        </p:nvPicPr>
        <p:blipFill rotWithShape="1">
          <a:blip r:embed="rId4" cstate="print">
            <a:extLst>
              <a:ext uri="{28A0092B-C50C-407E-A947-70E740481C1C}">
                <a14:useLocalDpi xmlns:a14="http://schemas.microsoft.com/office/drawing/2010/main" val="0"/>
              </a:ext>
            </a:extLst>
          </a:blip>
          <a:srcRect l="19644" t="4916" r="20105" b="5053"/>
          <a:stretch/>
        </p:blipFill>
        <p:spPr>
          <a:xfrm>
            <a:off x="5816780" y="3226626"/>
            <a:ext cx="1543050" cy="3074276"/>
          </a:xfrm>
          <a:prstGeom prst="rect">
            <a:avLst/>
          </a:prstGeom>
        </p:spPr>
      </p:pic>
    </p:spTree>
    <p:custDataLst>
      <p:tags r:id="rId1"/>
    </p:custDataLst>
    <p:extLst>
      <p:ext uri="{BB962C8B-B14F-4D97-AF65-F5344CB8AC3E}">
        <p14:creationId xmlns:p14="http://schemas.microsoft.com/office/powerpoint/2010/main" val="14305250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solidFill>
                  <a:srgbClr val="FF0000"/>
                </a:solidFill>
              </a:rPr>
              <a:t>AWS Free Tier</a:t>
            </a:r>
          </a:p>
        </p:txBody>
      </p:sp>
      <p:sp>
        <p:nvSpPr>
          <p:cNvPr id="20" name="TextBox 19">
            <a:extLst>
              <a:ext uri="{FF2B5EF4-FFF2-40B4-BE49-F238E27FC236}">
                <a16:creationId xmlns:a16="http://schemas.microsoft.com/office/drawing/2014/main" id="{F19762C3-5566-411E-9836-256879B1265A}"/>
              </a:ext>
            </a:extLst>
          </p:cNvPr>
          <p:cNvSpPr txBox="1"/>
          <p:nvPr/>
        </p:nvSpPr>
        <p:spPr>
          <a:xfrm>
            <a:off x="403057" y="1343253"/>
            <a:ext cx="8337887" cy="1458861"/>
          </a:xfrm>
          <a:prstGeom prst="rect">
            <a:avLst/>
          </a:prstGeom>
          <a:noFill/>
        </p:spPr>
        <p:txBody>
          <a:bodyPr wrap="square" lIns="182880" tIns="146304" rIns="182880" bIns="146304" rtlCol="0">
            <a:spAutoFit/>
          </a:bodyPr>
          <a:lstStyle/>
          <a:p>
            <a:pPr algn="ctr">
              <a:lnSpc>
                <a:spcPct val="90000"/>
              </a:lnSpc>
              <a:spcAft>
                <a:spcPts val="1800"/>
              </a:spcAft>
            </a:pPr>
            <a:r>
              <a:rPr lang="en-US" sz="2800" dirty="0"/>
              <a:t>Enables you to gain free hands-on experience with the AWS platform, products, and services. Free for 1 year for new customers.</a:t>
            </a:r>
            <a:endParaRPr lang="en-US" sz="2800" dirty="0">
              <a:gradFill>
                <a:gsLst>
                  <a:gs pos="2917">
                    <a:schemeClr val="tx1"/>
                  </a:gs>
                  <a:gs pos="30000">
                    <a:schemeClr val="tx1"/>
                  </a:gs>
                </a:gsLst>
                <a:lin ang="5400000" scaled="0"/>
              </a:gradFill>
            </a:endParaRPr>
          </a:p>
        </p:txBody>
      </p:sp>
      <p:grpSp>
        <p:nvGrpSpPr>
          <p:cNvPr id="2" name="Group 6" descr="Steps for signing up for AWS free tier.">
            <a:extLst>
              <a:ext uri="{FF2B5EF4-FFF2-40B4-BE49-F238E27FC236}">
                <a16:creationId xmlns:a16="http://schemas.microsoft.com/office/drawing/2014/main" id="{6CEC018D-22F3-53AC-CE35-E92A96A586C9}"/>
              </a:ext>
            </a:extLst>
          </p:cNvPr>
          <p:cNvGrpSpPr/>
          <p:nvPr/>
        </p:nvGrpSpPr>
        <p:grpSpPr>
          <a:xfrm>
            <a:off x="422322" y="2715306"/>
            <a:ext cx="8299357" cy="3138292"/>
            <a:chOff x="563096" y="2715306"/>
            <a:chExt cx="11065809" cy="3138292"/>
          </a:xfrm>
        </p:grpSpPr>
        <p:sp>
          <p:nvSpPr>
            <p:cNvPr id="17" name="Rounded Rectangle 14">
              <a:extLst>
                <a:ext uri="{FF2B5EF4-FFF2-40B4-BE49-F238E27FC236}">
                  <a16:creationId xmlns:a16="http://schemas.microsoft.com/office/drawing/2014/main" id="{AF54ED0F-B832-4577-B492-79170178079E}"/>
                </a:ext>
                <a:ext uri="{C183D7F6-B498-43B3-948B-1728B52AA6E4}">
                  <adec:decorative xmlns:adec="http://schemas.microsoft.com/office/drawing/2017/decorative" val="1"/>
                </a:ext>
              </a:extLst>
            </p:cNvPr>
            <p:cNvSpPr/>
            <p:nvPr/>
          </p:nvSpPr>
          <p:spPr bwMode="auto">
            <a:xfrm>
              <a:off x="563096" y="2715307"/>
              <a:ext cx="3431072" cy="3138291"/>
            </a:xfrm>
            <a:prstGeom prst="roundRect">
              <a:avLst>
                <a:gd name="adj" fmla="val 12086"/>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21" name="Picture 2" descr="1. Sign up for an AWS account.">
              <a:extLst>
                <a:ext uri="{FF2B5EF4-FFF2-40B4-BE49-F238E27FC236}">
                  <a16:creationId xmlns:a16="http://schemas.microsoft.com/office/drawing/2014/main" id="{D74CF52A-F112-4538-A685-514305D04FC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0040" b="12470"/>
            <a:stretch/>
          </p:blipFill>
          <p:spPr bwMode="auto">
            <a:xfrm>
              <a:off x="1355410" y="2715306"/>
              <a:ext cx="2425574" cy="2176009"/>
            </a:xfrm>
            <a:prstGeom prst="rect">
              <a:avLst/>
            </a:prstGeom>
            <a:noFill/>
            <a:extLst>
              <a:ext uri="{909E8E84-426E-40DD-AFC4-6F175D3DCCD1}">
                <a14:hiddenFill xmlns:a14="http://schemas.microsoft.com/office/drawing/2010/main">
                  <a:solidFill>
                    <a:srgbClr val="FFFFFF"/>
                  </a:solidFill>
                </a14:hiddenFill>
              </a:ext>
            </a:extLst>
          </p:spPr>
        </p:pic>
        <p:sp>
          <p:nvSpPr>
            <p:cNvPr id="18" name="Rounded Rectangle 13">
              <a:extLst>
                <a:ext uri="{FF2B5EF4-FFF2-40B4-BE49-F238E27FC236}">
                  <a16:creationId xmlns:a16="http://schemas.microsoft.com/office/drawing/2014/main" id="{F3310BA3-124B-469B-84F3-7D89577F76C9}"/>
                </a:ext>
                <a:ext uri="{C183D7F6-B498-43B3-948B-1728B52AA6E4}">
                  <adec:decorative xmlns:adec="http://schemas.microsoft.com/office/drawing/2017/decorative" val="1"/>
                </a:ext>
              </a:extLst>
            </p:cNvPr>
            <p:cNvSpPr/>
            <p:nvPr/>
          </p:nvSpPr>
          <p:spPr bwMode="auto">
            <a:xfrm>
              <a:off x="4406244" y="2715307"/>
              <a:ext cx="3431072" cy="3138291"/>
            </a:xfrm>
            <a:prstGeom prst="roundRect">
              <a:avLst>
                <a:gd name="adj" fmla="val 12086"/>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22" name="Picture 4" descr="2. Learn with 10 minute tutorials.">
              <a:extLst>
                <a:ext uri="{FF2B5EF4-FFF2-40B4-BE49-F238E27FC236}">
                  <a16:creationId xmlns:a16="http://schemas.microsoft.com/office/drawing/2014/main" id="{3A5D50D4-5F81-4B43-AF09-1BEB4B3B0A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9102" b="10375"/>
            <a:stretch/>
          </p:blipFill>
          <p:spPr bwMode="auto">
            <a:xfrm>
              <a:off x="5164857" y="2715307"/>
              <a:ext cx="2458104" cy="2219552"/>
            </a:xfrm>
            <a:prstGeom prst="rect">
              <a:avLst/>
            </a:prstGeom>
            <a:noFill/>
            <a:extLst>
              <a:ext uri="{909E8E84-426E-40DD-AFC4-6F175D3DCCD1}">
                <a14:hiddenFill xmlns:a14="http://schemas.microsoft.com/office/drawing/2010/main">
                  <a:solidFill>
                    <a:srgbClr val="FFFFFF"/>
                  </a:solidFill>
                </a14:hiddenFill>
              </a:ext>
            </a:extLst>
          </p:spPr>
        </p:pic>
        <p:sp>
          <p:nvSpPr>
            <p:cNvPr id="19" name="Rounded Rectangle 12">
              <a:extLst>
                <a:ext uri="{FF2B5EF4-FFF2-40B4-BE49-F238E27FC236}">
                  <a16:creationId xmlns:a16="http://schemas.microsoft.com/office/drawing/2014/main" id="{B3C459A2-D500-40F1-88B4-F639021CBA34}"/>
                </a:ext>
                <a:ext uri="{C183D7F6-B498-43B3-948B-1728B52AA6E4}">
                  <adec:decorative xmlns:adec="http://schemas.microsoft.com/office/drawing/2017/decorative" val="1"/>
                </a:ext>
              </a:extLst>
            </p:cNvPr>
            <p:cNvSpPr/>
            <p:nvPr/>
          </p:nvSpPr>
          <p:spPr bwMode="auto">
            <a:xfrm>
              <a:off x="8197833" y="2715307"/>
              <a:ext cx="3431072" cy="3138291"/>
            </a:xfrm>
            <a:prstGeom prst="roundRect">
              <a:avLst>
                <a:gd name="adj" fmla="val 12086"/>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23" name="Picture 6" descr="3. Learn with 10 minute tutorials.">
              <a:extLst>
                <a:ext uri="{FF2B5EF4-FFF2-40B4-BE49-F238E27FC236}">
                  <a16:creationId xmlns:a16="http://schemas.microsoft.com/office/drawing/2014/main" id="{CC44648A-CFFA-4CDB-B792-4E3A160B396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1836" b="11548"/>
            <a:stretch/>
          </p:blipFill>
          <p:spPr bwMode="auto">
            <a:xfrm>
              <a:off x="8918867" y="2715306"/>
              <a:ext cx="2710037" cy="2190524"/>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97907C61-BCBF-4927-8648-28C74A5DA37D}"/>
              </a:ext>
            </a:extLst>
          </p:cNvPr>
          <p:cNvSpPr txBox="1"/>
          <p:nvPr/>
        </p:nvSpPr>
        <p:spPr>
          <a:xfrm>
            <a:off x="873421" y="4891316"/>
            <a:ext cx="2192075" cy="960263"/>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gradFill>
                  <a:gsLst>
                    <a:gs pos="2917">
                      <a:schemeClr val="tx1"/>
                    </a:gs>
                    <a:gs pos="30000">
                      <a:schemeClr val="tx1"/>
                    </a:gs>
                  </a:gsLst>
                  <a:lin ang="5400000" scaled="0"/>
                </a:gradFill>
              </a:rPr>
              <a:t>Sign up for an </a:t>
            </a:r>
            <a:br>
              <a:rPr lang="en-US" sz="2400" b="1" dirty="0">
                <a:gradFill>
                  <a:gsLst>
                    <a:gs pos="2917">
                      <a:schemeClr val="tx1"/>
                    </a:gs>
                    <a:gs pos="30000">
                      <a:schemeClr val="tx1"/>
                    </a:gs>
                  </a:gsLst>
                  <a:lin ang="5400000" scaled="0"/>
                </a:gradFill>
              </a:rPr>
            </a:br>
            <a:r>
              <a:rPr lang="en-US" sz="2400" b="1" dirty="0">
                <a:gradFill>
                  <a:gsLst>
                    <a:gs pos="2917">
                      <a:schemeClr val="tx1"/>
                    </a:gs>
                    <a:gs pos="30000">
                      <a:schemeClr val="tx1"/>
                    </a:gs>
                  </a:gsLst>
                  <a:lin ang="5400000" scaled="0"/>
                </a:gradFill>
              </a:rPr>
              <a:t>AWS account</a:t>
            </a:r>
          </a:p>
        </p:txBody>
      </p:sp>
      <p:sp>
        <p:nvSpPr>
          <p:cNvPr id="25" name="TextBox 24">
            <a:extLst>
              <a:ext uri="{FF2B5EF4-FFF2-40B4-BE49-F238E27FC236}">
                <a16:creationId xmlns:a16="http://schemas.microsoft.com/office/drawing/2014/main" id="{0A993CFB-C4EA-4647-BFC5-F85B5154FF92}"/>
              </a:ext>
            </a:extLst>
          </p:cNvPr>
          <p:cNvSpPr txBox="1"/>
          <p:nvPr/>
        </p:nvSpPr>
        <p:spPr>
          <a:xfrm>
            <a:off x="3601419" y="4891316"/>
            <a:ext cx="2430410" cy="960263"/>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gradFill>
                  <a:gsLst>
                    <a:gs pos="2917">
                      <a:schemeClr val="tx1"/>
                    </a:gs>
                    <a:gs pos="30000">
                      <a:schemeClr val="tx1"/>
                    </a:gs>
                  </a:gsLst>
                  <a:lin ang="5400000" scaled="0"/>
                </a:gradFill>
              </a:rPr>
              <a:t>Learn with 10-</a:t>
            </a:r>
            <a:br>
              <a:rPr lang="en-US" sz="2400" b="1" dirty="0">
                <a:gradFill>
                  <a:gsLst>
                    <a:gs pos="2917">
                      <a:schemeClr val="tx1"/>
                    </a:gs>
                    <a:gs pos="30000">
                      <a:schemeClr val="tx1"/>
                    </a:gs>
                  </a:gsLst>
                  <a:lin ang="5400000" scaled="0"/>
                </a:gradFill>
              </a:rPr>
            </a:br>
            <a:r>
              <a:rPr lang="en-US" sz="2400" b="1" dirty="0">
                <a:gradFill>
                  <a:gsLst>
                    <a:gs pos="2917">
                      <a:schemeClr val="tx1"/>
                    </a:gs>
                    <a:gs pos="30000">
                      <a:schemeClr val="tx1"/>
                    </a:gs>
                  </a:gsLst>
                  <a:lin ang="5400000" scaled="0"/>
                </a:gradFill>
              </a:rPr>
              <a:t>minute tutorials</a:t>
            </a:r>
          </a:p>
        </p:txBody>
      </p:sp>
      <p:sp>
        <p:nvSpPr>
          <p:cNvPr id="26" name="TextBox 25">
            <a:extLst>
              <a:ext uri="{FF2B5EF4-FFF2-40B4-BE49-F238E27FC236}">
                <a16:creationId xmlns:a16="http://schemas.microsoft.com/office/drawing/2014/main" id="{8AD6BE9B-BA9D-4B9E-9A4A-02D58E32D806}"/>
              </a:ext>
            </a:extLst>
          </p:cNvPr>
          <p:cNvSpPr txBox="1"/>
          <p:nvPr/>
        </p:nvSpPr>
        <p:spPr>
          <a:xfrm>
            <a:off x="6611243" y="4891316"/>
            <a:ext cx="2089546" cy="960263"/>
          </a:xfrm>
          <a:prstGeom prst="rect">
            <a:avLst/>
          </a:prstGeom>
          <a:noFill/>
        </p:spPr>
        <p:txBody>
          <a:bodyPr wrap="none" lIns="182880" tIns="146304" rIns="182880" bIns="146304" rtlCol="0">
            <a:spAutoFit/>
          </a:bodyPr>
          <a:lstStyle/>
          <a:p>
            <a:pPr algn="ctr">
              <a:lnSpc>
                <a:spcPct val="90000"/>
              </a:lnSpc>
              <a:spcAft>
                <a:spcPts val="1800"/>
              </a:spcAft>
            </a:pPr>
            <a:r>
              <a:rPr lang="en-US" sz="2400" b="1" dirty="0">
                <a:gradFill>
                  <a:gsLst>
                    <a:gs pos="2917">
                      <a:schemeClr val="tx1"/>
                    </a:gs>
                    <a:gs pos="30000">
                      <a:schemeClr val="tx1"/>
                    </a:gs>
                  </a:gsLst>
                  <a:lin ang="5400000" scaled="0"/>
                </a:gradFill>
              </a:rPr>
              <a:t>Start building</a:t>
            </a:r>
            <a:br>
              <a:rPr lang="en-US" sz="2400" b="1" dirty="0">
                <a:gradFill>
                  <a:gsLst>
                    <a:gs pos="2917">
                      <a:schemeClr val="tx1"/>
                    </a:gs>
                    <a:gs pos="30000">
                      <a:schemeClr val="tx1"/>
                    </a:gs>
                  </a:gsLst>
                  <a:lin ang="5400000" scaled="0"/>
                </a:gradFill>
              </a:rPr>
            </a:br>
            <a:r>
              <a:rPr lang="en-US" sz="2400" b="1" dirty="0">
                <a:gradFill>
                  <a:gsLst>
                    <a:gs pos="2917">
                      <a:schemeClr val="tx1"/>
                    </a:gs>
                    <a:gs pos="30000">
                      <a:schemeClr val="tx1"/>
                    </a:gs>
                  </a:gsLst>
                  <a:lin ang="5400000" scaled="0"/>
                </a:gradFill>
              </a:rPr>
              <a:t>with AWS</a:t>
            </a:r>
          </a:p>
        </p:txBody>
      </p:sp>
    </p:spTree>
    <p:custDataLst>
      <p:tags r:id="rId1"/>
    </p:custDataLst>
    <p:extLst>
      <p:ext uri="{BB962C8B-B14F-4D97-AF65-F5344CB8AC3E}">
        <p14:creationId xmlns:p14="http://schemas.microsoft.com/office/powerpoint/2010/main" val="9758008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solidFill>
                  <a:srgbClr val="FF0000"/>
                </a:solidFill>
              </a:rPr>
              <a:t>Services with no charge</a:t>
            </a:r>
          </a:p>
        </p:txBody>
      </p:sp>
      <p:grpSp>
        <p:nvGrpSpPr>
          <p:cNvPr id="3" name="Group 2" descr="Services with no charge include Amazon VPC, Elastic Beanstalk, Auto Scaling, AWS CloudFormation, and AWS Identity and Access Management (IAM). ">
            <a:extLst>
              <a:ext uri="{FF2B5EF4-FFF2-40B4-BE49-F238E27FC236}">
                <a16:creationId xmlns:a16="http://schemas.microsoft.com/office/drawing/2014/main" id="{0F981391-6AA3-8311-2B38-B5DBD023DA75}"/>
              </a:ext>
            </a:extLst>
          </p:cNvPr>
          <p:cNvGrpSpPr/>
          <p:nvPr/>
        </p:nvGrpSpPr>
        <p:grpSpPr>
          <a:xfrm>
            <a:off x="2521528" y="1391787"/>
            <a:ext cx="4160049" cy="4828039"/>
            <a:chOff x="3362037" y="1391786"/>
            <a:chExt cx="5546732" cy="4828039"/>
          </a:xfrm>
        </p:grpSpPr>
        <p:grpSp>
          <p:nvGrpSpPr>
            <p:cNvPr id="6" name="Group 10">
              <a:extLst>
                <a:ext uri="{FF2B5EF4-FFF2-40B4-BE49-F238E27FC236}">
                  <a16:creationId xmlns:a16="http://schemas.microsoft.com/office/drawing/2014/main" id="{DBDCA136-AEAB-C141-8CA2-B1A2643777F6}"/>
                </a:ext>
                <a:ext uri="{C183D7F6-B498-43B3-948B-1728B52AA6E4}">
                  <adec:decorative xmlns:adec="http://schemas.microsoft.com/office/drawing/2017/decorative" val="1"/>
                </a:ext>
              </a:extLst>
            </p:cNvPr>
            <p:cNvGrpSpPr/>
            <p:nvPr/>
          </p:nvGrpSpPr>
          <p:grpSpPr>
            <a:xfrm>
              <a:off x="3362037" y="1391786"/>
              <a:ext cx="5183830" cy="4768239"/>
              <a:chOff x="3362037" y="1391786"/>
              <a:chExt cx="5183830" cy="4768239"/>
            </a:xfrm>
          </p:grpSpPr>
          <p:sp>
            <p:nvSpPr>
              <p:cNvPr id="8" name="Rounded Rectangle 9" descr="Services with no charge.">
                <a:extLst>
                  <a:ext uri="{FF2B5EF4-FFF2-40B4-BE49-F238E27FC236}">
                    <a16:creationId xmlns:a16="http://schemas.microsoft.com/office/drawing/2014/main" id="{E4D8A24B-54A6-4129-8600-1015C2362BDA}"/>
                  </a:ext>
                </a:extLst>
              </p:cNvPr>
              <p:cNvSpPr/>
              <p:nvPr/>
            </p:nvSpPr>
            <p:spPr bwMode="auto">
              <a:xfrm>
                <a:off x="3362037" y="1391786"/>
                <a:ext cx="5183830" cy="4768239"/>
              </a:xfrm>
              <a:prstGeom prst="roundRect">
                <a:avLst>
                  <a:gd name="adj" fmla="val 1013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pic>
            <p:nvPicPr>
              <p:cNvPr id="12" name="Graphic 52" descr="Amazon VPC icon.">
                <a:extLst>
                  <a:ext uri="{FF2B5EF4-FFF2-40B4-BE49-F238E27FC236}">
                    <a16:creationId xmlns:a16="http://schemas.microsoft.com/office/drawing/2014/main" id="{6DAADA1A-3B61-4489-99B9-9DDED420113A}"/>
                  </a:ext>
                </a:extLst>
              </p:cNvPr>
              <p:cNvPicPr>
                <a:picLocks noChangeAspect="1"/>
              </p:cNvPicPr>
              <p:nvPr/>
            </p:nvPicPr>
            <p:blipFill>
              <a:blip cstate="print"/>
              <a:stretch>
                <a:fillRect/>
              </a:stretch>
            </p:blipFill>
            <p:spPr>
              <a:xfrm>
                <a:off x="3684588" y="1645126"/>
                <a:ext cx="711200" cy="711200"/>
              </a:xfrm>
              <a:prstGeom prst="rect">
                <a:avLst/>
              </a:prstGeom>
            </p:spPr>
          </p:pic>
          <p:pic>
            <p:nvPicPr>
              <p:cNvPr id="14" name="Graphic 10" descr="Elastic Beanstalk icon.">
                <a:extLst>
                  <a:ext uri="{FF2B5EF4-FFF2-40B4-BE49-F238E27FC236}">
                    <a16:creationId xmlns:a16="http://schemas.microsoft.com/office/drawing/2014/main" id="{958BE8D9-49BA-4269-AC99-D11D1FF6979D}"/>
                  </a:ext>
                </a:extLst>
              </p:cNvPr>
              <p:cNvPicPr>
                <a:picLocks noChangeAspect="1"/>
              </p:cNvPicPr>
              <p:nvPr/>
            </p:nvPicPr>
            <p:blipFill>
              <a:blip cstate="print"/>
              <a:stretch>
                <a:fillRect/>
              </a:stretch>
            </p:blipFill>
            <p:spPr>
              <a:xfrm>
                <a:off x="3684588" y="2582346"/>
                <a:ext cx="711200" cy="711200"/>
              </a:xfrm>
              <a:prstGeom prst="rect">
                <a:avLst/>
              </a:prstGeom>
            </p:spPr>
          </p:pic>
          <p:pic>
            <p:nvPicPr>
              <p:cNvPr id="15" name="Graphic 123" descr="Auto Scaling icon.">
                <a:extLst>
                  <a:ext uri="{FF2B5EF4-FFF2-40B4-BE49-F238E27FC236}">
                    <a16:creationId xmlns:a16="http://schemas.microsoft.com/office/drawing/2014/main" id="{BA6AA774-BFAF-4753-8470-CD69262F15FB}"/>
                  </a:ext>
                </a:extLst>
              </p:cNvPr>
              <p:cNvPicPr>
                <a:picLocks noChangeAspect="1"/>
              </p:cNvPicPr>
              <p:nvPr/>
            </p:nvPicPr>
            <p:blipFill>
              <a:blip cstate="print"/>
              <a:stretch>
                <a:fillRect/>
              </a:stretch>
            </p:blipFill>
            <p:spPr>
              <a:xfrm>
                <a:off x="3799436" y="3529314"/>
                <a:ext cx="469900" cy="469900"/>
              </a:xfrm>
              <a:prstGeom prst="rect">
                <a:avLst/>
              </a:prstGeom>
            </p:spPr>
          </p:pic>
          <p:pic>
            <p:nvPicPr>
              <p:cNvPr id="13" name="Graphic 47" descr="AWS Cloud Formation icon.">
                <a:extLst>
                  <a:ext uri="{FF2B5EF4-FFF2-40B4-BE49-F238E27FC236}">
                    <a16:creationId xmlns:a16="http://schemas.microsoft.com/office/drawing/2014/main" id="{FF889A0B-6FC6-4502-AE9E-93F8907A924A}"/>
                  </a:ext>
                </a:extLst>
              </p:cNvPr>
              <p:cNvPicPr>
                <a:picLocks noChangeAspect="1"/>
              </p:cNvPicPr>
              <p:nvPr/>
            </p:nvPicPr>
            <p:blipFill>
              <a:blip cstate="print"/>
              <a:stretch>
                <a:fillRect/>
              </a:stretch>
            </p:blipFill>
            <p:spPr>
              <a:xfrm>
                <a:off x="3684588" y="4298888"/>
                <a:ext cx="711200" cy="711200"/>
              </a:xfrm>
              <a:prstGeom prst="rect">
                <a:avLst/>
              </a:prstGeom>
            </p:spPr>
          </p:pic>
          <p:pic>
            <p:nvPicPr>
              <p:cNvPr id="10" name="Graphic 36">
                <a:extLst>
                  <a:ext uri="{FF2B5EF4-FFF2-40B4-BE49-F238E27FC236}">
                    <a16:creationId xmlns:a16="http://schemas.microsoft.com/office/drawing/2014/main" id="{7477C140-23B4-481D-896F-E7413FF7F7D7}"/>
                  </a:ext>
                  <a:ext uri="{C183D7F6-B498-43B3-948B-1728B52AA6E4}">
                    <adec:decorative xmlns:adec="http://schemas.microsoft.com/office/drawing/2017/decorative" val="1"/>
                  </a:ext>
                </a:extLst>
              </p:cNvPr>
              <p:cNvPicPr>
                <a:picLocks noChangeAspect="1"/>
              </p:cNvPicPr>
              <p:nvPr/>
            </p:nvPicPr>
            <p:blipFill>
              <a:blip cstate="print"/>
              <a:stretch>
                <a:fillRect/>
              </a:stretch>
            </p:blipFill>
            <p:spPr>
              <a:xfrm>
                <a:off x="3678786" y="5236108"/>
                <a:ext cx="711200" cy="711200"/>
              </a:xfrm>
              <a:prstGeom prst="rect">
                <a:avLst/>
              </a:prstGeom>
            </p:spPr>
          </p:pic>
        </p:grpSp>
        <p:sp>
          <p:nvSpPr>
            <p:cNvPr id="9" name="Content Placeholder 2">
              <a:extLst>
                <a:ext uri="{FF2B5EF4-FFF2-40B4-BE49-F238E27FC236}">
                  <a16:creationId xmlns:a16="http://schemas.microsoft.com/office/drawing/2014/main" id="{B1E9B817-A385-47E7-AC11-B1A5003D3BA4}"/>
                </a:ext>
              </a:extLst>
            </p:cNvPr>
            <p:cNvSpPr txBox="1">
              <a:spLocks/>
            </p:cNvSpPr>
            <p:nvPr/>
          </p:nvSpPr>
          <p:spPr>
            <a:xfrm>
              <a:off x="4457193" y="1492250"/>
              <a:ext cx="4451576" cy="472757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Font typeface="Arial" panose="020B0604020202020204" pitchFamily="34" charset="0"/>
                <a:buNone/>
              </a:pPr>
              <a:r>
                <a:rPr lang="en-US" dirty="0"/>
                <a:t>Amazon VPC</a:t>
              </a:r>
            </a:p>
            <a:p>
              <a:pPr marL="0" indent="0">
                <a:lnSpc>
                  <a:spcPct val="200000"/>
                </a:lnSpc>
                <a:buFont typeface="Arial" panose="020B0604020202020204" pitchFamily="34" charset="0"/>
                <a:buNone/>
              </a:pPr>
              <a:r>
                <a:rPr lang="en-US" dirty="0"/>
                <a:t>Elastic Beanstalk**</a:t>
              </a:r>
            </a:p>
            <a:p>
              <a:pPr marL="0" indent="0">
                <a:lnSpc>
                  <a:spcPct val="200000"/>
                </a:lnSpc>
                <a:buFont typeface="Arial" panose="020B0604020202020204" pitchFamily="34" charset="0"/>
                <a:buNone/>
              </a:pPr>
              <a:r>
                <a:rPr lang="en-US" dirty="0"/>
                <a:t>Auto Scaling**</a:t>
              </a:r>
            </a:p>
            <a:p>
              <a:pPr marL="0" indent="0">
                <a:lnSpc>
                  <a:spcPct val="200000"/>
                </a:lnSpc>
                <a:buFont typeface="Arial" panose="020B0604020202020204" pitchFamily="34" charset="0"/>
                <a:buNone/>
              </a:pPr>
              <a:r>
                <a:rPr lang="en-US" dirty="0"/>
                <a:t>AWS CloudFormation**</a:t>
              </a:r>
            </a:p>
            <a:p>
              <a:pPr marL="0" indent="0">
                <a:lnSpc>
                  <a:spcPct val="85000"/>
                </a:lnSpc>
                <a:buFont typeface="Arial" panose="020B0604020202020204" pitchFamily="34" charset="0"/>
                <a:buNone/>
              </a:pPr>
              <a:br>
                <a:rPr lang="en-US" dirty="0"/>
              </a:br>
              <a:r>
                <a:rPr lang="en-US" dirty="0"/>
                <a:t>AWS Identity and Access Management (IAM)</a:t>
              </a:r>
            </a:p>
          </p:txBody>
        </p:sp>
      </p:grpSp>
      <p:sp>
        <p:nvSpPr>
          <p:cNvPr id="5" name="Rectangle 4" descr="Note: there might be charges associated with other AWS services that are used with Elastic Beanstalk, Auto Scaling, and AWS CloudFormation.">
            <a:extLst>
              <a:ext uri="{FF2B5EF4-FFF2-40B4-BE49-F238E27FC236}">
                <a16:creationId xmlns:a16="http://schemas.microsoft.com/office/drawing/2014/main" id="{6D9284E1-BB8C-4518-8D36-4ADAF5969B23}"/>
              </a:ext>
            </a:extLst>
          </p:cNvPr>
          <p:cNvSpPr/>
          <p:nvPr/>
        </p:nvSpPr>
        <p:spPr>
          <a:xfrm>
            <a:off x="6505005" y="5347144"/>
            <a:ext cx="2328099" cy="1477328"/>
          </a:xfrm>
          <a:prstGeom prst="rect">
            <a:avLst/>
          </a:prstGeom>
        </p:spPr>
        <p:txBody>
          <a:bodyPr wrap="square">
            <a:spAutoFit/>
          </a:bodyPr>
          <a:lstStyle/>
          <a:p>
            <a:r>
              <a:rPr lang="en-US" dirty="0"/>
              <a:t>**</a:t>
            </a:r>
            <a:r>
              <a:rPr lang="en-US" b="1" dirty="0"/>
              <a:t>Note</a:t>
            </a:r>
            <a:r>
              <a:rPr lang="en-US" dirty="0"/>
              <a:t>: There might be charges associated with other AWS services that are used with these services. </a:t>
            </a:r>
          </a:p>
        </p:txBody>
      </p:sp>
    </p:spTree>
    <p:custDataLst>
      <p:tags r:id="rId1"/>
    </p:custDataLst>
    <p:extLst>
      <p:ext uri="{BB962C8B-B14F-4D97-AF65-F5344CB8AC3E}">
        <p14:creationId xmlns:p14="http://schemas.microsoft.com/office/powerpoint/2010/main" val="1997371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solidFill>
                  <a:srgbClr val="FF0000"/>
                </a:solidFill>
              </a:rPr>
              <a:t>On-premises versus cloud</a:t>
            </a:r>
          </a:p>
        </p:txBody>
      </p:sp>
      <p:grpSp>
        <p:nvGrpSpPr>
          <p:cNvPr id="3" name="Group 4" descr="Traditional infrastructure requires equipment, resources and administration, contracts, and costs, whereas AWS cloud has no upfront expense, improves time to market, scales up and down, and has self-service infrastructure.">
            <a:extLst>
              <a:ext uri="{FF2B5EF4-FFF2-40B4-BE49-F238E27FC236}">
                <a16:creationId xmlns:a16="http://schemas.microsoft.com/office/drawing/2014/main" id="{BCE32A99-17FC-4280-9DE6-4B140259DDE6}"/>
              </a:ext>
              <a:ext uri="{C183D7F6-B498-43B3-948B-1728B52AA6E4}">
                <adec:decorative xmlns:adec="http://schemas.microsoft.com/office/drawing/2017/decorative" val="0"/>
              </a:ext>
            </a:extLst>
          </p:cNvPr>
          <p:cNvGrpSpPr/>
          <p:nvPr/>
        </p:nvGrpSpPr>
        <p:grpSpPr>
          <a:xfrm>
            <a:off x="589023" y="1388437"/>
            <a:ext cx="8028104" cy="4919878"/>
            <a:chOff x="785365" y="1388437"/>
            <a:chExt cx="10704138" cy="4919878"/>
          </a:xfrm>
        </p:grpSpPr>
        <p:sp>
          <p:nvSpPr>
            <p:cNvPr id="12" name="Rectangle 11" descr="summary of traditional infrastructure.">
              <a:extLst>
                <a:ext uri="{FF2B5EF4-FFF2-40B4-BE49-F238E27FC236}">
                  <a16:creationId xmlns:a16="http://schemas.microsoft.com/office/drawing/2014/main" id="{CCEDD93D-2690-764A-8D49-12A4D1D2ABD9}"/>
                </a:ext>
              </a:extLst>
            </p:cNvPr>
            <p:cNvSpPr/>
            <p:nvPr/>
          </p:nvSpPr>
          <p:spPr>
            <a:xfrm>
              <a:off x="785365" y="1750660"/>
              <a:ext cx="4751842" cy="4557655"/>
            </a:xfrm>
            <a:prstGeom prst="rect">
              <a:avLst/>
            </a:pr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14" name="Rectangle 13" descr="summary of AWS Cloud features.">
              <a:extLst>
                <a:ext uri="{FF2B5EF4-FFF2-40B4-BE49-F238E27FC236}">
                  <a16:creationId xmlns:a16="http://schemas.microsoft.com/office/drawing/2014/main" id="{FAD61B49-F7BF-D847-B74D-4484717A8FC4}"/>
                </a:ext>
              </a:extLst>
            </p:cNvPr>
            <p:cNvSpPr/>
            <p:nvPr/>
          </p:nvSpPr>
          <p:spPr>
            <a:xfrm>
              <a:off x="6737661" y="1750660"/>
              <a:ext cx="4751842" cy="4557655"/>
            </a:xfrm>
            <a:prstGeom prst="rect">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00000000000000000" pitchFamily="2" charset="0"/>
                <a:ea typeface="Amazon Ember" panose="02000000000000000000" pitchFamily="2" charset="0"/>
              </a:endParaRPr>
            </a:p>
          </p:txBody>
        </p:sp>
        <p:sp>
          <p:nvSpPr>
            <p:cNvPr id="15" name="TextBox 14">
              <a:extLst>
                <a:ext uri="{FF2B5EF4-FFF2-40B4-BE49-F238E27FC236}">
                  <a16:creationId xmlns:a16="http://schemas.microsoft.com/office/drawing/2014/main" id="{A75127B0-1CD9-D246-B93E-0AD34E5C535A}"/>
                </a:ext>
              </a:extLst>
            </p:cNvPr>
            <p:cNvSpPr txBox="1"/>
            <p:nvPr/>
          </p:nvSpPr>
          <p:spPr>
            <a:xfrm>
              <a:off x="913716" y="1388437"/>
              <a:ext cx="5920082" cy="523220"/>
            </a:xfrm>
            <a:prstGeom prst="rect">
              <a:avLst/>
            </a:prstGeom>
            <a:solidFill>
              <a:schemeClr val="bg1"/>
            </a:solid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Traditional Infrastructure</a:t>
              </a:r>
            </a:p>
          </p:txBody>
        </p:sp>
        <p:sp>
          <p:nvSpPr>
            <p:cNvPr id="16" name="TextBox 15">
              <a:extLst>
                <a:ext uri="{FF2B5EF4-FFF2-40B4-BE49-F238E27FC236}">
                  <a16:creationId xmlns:a16="http://schemas.microsoft.com/office/drawing/2014/main" id="{893C5E06-D7E5-504F-99D5-F3BA4798ACBF}"/>
                </a:ext>
              </a:extLst>
            </p:cNvPr>
            <p:cNvSpPr txBox="1"/>
            <p:nvPr/>
          </p:nvSpPr>
          <p:spPr>
            <a:xfrm>
              <a:off x="8085095" y="1394304"/>
              <a:ext cx="2825217" cy="523220"/>
            </a:xfrm>
            <a:prstGeom prst="rect">
              <a:avLst/>
            </a:prstGeom>
            <a:solidFill>
              <a:schemeClr val="bg1"/>
            </a:solid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AWS Cloud</a:t>
              </a:r>
            </a:p>
          </p:txBody>
        </p:sp>
        <p:sp>
          <p:nvSpPr>
            <p:cNvPr id="18" name="TextBox 17">
              <a:extLst>
                <a:ext uri="{FF2B5EF4-FFF2-40B4-BE49-F238E27FC236}">
                  <a16:creationId xmlns:a16="http://schemas.microsoft.com/office/drawing/2014/main" id="{8D34638F-3176-FC42-8EB4-360DFB9DEDDC}"/>
                </a:ext>
              </a:extLst>
            </p:cNvPr>
            <p:cNvSpPr txBox="1"/>
            <p:nvPr/>
          </p:nvSpPr>
          <p:spPr>
            <a:xfrm>
              <a:off x="1481461" y="3419591"/>
              <a:ext cx="1552135" cy="338554"/>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Equipment</a:t>
              </a:r>
            </a:p>
          </p:txBody>
        </p:sp>
        <p:sp>
          <p:nvSpPr>
            <p:cNvPr id="19" name="TextBox 18">
              <a:extLst>
                <a:ext uri="{FF2B5EF4-FFF2-40B4-BE49-F238E27FC236}">
                  <a16:creationId xmlns:a16="http://schemas.microsoft.com/office/drawing/2014/main" id="{D10977B5-C41A-B840-B207-946D42684AC0}"/>
                </a:ext>
              </a:extLst>
            </p:cNvPr>
            <p:cNvSpPr txBox="1"/>
            <p:nvPr/>
          </p:nvSpPr>
          <p:spPr>
            <a:xfrm>
              <a:off x="3360276" y="3368792"/>
              <a:ext cx="1877101" cy="1077218"/>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Resources and administration</a:t>
              </a:r>
            </a:p>
          </p:txBody>
        </p:sp>
        <p:sp>
          <p:nvSpPr>
            <p:cNvPr id="20" name="TextBox 19">
              <a:extLst>
                <a:ext uri="{FF2B5EF4-FFF2-40B4-BE49-F238E27FC236}">
                  <a16:creationId xmlns:a16="http://schemas.microsoft.com/office/drawing/2014/main" id="{2207D24E-311B-6245-9FFE-A44A0806D1CE}"/>
                </a:ext>
              </a:extLst>
            </p:cNvPr>
            <p:cNvSpPr txBox="1"/>
            <p:nvPr/>
          </p:nvSpPr>
          <p:spPr>
            <a:xfrm>
              <a:off x="3996623" y="5522312"/>
              <a:ext cx="604403" cy="584775"/>
            </a:xfrm>
            <a:prstGeom prst="rect">
              <a:avLst/>
            </a:prstGeom>
            <a:noFill/>
          </p:spPr>
          <p:txBody>
            <a:bodyPr wrap="square" rtlCol="0">
              <a:spAutoFit/>
            </a:bodyPr>
            <a:lstStyle/>
            <a:p>
              <a:r>
                <a:rPr lang="en-US" sz="1600" dirty="0">
                  <a:latin typeface="Amazon Ember" panose="02000000000000000000" pitchFamily="2" charset="0"/>
                  <a:ea typeface="Amazon Ember" panose="02000000000000000000" pitchFamily="2" charset="0"/>
                  <a:cs typeface="Amazon Ember" panose="020B0603020204020204" pitchFamily="34" charset="0"/>
                </a:rPr>
                <a:t>Cost</a:t>
              </a:r>
            </a:p>
          </p:txBody>
        </p:sp>
        <p:sp>
          <p:nvSpPr>
            <p:cNvPr id="21" name="TextBox 20">
              <a:extLst>
                <a:ext uri="{FF2B5EF4-FFF2-40B4-BE49-F238E27FC236}">
                  <a16:creationId xmlns:a16="http://schemas.microsoft.com/office/drawing/2014/main" id="{4FE1111C-F490-DC4D-B3AC-93ED839A4196}"/>
                </a:ext>
              </a:extLst>
            </p:cNvPr>
            <p:cNvSpPr txBox="1"/>
            <p:nvPr/>
          </p:nvSpPr>
          <p:spPr>
            <a:xfrm>
              <a:off x="1514670" y="5522312"/>
              <a:ext cx="1176231" cy="584775"/>
            </a:xfrm>
            <a:prstGeom prst="rect">
              <a:avLst/>
            </a:prstGeom>
            <a:noFill/>
          </p:spPr>
          <p:txBody>
            <a:bodyPr wrap="square" rtlCol="0">
              <a:spAutoFit/>
            </a:bodyPr>
            <a:lstStyle/>
            <a:p>
              <a:r>
                <a:rPr lang="en-US" sz="1600" dirty="0">
                  <a:latin typeface="Amazon Ember" panose="02000000000000000000" pitchFamily="2" charset="0"/>
                  <a:ea typeface="Amazon Ember" panose="02000000000000000000" pitchFamily="2" charset="0"/>
                  <a:cs typeface="Amazon Ember" panose="020B0603020204020204" pitchFamily="34" charset="0"/>
                </a:rPr>
                <a:t>Contracts</a:t>
              </a:r>
            </a:p>
          </p:txBody>
        </p:sp>
        <p:pic>
          <p:nvPicPr>
            <p:cNvPr id="22" name="Picture 21">
              <a:extLst>
                <a:ext uri="{FF2B5EF4-FFF2-40B4-BE49-F238E27FC236}">
                  <a16:creationId xmlns:a16="http://schemas.microsoft.com/office/drawing/2014/main" id="{29A0A9DF-7B33-7246-BF7A-A48402F59CAE}"/>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981" t="9240" r="9067" b="9808"/>
            <a:stretch/>
          </p:blipFill>
          <p:spPr>
            <a:xfrm>
              <a:off x="7395464" y="2054803"/>
              <a:ext cx="1136520" cy="1136519"/>
            </a:xfrm>
            <a:prstGeom prst="rect">
              <a:avLst/>
            </a:prstGeom>
          </p:spPr>
        </p:pic>
        <p:pic>
          <p:nvPicPr>
            <p:cNvPr id="23" name="Picture 22">
              <a:extLst>
                <a:ext uri="{FF2B5EF4-FFF2-40B4-BE49-F238E27FC236}">
                  <a16:creationId xmlns:a16="http://schemas.microsoft.com/office/drawing/2014/main" id="{D4458424-786F-FB41-9536-8852858091F8}"/>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2774" y="2141527"/>
              <a:ext cx="1260022" cy="1260022"/>
            </a:xfrm>
            <a:prstGeom prst="rect">
              <a:avLst/>
            </a:prstGeom>
          </p:spPr>
        </p:pic>
        <p:pic>
          <p:nvPicPr>
            <p:cNvPr id="24" name="Picture 23">
              <a:extLst>
                <a:ext uri="{FF2B5EF4-FFF2-40B4-BE49-F238E27FC236}">
                  <a16:creationId xmlns:a16="http://schemas.microsoft.com/office/drawing/2014/main" id="{BC94A01A-EF14-8B4D-8A09-47606E7218E8}"/>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2590" y="4266177"/>
              <a:ext cx="1222269" cy="1222269"/>
            </a:xfrm>
            <a:prstGeom prst="rect">
              <a:avLst/>
            </a:prstGeom>
          </p:spPr>
        </p:pic>
        <p:pic>
          <p:nvPicPr>
            <p:cNvPr id="25" name="Picture 24">
              <a:extLst>
                <a:ext uri="{FF2B5EF4-FFF2-40B4-BE49-F238E27FC236}">
                  <a16:creationId xmlns:a16="http://schemas.microsoft.com/office/drawing/2014/main" id="{1DA81006-189B-3448-AD0C-AE3BC23219D5}"/>
                </a:ext>
                <a:ext uri="{C183D7F6-B498-43B3-948B-1728B52AA6E4}">
                  <adec:decorative xmlns:adec="http://schemas.microsoft.com/office/drawing/2017/decorative" val="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997" t="9662" r="4294" b="15667"/>
            <a:stretch/>
          </p:blipFill>
          <p:spPr>
            <a:xfrm>
              <a:off x="3548237" y="4292007"/>
              <a:ext cx="1501176" cy="1222269"/>
            </a:xfrm>
            <a:prstGeom prst="rect">
              <a:avLst/>
            </a:prstGeom>
          </p:spPr>
        </p:pic>
        <p:pic>
          <p:nvPicPr>
            <p:cNvPr id="26" name="Picture 25">
              <a:extLst>
                <a:ext uri="{FF2B5EF4-FFF2-40B4-BE49-F238E27FC236}">
                  <a16:creationId xmlns:a16="http://schemas.microsoft.com/office/drawing/2014/main" id="{3D680833-8B82-3E45-BD3F-1640801E2DAE}"/>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01934" y="2090728"/>
              <a:ext cx="1193783" cy="1153991"/>
            </a:xfrm>
            <a:prstGeom prst="rect">
              <a:avLst/>
            </a:prstGeom>
          </p:spPr>
        </p:pic>
        <p:sp>
          <p:nvSpPr>
            <p:cNvPr id="30" name="TextBox 29">
              <a:extLst>
                <a:ext uri="{FF2B5EF4-FFF2-40B4-BE49-F238E27FC236}">
                  <a16:creationId xmlns:a16="http://schemas.microsoft.com/office/drawing/2014/main" id="{CD734C30-1BC2-864B-A542-3D758113AF98}"/>
                </a:ext>
              </a:extLst>
            </p:cNvPr>
            <p:cNvSpPr txBox="1"/>
            <p:nvPr/>
          </p:nvSpPr>
          <p:spPr>
            <a:xfrm>
              <a:off x="7276949" y="5376704"/>
              <a:ext cx="1174032"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Scale up and down</a:t>
              </a:r>
            </a:p>
          </p:txBody>
        </p:sp>
        <p:sp>
          <p:nvSpPr>
            <p:cNvPr id="31" name="TextBox 30">
              <a:extLst>
                <a:ext uri="{FF2B5EF4-FFF2-40B4-BE49-F238E27FC236}">
                  <a16:creationId xmlns:a16="http://schemas.microsoft.com/office/drawing/2014/main" id="{F34762D4-C304-0A4D-9204-467D7927FAC1}"/>
                </a:ext>
              </a:extLst>
            </p:cNvPr>
            <p:cNvSpPr txBox="1"/>
            <p:nvPr/>
          </p:nvSpPr>
          <p:spPr>
            <a:xfrm>
              <a:off x="7024318" y="3260774"/>
              <a:ext cx="1878813" cy="1077218"/>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No upfront expense—pay for what you use</a:t>
              </a:r>
            </a:p>
          </p:txBody>
        </p:sp>
        <p:sp>
          <p:nvSpPr>
            <p:cNvPr id="32" name="TextBox 31">
              <a:extLst>
                <a:ext uri="{FF2B5EF4-FFF2-40B4-BE49-F238E27FC236}">
                  <a16:creationId xmlns:a16="http://schemas.microsoft.com/office/drawing/2014/main" id="{B39FBA3C-4BEE-8948-9DDA-C8249FF83FCA}"/>
                </a:ext>
              </a:extLst>
            </p:cNvPr>
            <p:cNvSpPr txBox="1"/>
            <p:nvPr/>
          </p:nvSpPr>
          <p:spPr>
            <a:xfrm>
              <a:off x="9262922" y="3260774"/>
              <a:ext cx="1878813"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Improve time to market and agility</a:t>
              </a:r>
            </a:p>
          </p:txBody>
        </p:sp>
        <p:pic>
          <p:nvPicPr>
            <p:cNvPr id="36" name="Picture 35">
              <a:extLst>
                <a:ext uri="{FF2B5EF4-FFF2-40B4-BE49-F238E27FC236}">
                  <a16:creationId xmlns:a16="http://schemas.microsoft.com/office/drawing/2014/main" id="{8571BE65-BD43-834D-BF2F-DC1C24548017}"/>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776878" y="2269568"/>
              <a:ext cx="850900" cy="812800"/>
            </a:xfrm>
            <a:prstGeom prst="rect">
              <a:avLst/>
            </a:prstGeom>
          </p:spPr>
        </p:pic>
        <p:pic>
          <p:nvPicPr>
            <p:cNvPr id="28" name="Picture 27" descr="summary of traditional infrastructure.">
              <a:extLst>
                <a:ext uri="{FF2B5EF4-FFF2-40B4-BE49-F238E27FC236}">
                  <a16:creationId xmlns:a16="http://schemas.microsoft.com/office/drawing/2014/main" id="{6B6CEE44-71DF-FA46-9D78-5C96E54BBB9D}"/>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5244" t="4150" r="16822" b="4624"/>
            <a:stretch/>
          </p:blipFill>
          <p:spPr>
            <a:xfrm>
              <a:off x="1687387" y="4273544"/>
              <a:ext cx="830795" cy="1115638"/>
            </a:xfrm>
            <a:prstGeom prst="rect">
              <a:avLst/>
            </a:prstGeom>
          </p:spPr>
        </p:pic>
        <p:pic>
          <p:nvPicPr>
            <p:cNvPr id="34" name="Picture 33">
              <a:extLst>
                <a:ext uri="{FF2B5EF4-FFF2-40B4-BE49-F238E27FC236}">
                  <a16:creationId xmlns:a16="http://schemas.microsoft.com/office/drawing/2014/main" id="{89660597-A9F5-154A-848B-E1F1A4354C36}"/>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53932" y="4392619"/>
              <a:ext cx="896793" cy="896793"/>
            </a:xfrm>
            <a:prstGeom prst="rect">
              <a:avLst/>
            </a:prstGeom>
          </p:spPr>
        </p:pic>
        <p:sp>
          <p:nvSpPr>
            <p:cNvPr id="33" name="TextBox 32">
              <a:extLst>
                <a:ext uri="{FF2B5EF4-FFF2-40B4-BE49-F238E27FC236}">
                  <a16:creationId xmlns:a16="http://schemas.microsoft.com/office/drawing/2014/main" id="{188C2285-9B43-584B-B7DC-31F47B68811A}"/>
                </a:ext>
              </a:extLst>
            </p:cNvPr>
            <p:cNvSpPr txBox="1"/>
            <p:nvPr/>
          </p:nvSpPr>
          <p:spPr>
            <a:xfrm>
              <a:off x="9262922" y="5477317"/>
              <a:ext cx="1878813" cy="584775"/>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panose="020B0603020204020204" pitchFamily="34" charset="0"/>
                </a:rPr>
                <a:t>Self-service infrastructure</a:t>
              </a:r>
            </a:p>
          </p:txBody>
        </p:sp>
        <p:sp>
          <p:nvSpPr>
            <p:cNvPr id="35" name="TextBox 34">
              <a:extLst>
                <a:ext uri="{FF2B5EF4-FFF2-40B4-BE49-F238E27FC236}">
                  <a16:creationId xmlns:a16="http://schemas.microsoft.com/office/drawing/2014/main" id="{0BDC3E52-22DB-CB42-9A25-33B34FD5D0D8}"/>
                </a:ext>
              </a:extLst>
            </p:cNvPr>
            <p:cNvSpPr txBox="1"/>
            <p:nvPr/>
          </p:nvSpPr>
          <p:spPr>
            <a:xfrm>
              <a:off x="4955278" y="2771538"/>
              <a:ext cx="2321669" cy="1897892"/>
            </a:xfrm>
            <a:prstGeom prst="rect">
              <a:avLst/>
            </a:prstGeom>
            <a:noFill/>
          </p:spPr>
          <p:txBody>
            <a:bodyPr wrap="square" rtlCol="0">
              <a:spAutoFit/>
            </a:bodyPr>
            <a:lstStyle/>
            <a:p>
              <a:pPr algn="ctr"/>
              <a:r>
                <a:rPr lang="en-US" sz="11733" dirty="0">
                  <a:solidFill>
                    <a:srgbClr val="414042"/>
                  </a:solidFill>
                  <a:latin typeface="Amazon Ember" panose="02000000000000000000" pitchFamily="2" charset="0"/>
                  <a:ea typeface="Amazon Ember" panose="02000000000000000000" pitchFamily="2" charset="0"/>
                </a:rPr>
                <a:t>≠</a:t>
              </a:r>
            </a:p>
          </p:txBody>
        </p:sp>
      </p:grpSp>
    </p:spTree>
    <p:custDataLst>
      <p:tags r:id="rId1"/>
    </p:custDataLst>
    <p:extLst>
      <p:ext uri="{BB962C8B-B14F-4D97-AF65-F5344CB8AC3E}">
        <p14:creationId xmlns:p14="http://schemas.microsoft.com/office/powerpoint/2010/main" val="3176408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solidFill>
                  <a:srgbClr val="FF0000"/>
                </a:solidFill>
              </a:rPr>
              <a:t>What is Total </a:t>
            </a:r>
            <a:r>
              <a:rPr lang="en-US" dirty="0">
                <a:solidFill>
                  <a:srgbClr val="FF0000"/>
                </a:solidFill>
              </a:rPr>
              <a:t>C</a:t>
            </a:r>
            <a:r>
              <a:rPr lang="en-US" sz="4000" dirty="0">
                <a:solidFill>
                  <a:srgbClr val="FF0000"/>
                </a:solidFill>
              </a:rPr>
              <a:t>ost of Ownership (TCO)?                                                   </a:t>
            </a:r>
          </a:p>
        </p:txBody>
      </p:sp>
      <p:sp>
        <p:nvSpPr>
          <p:cNvPr id="4" name="Content Placeholder 5">
            <a:extLst>
              <a:ext uri="{FF2B5EF4-FFF2-40B4-BE49-F238E27FC236}">
                <a16:creationId xmlns:a16="http://schemas.microsoft.com/office/drawing/2014/main" id="{4C0AC4C3-036C-024C-8B71-CFB4D394F92A}"/>
              </a:ext>
            </a:extLst>
          </p:cNvPr>
          <p:cNvSpPr>
            <a:spLocks noGrp="1"/>
          </p:cNvSpPr>
          <p:nvPr>
            <p:ph sz="quarter" idx="4294967295"/>
          </p:nvPr>
        </p:nvSpPr>
        <p:spPr>
          <a:xfrm>
            <a:off x="274320" y="1764792"/>
            <a:ext cx="5404104" cy="4407408"/>
          </a:xfrm>
          <a:prstGeom prst="rect">
            <a:avLst/>
          </a:prstGeom>
        </p:spPr>
        <p:txBody>
          <a:bodyPr>
            <a:normAutofit fontScale="77500" lnSpcReduction="20000"/>
          </a:bodyPr>
          <a:lstStyle/>
          <a:p>
            <a:pPr marL="0" indent="0" defTabSz="609585">
              <a:buNone/>
              <a:defRPr/>
            </a:pPr>
            <a:r>
              <a:rPr lang="en-US"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Total Cost of Ownership (TCO) </a:t>
            </a:r>
            <a:r>
              <a:rPr lang="en-US" dirty="0">
                <a:latin typeface="Amazon Ember" panose="020B0603020204020204" pitchFamily="34" charset="0"/>
                <a:ea typeface="Amazon Ember" panose="020B0603020204020204" pitchFamily="34" charset="0"/>
                <a:cs typeface="Amazon Ember" panose="020B0603020204020204" pitchFamily="34" charset="0"/>
              </a:rPr>
              <a:t>is the financial estimate to help identify direct and indirect costs of a system.</a:t>
            </a:r>
          </a:p>
          <a:p>
            <a:pPr marL="0" indent="0" defTabSz="609585">
              <a:buNone/>
              <a:defRPr/>
            </a:pPr>
            <a:endParaRPr lang="en-US" dirty="0"/>
          </a:p>
          <a:p>
            <a:pPr marL="0" indent="0">
              <a:spcBef>
                <a:spcPts val="600"/>
              </a:spcBef>
              <a:spcAft>
                <a:spcPts val="600"/>
              </a:spcAft>
              <a:buNone/>
            </a:pPr>
            <a:r>
              <a:rPr lang="en-US" dirty="0"/>
              <a:t>Why use TCO?</a:t>
            </a:r>
          </a:p>
          <a:p>
            <a:pPr marL="465138" indent="-465138">
              <a:spcBef>
                <a:spcPts val="600"/>
              </a:spcBef>
              <a:spcAft>
                <a:spcPts val="600"/>
              </a:spcAft>
            </a:pPr>
            <a:r>
              <a:rPr lang="en-US" dirty="0"/>
              <a:t>To compare the costs of running an </a:t>
            </a:r>
            <a:r>
              <a:rPr lang="en-US" b="1" dirty="0">
                <a:solidFill>
                  <a:srgbClr val="504BAB"/>
                </a:solidFill>
              </a:rPr>
              <a:t>entire infrastructure environment or specific workload</a:t>
            </a:r>
            <a:r>
              <a:rPr lang="en-US" b="1" dirty="0">
                <a:solidFill>
                  <a:srgbClr val="0070C0"/>
                </a:solidFill>
              </a:rPr>
              <a:t> </a:t>
            </a:r>
            <a:r>
              <a:rPr lang="en-US" dirty="0"/>
              <a:t>on-premises versus on AWS</a:t>
            </a:r>
          </a:p>
          <a:p>
            <a:pPr marL="465138" indent="-465138">
              <a:spcBef>
                <a:spcPts val="600"/>
              </a:spcBef>
              <a:spcAft>
                <a:spcPts val="600"/>
              </a:spcAft>
            </a:pPr>
            <a:r>
              <a:rPr lang="en-US" dirty="0"/>
              <a:t>To budget and </a:t>
            </a:r>
            <a:r>
              <a:rPr lang="en-US" b="1" dirty="0">
                <a:solidFill>
                  <a:srgbClr val="504BAB"/>
                </a:solidFill>
              </a:rPr>
              <a:t>build the business case </a:t>
            </a:r>
            <a:r>
              <a:rPr lang="en-US" dirty="0"/>
              <a:t>for moving to the cloud</a:t>
            </a:r>
          </a:p>
        </p:txBody>
      </p:sp>
      <p:grpSp>
        <p:nvGrpSpPr>
          <p:cNvPr id="3" name="Group 8">
            <a:extLst>
              <a:ext uri="{FF2B5EF4-FFF2-40B4-BE49-F238E27FC236}">
                <a16:creationId xmlns:a16="http://schemas.microsoft.com/office/drawing/2014/main" id="{7AB30401-F163-4F3D-8275-1B610E3FB5D5}"/>
              </a:ext>
              <a:ext uri="{C183D7F6-B498-43B3-948B-1728B52AA6E4}">
                <adec:decorative xmlns:adec="http://schemas.microsoft.com/office/drawing/2017/decorative" val="1"/>
              </a:ext>
            </a:extLst>
          </p:cNvPr>
          <p:cNvGrpSpPr/>
          <p:nvPr/>
        </p:nvGrpSpPr>
        <p:grpSpPr>
          <a:xfrm>
            <a:off x="5686926" y="1856277"/>
            <a:ext cx="3457075" cy="3034400"/>
            <a:chOff x="7582567" y="1856277"/>
            <a:chExt cx="4609433" cy="3034400"/>
          </a:xfrm>
        </p:grpSpPr>
        <p:pic>
          <p:nvPicPr>
            <p:cNvPr id="6" name="Picture 5" descr="cloud.">
              <a:extLst>
                <a:ext uri="{FF2B5EF4-FFF2-40B4-BE49-F238E27FC236}">
                  <a16:creationId xmlns:a16="http://schemas.microsoft.com/office/drawing/2014/main" id="{FA00FA1E-2908-7143-A1E1-08FBE2D3217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09" t="17083" r="1" b="17489"/>
            <a:stretch/>
          </p:blipFill>
          <p:spPr>
            <a:xfrm>
              <a:off x="7582567" y="1856277"/>
              <a:ext cx="4609433" cy="3034400"/>
            </a:xfrm>
            <a:prstGeom prst="rect">
              <a:avLst/>
            </a:prstGeom>
          </p:spPr>
        </p:pic>
        <p:pic>
          <p:nvPicPr>
            <p:cNvPr id="7" name="Picture 6" descr="servers.">
              <a:extLst>
                <a:ext uri="{FF2B5EF4-FFF2-40B4-BE49-F238E27FC236}">
                  <a16:creationId xmlns:a16="http://schemas.microsoft.com/office/drawing/2014/main" id="{2DB5C9FD-982A-6D44-A477-D08278E6E2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11946" y="3001276"/>
              <a:ext cx="1584114" cy="1584114"/>
            </a:xfrm>
            <a:prstGeom prst="rect">
              <a:avLst/>
            </a:prstGeom>
          </p:spPr>
        </p:pic>
        <p:pic>
          <p:nvPicPr>
            <p:cNvPr id="8" name="Picture 7" descr="servers.">
              <a:extLst>
                <a:ext uri="{FF2B5EF4-FFF2-40B4-BE49-F238E27FC236}">
                  <a16:creationId xmlns:a16="http://schemas.microsoft.com/office/drawing/2014/main" id="{06F3638B-5724-D04F-9B3A-F998ABFBC52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59916" y="3001276"/>
              <a:ext cx="1584114" cy="1584114"/>
            </a:xfrm>
            <a:prstGeom prst="rect">
              <a:avLst/>
            </a:prstGeom>
          </p:spPr>
        </p:pic>
      </p:grpSp>
    </p:spTree>
    <p:custDataLst>
      <p:tags r:id="rId1"/>
    </p:custDataLst>
    <p:extLst>
      <p:ext uri="{BB962C8B-B14F-4D97-AF65-F5344CB8AC3E}">
        <p14:creationId xmlns:p14="http://schemas.microsoft.com/office/powerpoint/2010/main" val="3928309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B728D4-FCBC-409E-8AE1-4F9D9CE8091D}"/>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64</a:t>
            </a:fld>
            <a:endParaRPr lang="en-US" dirty="0"/>
          </a:p>
        </p:txBody>
      </p:sp>
      <p:sp>
        <p:nvSpPr>
          <p:cNvPr id="2" name="Title 1"/>
          <p:cNvSpPr>
            <a:spLocks noGrp="1"/>
          </p:cNvSpPr>
          <p:nvPr>
            <p:ph type="title"/>
          </p:nvPr>
        </p:nvSpPr>
        <p:spPr/>
        <p:txBody>
          <a:bodyPr>
            <a:noAutofit/>
          </a:bodyPr>
          <a:lstStyle/>
          <a:p>
            <a:r>
              <a:rPr lang="en-US" dirty="0">
                <a:solidFill>
                  <a:srgbClr val="FF0000"/>
                </a:solidFill>
              </a:rPr>
              <a:t>TCO considerations</a:t>
            </a:r>
          </a:p>
        </p:txBody>
      </p:sp>
      <p:grpSp>
        <p:nvGrpSpPr>
          <p:cNvPr id="3" name="Group 4" descr="TCO considerations detailed in the notes.">
            <a:extLst>
              <a:ext uri="{FF2B5EF4-FFF2-40B4-BE49-F238E27FC236}">
                <a16:creationId xmlns:a16="http://schemas.microsoft.com/office/drawing/2014/main" id="{DF7BD9B6-E45E-41CB-B6AD-B0036531606B}"/>
              </a:ext>
            </a:extLst>
          </p:cNvPr>
          <p:cNvGrpSpPr/>
          <p:nvPr/>
        </p:nvGrpSpPr>
        <p:grpSpPr>
          <a:xfrm>
            <a:off x="72145" y="1429807"/>
            <a:ext cx="8930445" cy="4641228"/>
            <a:chOff x="96193" y="1429807"/>
            <a:chExt cx="11907260" cy="4641228"/>
          </a:xfrm>
        </p:grpSpPr>
        <p:grpSp>
          <p:nvGrpSpPr>
            <p:cNvPr id="5" name="Group 45" descr="IT Labor Costs"/>
            <p:cNvGrpSpPr/>
            <p:nvPr/>
          </p:nvGrpSpPr>
          <p:grpSpPr>
            <a:xfrm>
              <a:off x="100712" y="5060594"/>
              <a:ext cx="11902741" cy="1010441"/>
              <a:chOff x="100712" y="5060594"/>
              <a:chExt cx="11902741" cy="1010441"/>
            </a:xfrm>
          </p:grpSpPr>
          <p:sp>
            <p:nvSpPr>
              <p:cNvPr id="10" name="Rectangle 9" descr="Summary of TCO considerations."/>
              <p:cNvSpPr/>
              <p:nvPr/>
            </p:nvSpPr>
            <p:spPr>
              <a:xfrm>
                <a:off x="470178" y="5060594"/>
                <a:ext cx="2227236" cy="1010441"/>
              </a:xfrm>
              <a:prstGeom prst="rect">
                <a:avLst/>
              </a:prstGeom>
              <a:solidFill>
                <a:srgbClr val="F79646">
                  <a:lumMod val="75000"/>
                </a:srgbClr>
              </a:solidFill>
              <a:ln w="9525" cap="flat" cmpd="sng" algn="ctr">
                <a:noFill/>
                <a:prstDash val="solid"/>
              </a:ln>
              <a:effectLst/>
            </p:spPr>
            <p:txBody>
              <a:bodyPr rtlCol="0" anchor="ctr"/>
              <a:lstStyle/>
              <a:p>
                <a:pPr algn="r" defTabSz="1219170">
                  <a:defRPr/>
                </a:pPr>
                <a:endPar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Rectangle 20" descr="Summary of TCO considerations."/>
              <p:cNvSpPr/>
              <p:nvPr/>
            </p:nvSpPr>
            <p:spPr>
              <a:xfrm>
                <a:off x="2795229" y="5062952"/>
                <a:ext cx="9208224" cy="1005725"/>
              </a:xfrm>
              <a:prstGeom prst="rect">
                <a:avLst/>
              </a:prstGeom>
              <a:solidFill>
                <a:srgbClr val="E6E6E7"/>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Server administration costs</a:t>
                </a:r>
              </a:p>
            </p:txBody>
          </p:sp>
          <p:sp>
            <p:nvSpPr>
              <p:cNvPr id="22" name="Oval 21" descr="Summary of TCO considerations."/>
              <p:cNvSpPr/>
              <p:nvPr/>
            </p:nvSpPr>
            <p:spPr>
              <a:xfrm>
                <a:off x="100712" y="5259273"/>
                <a:ext cx="609600" cy="613083"/>
              </a:xfrm>
              <a:prstGeom prst="ellipse">
                <a:avLst/>
              </a:prstGeom>
              <a:solidFill>
                <a:sysClr val="window" lastClr="FFFFFF"/>
              </a:solidFill>
              <a:ln w="9525" cap="flat" cmpd="sng" algn="ctr">
                <a:solidFill>
                  <a:srgbClr val="F79646">
                    <a:lumMod val="75000"/>
                  </a:srgbClr>
                </a:solidFill>
                <a:prstDash val="solid"/>
              </a:ln>
              <a:effectLst/>
            </p:spPr>
            <p:txBody>
              <a:bodyPr rtlCol="0" anchor="ctr"/>
              <a:lstStyle/>
              <a:p>
                <a:pPr algn="ctr" defTabSz="1219170">
                  <a:defRPr/>
                </a:pPr>
                <a:r>
                  <a:rPr lang="en-US" sz="2400" kern="0" dirty="0">
                    <a:solidFill>
                      <a:srgbClr val="F79646">
                        <a:lumMod val="75000"/>
                      </a:srgbClr>
                    </a:solidFill>
                    <a:latin typeface="Amazon Ember" panose="020B0603020204020204" pitchFamily="34" charset="0"/>
                    <a:ea typeface="Amazon Ember" panose="020B0603020204020204" pitchFamily="34" charset="0"/>
                    <a:cs typeface="Amazon Ember" panose="020B0603020204020204" pitchFamily="34" charset="0"/>
                  </a:rPr>
                  <a:t>4</a:t>
                </a:r>
              </a:p>
            </p:txBody>
          </p:sp>
          <p:sp>
            <p:nvSpPr>
              <p:cNvPr id="37" name="Rectangle 36"/>
              <p:cNvSpPr/>
              <p:nvPr/>
            </p:nvSpPr>
            <p:spPr>
              <a:xfrm>
                <a:off x="108233" y="5375986"/>
                <a:ext cx="2336537" cy="379656"/>
              </a:xfrm>
              <a:prstGeom prst="rect">
                <a:avLst/>
              </a:prstGeom>
            </p:spPr>
            <p:txBody>
              <a:bodyPr wrap="none">
                <a:spAutoFit/>
              </a:bodyPr>
              <a:lstStyle/>
              <a:p>
                <a:pPr algn="r" defTabSz="1219170">
                  <a:defRPr/>
                </a:pPr>
                <a:r>
                  <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rPr>
                  <a:t>IT Labor Costs</a:t>
                </a:r>
              </a:p>
            </p:txBody>
          </p:sp>
        </p:grpSp>
        <p:grpSp>
          <p:nvGrpSpPr>
            <p:cNvPr id="6" name="Group 51" descr="Server costs."/>
            <p:cNvGrpSpPr/>
            <p:nvPr/>
          </p:nvGrpSpPr>
          <p:grpSpPr>
            <a:xfrm>
              <a:off x="96193" y="1429807"/>
              <a:ext cx="11902449" cy="1010065"/>
              <a:chOff x="100712" y="1238575"/>
              <a:chExt cx="11902449" cy="1010065"/>
            </a:xfrm>
          </p:grpSpPr>
          <p:grpSp>
            <p:nvGrpSpPr>
              <p:cNvPr id="7" name="Group 50"/>
              <p:cNvGrpSpPr/>
              <p:nvPr/>
            </p:nvGrpSpPr>
            <p:grpSpPr>
              <a:xfrm>
                <a:off x="458801" y="1238575"/>
                <a:ext cx="11544360" cy="1010065"/>
                <a:chOff x="458801" y="1238575"/>
                <a:chExt cx="11544360" cy="1010065"/>
              </a:xfrm>
            </p:grpSpPr>
            <p:sp>
              <p:nvSpPr>
                <p:cNvPr id="13" name="Rectangle 12" descr="Summary of TCO considerations."/>
                <p:cNvSpPr/>
                <p:nvPr/>
              </p:nvSpPr>
              <p:spPr>
                <a:xfrm>
                  <a:off x="458801" y="1248222"/>
                  <a:ext cx="2249990" cy="1000417"/>
                </a:xfrm>
                <a:prstGeom prst="rect">
                  <a:avLst/>
                </a:prstGeom>
                <a:solidFill>
                  <a:srgbClr val="F79646">
                    <a:lumMod val="75000"/>
                  </a:srgbClr>
                </a:solidFill>
                <a:ln w="9525" cap="flat" cmpd="sng" algn="ctr">
                  <a:noFill/>
                  <a:prstDash val="solid"/>
                </a:ln>
                <a:effectLst/>
              </p:spPr>
              <p:txBody>
                <a:bodyPr rtlCol="0" anchor="ctr"/>
                <a:lstStyle/>
                <a:p>
                  <a:pPr algn="r" defTabSz="1219170">
                    <a:defRPr/>
                  </a:pPr>
                  <a:endPar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Rectangle 13" descr="Summary of TCO considerations."/>
                <p:cNvSpPr/>
                <p:nvPr/>
              </p:nvSpPr>
              <p:spPr>
                <a:xfrm>
                  <a:off x="2794937" y="1248221"/>
                  <a:ext cx="3062467" cy="1000418"/>
                </a:xfrm>
                <a:prstGeom prst="rect">
                  <a:avLst/>
                </a:prstGeom>
                <a:solidFill>
                  <a:srgbClr val="D0DBCC"/>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Hardware: Server, rack chassis power distribution units (PDUs), top-of-rack (TOR) switches (and maintenance)</a:t>
                  </a:r>
                </a:p>
              </p:txBody>
            </p:sp>
            <p:sp>
              <p:nvSpPr>
                <p:cNvPr id="15" name="Rectangle 14" descr="Summary of TCO considerations."/>
                <p:cNvSpPr/>
                <p:nvPr/>
              </p:nvSpPr>
              <p:spPr>
                <a:xfrm>
                  <a:off x="5935465" y="1238866"/>
                  <a:ext cx="2836817" cy="1009774"/>
                </a:xfrm>
                <a:prstGeom prst="rect">
                  <a:avLst/>
                </a:prstGeom>
                <a:solidFill>
                  <a:srgbClr val="D0DBCC"/>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Software: Operating system (OS), virtualization licenses</a:t>
                  </a:r>
                </a:p>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(and maintenance)</a:t>
                  </a:r>
                </a:p>
              </p:txBody>
            </p:sp>
            <p:sp>
              <p:nvSpPr>
                <p:cNvPr id="16" name="Rectangle 15" descr="Summary of TCO considerations."/>
                <p:cNvSpPr/>
                <p:nvPr/>
              </p:nvSpPr>
              <p:spPr>
                <a:xfrm>
                  <a:off x="8864999" y="1238575"/>
                  <a:ext cx="3133958" cy="442825"/>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Facilities cost</a:t>
                  </a:r>
                </a:p>
              </p:txBody>
            </p:sp>
            <p:sp>
              <p:nvSpPr>
                <p:cNvPr id="23" name="Rectangle 22" descr="Summary of TCO considerations."/>
                <p:cNvSpPr/>
                <p:nvPr/>
              </p:nvSpPr>
              <p:spPr>
                <a:xfrm>
                  <a:off x="8864998" y="1764190"/>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Space</a:t>
                  </a:r>
                </a:p>
              </p:txBody>
            </p:sp>
            <p:sp>
              <p:nvSpPr>
                <p:cNvPr id="24" name="Rectangle 23" descr="Summary of TCO considerations."/>
                <p:cNvSpPr/>
                <p:nvPr/>
              </p:nvSpPr>
              <p:spPr>
                <a:xfrm>
                  <a:off x="9929533" y="1764190"/>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Power</a:t>
                  </a:r>
                </a:p>
              </p:txBody>
            </p:sp>
            <p:sp>
              <p:nvSpPr>
                <p:cNvPr id="25" name="Rectangle 24" descr="Summary of TCO considerations."/>
                <p:cNvSpPr/>
                <p:nvPr/>
              </p:nvSpPr>
              <p:spPr>
                <a:xfrm>
                  <a:off x="10984285" y="1764190"/>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Cooling</a:t>
                  </a:r>
                </a:p>
              </p:txBody>
            </p:sp>
          </p:grpSp>
          <p:sp>
            <p:nvSpPr>
              <p:cNvPr id="34" name="Rectangle 33" descr="Summary of TCO considerations."/>
              <p:cNvSpPr/>
              <p:nvPr/>
            </p:nvSpPr>
            <p:spPr>
              <a:xfrm>
                <a:off x="252504" y="1553779"/>
                <a:ext cx="2092880" cy="379656"/>
              </a:xfrm>
              <a:prstGeom prst="rect">
                <a:avLst/>
              </a:prstGeom>
            </p:spPr>
            <p:txBody>
              <a:bodyPr wrap="none">
                <a:spAutoFit/>
              </a:bodyPr>
              <a:lstStyle/>
              <a:p>
                <a:pPr algn="r" defTabSz="1219170">
                  <a:defRPr/>
                </a:pPr>
                <a:r>
                  <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rPr>
                  <a:t>Server Costs</a:t>
                </a:r>
              </a:p>
            </p:txBody>
          </p:sp>
          <p:sp>
            <p:nvSpPr>
              <p:cNvPr id="38" name="Oval 37" descr="Summary of TCO considerations."/>
              <p:cNvSpPr/>
              <p:nvPr/>
            </p:nvSpPr>
            <p:spPr>
              <a:xfrm>
                <a:off x="100712" y="1437066"/>
                <a:ext cx="609600" cy="613083"/>
              </a:xfrm>
              <a:prstGeom prst="ellipse">
                <a:avLst/>
              </a:prstGeom>
              <a:solidFill>
                <a:sysClr val="window" lastClr="FFFFFF"/>
              </a:solidFill>
              <a:ln w="9525" cap="flat" cmpd="sng" algn="ctr">
                <a:solidFill>
                  <a:srgbClr val="F79646">
                    <a:lumMod val="75000"/>
                  </a:srgbClr>
                </a:solidFill>
                <a:prstDash val="solid"/>
              </a:ln>
              <a:effectLst/>
            </p:spPr>
            <p:txBody>
              <a:bodyPr rtlCol="0" anchor="ctr"/>
              <a:lstStyle/>
              <a:p>
                <a:pPr algn="ctr" defTabSz="1219170">
                  <a:defRPr/>
                </a:pPr>
                <a:r>
                  <a:rPr lang="en-US" sz="2400" kern="0" dirty="0">
                    <a:solidFill>
                      <a:srgbClr val="F79646">
                        <a:lumMod val="75000"/>
                      </a:srgbClr>
                    </a:solidFill>
                    <a:latin typeface="Amazon Ember" panose="020B0603020204020204" pitchFamily="34" charset="0"/>
                    <a:ea typeface="Amazon Ember" panose="020B0603020204020204" pitchFamily="34" charset="0"/>
                    <a:cs typeface="Amazon Ember" panose="020B0603020204020204" pitchFamily="34" charset="0"/>
                  </a:rPr>
                  <a:t>1</a:t>
                </a:r>
              </a:p>
            </p:txBody>
          </p:sp>
        </p:grpSp>
        <p:grpSp>
          <p:nvGrpSpPr>
            <p:cNvPr id="8" name="Group 49" descr="Storage costs."/>
            <p:cNvGrpSpPr/>
            <p:nvPr/>
          </p:nvGrpSpPr>
          <p:grpSpPr>
            <a:xfrm>
              <a:off x="100712" y="2640255"/>
              <a:ext cx="11902741" cy="1009133"/>
              <a:chOff x="100712" y="2506573"/>
              <a:chExt cx="11902741" cy="1009133"/>
            </a:xfrm>
          </p:grpSpPr>
          <p:grpSp>
            <p:nvGrpSpPr>
              <p:cNvPr id="9" name="Group 48"/>
              <p:cNvGrpSpPr/>
              <p:nvPr/>
            </p:nvGrpSpPr>
            <p:grpSpPr>
              <a:xfrm>
                <a:off x="463390" y="2506573"/>
                <a:ext cx="11540063" cy="1009133"/>
                <a:chOff x="463390" y="2506573"/>
                <a:chExt cx="11540063" cy="1009133"/>
              </a:xfrm>
            </p:grpSpPr>
            <p:sp>
              <p:nvSpPr>
                <p:cNvPr id="12" name="Rectangle 11" descr="Summary of TCO considerations."/>
                <p:cNvSpPr/>
                <p:nvPr/>
              </p:nvSpPr>
              <p:spPr>
                <a:xfrm>
                  <a:off x="463390" y="2506574"/>
                  <a:ext cx="2240813" cy="1009132"/>
                </a:xfrm>
                <a:prstGeom prst="rect">
                  <a:avLst/>
                </a:prstGeom>
                <a:solidFill>
                  <a:srgbClr val="F79646">
                    <a:lumMod val="75000"/>
                  </a:srgbClr>
                </a:solidFill>
                <a:ln w="9525" cap="flat" cmpd="sng" algn="ctr">
                  <a:noFill/>
                  <a:prstDash val="solid"/>
                </a:ln>
                <a:effectLst/>
              </p:spPr>
              <p:txBody>
                <a:bodyPr rtlCol="0" anchor="ctr"/>
                <a:lstStyle/>
                <a:p>
                  <a:pPr algn="r" defTabSz="1219170">
                    <a:defRPr/>
                  </a:pPr>
                  <a:endPar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Rectangle 16" descr="Summary of TCO considerations."/>
                <p:cNvSpPr/>
                <p:nvPr/>
              </p:nvSpPr>
              <p:spPr>
                <a:xfrm>
                  <a:off x="2795229" y="2506574"/>
                  <a:ext cx="3062467" cy="1009132"/>
                </a:xfrm>
                <a:prstGeom prst="rect">
                  <a:avLst/>
                </a:prstGeom>
                <a:solidFill>
                  <a:srgbClr val="FEECD2"/>
                </a:solidFill>
                <a:ln w="9525" cap="flat" cmpd="sng" algn="ctr">
                  <a:noFill/>
                  <a:prstDash val="solid"/>
                </a:ln>
                <a:effectLst/>
              </p:spPr>
              <p:txBody>
                <a:bodyPr rtlCol="0" anchor="ctr"/>
                <a:lstStyle/>
                <a:p>
                  <a:pPr algn="ctr" defTabSz="1219170">
                    <a:defRPr/>
                  </a:pPr>
                  <a:endParaRPr lang="en-US"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Hardware: Storage disks, storage area network (SAN) or Fibre Channel (FC) switches</a:t>
                  </a:r>
                </a:p>
                <a:p>
                  <a:pPr algn="ctr" defTabSz="1219170">
                    <a:defRPr/>
                  </a:pPr>
                  <a:endPar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 name="Rectangle 17" descr="Summary of TCO considerations."/>
                <p:cNvSpPr/>
                <p:nvPr/>
              </p:nvSpPr>
              <p:spPr>
                <a:xfrm>
                  <a:off x="5935756" y="2506574"/>
                  <a:ext cx="2836817" cy="1009132"/>
                </a:xfrm>
                <a:prstGeom prst="rect">
                  <a:avLst/>
                </a:prstGeom>
                <a:solidFill>
                  <a:srgbClr val="FEECD2"/>
                </a:solidFill>
                <a:ln w="9525" cap="flat" cmpd="sng" algn="ctr">
                  <a:noFill/>
                  <a:prstDash val="solid"/>
                </a:ln>
                <a:effectLst/>
              </p:spPr>
              <p:txBody>
                <a:bodyPr rtlCol="0" anchor="ctr"/>
                <a:lstStyle/>
                <a:p>
                  <a:pPr algn="ctr" defTabSz="1219170">
                    <a:defRPr/>
                  </a:pPr>
                  <a:endParaRPr lang="en-US"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Storage administration costs</a:t>
                  </a:r>
                </a:p>
                <a:p>
                  <a:pPr algn="ctr" defTabSz="1219170">
                    <a:defRPr/>
                  </a:pPr>
                  <a:endPar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Rectangle 25" descr="Summary of TCO considerations."/>
                <p:cNvSpPr/>
                <p:nvPr/>
              </p:nvSpPr>
              <p:spPr>
                <a:xfrm>
                  <a:off x="8865291" y="2506573"/>
                  <a:ext cx="3133958" cy="442825"/>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Facilities cost</a:t>
                  </a:r>
                </a:p>
              </p:txBody>
            </p:sp>
            <p:sp>
              <p:nvSpPr>
                <p:cNvPr id="27" name="Rectangle 26" descr="Summary of TCO considerations."/>
                <p:cNvSpPr/>
                <p:nvPr/>
              </p:nvSpPr>
              <p:spPr>
                <a:xfrm>
                  <a:off x="8865290" y="3028296"/>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Space</a:t>
                  </a:r>
                </a:p>
              </p:txBody>
            </p:sp>
            <p:sp>
              <p:nvSpPr>
                <p:cNvPr id="28" name="Rectangle 27" descr="Summary of TCO considerations."/>
                <p:cNvSpPr/>
                <p:nvPr/>
              </p:nvSpPr>
              <p:spPr>
                <a:xfrm>
                  <a:off x="9929825" y="3028296"/>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Power</a:t>
                  </a:r>
                </a:p>
              </p:txBody>
            </p:sp>
            <p:sp>
              <p:nvSpPr>
                <p:cNvPr id="29" name="Rectangle 28" descr="Summary of TCO considerations."/>
                <p:cNvSpPr/>
                <p:nvPr/>
              </p:nvSpPr>
              <p:spPr>
                <a:xfrm>
                  <a:off x="10984577" y="3028296"/>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Cooling</a:t>
                  </a:r>
                </a:p>
              </p:txBody>
            </p:sp>
          </p:grpSp>
          <p:sp>
            <p:nvSpPr>
              <p:cNvPr id="35" name="Rectangle 34" descr="collection of images showing the considerations for total cost of ownership"/>
              <p:cNvSpPr/>
              <p:nvPr/>
            </p:nvSpPr>
            <p:spPr>
              <a:xfrm>
                <a:off x="156591" y="2821311"/>
                <a:ext cx="2268143" cy="379656"/>
              </a:xfrm>
              <a:prstGeom prst="rect">
                <a:avLst/>
              </a:prstGeom>
            </p:spPr>
            <p:txBody>
              <a:bodyPr wrap="none">
                <a:spAutoFit/>
              </a:bodyPr>
              <a:lstStyle/>
              <a:p>
                <a:pPr algn="r" defTabSz="1219170">
                  <a:defRPr/>
                </a:pPr>
                <a:r>
                  <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rPr>
                  <a:t>Storage Costs</a:t>
                </a:r>
              </a:p>
            </p:txBody>
          </p:sp>
          <p:sp>
            <p:nvSpPr>
              <p:cNvPr id="39" name="Oval 38" descr="Summary of TCO considerations."/>
              <p:cNvSpPr/>
              <p:nvPr/>
            </p:nvSpPr>
            <p:spPr>
              <a:xfrm>
                <a:off x="100712" y="2704598"/>
                <a:ext cx="609600" cy="613083"/>
              </a:xfrm>
              <a:prstGeom prst="ellipse">
                <a:avLst/>
              </a:prstGeom>
              <a:solidFill>
                <a:sysClr val="window" lastClr="FFFFFF"/>
              </a:solidFill>
              <a:ln w="9525" cap="flat" cmpd="sng" algn="ctr">
                <a:solidFill>
                  <a:srgbClr val="F79646">
                    <a:lumMod val="75000"/>
                  </a:srgbClr>
                </a:solidFill>
                <a:prstDash val="solid"/>
              </a:ln>
              <a:effectLst/>
            </p:spPr>
            <p:txBody>
              <a:bodyPr rtlCol="0" anchor="ctr"/>
              <a:lstStyle/>
              <a:p>
                <a:pPr algn="ctr" defTabSz="1219170">
                  <a:defRPr/>
                </a:pPr>
                <a:r>
                  <a:rPr lang="en-US" sz="2400" kern="0" dirty="0">
                    <a:solidFill>
                      <a:srgbClr val="F79646">
                        <a:lumMod val="75000"/>
                      </a:srgbClr>
                    </a:solidFill>
                    <a:latin typeface="Amazon Ember" panose="020B0603020204020204" pitchFamily="34" charset="0"/>
                    <a:ea typeface="Amazon Ember" panose="020B0603020204020204" pitchFamily="34" charset="0"/>
                    <a:cs typeface="Amazon Ember" panose="020B0603020204020204" pitchFamily="34" charset="0"/>
                  </a:rPr>
                  <a:t>2</a:t>
                </a:r>
              </a:p>
            </p:txBody>
          </p:sp>
        </p:grpSp>
        <p:grpSp>
          <p:nvGrpSpPr>
            <p:cNvPr id="41" name="Group 47" descr="Network costs."/>
            <p:cNvGrpSpPr/>
            <p:nvPr/>
          </p:nvGrpSpPr>
          <p:grpSpPr>
            <a:xfrm>
              <a:off x="100711" y="3849771"/>
              <a:ext cx="11902135" cy="1010441"/>
              <a:chOff x="100711" y="3785427"/>
              <a:chExt cx="11902135" cy="1010441"/>
            </a:xfrm>
          </p:grpSpPr>
          <p:grpSp>
            <p:nvGrpSpPr>
              <p:cNvPr id="42" name="Group 46"/>
              <p:cNvGrpSpPr/>
              <p:nvPr/>
            </p:nvGrpSpPr>
            <p:grpSpPr>
              <a:xfrm>
                <a:off x="470178" y="3785427"/>
                <a:ext cx="11532668" cy="1010441"/>
                <a:chOff x="470178" y="3785427"/>
                <a:chExt cx="11532668" cy="1010441"/>
              </a:xfrm>
            </p:grpSpPr>
            <p:sp>
              <p:nvSpPr>
                <p:cNvPr id="11" name="Rectangle 10" descr="Summary of TCO considerations."/>
                <p:cNvSpPr/>
                <p:nvPr/>
              </p:nvSpPr>
              <p:spPr>
                <a:xfrm>
                  <a:off x="470178" y="3785427"/>
                  <a:ext cx="2227236" cy="1010441"/>
                </a:xfrm>
                <a:prstGeom prst="rect">
                  <a:avLst/>
                </a:prstGeom>
                <a:solidFill>
                  <a:srgbClr val="F79646">
                    <a:lumMod val="75000"/>
                  </a:srgbClr>
                </a:solidFill>
                <a:ln w="9525" cap="flat" cmpd="sng" algn="ctr">
                  <a:noFill/>
                  <a:prstDash val="solid"/>
                </a:ln>
                <a:effectLst/>
              </p:spPr>
              <p:txBody>
                <a:bodyPr rtlCol="0" anchor="ctr"/>
                <a:lstStyle/>
                <a:p>
                  <a:pPr algn="r" defTabSz="1219170">
                    <a:defRPr/>
                  </a:pPr>
                  <a:endPar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Rectangle 18" descr="Summary of TCO considerations."/>
                <p:cNvSpPr/>
                <p:nvPr/>
              </p:nvSpPr>
              <p:spPr>
                <a:xfrm>
                  <a:off x="2794622" y="3785427"/>
                  <a:ext cx="3062467" cy="1010441"/>
                </a:xfrm>
                <a:prstGeom prst="rect">
                  <a:avLst/>
                </a:prstGeom>
                <a:solidFill>
                  <a:srgbClr val="CAD2EB"/>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Network hardware: Local area network (LAN) switches, load balancer bandwidth costs</a:t>
                  </a:r>
                </a:p>
              </p:txBody>
            </p:sp>
            <p:sp>
              <p:nvSpPr>
                <p:cNvPr id="20" name="Rectangle 19" descr="Summary of TCO considerations."/>
                <p:cNvSpPr/>
                <p:nvPr/>
              </p:nvSpPr>
              <p:spPr>
                <a:xfrm>
                  <a:off x="5935150" y="3785427"/>
                  <a:ext cx="2836817" cy="1010441"/>
                </a:xfrm>
                <a:prstGeom prst="rect">
                  <a:avLst/>
                </a:prstGeom>
                <a:solidFill>
                  <a:srgbClr val="CAD2EB"/>
                </a:solidFill>
                <a:ln w="9525" cap="flat" cmpd="sng" algn="ctr">
                  <a:noFill/>
                  <a:prstDash val="solid"/>
                </a:ln>
                <a:effectLst/>
              </p:spPr>
              <p:txBody>
                <a:bodyPr rtlCol="0" anchor="ctr"/>
                <a:lstStyle/>
                <a:p>
                  <a:pPr algn="ctr" defTabSz="1219170">
                    <a:defRPr/>
                  </a:pPr>
                  <a:endParaRPr lang="en-US"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Network administration costs</a:t>
                  </a:r>
                </a:p>
                <a:p>
                  <a:pPr algn="ctr" defTabSz="1219170">
                    <a:defRPr/>
                  </a:pPr>
                  <a:endPar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0" name="Rectangle 29" descr="Summary of TCO considerations."/>
                <p:cNvSpPr/>
                <p:nvPr/>
              </p:nvSpPr>
              <p:spPr>
                <a:xfrm>
                  <a:off x="8864684" y="3785427"/>
                  <a:ext cx="3133958" cy="442825"/>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Facilities cost</a:t>
                  </a:r>
                </a:p>
              </p:txBody>
            </p:sp>
            <p:sp>
              <p:nvSpPr>
                <p:cNvPr id="31" name="Rectangle 30" descr="Summary of TCO considerations."/>
                <p:cNvSpPr/>
                <p:nvPr/>
              </p:nvSpPr>
              <p:spPr>
                <a:xfrm>
                  <a:off x="8864683" y="4294033"/>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Space</a:t>
                  </a:r>
                </a:p>
              </p:txBody>
            </p:sp>
            <p:sp>
              <p:nvSpPr>
                <p:cNvPr id="32" name="Rectangle 31" descr="Summary of TCO considerations."/>
                <p:cNvSpPr/>
                <p:nvPr/>
              </p:nvSpPr>
              <p:spPr>
                <a:xfrm>
                  <a:off x="9929218" y="4294033"/>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Power</a:t>
                  </a:r>
                </a:p>
              </p:txBody>
            </p:sp>
            <p:sp>
              <p:nvSpPr>
                <p:cNvPr id="33" name="Rectangle 32" descr="Summary of TCO considerations."/>
                <p:cNvSpPr/>
                <p:nvPr/>
              </p:nvSpPr>
              <p:spPr>
                <a:xfrm>
                  <a:off x="10983970" y="4294033"/>
                  <a:ext cx="1018876" cy="484449"/>
                </a:xfrm>
                <a:prstGeom prst="rect">
                  <a:avLst/>
                </a:prstGeom>
                <a:solidFill>
                  <a:srgbClr val="FFEEA3"/>
                </a:solidFill>
                <a:ln w="9525" cap="flat" cmpd="sng" algn="ctr">
                  <a:noFill/>
                  <a:prstDash val="solid"/>
                </a:ln>
                <a:effectLst/>
              </p:spPr>
              <p:txBody>
                <a:bodyPr rtlCol="0" anchor="ctr"/>
                <a:lstStyle/>
                <a:p>
                  <a:pPr algn="ctr" defTabSz="1219170">
                    <a:defRPr/>
                  </a:pPr>
                  <a:r>
                    <a:rPr lang="en-US" sz="1600" kern="0" dirty="0">
                      <a:solidFill>
                        <a:srgbClr val="595A5D"/>
                      </a:solidFill>
                      <a:latin typeface="Amazon Ember" panose="020B0603020204020204" pitchFamily="34" charset="0"/>
                      <a:ea typeface="Amazon Ember" panose="020B0603020204020204" pitchFamily="34" charset="0"/>
                      <a:cs typeface="Amazon Ember" panose="020B0603020204020204" pitchFamily="34" charset="0"/>
                    </a:rPr>
                    <a:t>Cooling</a:t>
                  </a:r>
                </a:p>
              </p:txBody>
            </p:sp>
          </p:grpSp>
          <p:sp>
            <p:nvSpPr>
              <p:cNvPr id="36" name="Rectangle 35"/>
              <p:cNvSpPr/>
              <p:nvPr/>
            </p:nvSpPr>
            <p:spPr>
              <a:xfrm>
                <a:off x="143231" y="4100819"/>
                <a:ext cx="2321576" cy="379656"/>
              </a:xfrm>
              <a:prstGeom prst="rect">
                <a:avLst/>
              </a:prstGeom>
            </p:spPr>
            <p:txBody>
              <a:bodyPr wrap="none">
                <a:spAutoFit/>
              </a:bodyPr>
              <a:lstStyle/>
              <a:p>
                <a:pPr algn="r" defTabSz="1219170">
                  <a:defRPr/>
                </a:pPr>
                <a:r>
                  <a:rPr lang="en-US" sz="1867" kern="0" dirty="0">
                    <a:solidFill>
                      <a:prstClr val="white"/>
                    </a:solidFill>
                    <a:latin typeface="Amazon Ember" panose="020B0603020204020204" pitchFamily="34" charset="0"/>
                    <a:ea typeface="Amazon Ember" panose="020B0603020204020204" pitchFamily="34" charset="0"/>
                    <a:cs typeface="Amazon Ember" panose="020B0603020204020204" pitchFamily="34" charset="0"/>
                  </a:rPr>
                  <a:t>Network Costs</a:t>
                </a:r>
              </a:p>
            </p:txBody>
          </p:sp>
          <p:sp>
            <p:nvSpPr>
              <p:cNvPr id="40" name="Oval 39" descr="Summary of TCO considerations."/>
              <p:cNvSpPr/>
              <p:nvPr/>
            </p:nvSpPr>
            <p:spPr>
              <a:xfrm>
                <a:off x="100711" y="3984106"/>
                <a:ext cx="609600" cy="613083"/>
              </a:xfrm>
              <a:prstGeom prst="ellipse">
                <a:avLst/>
              </a:prstGeom>
              <a:solidFill>
                <a:sysClr val="window" lastClr="FFFFFF"/>
              </a:solidFill>
              <a:ln w="9525" cap="flat" cmpd="sng" algn="ctr">
                <a:solidFill>
                  <a:srgbClr val="F79646">
                    <a:lumMod val="75000"/>
                  </a:srgbClr>
                </a:solidFill>
                <a:prstDash val="solid"/>
              </a:ln>
              <a:effectLst/>
            </p:spPr>
            <p:txBody>
              <a:bodyPr rtlCol="0" anchor="ctr"/>
              <a:lstStyle/>
              <a:p>
                <a:pPr algn="ctr" defTabSz="1219170">
                  <a:defRPr/>
                </a:pPr>
                <a:r>
                  <a:rPr lang="en-US" sz="2400" kern="0" dirty="0">
                    <a:solidFill>
                      <a:srgbClr val="F79646">
                        <a:lumMod val="75000"/>
                      </a:srgbClr>
                    </a:solidFill>
                    <a:latin typeface="Amazon Ember" panose="020B0603020204020204" pitchFamily="34" charset="0"/>
                    <a:ea typeface="Amazon Ember" panose="020B0603020204020204" pitchFamily="34" charset="0"/>
                    <a:cs typeface="Amazon Ember" panose="020B0603020204020204" pitchFamily="34" charset="0"/>
                  </a:rPr>
                  <a:t>3</a:t>
                </a:r>
              </a:p>
            </p:txBody>
          </p:sp>
        </p:grpSp>
      </p:grpSp>
    </p:spTree>
    <p:custDataLst>
      <p:tags r:id="rId1"/>
    </p:custDataLst>
    <p:extLst>
      <p:ext uri="{BB962C8B-B14F-4D97-AF65-F5344CB8AC3E}">
        <p14:creationId xmlns:p14="http://schemas.microsoft.com/office/powerpoint/2010/main" val="1003679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a:xfrm>
            <a:off x="457200" y="76200"/>
            <a:ext cx="8229600" cy="1143000"/>
          </a:xfrm>
        </p:spPr>
        <p:txBody>
          <a:bodyPr/>
          <a:lstStyle/>
          <a:p>
            <a:r>
              <a:rPr lang="en-US" dirty="0">
                <a:solidFill>
                  <a:srgbClr val="FF0000"/>
                </a:solidFill>
              </a:rPr>
              <a:t>On-premises versus all-in-cloud</a:t>
            </a:r>
          </a:p>
        </p:txBody>
      </p:sp>
      <p:sp>
        <p:nvSpPr>
          <p:cNvPr id="7" name="TextBox 6">
            <a:extLst>
              <a:ext uri="{FF2B5EF4-FFF2-40B4-BE49-F238E27FC236}">
                <a16:creationId xmlns:a16="http://schemas.microsoft.com/office/drawing/2014/main" id="{E67865AF-2762-4848-9A55-2D43B2335AC8}"/>
              </a:ext>
              <a:ext uri="{C183D7F6-B498-43B3-948B-1728B52AA6E4}">
                <adec:decorative xmlns:adec="http://schemas.microsoft.com/office/drawing/2017/decorative" val="1"/>
              </a:ext>
            </a:extLst>
          </p:cNvPr>
          <p:cNvSpPr txBox="1"/>
          <p:nvPr/>
        </p:nvSpPr>
        <p:spPr>
          <a:xfrm>
            <a:off x="391651" y="1263593"/>
            <a:ext cx="8218949" cy="1261884"/>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You could save up to </a:t>
            </a: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96 percent </a:t>
            </a:r>
            <a:r>
              <a:rPr lang="en-US" sz="2400" dirty="0">
                <a:latin typeface="Amazon Ember" panose="020B0603020204020204" pitchFamily="34" charset="0"/>
                <a:ea typeface="Amazon Ember" panose="020B0603020204020204" pitchFamily="34" charset="0"/>
                <a:cs typeface="Amazon Ember" panose="020B0603020204020204" pitchFamily="34" charset="0"/>
              </a:rPr>
              <a:t>a year by moving your infrastructure to AWS. </a:t>
            </a:r>
          </a:p>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Your 3-year total savings would be </a:t>
            </a:r>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$159,913</a:t>
            </a:r>
            <a:r>
              <a:rPr lang="en-US" sz="2800" dirty="0">
                <a:latin typeface="Amazon Ember" panose="020B0603020204020204" pitchFamily="34" charset="0"/>
                <a:ea typeface="Amazon Ember" panose="020B0603020204020204" pitchFamily="34" charset="0"/>
                <a:cs typeface="Amazon Ember" panose="020B0603020204020204" pitchFamily="34" charset="0"/>
              </a:rPr>
              <a:t>.</a:t>
            </a:r>
          </a:p>
        </p:txBody>
      </p:sp>
      <p:pic>
        <p:nvPicPr>
          <p:cNvPr id="10" name="Picture 9" descr="Chart comparing three-year total cost of ownership for on-premises and AWS. See description in slide notes.">
            <a:extLst>
              <a:ext uri="{FF2B5EF4-FFF2-40B4-BE49-F238E27FC236}">
                <a16:creationId xmlns:a16="http://schemas.microsoft.com/office/drawing/2014/main" id="{F86CC989-402F-4180-9D21-E1AE515E7BCF}"/>
              </a:ext>
            </a:extLst>
          </p:cNvPr>
          <p:cNvPicPr>
            <a:picLocks noChangeAspect="1"/>
          </p:cNvPicPr>
          <p:nvPr/>
        </p:nvPicPr>
        <p:blipFill>
          <a:blip r:embed="rId4"/>
          <a:stretch>
            <a:fillRect/>
          </a:stretch>
        </p:blipFill>
        <p:spPr>
          <a:xfrm>
            <a:off x="469064" y="2593663"/>
            <a:ext cx="3703641" cy="3475021"/>
          </a:xfrm>
          <a:prstGeom prst="rect">
            <a:avLst/>
          </a:prstGeom>
        </p:spPr>
      </p:pic>
      <p:sp>
        <p:nvSpPr>
          <p:cNvPr id="4" name="TextBox 3">
            <a:extLst>
              <a:ext uri="{FF2B5EF4-FFF2-40B4-BE49-F238E27FC236}">
                <a16:creationId xmlns:a16="http://schemas.microsoft.com/office/drawing/2014/main" id="{7E06EFFC-FAF0-884E-97B3-094988EF9F10}"/>
              </a:ext>
            </a:extLst>
          </p:cNvPr>
          <p:cNvSpPr txBox="1"/>
          <p:nvPr/>
        </p:nvSpPr>
        <p:spPr>
          <a:xfrm>
            <a:off x="141810" y="6172200"/>
            <a:ext cx="4358149" cy="584775"/>
          </a:xfrm>
          <a:prstGeom prst="rect">
            <a:avLst/>
          </a:prstGeom>
          <a:noFill/>
        </p:spPr>
        <p:txBody>
          <a:bodyPr wrap="square" rtlCol="0">
            <a:spAutoFit/>
          </a:bodyPr>
          <a:lstStyle/>
          <a:p>
            <a:pPr algn="ctr"/>
            <a:r>
              <a:rPr lang="en-US" sz="1600" dirty="0">
                <a:latin typeface="Amazon Ember Medium" panose="020B0603020204020204" pitchFamily="34" charset="0"/>
                <a:ea typeface="Amazon Ember Medium" panose="020B0603020204020204" pitchFamily="34" charset="0"/>
                <a:cs typeface="Amazon Ember Medium" panose="020B0603020204020204" pitchFamily="34" charset="0"/>
              </a:rPr>
              <a:t>AWS cost includes business-level support and </a:t>
            </a:r>
            <a:br>
              <a:rPr lang="en-US" sz="1600" dirty="0">
                <a:latin typeface="Amazon Ember Medium" panose="020B0603020204020204" pitchFamily="34" charset="0"/>
                <a:ea typeface="Amazon Ember Medium" panose="020B0603020204020204" pitchFamily="34" charset="0"/>
                <a:cs typeface="Amazon Ember Medium" panose="020B0603020204020204" pitchFamily="34" charset="0"/>
              </a:rPr>
            </a:br>
            <a:r>
              <a:rPr lang="en-US" sz="1600" dirty="0">
                <a:latin typeface="Amazon Ember Medium" panose="020B0603020204020204" pitchFamily="34" charset="0"/>
                <a:ea typeface="Amazon Ember Medium" panose="020B0603020204020204" pitchFamily="34" charset="0"/>
                <a:cs typeface="Amazon Ember Medium" panose="020B0603020204020204" pitchFamily="34" charset="0"/>
              </a:rPr>
              <a:t>a 3-year PURI EC2 instance</a:t>
            </a:r>
          </a:p>
        </p:txBody>
      </p:sp>
      <p:graphicFrame>
        <p:nvGraphicFramePr>
          <p:cNvPr id="6" name="Chart 5">
            <a:extLst>
              <a:ext uri="{FF2B5EF4-FFF2-40B4-BE49-F238E27FC236}">
                <a16:creationId xmlns:a16="http://schemas.microsoft.com/office/drawing/2014/main" id="{7F610A78-AB78-C045-A17A-1607BCD1D8BD}"/>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97358338"/>
              </p:ext>
            </p:extLst>
          </p:nvPr>
        </p:nvGraphicFramePr>
        <p:xfrm>
          <a:off x="4601497" y="2458752"/>
          <a:ext cx="4146635" cy="4323048"/>
        </p:xfrm>
        <a:graphic>
          <a:graphicData uri="http://schemas.openxmlformats.org/drawingml/2006/chart">
            <c:chart xmlns:c="http://schemas.openxmlformats.org/drawingml/2006/chart" xmlns:r="http://schemas.openxmlformats.org/officeDocument/2006/relationships" r:id="rId5"/>
          </a:graphicData>
        </a:graphic>
      </p:graphicFrame>
    </p:spTree>
    <p:custDataLst>
      <p:tags r:id="rId1"/>
    </p:custDataLst>
    <p:extLst>
      <p:ext uri="{BB962C8B-B14F-4D97-AF65-F5344CB8AC3E}">
        <p14:creationId xmlns:p14="http://schemas.microsoft.com/office/powerpoint/2010/main" val="22763146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3B1AAD-2FD7-4EFF-8BCB-1C3B63A80BEE}"/>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66</a:t>
            </a:fld>
            <a:endParaRPr lang="en-US" dirty="0"/>
          </a:p>
        </p:txBody>
      </p:sp>
      <p:sp>
        <p:nvSpPr>
          <p:cNvPr id="5" name="Title 4"/>
          <p:cNvSpPr>
            <a:spLocks noGrp="1"/>
          </p:cNvSpPr>
          <p:nvPr>
            <p:ph type="title"/>
          </p:nvPr>
        </p:nvSpPr>
        <p:spPr/>
        <p:txBody>
          <a:bodyPr/>
          <a:lstStyle/>
          <a:p>
            <a:r>
              <a:rPr lang="en-US" dirty="0">
                <a:solidFill>
                  <a:srgbClr val="FF0000"/>
                </a:solidFill>
              </a:rPr>
              <a:t>AWS Pricing Calculator</a:t>
            </a:r>
          </a:p>
        </p:txBody>
      </p:sp>
      <p:sp>
        <p:nvSpPr>
          <p:cNvPr id="6" name="Content Placeholder 5"/>
          <p:cNvSpPr>
            <a:spLocks noGrp="1"/>
          </p:cNvSpPr>
          <p:nvPr>
            <p:ph sz="quarter" idx="4294967295"/>
          </p:nvPr>
        </p:nvSpPr>
        <p:spPr>
          <a:xfrm>
            <a:off x="76200" y="1642872"/>
            <a:ext cx="4395978" cy="4910328"/>
          </a:xfrm>
          <a:prstGeom prst="rect">
            <a:avLst/>
          </a:prstGeom>
        </p:spPr>
        <p:txBody>
          <a:bodyPr>
            <a:normAutofit fontScale="92500" lnSpcReduction="20000"/>
          </a:bodyPr>
          <a:lstStyle/>
          <a:p>
            <a:pPr marL="0" indent="0">
              <a:buNone/>
            </a:pPr>
            <a:r>
              <a:rPr lang="en-US" dirty="0"/>
              <a:t>Use the </a:t>
            </a:r>
            <a:r>
              <a:rPr lang="en-US"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AWS Pricing Calculator </a:t>
            </a:r>
            <a:r>
              <a:rPr lang="en-US" dirty="0"/>
              <a:t>to:</a:t>
            </a:r>
          </a:p>
          <a:p>
            <a:pPr marL="465138" indent="-465138"/>
            <a:r>
              <a:rPr lang="en-US" sz="2400" dirty="0"/>
              <a:t>Estimate monthly costs</a:t>
            </a:r>
          </a:p>
          <a:p>
            <a:pPr marL="465138" indent="-465138"/>
            <a:r>
              <a:rPr lang="en-US" sz="2400" dirty="0"/>
              <a:t>Identify opportunities to reduce monthly costs</a:t>
            </a:r>
          </a:p>
          <a:p>
            <a:pPr marL="465138" indent="-465138"/>
            <a:r>
              <a:rPr lang="en-US" sz="2400" dirty="0"/>
              <a:t>Model your solutions before building them</a:t>
            </a:r>
          </a:p>
          <a:p>
            <a:pPr marL="465138" indent="-465138"/>
            <a:r>
              <a:rPr lang="en-US" sz="2400" dirty="0"/>
              <a:t>Explore price points and calculations behind your estimate</a:t>
            </a:r>
          </a:p>
          <a:p>
            <a:pPr marL="465138" indent="-465138"/>
            <a:r>
              <a:rPr lang="en-US" sz="2400" dirty="0"/>
              <a:t>Find the available instance types and contract terms that meet your needs</a:t>
            </a:r>
          </a:p>
          <a:p>
            <a:pPr marL="465138" indent="-465138"/>
            <a:r>
              <a:rPr lang="en-US" sz="2400" dirty="0"/>
              <a:t>Name your estimate and create and name </a:t>
            </a:r>
            <a:r>
              <a:rPr lang="en-US" sz="24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groups</a:t>
            </a:r>
            <a:r>
              <a:rPr lang="en-US" sz="2400" dirty="0"/>
              <a:t> of services</a:t>
            </a:r>
          </a:p>
          <a:p>
            <a:pPr lvl="1"/>
            <a:endParaRPr lang="en-US" dirty="0"/>
          </a:p>
        </p:txBody>
      </p:sp>
      <p:pic>
        <p:nvPicPr>
          <p:cNvPr id="8" name="Picture 7" descr="AWS Pricing Calculator website.">
            <a:extLst>
              <a:ext uri="{FF2B5EF4-FFF2-40B4-BE49-F238E27FC236}">
                <a16:creationId xmlns:a16="http://schemas.microsoft.com/office/drawing/2014/main" id="{A0C198D5-7AB2-4BCE-9556-74B0D4DFFFD5}"/>
              </a:ext>
            </a:extLst>
          </p:cNvPr>
          <p:cNvPicPr>
            <a:picLocks noChangeAspect="1"/>
          </p:cNvPicPr>
          <p:nvPr/>
        </p:nvPicPr>
        <p:blipFill>
          <a:blip r:embed="rId4"/>
          <a:stretch>
            <a:fillRect/>
          </a:stretch>
        </p:blipFill>
        <p:spPr>
          <a:xfrm>
            <a:off x="4267200" y="1627682"/>
            <a:ext cx="4953000" cy="4163518"/>
          </a:xfrm>
          <a:prstGeom prst="rect">
            <a:avLst/>
          </a:prstGeom>
        </p:spPr>
      </p:pic>
    </p:spTree>
    <p:custDataLst>
      <p:tags r:id="rId1"/>
    </p:custDataLst>
    <p:extLst>
      <p:ext uri="{BB962C8B-B14F-4D97-AF65-F5344CB8AC3E}">
        <p14:creationId xmlns:p14="http://schemas.microsoft.com/office/powerpoint/2010/main" val="16361032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E0D604-BE64-02F3-C0D3-5AC9E3C9E328}"/>
              </a:ext>
            </a:extLst>
          </p:cNvPr>
          <p:cNvSpPr>
            <a:spLocks noGrp="1"/>
          </p:cNvSpPr>
          <p:nvPr>
            <p:ph type="sldNum" sz="quarter" idx="4294967295"/>
          </p:nvPr>
        </p:nvSpPr>
        <p:spPr>
          <a:xfrm>
            <a:off x="8602042" y="6568410"/>
            <a:ext cx="363196" cy="265176"/>
          </a:xfrm>
          <a:prstGeom prst="rect">
            <a:avLst/>
          </a:prstGeom>
        </p:spPr>
        <p:txBody>
          <a:bodyPr/>
          <a:lstStyle/>
          <a:p>
            <a:fld id="{930176A1-BCF0-4712-97A6-6B495F55390B}" type="slidenum">
              <a:rPr lang="en-US" smtClean="0"/>
              <a:pPr/>
              <a:t>67</a:t>
            </a:fld>
            <a:endParaRPr lang="en-US"/>
          </a:p>
        </p:txBody>
      </p:sp>
      <p:sp>
        <p:nvSpPr>
          <p:cNvPr id="2" name="Title 1">
            <a:extLst>
              <a:ext uri="{FF2B5EF4-FFF2-40B4-BE49-F238E27FC236}">
                <a16:creationId xmlns:a16="http://schemas.microsoft.com/office/drawing/2014/main" id="{E1727AB6-9E09-4196-9257-DF3906DE8025}"/>
              </a:ext>
            </a:extLst>
          </p:cNvPr>
          <p:cNvSpPr>
            <a:spLocks noGrp="1"/>
          </p:cNvSpPr>
          <p:nvPr>
            <p:ph type="title"/>
          </p:nvPr>
        </p:nvSpPr>
        <p:spPr/>
        <p:txBody>
          <a:bodyPr/>
          <a:lstStyle/>
          <a:p>
            <a:r>
              <a:rPr lang="en-US" dirty="0">
                <a:solidFill>
                  <a:srgbClr val="FF0000"/>
                </a:solidFill>
              </a:rPr>
              <a:t>Reading an estimate</a:t>
            </a:r>
          </a:p>
        </p:txBody>
      </p:sp>
      <p:sp>
        <p:nvSpPr>
          <p:cNvPr id="31" name="TextBox 30">
            <a:extLst>
              <a:ext uri="{FF2B5EF4-FFF2-40B4-BE49-F238E27FC236}">
                <a16:creationId xmlns:a16="http://schemas.microsoft.com/office/drawing/2014/main" id="{63BEFD38-A878-49E9-9770-901064C0A690}"/>
              </a:ext>
            </a:extLst>
          </p:cNvPr>
          <p:cNvSpPr txBox="1"/>
          <p:nvPr/>
        </p:nvSpPr>
        <p:spPr>
          <a:xfrm>
            <a:off x="309295" y="1143001"/>
            <a:ext cx="11200695"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Your estimate is broken into: first 12 months total, total upfront, and total monthly.</a:t>
            </a:r>
          </a:p>
        </p:txBody>
      </p:sp>
      <p:pic>
        <p:nvPicPr>
          <p:cNvPr id="13" name="Content Placeholder 12" descr="Example AWS Pricing Calculator estimate.">
            <a:extLst>
              <a:ext uri="{FF2B5EF4-FFF2-40B4-BE49-F238E27FC236}">
                <a16:creationId xmlns:a16="http://schemas.microsoft.com/office/drawing/2014/main" id="{45205954-58B3-4FD7-8A7D-FD82D660E0F6}"/>
              </a:ext>
            </a:extLst>
          </p:cNvPr>
          <p:cNvPicPr>
            <a:picLocks noGrp="1" noChangeAspect="1"/>
          </p:cNvPicPr>
          <p:nvPr>
            <p:ph sz="quarter" idx="4294967295"/>
          </p:nvPr>
        </p:nvPicPr>
        <p:blipFill>
          <a:blip r:embed="rId4"/>
          <a:stretch>
            <a:fillRect/>
          </a:stretch>
        </p:blipFill>
        <p:spPr>
          <a:xfrm>
            <a:off x="273844" y="2084832"/>
            <a:ext cx="8691563" cy="4553636"/>
          </a:xfrm>
          <a:prstGeom prst="rect">
            <a:avLst/>
          </a:prstGeom>
        </p:spPr>
      </p:pic>
      <p:sp>
        <p:nvSpPr>
          <p:cNvPr id="14" name="TextBox 13">
            <a:extLst>
              <a:ext uri="{FF2B5EF4-FFF2-40B4-BE49-F238E27FC236}">
                <a16:creationId xmlns:a16="http://schemas.microsoft.com/office/drawing/2014/main" id="{BBD8D33C-C2E7-431B-B035-B29F3D26ED98}"/>
              </a:ext>
              <a:ext uri="{C183D7F6-B498-43B3-948B-1728B52AA6E4}">
                <adec:decorative xmlns:adec="http://schemas.microsoft.com/office/drawing/2017/decorative" val="1"/>
              </a:ext>
            </a:extLst>
          </p:cNvPr>
          <p:cNvSpPr txBox="1"/>
          <p:nvPr/>
        </p:nvSpPr>
        <p:spPr>
          <a:xfrm>
            <a:off x="1866275" y="2582692"/>
            <a:ext cx="2045753" cy="338554"/>
          </a:xfrm>
          <a:prstGeom prst="rect">
            <a:avLst/>
          </a:prstGeom>
          <a:solidFill>
            <a:schemeClr val="bg1"/>
          </a:solidFill>
        </p:spPr>
        <p:txBody>
          <a:bodyPr wrap="none" rtlCol="0">
            <a:spAutoFit/>
          </a:bodyPr>
          <a:lstStyle/>
          <a:p>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First 12 months total</a:t>
            </a:r>
          </a:p>
        </p:txBody>
      </p:sp>
      <p:sp>
        <p:nvSpPr>
          <p:cNvPr id="15" name="TextBox 14">
            <a:extLst>
              <a:ext uri="{FF2B5EF4-FFF2-40B4-BE49-F238E27FC236}">
                <a16:creationId xmlns:a16="http://schemas.microsoft.com/office/drawing/2014/main" id="{EC7C2295-B10B-4F7C-A5E1-EBAAA9E71023}"/>
              </a:ext>
              <a:ext uri="{C183D7F6-B498-43B3-948B-1728B52AA6E4}">
                <adec:decorative xmlns:adec="http://schemas.microsoft.com/office/drawing/2017/decorative" val="1"/>
              </a:ext>
            </a:extLst>
          </p:cNvPr>
          <p:cNvSpPr txBox="1"/>
          <p:nvPr/>
        </p:nvSpPr>
        <p:spPr>
          <a:xfrm>
            <a:off x="5044052" y="2582692"/>
            <a:ext cx="1314462" cy="338554"/>
          </a:xfrm>
          <a:prstGeom prst="rect">
            <a:avLst/>
          </a:prstGeom>
          <a:solidFill>
            <a:schemeClr val="bg1"/>
          </a:solidFill>
        </p:spPr>
        <p:txBody>
          <a:bodyPr wrap="none" rtlCol="0">
            <a:spAutoFit/>
          </a:bodyPr>
          <a:lstStyle/>
          <a:p>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Total upfront</a:t>
            </a:r>
          </a:p>
        </p:txBody>
      </p:sp>
      <p:sp>
        <p:nvSpPr>
          <p:cNvPr id="16" name="TextBox 15">
            <a:extLst>
              <a:ext uri="{FF2B5EF4-FFF2-40B4-BE49-F238E27FC236}">
                <a16:creationId xmlns:a16="http://schemas.microsoft.com/office/drawing/2014/main" id="{5FEB2B0C-758C-4827-BF52-82128C07F5EC}"/>
              </a:ext>
              <a:ext uri="{C183D7F6-B498-43B3-948B-1728B52AA6E4}">
                <adec:decorative xmlns:adec="http://schemas.microsoft.com/office/drawing/2017/decorative" val="1"/>
              </a:ext>
            </a:extLst>
          </p:cNvPr>
          <p:cNvSpPr txBox="1"/>
          <p:nvPr/>
        </p:nvSpPr>
        <p:spPr>
          <a:xfrm>
            <a:off x="6990903" y="2582692"/>
            <a:ext cx="1393010" cy="338554"/>
          </a:xfrm>
          <a:prstGeom prst="rect">
            <a:avLst/>
          </a:prstGeom>
          <a:solidFill>
            <a:schemeClr val="bg1"/>
          </a:solidFill>
        </p:spPr>
        <p:txBody>
          <a:bodyPr wrap="none" rtlCol="0">
            <a:spAutoFit/>
          </a:bodyPr>
          <a:lstStyle/>
          <a:p>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Total monthly</a:t>
            </a:r>
          </a:p>
        </p:txBody>
      </p:sp>
    </p:spTree>
    <p:custDataLst>
      <p:tags r:id="rId1"/>
    </p:custDataLst>
    <p:extLst>
      <p:ext uri="{BB962C8B-B14F-4D97-AF65-F5344CB8AC3E}">
        <p14:creationId xmlns:p14="http://schemas.microsoft.com/office/powerpoint/2010/main" val="6888661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0441E9-C196-4DD4-8026-1FE9692E95D0}"/>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68</a:t>
            </a:fld>
            <a:endParaRPr lang="en-US" dirty="0"/>
          </a:p>
        </p:txBody>
      </p:sp>
      <p:sp>
        <p:nvSpPr>
          <p:cNvPr id="2" name="Title 1"/>
          <p:cNvSpPr>
            <a:spLocks noGrp="1"/>
          </p:cNvSpPr>
          <p:nvPr>
            <p:ph type="title"/>
          </p:nvPr>
        </p:nvSpPr>
        <p:spPr/>
        <p:txBody>
          <a:bodyPr/>
          <a:lstStyle/>
          <a:p>
            <a:r>
              <a:rPr lang="en-US" sz="3600" dirty="0">
                <a:solidFill>
                  <a:srgbClr val="FF0000"/>
                </a:solidFill>
              </a:rPr>
              <a:t>Activity: AWS Pricing Calculator activity </a:t>
            </a:r>
          </a:p>
        </p:txBody>
      </p:sp>
      <p:sp>
        <p:nvSpPr>
          <p:cNvPr id="3" name="Content Placeholder 2"/>
          <p:cNvSpPr>
            <a:spLocks noGrp="1"/>
          </p:cNvSpPr>
          <p:nvPr>
            <p:ph sz="quarter" idx="4294967295"/>
          </p:nvPr>
        </p:nvSpPr>
        <p:spPr>
          <a:xfrm>
            <a:off x="274320" y="1143000"/>
            <a:ext cx="8690918" cy="5291750"/>
          </a:xfrm>
          <a:prstGeom prst="rect">
            <a:avLst/>
          </a:prstGeom>
        </p:spPr>
        <p:txBody>
          <a:bodyPr/>
          <a:lstStyle/>
          <a:p>
            <a:pPr lvl="1"/>
            <a:r>
              <a:rPr lang="en-US" dirty="0"/>
              <a:t>Break up into groups of four or five and use the </a:t>
            </a:r>
            <a:r>
              <a:rPr lang="en-US" dirty="0">
                <a:hlinkClick r:id="rId4"/>
              </a:rPr>
              <a:t>AWS Pricing Calculator</a:t>
            </a:r>
            <a:r>
              <a:rPr lang="en-US" dirty="0"/>
              <a:t> and specifications provided to develop a cost estimate. </a:t>
            </a:r>
          </a:p>
          <a:p>
            <a:pPr lvl="1"/>
            <a:r>
              <a:rPr lang="en-US" dirty="0"/>
              <a:t>Be prepared to report your findings back to the class.</a:t>
            </a:r>
          </a:p>
          <a:p>
            <a:pPr lvl="1"/>
            <a:endParaRPr lang="en-US" dirty="0"/>
          </a:p>
          <a:p>
            <a:pPr lvl="1"/>
            <a:endParaRPr lang="en-US" dirty="0"/>
          </a:p>
          <a:p>
            <a:pPr marL="0" indent="0">
              <a:buNone/>
            </a:pPr>
            <a:endParaRPr lang="en-US" dirty="0"/>
          </a:p>
        </p:txBody>
      </p:sp>
      <p:sp>
        <p:nvSpPr>
          <p:cNvPr id="16" name="TextBox 15">
            <a:extLst>
              <a:ext uri="{FF2B5EF4-FFF2-40B4-BE49-F238E27FC236}">
                <a16:creationId xmlns:a16="http://schemas.microsoft.com/office/drawing/2014/main" id="{5BB6ECC3-C85B-4CEF-94B0-86A9AB1D56B1}"/>
              </a:ext>
            </a:extLst>
          </p:cNvPr>
          <p:cNvSpPr txBox="1"/>
          <p:nvPr/>
        </p:nvSpPr>
        <p:spPr>
          <a:xfrm>
            <a:off x="723568" y="5175856"/>
            <a:ext cx="3725828"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hlinkClick r:id="rId4"/>
              </a:rPr>
              <a:t>AWS Pricing calculator website</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6" name="Group 12" descr="Choosing the create estimate button to open the Pricing Calculator tool.">
            <a:extLst>
              <a:ext uri="{FF2B5EF4-FFF2-40B4-BE49-F238E27FC236}">
                <a16:creationId xmlns:a16="http://schemas.microsoft.com/office/drawing/2014/main" id="{FABE95EA-CB07-76C9-0A94-E75E7ED82E77}"/>
              </a:ext>
            </a:extLst>
          </p:cNvPr>
          <p:cNvGrpSpPr/>
          <p:nvPr/>
        </p:nvGrpSpPr>
        <p:grpSpPr>
          <a:xfrm>
            <a:off x="253360" y="2816435"/>
            <a:ext cx="8637281" cy="3405498"/>
            <a:chOff x="337813" y="2816435"/>
            <a:chExt cx="11516375" cy="3405498"/>
          </a:xfrm>
        </p:grpSpPr>
        <p:grpSp>
          <p:nvGrpSpPr>
            <p:cNvPr id="7" name="Group 14" descr="Screenshot of AWS Pricing Calculator website and tool.">
              <a:extLst>
                <a:ext uri="{FF2B5EF4-FFF2-40B4-BE49-F238E27FC236}">
                  <a16:creationId xmlns:a16="http://schemas.microsoft.com/office/drawing/2014/main" id="{F895C749-E663-4671-A646-5D8257533F69}"/>
                </a:ext>
              </a:extLst>
            </p:cNvPr>
            <p:cNvGrpSpPr/>
            <p:nvPr/>
          </p:nvGrpSpPr>
          <p:grpSpPr>
            <a:xfrm>
              <a:off x="337813" y="2816435"/>
              <a:ext cx="11516375" cy="3405498"/>
              <a:chOff x="449698" y="2576595"/>
              <a:chExt cx="11516375" cy="3405498"/>
            </a:xfrm>
          </p:grpSpPr>
          <p:pic>
            <p:nvPicPr>
              <p:cNvPr id="5" name="Picture 4" descr="screenshot of create estimate button on AWS Pricing Calculator website.">
                <a:extLst>
                  <a:ext uri="{FF2B5EF4-FFF2-40B4-BE49-F238E27FC236}">
                    <a16:creationId xmlns:a16="http://schemas.microsoft.com/office/drawing/2014/main" id="{3C3FA1ED-B3C4-43F8-9454-34D69398B9D6}"/>
                  </a:ext>
                </a:extLst>
              </p:cNvPr>
              <p:cNvPicPr>
                <a:picLocks noChangeAspect="1"/>
              </p:cNvPicPr>
              <p:nvPr/>
            </p:nvPicPr>
            <p:blipFill>
              <a:blip r:embed="rId5"/>
              <a:stretch>
                <a:fillRect/>
              </a:stretch>
            </p:blipFill>
            <p:spPr>
              <a:xfrm>
                <a:off x="449698" y="2782726"/>
                <a:ext cx="4881805" cy="2139685"/>
              </a:xfrm>
              <a:prstGeom prst="rect">
                <a:avLst/>
              </a:prstGeom>
            </p:spPr>
          </p:pic>
          <p:pic>
            <p:nvPicPr>
              <p:cNvPr id="8" name="Picture 7" descr="Screenshot of AWS Pricing Calculator tool.">
                <a:extLst>
                  <a:ext uri="{FF2B5EF4-FFF2-40B4-BE49-F238E27FC236}">
                    <a16:creationId xmlns:a16="http://schemas.microsoft.com/office/drawing/2014/main" id="{9B7F18AF-862D-4F64-95B1-8D6C6CA56955}"/>
                  </a:ext>
                </a:extLst>
              </p:cNvPr>
              <p:cNvPicPr>
                <a:picLocks noChangeAspect="1"/>
              </p:cNvPicPr>
              <p:nvPr/>
            </p:nvPicPr>
            <p:blipFill>
              <a:blip r:embed="rId6"/>
              <a:stretch>
                <a:fillRect/>
              </a:stretch>
            </p:blipFill>
            <p:spPr>
              <a:xfrm>
                <a:off x="6420742" y="2576595"/>
                <a:ext cx="5545331" cy="3405498"/>
              </a:xfrm>
              <a:prstGeom prst="rect">
                <a:avLst/>
              </a:prstGeom>
            </p:spPr>
          </p:pic>
          <p:sp>
            <p:nvSpPr>
              <p:cNvPr id="9" name="Oval 8">
                <a:extLst>
                  <a:ext uri="{FF2B5EF4-FFF2-40B4-BE49-F238E27FC236}">
                    <a16:creationId xmlns:a16="http://schemas.microsoft.com/office/drawing/2014/main" id="{09C29C10-6D58-4A15-9D02-CE8FE0959260}"/>
                  </a:ext>
                </a:extLst>
              </p:cNvPr>
              <p:cNvSpPr/>
              <p:nvPr/>
            </p:nvSpPr>
            <p:spPr>
              <a:xfrm>
                <a:off x="496136" y="4092477"/>
                <a:ext cx="1947263" cy="754984"/>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Elbow Connector 9">
              <a:extLst>
                <a:ext uri="{FF2B5EF4-FFF2-40B4-BE49-F238E27FC236}">
                  <a16:creationId xmlns:a16="http://schemas.microsoft.com/office/drawing/2014/main" id="{DB76959C-9AF8-3CB0-8498-E814E9424AE8}"/>
                </a:ext>
              </a:extLst>
            </p:cNvPr>
            <p:cNvCxnSpPr/>
            <p:nvPr/>
          </p:nvCxnSpPr>
          <p:spPr>
            <a:xfrm flipV="1">
              <a:off x="2331514" y="3591098"/>
              <a:ext cx="3977343" cy="1080655"/>
            </a:xfrm>
            <a:prstGeom prst="bentConnector3">
              <a:avLst>
                <a:gd name="adj1" fmla="val 82604"/>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7858875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802A-07C6-954E-8FCD-139EE47157E8}"/>
              </a:ext>
            </a:extLst>
          </p:cNvPr>
          <p:cNvSpPr>
            <a:spLocks noGrp="1"/>
          </p:cNvSpPr>
          <p:nvPr>
            <p:ph type="title"/>
          </p:nvPr>
        </p:nvSpPr>
        <p:spPr/>
        <p:txBody>
          <a:bodyPr/>
          <a:lstStyle/>
          <a:p>
            <a:r>
              <a:rPr lang="en-US" dirty="0">
                <a:solidFill>
                  <a:srgbClr val="FF0000"/>
                </a:solidFill>
              </a:rPr>
              <a:t>Additional benefit considerations</a:t>
            </a:r>
          </a:p>
        </p:txBody>
      </p:sp>
      <p:sp>
        <p:nvSpPr>
          <p:cNvPr id="3" name="Content Placeholder 2">
            <a:extLst>
              <a:ext uri="{FF2B5EF4-FFF2-40B4-BE49-F238E27FC236}">
                <a16:creationId xmlns:a16="http://schemas.microsoft.com/office/drawing/2014/main" id="{DE30A2A0-EA5C-914B-AAB7-746723AF2355}"/>
              </a:ext>
            </a:extLst>
          </p:cNvPr>
          <p:cNvSpPr>
            <a:spLocks noGrp="1"/>
          </p:cNvSpPr>
          <p:nvPr>
            <p:ph sz="quarter" idx="4294967295"/>
          </p:nvPr>
        </p:nvSpPr>
        <p:spPr>
          <a:xfrm>
            <a:off x="274320" y="1143000"/>
            <a:ext cx="4128516" cy="4645152"/>
          </a:xfrm>
          <a:prstGeom prst="rect">
            <a:avLst/>
          </a:prstGeom>
        </p:spPr>
        <p:txBody>
          <a:bodyPr/>
          <a:lstStyle/>
          <a:p>
            <a:pPr marL="0" indent="0" algn="ctr">
              <a:buNone/>
            </a:pPr>
            <a:r>
              <a:rPr lang="en-US" b="1" dirty="0"/>
              <a:t>Hard benefits</a:t>
            </a:r>
          </a:p>
          <a:p>
            <a:pPr marL="457200" indent="-457200"/>
            <a:r>
              <a:rPr lang="en-US" sz="2400" dirty="0"/>
              <a:t>Reduced spending on compute, storage, networking, security</a:t>
            </a:r>
          </a:p>
          <a:p>
            <a:pPr marL="457200" indent="-457200"/>
            <a:r>
              <a:rPr lang="en-US" sz="2400" dirty="0"/>
              <a:t>Reductions in hardware and software purchases (capex)</a:t>
            </a:r>
          </a:p>
          <a:p>
            <a:pPr marL="457200" indent="-457200"/>
            <a:r>
              <a:rPr lang="en-US" sz="2400" dirty="0"/>
              <a:t>Reductions in operational costs, backup, and disaster recovery</a:t>
            </a:r>
          </a:p>
          <a:p>
            <a:pPr marL="457200" indent="-457200"/>
            <a:r>
              <a:rPr lang="en-US" sz="2400" dirty="0"/>
              <a:t>Reduction in operations personnel</a:t>
            </a:r>
          </a:p>
        </p:txBody>
      </p:sp>
      <p:sp>
        <p:nvSpPr>
          <p:cNvPr id="4" name="Content Placeholder 3">
            <a:extLst>
              <a:ext uri="{FF2B5EF4-FFF2-40B4-BE49-F238E27FC236}">
                <a16:creationId xmlns:a16="http://schemas.microsoft.com/office/drawing/2014/main" id="{6D2BBB17-9FBA-F94F-9621-694E5B3EAE79}"/>
              </a:ext>
            </a:extLst>
          </p:cNvPr>
          <p:cNvSpPr>
            <a:spLocks noGrp="1"/>
          </p:cNvSpPr>
          <p:nvPr>
            <p:ph idx="4294967295"/>
          </p:nvPr>
        </p:nvSpPr>
        <p:spPr>
          <a:xfrm>
            <a:off x="4684014" y="1143000"/>
            <a:ext cx="4127897" cy="4649788"/>
          </a:xfrm>
        </p:spPr>
        <p:txBody>
          <a:bodyPr>
            <a:normAutofit fontScale="85000" lnSpcReduction="20000"/>
          </a:bodyPr>
          <a:lstStyle/>
          <a:p>
            <a:pPr marL="0" indent="0" algn="ctr">
              <a:buNone/>
            </a:pPr>
            <a:r>
              <a:rPr lang="en-US" b="1" dirty="0"/>
              <a:t>Soft Benefits</a:t>
            </a:r>
          </a:p>
          <a:p>
            <a:pPr marL="457200" indent="-457200"/>
            <a:r>
              <a:rPr lang="en-US" sz="2600" dirty="0"/>
              <a:t>Reuse of service and applications that enable you to define (and redefine solutions) by using the same cloud service</a:t>
            </a:r>
          </a:p>
          <a:p>
            <a:pPr marL="457200" indent="-457200"/>
            <a:r>
              <a:rPr lang="en-US" sz="2600" dirty="0"/>
              <a:t>Increased developer productivity</a:t>
            </a:r>
          </a:p>
          <a:p>
            <a:pPr marL="457200" indent="-457200"/>
            <a:r>
              <a:rPr lang="en-US" sz="2600" dirty="0"/>
              <a:t>Improved customer satisfaction </a:t>
            </a:r>
          </a:p>
          <a:p>
            <a:pPr marL="457200" indent="-457200"/>
            <a:r>
              <a:rPr lang="en-US" sz="2600" dirty="0"/>
              <a:t>Agile business processes that can quickly respond to new and emerging opportunities</a:t>
            </a:r>
          </a:p>
          <a:p>
            <a:pPr marL="457200" indent="-457200"/>
            <a:r>
              <a:rPr lang="en-US" sz="2600" dirty="0"/>
              <a:t>Increase in global reach</a:t>
            </a:r>
            <a:endParaRPr lang="en-US" dirty="0"/>
          </a:p>
        </p:txBody>
      </p:sp>
      <p:sp>
        <p:nvSpPr>
          <p:cNvPr id="5" name="Cross 4">
            <a:extLst>
              <a:ext uri="{FF2B5EF4-FFF2-40B4-BE49-F238E27FC236}">
                <a16:creationId xmlns:a16="http://schemas.microsoft.com/office/drawing/2014/main" id="{3BA8F58E-4D59-A34D-B99D-3C3E6892F305}"/>
              </a:ext>
              <a:ext uri="{C183D7F6-B498-43B3-948B-1728B52AA6E4}">
                <adec:decorative xmlns:adec="http://schemas.microsoft.com/office/drawing/2017/decorative" val="1"/>
              </a:ext>
            </a:extLst>
          </p:cNvPr>
          <p:cNvSpPr/>
          <p:nvPr/>
        </p:nvSpPr>
        <p:spPr>
          <a:xfrm>
            <a:off x="4070688" y="3405927"/>
            <a:ext cx="613327" cy="787400"/>
          </a:xfrm>
          <a:prstGeom prst="plus">
            <a:avLst/>
          </a:prstGeom>
          <a:solidFill>
            <a:srgbClr val="232F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4276471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(1 of 6)                                                   </a:t>
            </a:r>
          </a:p>
        </p:txBody>
      </p:sp>
      <p:sp>
        <p:nvSpPr>
          <p:cNvPr id="12" name="Content Placeholder 11"/>
          <p:cNvSpPr>
            <a:spLocks noGrp="1"/>
          </p:cNvSpPr>
          <p:nvPr>
            <p:ph sz="quarter" idx="4294967295"/>
          </p:nvPr>
        </p:nvSpPr>
        <p:spPr>
          <a:xfrm>
            <a:off x="274320" y="1527048"/>
            <a:ext cx="2873502" cy="4645152"/>
          </a:xfrm>
          <a:prstGeom prst="rect">
            <a:avLst/>
          </a:prstGeom>
        </p:spPr>
        <p:txBody>
          <a:bodyPr/>
          <a:lstStyle/>
          <a:p>
            <a:pPr marL="0" indent="0" algn="r">
              <a:buNone/>
            </a:pPr>
            <a:r>
              <a:rPr lang="en-US" sz="1800" b="1" dirty="0"/>
              <a:t>Background:</a:t>
            </a:r>
          </a:p>
          <a:p>
            <a:pPr marL="0" indent="0" algn="r">
              <a:buNone/>
            </a:pPr>
            <a:endParaRPr lang="en-US" sz="1800" b="1" dirty="0"/>
          </a:p>
        </p:txBody>
      </p:sp>
      <p:sp>
        <p:nvSpPr>
          <p:cNvPr id="8" name="Content Placeholder 7"/>
          <p:cNvSpPr>
            <a:spLocks noGrp="1"/>
          </p:cNvSpPr>
          <p:nvPr>
            <p:ph idx="4294967295"/>
          </p:nvPr>
        </p:nvSpPr>
        <p:spPr>
          <a:xfrm>
            <a:off x="3332988" y="1524000"/>
            <a:ext cx="5481638" cy="4649788"/>
          </a:xfrm>
        </p:spPr>
        <p:txBody>
          <a:bodyPr/>
          <a:lstStyle/>
          <a:p>
            <a:r>
              <a:rPr lang="en-US" sz="1800" dirty="0"/>
              <a:t>Growing global company with over 200 locations</a:t>
            </a:r>
          </a:p>
          <a:p>
            <a:r>
              <a:rPr lang="en-US" sz="1800" dirty="0"/>
              <a:t>500 million customers, $3 billion annual revenue</a:t>
            </a:r>
          </a:p>
        </p:txBody>
      </p:sp>
      <p:pic>
        <p:nvPicPr>
          <p:cNvPr id="25" name="Picture 24" descr="Delaware North logo.">
            <a:extLs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 y="1371601"/>
            <a:ext cx="1469570" cy="685800"/>
          </a:xfrm>
          <a:prstGeom prst="rect">
            <a:avLst/>
          </a:prstGeom>
        </p:spPr>
      </p:pic>
    </p:spTree>
    <p:custDataLst>
      <p:tags r:id="rId1"/>
    </p:custDataLst>
    <p:extLst>
      <p:ext uri="{BB962C8B-B14F-4D97-AF65-F5344CB8AC3E}">
        <p14:creationId xmlns:p14="http://schemas.microsoft.com/office/powerpoint/2010/main" val="11342617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(2 of 6)                                                   </a:t>
            </a:r>
          </a:p>
        </p:txBody>
      </p:sp>
      <p:sp>
        <p:nvSpPr>
          <p:cNvPr id="14" name="Content Placeholder 13"/>
          <p:cNvSpPr>
            <a:spLocks noGrp="1"/>
          </p:cNvSpPr>
          <p:nvPr>
            <p:ph sz="quarter" idx="4294967295"/>
          </p:nvPr>
        </p:nvSpPr>
        <p:spPr>
          <a:xfrm>
            <a:off x="274320" y="1527048"/>
            <a:ext cx="2873502" cy="685800"/>
          </a:xfrm>
          <a:prstGeom prst="rect">
            <a:avLst/>
          </a:prstGeom>
        </p:spPr>
        <p:txBody>
          <a:bodyPr/>
          <a:lstStyle/>
          <a:p>
            <a:pPr marL="0" indent="0" algn="r">
              <a:buNone/>
            </a:pPr>
            <a:r>
              <a:rPr lang="en-US" sz="1800" b="1" dirty="0"/>
              <a:t>Background:</a:t>
            </a:r>
          </a:p>
        </p:txBody>
      </p:sp>
      <p:sp>
        <p:nvSpPr>
          <p:cNvPr id="10" name="Content Placeholder 9"/>
          <p:cNvSpPr>
            <a:spLocks noGrp="1"/>
          </p:cNvSpPr>
          <p:nvPr>
            <p:ph idx="4294967295"/>
          </p:nvPr>
        </p:nvSpPr>
        <p:spPr>
          <a:xfrm>
            <a:off x="3662362" y="1524000"/>
            <a:ext cx="5481638" cy="874158"/>
          </a:xfrm>
        </p:spPr>
        <p:txBody>
          <a:bodyPr/>
          <a:lstStyle/>
          <a:p>
            <a:r>
              <a:rPr lang="en-US" sz="1800" dirty="0"/>
              <a:t>Growing global company with over 200 locations</a:t>
            </a:r>
          </a:p>
          <a:p>
            <a:r>
              <a:rPr lang="en-US" sz="1800" dirty="0"/>
              <a:t>500 million customers, $3 billion annual revenue</a:t>
            </a:r>
          </a:p>
        </p:txBody>
      </p:sp>
      <p:sp>
        <p:nvSpPr>
          <p:cNvPr id="9" name="Content Placeholder 13">
            <a:extLst>
              <a:ext uri="{FF2B5EF4-FFF2-40B4-BE49-F238E27FC236}">
                <a16:creationId xmlns:a16="http://schemas.microsoft.com/office/drawing/2014/main" id="{55ECFC5A-AC3C-073E-A036-2AFC4DD50C75}"/>
              </a:ext>
            </a:extLst>
          </p:cNvPr>
          <p:cNvSpPr txBox="1">
            <a:spLocks/>
          </p:cNvSpPr>
          <p:nvPr/>
        </p:nvSpPr>
        <p:spPr>
          <a:xfrm>
            <a:off x="274320" y="2895950"/>
            <a:ext cx="2873502" cy="4645152"/>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buFont typeface="Amazon Ember"/>
              <a:buNone/>
            </a:pPr>
            <a:r>
              <a:rPr lang="en-US" sz="1800" b="1" dirty="0"/>
              <a:t>Challenge:</a:t>
            </a:r>
          </a:p>
        </p:txBody>
      </p:sp>
      <p:sp>
        <p:nvSpPr>
          <p:cNvPr id="8" name="Content Placeholder 9">
            <a:extLst>
              <a:ext uri="{FF2B5EF4-FFF2-40B4-BE49-F238E27FC236}">
                <a16:creationId xmlns:a16="http://schemas.microsoft.com/office/drawing/2014/main" id="{559743D8-E5DD-5E2F-F116-A20180610024}"/>
              </a:ext>
            </a:extLst>
          </p:cNvPr>
          <p:cNvSpPr txBox="1">
            <a:spLocks/>
          </p:cNvSpPr>
          <p:nvPr/>
        </p:nvSpPr>
        <p:spPr>
          <a:xfrm>
            <a:off x="3662362" y="2891314"/>
            <a:ext cx="5481638" cy="4649788"/>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Meet demand to rapidly deploy new solutions</a:t>
            </a:r>
          </a:p>
          <a:p>
            <a:r>
              <a:rPr lang="en-US" sz="1800" dirty="0"/>
              <a:t>Constantly upgrade aging equipment</a:t>
            </a:r>
          </a:p>
          <a:p>
            <a:pPr marL="0" indent="0">
              <a:buFont typeface="Amazon Ember"/>
              <a:buNone/>
            </a:pPr>
            <a:endParaRPr lang="en-US" sz="1800" dirty="0"/>
          </a:p>
        </p:txBody>
      </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 y="1371601"/>
            <a:ext cx="1469570" cy="685800"/>
          </a:xfrm>
          <a:prstGeom prst="rect">
            <a:avLst/>
          </a:prstGeom>
        </p:spPr>
      </p:pic>
    </p:spTree>
    <p:custDataLst>
      <p:tags r:id="rId1"/>
    </p:custDataLst>
    <p:extLst>
      <p:ext uri="{BB962C8B-B14F-4D97-AF65-F5344CB8AC3E}">
        <p14:creationId xmlns:p14="http://schemas.microsoft.com/office/powerpoint/2010/main" val="42910784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3AF5EA-EAAA-4BE2-8146-18E37255FC13}"/>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72</a:t>
            </a:fld>
            <a:endParaRPr lang="en-US" dirty="0"/>
          </a:p>
        </p:txBody>
      </p:sp>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(3 of 6)                                                   </a:t>
            </a:r>
          </a:p>
        </p:txBody>
      </p:sp>
      <p:sp>
        <p:nvSpPr>
          <p:cNvPr id="11" name="Content Placeholder 13"/>
          <p:cNvSpPr>
            <a:spLocks noGrp="1"/>
          </p:cNvSpPr>
          <p:nvPr>
            <p:ph sz="quarter" idx="4294967295"/>
          </p:nvPr>
        </p:nvSpPr>
        <p:spPr>
          <a:xfrm>
            <a:off x="274320" y="1527049"/>
            <a:ext cx="2873502" cy="530353"/>
          </a:xfrm>
          <a:prstGeom prst="rect">
            <a:avLst/>
          </a:prstGeom>
        </p:spPr>
        <p:txBody>
          <a:bodyPr/>
          <a:lstStyle/>
          <a:p>
            <a:pPr marL="0" indent="0" algn="r">
              <a:buNone/>
            </a:pPr>
            <a:r>
              <a:rPr lang="en-US" sz="1800" b="1" dirty="0"/>
              <a:t>Background:</a:t>
            </a:r>
          </a:p>
          <a:p>
            <a:endParaRPr lang="en-US" sz="1800" b="1" dirty="0"/>
          </a:p>
        </p:txBody>
      </p:sp>
      <p:sp>
        <p:nvSpPr>
          <p:cNvPr id="27" name="Content Placeholder 26"/>
          <p:cNvSpPr>
            <a:spLocks noGrp="1"/>
          </p:cNvSpPr>
          <p:nvPr>
            <p:ph idx="4294967295"/>
          </p:nvPr>
        </p:nvSpPr>
        <p:spPr>
          <a:xfrm>
            <a:off x="3444478" y="1524000"/>
            <a:ext cx="5699522" cy="874158"/>
          </a:xfrm>
        </p:spPr>
        <p:txBody>
          <a:bodyPr/>
          <a:lstStyle/>
          <a:p>
            <a:r>
              <a:rPr lang="en-US" sz="1800" dirty="0"/>
              <a:t>Growing global company with over 200 locations</a:t>
            </a:r>
          </a:p>
          <a:p>
            <a:r>
              <a:rPr lang="en-US" sz="1800" dirty="0"/>
              <a:t>500 million customers, $3 billion annual revenue</a:t>
            </a:r>
          </a:p>
        </p:txBody>
      </p:sp>
      <p:sp>
        <p:nvSpPr>
          <p:cNvPr id="12" name="Content Placeholder 13">
            <a:extLst>
              <a:ext uri="{FF2B5EF4-FFF2-40B4-BE49-F238E27FC236}">
                <a16:creationId xmlns:a16="http://schemas.microsoft.com/office/drawing/2014/main" id="{6632629D-9C29-25C9-D5D4-347281D2F2EB}"/>
              </a:ext>
            </a:extLst>
          </p:cNvPr>
          <p:cNvSpPr txBox="1">
            <a:spLocks/>
          </p:cNvSpPr>
          <p:nvPr/>
        </p:nvSpPr>
        <p:spPr>
          <a:xfrm>
            <a:off x="274320" y="2805843"/>
            <a:ext cx="2873502" cy="530353"/>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buFont typeface="Amazon Ember"/>
              <a:buNone/>
            </a:pPr>
            <a:r>
              <a:rPr lang="en-US" sz="1800" b="1" dirty="0"/>
              <a:t>Challenge:</a:t>
            </a:r>
          </a:p>
        </p:txBody>
      </p:sp>
      <p:sp>
        <p:nvSpPr>
          <p:cNvPr id="9" name="Content Placeholder 26">
            <a:extLst>
              <a:ext uri="{FF2B5EF4-FFF2-40B4-BE49-F238E27FC236}">
                <a16:creationId xmlns:a16="http://schemas.microsoft.com/office/drawing/2014/main" id="{8A8AB275-F90C-D9CA-9308-CA33ECAD8949}"/>
              </a:ext>
            </a:extLst>
          </p:cNvPr>
          <p:cNvSpPr txBox="1">
            <a:spLocks/>
          </p:cNvSpPr>
          <p:nvPr/>
        </p:nvSpPr>
        <p:spPr>
          <a:xfrm>
            <a:off x="3444478" y="2806672"/>
            <a:ext cx="5699522" cy="874158"/>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Meet demand to rapidly deploy new solutions</a:t>
            </a:r>
          </a:p>
          <a:p>
            <a:r>
              <a:rPr lang="en-US" sz="1800" dirty="0"/>
              <a:t>Constantly upgrade aging equipment</a:t>
            </a:r>
          </a:p>
        </p:txBody>
      </p:sp>
      <p:sp>
        <p:nvSpPr>
          <p:cNvPr id="10" name="Content Placeholder 13">
            <a:extLst>
              <a:ext uri="{FF2B5EF4-FFF2-40B4-BE49-F238E27FC236}">
                <a16:creationId xmlns:a16="http://schemas.microsoft.com/office/drawing/2014/main" id="{5ADF65E2-9256-B0BC-464C-64C98F7831EE}"/>
              </a:ext>
            </a:extLst>
          </p:cNvPr>
          <p:cNvSpPr txBox="1">
            <a:spLocks/>
          </p:cNvSpPr>
          <p:nvPr/>
        </p:nvSpPr>
        <p:spPr>
          <a:xfrm>
            <a:off x="274320" y="4084636"/>
            <a:ext cx="2873502" cy="611256"/>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buFont typeface="Amazon Ember"/>
              <a:buNone/>
            </a:pPr>
            <a:r>
              <a:rPr lang="en-US" sz="1800" b="1" dirty="0"/>
              <a:t>Criteria:</a:t>
            </a:r>
          </a:p>
          <a:p>
            <a:pPr marL="0" indent="0">
              <a:buFont typeface="Amazon Ember"/>
              <a:buNone/>
            </a:pPr>
            <a:endParaRPr lang="en-US" sz="1800" b="1" dirty="0"/>
          </a:p>
          <a:p>
            <a:endParaRPr lang="en-US" sz="1800" b="1" dirty="0"/>
          </a:p>
        </p:txBody>
      </p:sp>
      <p:sp>
        <p:nvSpPr>
          <p:cNvPr id="8" name="Content Placeholder 26">
            <a:extLst>
              <a:ext uri="{FF2B5EF4-FFF2-40B4-BE49-F238E27FC236}">
                <a16:creationId xmlns:a16="http://schemas.microsoft.com/office/drawing/2014/main" id="{448752AE-8BF7-D37E-424E-657A9DB8F41F}"/>
              </a:ext>
            </a:extLst>
          </p:cNvPr>
          <p:cNvSpPr txBox="1">
            <a:spLocks/>
          </p:cNvSpPr>
          <p:nvPr/>
        </p:nvSpPr>
        <p:spPr>
          <a:xfrm>
            <a:off x="3444478" y="4089344"/>
            <a:ext cx="5699522" cy="4649788"/>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Broad solution to handle all workloads</a:t>
            </a:r>
          </a:p>
          <a:p>
            <a:r>
              <a:rPr lang="en-US" sz="1800" dirty="0"/>
              <a:t>Ability to modify processes to improve efficiency and lower costs</a:t>
            </a:r>
          </a:p>
          <a:p>
            <a:r>
              <a:rPr lang="en-US" sz="1800" dirty="0"/>
              <a:t>Eliminate busy work (such as patching software)</a:t>
            </a:r>
          </a:p>
          <a:p>
            <a:r>
              <a:rPr lang="en-US" sz="1800" dirty="0"/>
              <a:t>Achieve a positive return on investment (ROI)</a:t>
            </a:r>
          </a:p>
          <a:p>
            <a:pPr marL="0" indent="0">
              <a:buFont typeface="Amazon Ember"/>
              <a:buNone/>
            </a:pPr>
            <a:endParaRPr lang="en-US" sz="1800" dirty="0"/>
          </a:p>
        </p:txBody>
      </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 y="1371601"/>
            <a:ext cx="1469570" cy="685800"/>
          </a:xfrm>
          <a:prstGeom prst="rect">
            <a:avLst/>
          </a:prstGeom>
        </p:spPr>
      </p:pic>
    </p:spTree>
    <p:custDataLst>
      <p:tags r:id="rId1"/>
    </p:custDataLst>
    <p:extLst>
      <p:ext uri="{BB962C8B-B14F-4D97-AF65-F5344CB8AC3E}">
        <p14:creationId xmlns:p14="http://schemas.microsoft.com/office/powerpoint/2010/main" val="38054040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(4 of 6)                                                   </a:t>
            </a:r>
          </a:p>
        </p:txBody>
      </p:sp>
      <p:sp>
        <p:nvSpPr>
          <p:cNvPr id="4" name="Content Placeholder 3"/>
          <p:cNvSpPr>
            <a:spLocks noGrp="1"/>
          </p:cNvSpPr>
          <p:nvPr>
            <p:ph sz="quarter" idx="4294967295"/>
          </p:nvPr>
        </p:nvSpPr>
        <p:spPr>
          <a:xfrm>
            <a:off x="274320" y="1527049"/>
            <a:ext cx="2873502" cy="530353"/>
          </a:xfrm>
          <a:prstGeom prst="rect">
            <a:avLst/>
          </a:prstGeom>
        </p:spPr>
        <p:txBody>
          <a:bodyPr>
            <a:normAutofit/>
          </a:bodyPr>
          <a:lstStyle/>
          <a:p>
            <a:pPr marL="0" indent="0" algn="r">
              <a:spcBef>
                <a:spcPts val="600"/>
              </a:spcBef>
              <a:buNone/>
            </a:pPr>
            <a:r>
              <a:rPr lang="en-US" sz="1800" b="1" dirty="0"/>
              <a:t>Background:</a:t>
            </a:r>
          </a:p>
        </p:txBody>
      </p:sp>
      <p:sp>
        <p:nvSpPr>
          <p:cNvPr id="5" name="Content Placeholder 4"/>
          <p:cNvSpPr>
            <a:spLocks noGrp="1"/>
          </p:cNvSpPr>
          <p:nvPr>
            <p:ph idx="4294967295"/>
          </p:nvPr>
        </p:nvSpPr>
        <p:spPr>
          <a:xfrm>
            <a:off x="3418285" y="1531013"/>
            <a:ext cx="5725715" cy="834579"/>
          </a:xfrm>
        </p:spPr>
        <p:txBody>
          <a:bodyPr>
            <a:noAutofit/>
          </a:bodyPr>
          <a:lstStyle/>
          <a:p>
            <a:pPr>
              <a:spcBef>
                <a:spcPts val="0"/>
              </a:spcBef>
            </a:pPr>
            <a:r>
              <a:rPr lang="en-US" sz="1600" dirty="0"/>
              <a:t>Is a growing global company with over 200 locations</a:t>
            </a:r>
          </a:p>
          <a:p>
            <a:pPr>
              <a:spcBef>
                <a:spcPts val="0"/>
              </a:spcBef>
            </a:pPr>
            <a:r>
              <a:rPr lang="en-US" sz="1600" dirty="0"/>
              <a:t>Have 500 million customers, $3 billion (USD) annual revenue</a:t>
            </a:r>
          </a:p>
        </p:txBody>
      </p:sp>
      <p:sp>
        <p:nvSpPr>
          <p:cNvPr id="12" name="Content Placeholder 3">
            <a:extLst>
              <a:ext uri="{FF2B5EF4-FFF2-40B4-BE49-F238E27FC236}">
                <a16:creationId xmlns:a16="http://schemas.microsoft.com/office/drawing/2014/main" id="{577B5B39-C600-14EF-60A8-C36B1945F8F6}"/>
              </a:ext>
            </a:extLst>
          </p:cNvPr>
          <p:cNvSpPr txBox="1">
            <a:spLocks/>
          </p:cNvSpPr>
          <p:nvPr/>
        </p:nvSpPr>
        <p:spPr>
          <a:xfrm>
            <a:off x="274320" y="2480860"/>
            <a:ext cx="2873502" cy="530353"/>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spcBef>
                <a:spcPts val="600"/>
              </a:spcBef>
              <a:buFont typeface="Amazon Ember"/>
              <a:buNone/>
            </a:pPr>
            <a:r>
              <a:rPr lang="en-US" sz="1800" b="1" dirty="0"/>
              <a:t>Challenge:</a:t>
            </a:r>
          </a:p>
        </p:txBody>
      </p:sp>
      <p:sp>
        <p:nvSpPr>
          <p:cNvPr id="9" name="Content Placeholder 4">
            <a:extLst>
              <a:ext uri="{FF2B5EF4-FFF2-40B4-BE49-F238E27FC236}">
                <a16:creationId xmlns:a16="http://schemas.microsoft.com/office/drawing/2014/main" id="{38958033-19A0-0CF8-716B-18917AF0BF42}"/>
              </a:ext>
            </a:extLst>
          </p:cNvPr>
          <p:cNvSpPr txBox="1">
            <a:spLocks/>
          </p:cNvSpPr>
          <p:nvPr/>
        </p:nvSpPr>
        <p:spPr>
          <a:xfrm>
            <a:off x="3418285" y="2163894"/>
            <a:ext cx="5725715" cy="1094629"/>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spcBef>
                <a:spcPts val="0"/>
              </a:spcBef>
              <a:buFont typeface="Amazon Ember"/>
              <a:buNone/>
            </a:pPr>
            <a:endParaRPr lang="en-US" sz="1600" dirty="0"/>
          </a:p>
          <a:p>
            <a:pPr>
              <a:spcBef>
                <a:spcPts val="0"/>
              </a:spcBef>
            </a:pPr>
            <a:r>
              <a:rPr lang="en-US" sz="1600" dirty="0"/>
              <a:t>Meet demand to rapidly deploy new solutions</a:t>
            </a:r>
          </a:p>
          <a:p>
            <a:pPr>
              <a:spcBef>
                <a:spcPts val="0"/>
              </a:spcBef>
            </a:pPr>
            <a:r>
              <a:rPr lang="en-US" sz="1600" dirty="0"/>
              <a:t>Constantly upgrade aging equipment</a:t>
            </a:r>
          </a:p>
        </p:txBody>
      </p:sp>
      <p:sp>
        <p:nvSpPr>
          <p:cNvPr id="13" name="Content Placeholder 3">
            <a:extLst>
              <a:ext uri="{FF2B5EF4-FFF2-40B4-BE49-F238E27FC236}">
                <a16:creationId xmlns:a16="http://schemas.microsoft.com/office/drawing/2014/main" id="{7A6372BE-B022-7518-2180-F335CD545331}"/>
              </a:ext>
            </a:extLst>
          </p:cNvPr>
          <p:cNvSpPr txBox="1">
            <a:spLocks/>
          </p:cNvSpPr>
          <p:nvPr/>
        </p:nvSpPr>
        <p:spPr>
          <a:xfrm>
            <a:off x="274320" y="3498641"/>
            <a:ext cx="2873502" cy="530353"/>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spcBef>
                <a:spcPts val="600"/>
              </a:spcBef>
              <a:buFont typeface="Amazon Ember"/>
              <a:buNone/>
            </a:pPr>
            <a:r>
              <a:rPr lang="en-US" sz="1800" b="1" dirty="0"/>
              <a:t>Criteria:</a:t>
            </a:r>
          </a:p>
        </p:txBody>
      </p:sp>
      <p:sp>
        <p:nvSpPr>
          <p:cNvPr id="10" name="Content Placeholder 4">
            <a:extLst>
              <a:ext uri="{FF2B5EF4-FFF2-40B4-BE49-F238E27FC236}">
                <a16:creationId xmlns:a16="http://schemas.microsoft.com/office/drawing/2014/main" id="{45FF0FAD-E08E-3C37-7C8A-2C7B90677727}"/>
              </a:ext>
            </a:extLst>
          </p:cNvPr>
          <p:cNvSpPr txBox="1">
            <a:spLocks/>
          </p:cNvSpPr>
          <p:nvPr/>
        </p:nvSpPr>
        <p:spPr>
          <a:xfrm>
            <a:off x="3418285" y="3498641"/>
            <a:ext cx="5725715" cy="1494905"/>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a:spcBef>
                <a:spcPts val="0"/>
              </a:spcBef>
            </a:pPr>
            <a:r>
              <a:rPr lang="en-US" sz="1600" dirty="0"/>
              <a:t>Have a broad solution to handle all workloads</a:t>
            </a:r>
          </a:p>
          <a:p>
            <a:pPr>
              <a:spcBef>
                <a:spcPts val="0"/>
              </a:spcBef>
            </a:pPr>
            <a:r>
              <a:rPr lang="en-US" sz="1600" dirty="0"/>
              <a:t>Be able to modify processes to improve efficiency and lower costs</a:t>
            </a:r>
          </a:p>
          <a:p>
            <a:pPr>
              <a:spcBef>
                <a:spcPts val="0"/>
              </a:spcBef>
            </a:pPr>
            <a:r>
              <a:rPr lang="en-US" sz="1600" dirty="0"/>
              <a:t>Eliminate busy work (such as patching software)</a:t>
            </a:r>
          </a:p>
          <a:p>
            <a:pPr>
              <a:spcBef>
                <a:spcPts val="0"/>
              </a:spcBef>
            </a:pPr>
            <a:r>
              <a:rPr lang="en-US" sz="1600" dirty="0"/>
              <a:t>Achieve a positive return on investment (ROI)</a:t>
            </a:r>
          </a:p>
          <a:p>
            <a:pPr marL="0" indent="0">
              <a:spcBef>
                <a:spcPts val="0"/>
              </a:spcBef>
              <a:buNone/>
            </a:pPr>
            <a:endParaRPr lang="en-US" sz="1600" dirty="0"/>
          </a:p>
        </p:txBody>
      </p:sp>
      <p:sp>
        <p:nvSpPr>
          <p:cNvPr id="14" name="Content Placeholder 3">
            <a:extLst>
              <a:ext uri="{FF2B5EF4-FFF2-40B4-BE49-F238E27FC236}">
                <a16:creationId xmlns:a16="http://schemas.microsoft.com/office/drawing/2014/main" id="{17C32A4B-BA6F-023D-BAC3-084B86523AA3}"/>
              </a:ext>
            </a:extLst>
          </p:cNvPr>
          <p:cNvSpPr txBox="1">
            <a:spLocks/>
          </p:cNvSpPr>
          <p:nvPr/>
        </p:nvSpPr>
        <p:spPr>
          <a:xfrm>
            <a:off x="274320" y="5113605"/>
            <a:ext cx="2873502" cy="530353"/>
          </a:xfrm>
          <a:prstGeom prst="rect">
            <a:avLst/>
          </a:prstGeom>
        </p:spPr>
        <p:txBody>
          <a:bodyPr vert="horz" lIns="91440" tIns="45720" rIns="91440" bIns="45720" rtlCol="0">
            <a:norm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lgn="r">
              <a:spcBef>
                <a:spcPts val="600"/>
              </a:spcBef>
              <a:buFont typeface="Amazon Ember"/>
              <a:buNone/>
            </a:pPr>
            <a:r>
              <a:rPr lang="en-US" sz="1800" b="1" dirty="0"/>
              <a:t>Solution:</a:t>
            </a:r>
          </a:p>
        </p:txBody>
      </p:sp>
      <p:sp>
        <p:nvSpPr>
          <p:cNvPr id="8" name="Content Placeholder 4">
            <a:extLst>
              <a:ext uri="{FF2B5EF4-FFF2-40B4-BE49-F238E27FC236}">
                <a16:creationId xmlns:a16="http://schemas.microsoft.com/office/drawing/2014/main" id="{A5DD6B0F-CB1D-BAD3-2DC8-B2FA67A90D17}"/>
              </a:ext>
            </a:extLst>
          </p:cNvPr>
          <p:cNvSpPr txBox="1">
            <a:spLocks/>
          </p:cNvSpPr>
          <p:nvPr/>
        </p:nvSpPr>
        <p:spPr>
          <a:xfrm>
            <a:off x="3418285" y="5113605"/>
            <a:ext cx="5725715" cy="1334747"/>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a:spcBef>
                <a:spcPts val="0"/>
              </a:spcBef>
            </a:pPr>
            <a:r>
              <a:rPr lang="en-US" sz="1600" dirty="0"/>
              <a:t>Moved their on-premises data center to AWS</a:t>
            </a:r>
          </a:p>
          <a:p>
            <a:pPr lvl="1">
              <a:spcBef>
                <a:spcPts val="0"/>
              </a:spcBef>
            </a:pPr>
            <a:r>
              <a:rPr lang="en-US" sz="1600" dirty="0"/>
              <a:t>Eliminated 205 servers (90 percent)</a:t>
            </a:r>
          </a:p>
          <a:p>
            <a:pPr lvl="1">
              <a:spcBef>
                <a:spcPts val="0"/>
              </a:spcBef>
            </a:pPr>
            <a:r>
              <a:rPr lang="en-US" sz="1600" dirty="0"/>
              <a:t>Moved nearly all applications to AWS </a:t>
            </a:r>
          </a:p>
          <a:p>
            <a:pPr>
              <a:spcBef>
                <a:spcPts val="0"/>
              </a:spcBef>
            </a:pPr>
            <a:r>
              <a:rPr lang="en-US" sz="1600" dirty="0"/>
              <a:t>Used 3-year Amazon EC2 Reserved Instances</a:t>
            </a:r>
          </a:p>
          <a:p>
            <a:pPr>
              <a:spcBef>
                <a:spcPts val="600"/>
              </a:spcBef>
            </a:pPr>
            <a:endParaRPr lang="en-US" sz="1600" dirty="0"/>
          </a:p>
        </p:txBody>
      </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 y="1371601"/>
            <a:ext cx="1469570" cy="685800"/>
          </a:xfrm>
          <a:prstGeom prst="rect">
            <a:avLst/>
          </a:prstGeom>
        </p:spPr>
      </p:pic>
    </p:spTree>
    <p:custDataLst>
      <p:tags r:id="rId1"/>
    </p:custDataLst>
    <p:extLst>
      <p:ext uri="{BB962C8B-B14F-4D97-AF65-F5344CB8AC3E}">
        <p14:creationId xmlns:p14="http://schemas.microsoft.com/office/powerpoint/2010/main" val="23408293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(5 of 6)                                                   </a:t>
            </a:r>
          </a:p>
        </p:txBody>
      </p:sp>
      <p:pic>
        <p:nvPicPr>
          <p:cNvPr id="15" name="Content Placeholder 14" descr="Side-by-side comparison of on-premises data center costs with AWS costs. AWS cost bars are lower than on-premises bars."/>
          <p:cNvPicPr>
            <a:picLocks noGrp="1" noChangeAspect="1"/>
          </p:cNvPicPr>
          <p:nvPr>
            <p:ph sz="quarter" idx="4294967295"/>
          </p:nvPr>
        </p:nvPicPr>
        <p:blipFill>
          <a:blip r:embed="rId4"/>
          <a:stretch>
            <a:fillRect/>
          </a:stretch>
        </p:blipFill>
        <p:spPr>
          <a:xfrm>
            <a:off x="585788" y="1527969"/>
            <a:ext cx="8067675" cy="4521200"/>
          </a:xfrm>
          <a:prstGeom prst="rect">
            <a:avLst/>
          </a:prstGeom>
        </p:spPr>
      </p:pic>
      <p:pic>
        <p:nvPicPr>
          <p:cNvPr id="12" name="Picture 11">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450" y="1371601"/>
            <a:ext cx="1469570" cy="685800"/>
          </a:xfrm>
          <a:prstGeom prst="rect">
            <a:avLst/>
          </a:prstGeom>
        </p:spPr>
      </p:pic>
    </p:spTree>
    <p:custDataLst>
      <p:tags r:id="rId1"/>
    </p:custDataLst>
    <p:extLst>
      <p:ext uri="{BB962C8B-B14F-4D97-AF65-F5344CB8AC3E}">
        <p14:creationId xmlns:p14="http://schemas.microsoft.com/office/powerpoint/2010/main" val="15372255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Case study: Total Cost of Ownership (6 of 6)                                               </a:t>
            </a:r>
          </a:p>
        </p:txBody>
      </p:sp>
      <p:sp>
        <p:nvSpPr>
          <p:cNvPr id="27" name="TextBox 26"/>
          <p:cNvSpPr txBox="1"/>
          <p:nvPr/>
        </p:nvSpPr>
        <p:spPr>
          <a:xfrm>
            <a:off x="1000616" y="2194229"/>
            <a:ext cx="1358064"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474746"/>
                </a:solidFill>
                <a:effectLst/>
                <a:uLnTx/>
                <a:uFillTx/>
              </a:rPr>
              <a:t>Results:</a:t>
            </a:r>
          </a:p>
        </p:txBody>
      </p:sp>
      <p:sp>
        <p:nvSpPr>
          <p:cNvPr id="29" name="Flowchart: Connector 8" descr="Business goals: growth, enhanced 24/7 business, operational efficiency."/>
          <p:cNvSpPr/>
          <p:nvPr/>
        </p:nvSpPr>
        <p:spPr>
          <a:xfrm>
            <a:off x="3382928" y="1357053"/>
            <a:ext cx="3483816" cy="1451723"/>
          </a:xfrm>
          <a:prstGeom prst="flowChartConnector">
            <a:avLst/>
          </a:prstGeom>
          <a:solidFill>
            <a:srgbClr val="289186"/>
          </a:solidFill>
          <a:ln w="57150" cap="flat" cmpd="sng" algn="ctr">
            <a:solidFill>
              <a:srgbClr val="289186"/>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Pct val="100000"/>
              <a:buFontTx/>
              <a:buNone/>
              <a:tabLst/>
              <a:defRPr/>
            </a:pPr>
            <a:r>
              <a:rPr kumimoji="0" lang="en-US" sz="2000" b="1" i="0" u="none" strike="noStrike" kern="0" cap="none" spc="0" normalizeH="0" baseline="0" noProof="0" dirty="0">
                <a:ln>
                  <a:noFill/>
                </a:ln>
                <a:uLnTx/>
                <a:uFillTx/>
                <a:latin typeface="Amazon Ember" panose="02000000000000000000" pitchFamily="2" charset="0"/>
                <a:ea typeface="Amazon Ember" panose="02000000000000000000" pitchFamily="2" charset="0"/>
                <a:cs typeface=""/>
              </a:rPr>
              <a:t>Business Goals</a:t>
            </a:r>
            <a:r>
              <a:rPr kumimoji="0" lang="en-US" sz="2000" i="0" u="none" strike="noStrike" kern="0" cap="none" spc="0" normalizeH="0" baseline="0" noProof="0" dirty="0">
                <a:ln>
                  <a:noFill/>
                </a:ln>
                <a:uLnTx/>
                <a:uFillTx/>
                <a:latin typeface="Amazon Ember" panose="02000000000000000000" pitchFamily="2" charset="0"/>
                <a:ea typeface="Amazon Ember" panose="02000000000000000000" pitchFamily="2" charset="0"/>
                <a:cs typeface=""/>
              </a:rPr>
              <a:t>:</a:t>
            </a:r>
            <a:br>
              <a:rPr kumimoji="0" lang="en-US" sz="2000" i="0" u="none" strike="noStrike" kern="0" cap="none" spc="0" normalizeH="0" baseline="0" noProof="0" dirty="0">
                <a:ln>
                  <a:noFill/>
                </a:ln>
                <a:uLnTx/>
                <a:uFillTx/>
                <a:latin typeface="Amazon Ember" panose="02000000000000000000" pitchFamily="2" charset="0"/>
                <a:ea typeface="Amazon Ember" panose="02000000000000000000" pitchFamily="2" charset="0"/>
                <a:cs typeface=""/>
              </a:rPr>
            </a:br>
            <a:r>
              <a:rPr kumimoji="0" lang="en-US" sz="1600" i="0" u="none" strike="noStrike" kern="0" cap="none" spc="0" normalizeH="0" baseline="0" noProof="0" dirty="0">
                <a:ln>
                  <a:noFill/>
                </a:ln>
                <a:effectLst/>
                <a:uLnTx/>
                <a:uFillTx/>
                <a:latin typeface="Amazon Ember" panose="02000000000000000000" pitchFamily="2" charset="0"/>
                <a:ea typeface="Amazon Ember" panose="02000000000000000000" pitchFamily="2" charset="0"/>
                <a:cs typeface=""/>
              </a:rPr>
              <a:t>Growth</a:t>
            </a:r>
            <a:endParaRPr kumimoji="0" lang="en-US" sz="2000" i="0" u="none" strike="noStrike" kern="0" cap="none" spc="0" normalizeH="0" baseline="0" noProof="0" dirty="0">
              <a:ln>
                <a:noFill/>
              </a:ln>
              <a:effectLst/>
              <a:uLnTx/>
              <a:uFillTx/>
              <a:latin typeface="Amazon Ember" panose="02000000000000000000" pitchFamily="2" charset="0"/>
              <a:ea typeface="Amazon Ember" panose="02000000000000000000" pitchFamily="2" charset="0"/>
              <a:cs typeface=""/>
            </a:endParaRPr>
          </a:p>
          <a:p>
            <a:pPr marL="0" marR="0" lvl="0" indent="0" algn="ctr" defTabSz="914400" eaLnBrk="1" fontAlgn="auto" latinLnBrk="0" hangingPunct="1">
              <a:lnSpc>
                <a:spcPct val="100000"/>
              </a:lnSpc>
              <a:spcBef>
                <a:spcPts val="0"/>
              </a:spcBef>
              <a:spcAft>
                <a:spcPts val="0"/>
              </a:spcAft>
              <a:buClrTx/>
              <a:buSzPct val="100000"/>
              <a:buFontTx/>
              <a:buNone/>
              <a:tabLst/>
              <a:defRPr/>
            </a:pPr>
            <a:r>
              <a:rPr kumimoji="0" lang="en-US" sz="1600" i="0" u="none" strike="noStrike" kern="0" cap="none" spc="0" normalizeH="0" baseline="0" noProof="0" dirty="0">
                <a:ln>
                  <a:noFill/>
                </a:ln>
                <a:effectLst/>
                <a:uLnTx/>
                <a:uFillTx/>
                <a:latin typeface="Amazon Ember" panose="02000000000000000000" pitchFamily="2" charset="0"/>
                <a:ea typeface="Amazon Ember" panose="02000000000000000000" pitchFamily="2" charset="0"/>
                <a:cs typeface=""/>
              </a:rPr>
              <a:t>Enhanced 24/7 business</a:t>
            </a:r>
          </a:p>
          <a:p>
            <a:pPr marL="0" marR="0" lvl="0" indent="0" algn="ctr" defTabSz="914400" eaLnBrk="1" fontAlgn="auto" latinLnBrk="0" hangingPunct="1">
              <a:lnSpc>
                <a:spcPct val="100000"/>
              </a:lnSpc>
              <a:spcBef>
                <a:spcPts val="0"/>
              </a:spcBef>
              <a:spcAft>
                <a:spcPts val="0"/>
              </a:spcAft>
              <a:buClrTx/>
              <a:buSzPct val="100000"/>
              <a:buFontTx/>
              <a:buNone/>
              <a:tabLst/>
              <a:defRPr/>
            </a:pPr>
            <a:r>
              <a:rPr kumimoji="0" lang="en-US" sz="1600" i="0" u="none" strike="noStrike" kern="0" cap="none" spc="0" normalizeH="0" baseline="0" noProof="0" dirty="0">
                <a:ln>
                  <a:noFill/>
                </a:ln>
                <a:effectLst/>
                <a:uLnTx/>
                <a:uFillTx/>
                <a:latin typeface="Amazon Ember" panose="02000000000000000000" pitchFamily="2" charset="0"/>
                <a:ea typeface="Amazon Ember" panose="02000000000000000000" pitchFamily="2" charset="0"/>
                <a:cs typeface=""/>
              </a:rPr>
              <a:t>Operational efficiency</a:t>
            </a:r>
          </a:p>
        </p:txBody>
      </p:sp>
      <p:sp>
        <p:nvSpPr>
          <p:cNvPr id="33" name="Rounded Rectangle 32" descr="Resource optimization included robust security compliance, enhanced disaster recovery, and increased computing capacity."/>
          <p:cNvSpPr/>
          <p:nvPr/>
        </p:nvSpPr>
        <p:spPr>
          <a:xfrm>
            <a:off x="1271210" y="3505536"/>
            <a:ext cx="2206981" cy="2853159"/>
          </a:xfrm>
          <a:prstGeom prst="roundRect">
            <a:avLst>
              <a:gd name="adj" fmla="val 11796"/>
            </a:avLst>
          </a:prstGeom>
          <a:solidFill>
            <a:srgbClr val="637474"/>
          </a:solidFill>
          <a:ln w="9525" cap="flat" cmpd="sng" algn="ctr">
            <a:solidFill>
              <a:srgbClr val="999A98">
                <a:shade val="95000"/>
                <a:satMod val="105000"/>
              </a:srgbClr>
            </a:solidFill>
            <a:prstDash val="solid"/>
          </a:ln>
          <a:effectLst>
            <a:outerShdw blurRad="40000" dist="20000" dir="5400000" rotWithShape="0">
              <a:srgbClr val="000000">
                <a:alpha val="38000"/>
              </a:srgbClr>
            </a:outerShdw>
          </a:effectLst>
        </p:spPr>
        <p:txBody>
          <a:bodyPr rtlCol="0" anchor="t"/>
          <a:lstStyle/>
          <a:p>
            <a:pPr marL="101600" marR="0" lvl="0" indent="0" algn="ctr" defTabSz="914400" eaLnBrk="1" fontAlgn="auto" latinLnBrk="0" hangingPunct="1">
              <a:lnSpc>
                <a:spcPct val="100000"/>
              </a:lnSpc>
              <a:spcBef>
                <a:spcPts val="0"/>
              </a:spcBef>
              <a:spcAft>
                <a:spcPts val="1200"/>
              </a:spcAft>
              <a:buClrTx/>
              <a:buSzPct val="100000"/>
              <a:buFontTx/>
              <a:buNone/>
              <a:tabLst/>
              <a:defRPr/>
            </a:pPr>
            <a:r>
              <a:rPr kumimoji="0" lang="en-US" sz="24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rPr>
              <a:t>Resource</a:t>
            </a:r>
            <a:br>
              <a:rPr kumimoji="0" lang="en-US" sz="24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rPr>
            </a:br>
            <a:r>
              <a:rPr lang="en-US" sz="2400" kern="0" dirty="0">
                <a:solidFill>
                  <a:schemeClr val="bg1"/>
                </a:solidFill>
                <a:effectLst>
                  <a:outerShdw blurRad="50800" dist="38100" dir="2700000" algn="tl" rotWithShape="0">
                    <a:prstClr val="black">
                      <a:alpha val="40000"/>
                    </a:prstClr>
                  </a:outerShdw>
                </a:effectLst>
                <a:latin typeface="Amazon Ember" panose="02000000000000000000" pitchFamily="2" charset="0"/>
                <a:ea typeface="Amazon Ember" panose="02000000000000000000" pitchFamily="2" charset="0"/>
                <a:cs typeface=""/>
              </a:rPr>
              <a:t>optimization</a:t>
            </a:r>
            <a:endParaRPr kumimoji="0" lang="en-US" sz="24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endParaRP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Robust security compliance</a:t>
            </a: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Enhanced disaster recovery</a:t>
            </a: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Increased computing capacity</a:t>
            </a:r>
            <a:endParaRPr kumimoji="0" lang="en-US" sz="2000"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endParaRPr>
          </a:p>
        </p:txBody>
      </p:sp>
      <p:sp>
        <p:nvSpPr>
          <p:cNvPr id="30" name="Rounded Rectangle 29" descr="Speed to market goals included one day to provision new businesses and just minutes to push out a service."/>
          <p:cNvSpPr/>
          <p:nvPr/>
        </p:nvSpPr>
        <p:spPr>
          <a:xfrm>
            <a:off x="3910003" y="3505534"/>
            <a:ext cx="2282753" cy="2853159"/>
          </a:xfrm>
          <a:prstGeom prst="roundRect">
            <a:avLst>
              <a:gd name="adj" fmla="val 11796"/>
            </a:avLst>
          </a:prstGeom>
          <a:solidFill>
            <a:srgbClr val="637474"/>
          </a:solidFill>
          <a:ln w="9525" cap="flat" cmpd="sng" algn="ctr">
            <a:solidFill>
              <a:srgbClr val="999A98">
                <a:shade val="95000"/>
                <a:satMod val="105000"/>
              </a:srgbClr>
            </a:solidFill>
            <a:prstDash val="solid"/>
          </a:ln>
          <a:effectLst>
            <a:outerShdw blurRad="40000" dist="20000" dir="5400000" rotWithShape="0">
              <a:srgbClr val="000000">
                <a:alpha val="38000"/>
              </a:srgbClr>
            </a:outerShdw>
          </a:effectLst>
        </p:spPr>
        <p:txBody>
          <a:bodyPr rtlCol="0" anchor="t"/>
          <a:lstStyle/>
          <a:p>
            <a:pPr marL="101600" marR="0" lvl="0" indent="0" algn="ctr" defTabSz="914400" eaLnBrk="1" fontAlgn="auto" latinLnBrk="0" hangingPunct="1">
              <a:lnSpc>
                <a:spcPct val="100000"/>
              </a:lnSpc>
              <a:spcBef>
                <a:spcPts val="0"/>
              </a:spcBef>
              <a:spcAft>
                <a:spcPts val="1200"/>
              </a:spcAft>
              <a:buClrTx/>
              <a:buSzPct val="100000"/>
              <a:buFontTx/>
              <a:buNone/>
              <a:tabLst/>
              <a:defRPr/>
            </a:pPr>
            <a:r>
              <a:rPr kumimoji="0" lang="en-US" sz="24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rPr>
              <a:t>Speed to market</a:t>
            </a: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One day to provision new businesses</a:t>
            </a: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Just minutes to push out a service</a:t>
            </a:r>
            <a:endParaRPr kumimoji="0" lang="en-US" sz="2000"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endParaRPr>
          </a:p>
        </p:txBody>
      </p:sp>
      <p:sp>
        <p:nvSpPr>
          <p:cNvPr id="35" name="Rounded Rectangle 34" descr="Operational efficiency goal was continuous cost optimization and reduction."/>
          <p:cNvSpPr/>
          <p:nvPr/>
        </p:nvSpPr>
        <p:spPr>
          <a:xfrm>
            <a:off x="6607223" y="3505536"/>
            <a:ext cx="2218116" cy="2853159"/>
          </a:xfrm>
          <a:prstGeom prst="roundRect">
            <a:avLst>
              <a:gd name="adj" fmla="val 11796"/>
            </a:avLst>
          </a:prstGeom>
          <a:solidFill>
            <a:srgbClr val="637474"/>
          </a:solidFill>
          <a:ln w="9525" cap="flat" cmpd="sng" algn="ctr">
            <a:solidFill>
              <a:srgbClr val="999A98">
                <a:shade val="95000"/>
                <a:satMod val="105000"/>
              </a:srgbClr>
            </a:solidFill>
            <a:prstDash val="solid"/>
          </a:ln>
          <a:effectLst>
            <a:outerShdw blurRad="40000" dist="20000" dir="5400000" rotWithShape="0">
              <a:srgbClr val="000000">
                <a:alpha val="38000"/>
              </a:srgbClr>
            </a:outerShdw>
          </a:effectLst>
        </p:spPr>
        <p:txBody>
          <a:bodyPr rtlCol="0" anchor="t"/>
          <a:lstStyle/>
          <a:p>
            <a:pPr marL="101600" marR="0" lvl="0" indent="0" algn="ctr" defTabSz="914400" eaLnBrk="1" fontAlgn="auto" latinLnBrk="0" hangingPunct="1">
              <a:lnSpc>
                <a:spcPct val="100000"/>
              </a:lnSpc>
              <a:spcBef>
                <a:spcPts val="0"/>
              </a:spcBef>
              <a:spcAft>
                <a:spcPts val="1200"/>
              </a:spcAft>
              <a:buClrTx/>
              <a:buSzPct val="100000"/>
              <a:buFontTx/>
              <a:buNone/>
              <a:tabLst/>
              <a:defRPr/>
            </a:pPr>
            <a:r>
              <a:rPr kumimoji="0" lang="en-US" sz="24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rPr>
              <a:t>Operational efficiency</a:t>
            </a:r>
            <a:endParaRPr kumimoji="0" lang="en-US" sz="2000" i="0" u="none" strike="noStrike" kern="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mazon Ember" panose="02000000000000000000" pitchFamily="2" charset="0"/>
              <a:ea typeface="Amazon Ember" panose="02000000000000000000" pitchFamily="2" charset="0"/>
              <a:cs typeface=""/>
            </a:endParaRPr>
          </a:p>
          <a:p>
            <a:pPr marL="174625" marR="0" lvl="0" indent="-174625" defTabSz="914400" eaLnBrk="1" fontAlgn="auto" latinLnBrk="0" hangingPunct="1">
              <a:lnSpc>
                <a:spcPct val="90000"/>
              </a:lnSpc>
              <a:spcBef>
                <a:spcPts val="0"/>
              </a:spcBef>
              <a:spcAft>
                <a:spcPts val="1200"/>
              </a:spcAft>
              <a:buClrTx/>
              <a:buSzPct val="100000"/>
              <a:buFont typeface="Arial" panose="020B0604020202020204" pitchFamily="34" charset="0"/>
              <a:buChar char="•"/>
              <a:tabLst/>
              <a:defRPr/>
            </a:pPr>
            <a:r>
              <a:rPr kumimoji="0" lang="en-US"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rPr>
              <a:t>Continuous cost optimization and reduction</a:t>
            </a:r>
            <a:endParaRPr kumimoji="0" lang="en-US" sz="2000" i="0" u="none" strike="noStrike" kern="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cs typeface=""/>
            </a:endParaRPr>
          </a:p>
        </p:txBody>
      </p:sp>
      <p:grpSp>
        <p:nvGrpSpPr>
          <p:cNvPr id="3" name="Group 2">
            <a:extLst>
              <a:ext uri="{FF2B5EF4-FFF2-40B4-BE49-F238E27FC236}">
                <a16:creationId xmlns:a16="http://schemas.microsoft.com/office/drawing/2014/main" id="{C2BCB043-1CDC-C3CC-C9A4-AD5FD2B12A64}"/>
              </a:ext>
              <a:ext uri="{C183D7F6-B498-43B3-948B-1728B52AA6E4}">
                <adec:decorative xmlns:adec="http://schemas.microsoft.com/office/drawing/2017/decorative" val="1"/>
              </a:ext>
            </a:extLst>
          </p:cNvPr>
          <p:cNvGrpSpPr/>
          <p:nvPr/>
        </p:nvGrpSpPr>
        <p:grpSpPr>
          <a:xfrm>
            <a:off x="2305186" y="1929364"/>
            <a:ext cx="5632508" cy="1582112"/>
            <a:chOff x="3073580" y="1929364"/>
            <a:chExt cx="7510011" cy="1582112"/>
          </a:xfrm>
        </p:grpSpPr>
        <p:sp>
          <p:nvSpPr>
            <p:cNvPr id="31" name="Up Arrow 30"/>
            <p:cNvSpPr/>
            <p:nvPr/>
          </p:nvSpPr>
          <p:spPr>
            <a:xfrm>
              <a:off x="6242093" y="2972135"/>
              <a:ext cx="1009802" cy="533400"/>
            </a:xfrm>
            <a:prstGeom prst="upArrow">
              <a:avLst/>
            </a:prstGeom>
            <a:solidFill>
              <a:srgbClr val="289186"/>
            </a:solidFill>
            <a:ln w="25400" cap="flat" cmpd="sng" algn="ctr">
              <a:solidFill>
                <a:srgbClr val="28918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
                <a:cs typeface=""/>
              </a:endParaRPr>
            </a:p>
          </p:txBody>
        </p:sp>
        <p:sp>
          <p:nvSpPr>
            <p:cNvPr id="12" name="Bent-Up Arrow 11">
              <a:extLst>
                <a:ext uri="{FF2B5EF4-FFF2-40B4-BE49-F238E27FC236}">
                  <a16:creationId xmlns:a16="http://schemas.microsoft.com/office/drawing/2014/main" id="{6E036C2F-CF70-E0C2-9168-EF0028A83A33}"/>
                </a:ext>
                <a:ext uri="{C183D7F6-B498-43B3-948B-1728B52AA6E4}">
                  <adec:decorative xmlns:adec="http://schemas.microsoft.com/office/drawing/2017/decorative" val="1"/>
                </a:ext>
              </a:extLst>
            </p:cNvPr>
            <p:cNvSpPr/>
            <p:nvPr/>
          </p:nvSpPr>
          <p:spPr>
            <a:xfrm rot="16200000">
              <a:off x="9093864" y="2015807"/>
              <a:ext cx="1576170" cy="1403284"/>
            </a:xfrm>
            <a:prstGeom prst="bentUpArrow">
              <a:avLst>
                <a:gd name="adj1" fmla="val 31818"/>
                <a:gd name="adj2" fmla="val 25000"/>
                <a:gd name="adj3" fmla="val 25000"/>
              </a:avLst>
            </a:prstGeom>
            <a:solidFill>
              <a:srgbClr val="289186"/>
            </a:solidFill>
            <a:ln>
              <a:solidFill>
                <a:srgbClr val="2891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Bent-Up Arrow 23">
              <a:extLst>
                <a:ext uri="{FF2B5EF4-FFF2-40B4-BE49-F238E27FC236}">
                  <a16:creationId xmlns:a16="http://schemas.microsoft.com/office/drawing/2014/main" id="{24368452-C47E-6F96-9468-2029621F4254}"/>
                </a:ext>
                <a:ext uri="{C183D7F6-B498-43B3-948B-1728B52AA6E4}">
                  <adec:decorative xmlns:adec="http://schemas.microsoft.com/office/drawing/2017/decorative" val="1"/>
                </a:ext>
              </a:extLst>
            </p:cNvPr>
            <p:cNvSpPr/>
            <p:nvPr/>
          </p:nvSpPr>
          <p:spPr>
            <a:xfrm rot="5400000" flipH="1">
              <a:off x="2987137" y="2021749"/>
              <a:ext cx="1576170" cy="1403284"/>
            </a:xfrm>
            <a:prstGeom prst="bentUpArrow">
              <a:avLst>
                <a:gd name="adj1" fmla="val 31818"/>
                <a:gd name="adj2" fmla="val 25000"/>
                <a:gd name="adj3" fmla="val 25000"/>
              </a:avLst>
            </a:prstGeom>
            <a:solidFill>
              <a:srgbClr val="289186"/>
            </a:solidFill>
            <a:ln>
              <a:solidFill>
                <a:srgbClr val="2891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894" y="1357052"/>
            <a:ext cx="1469570" cy="685800"/>
          </a:xfrm>
          <a:prstGeom prst="rect">
            <a:avLst/>
          </a:prstGeom>
        </p:spPr>
      </p:pic>
    </p:spTree>
    <p:custDataLst>
      <p:tags r:id="rId1"/>
    </p:custDataLst>
    <p:extLst>
      <p:ext uri="{BB962C8B-B14F-4D97-AF65-F5344CB8AC3E}">
        <p14:creationId xmlns:p14="http://schemas.microsoft.com/office/powerpoint/2010/main" val="3962623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9D8311-960A-499A-B181-96337B2F9AC2}"/>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76</a:t>
            </a:fld>
            <a:endParaRPr lang="en-US" dirty="0"/>
          </a:p>
        </p:txBody>
      </p:sp>
      <p:sp>
        <p:nvSpPr>
          <p:cNvPr id="5" name="Title 4"/>
          <p:cNvSpPr>
            <a:spLocks noGrp="1"/>
          </p:cNvSpPr>
          <p:nvPr>
            <p:ph type="title"/>
          </p:nvPr>
        </p:nvSpPr>
        <p:spPr/>
        <p:txBody>
          <a:bodyPr>
            <a:normAutofit fontScale="90000"/>
          </a:bodyPr>
          <a:lstStyle/>
          <a:p>
            <a:r>
              <a:rPr lang="en-US" dirty="0"/>
              <a:t>Introducing AWS Billing and Cost Management</a:t>
            </a:r>
          </a:p>
        </p:txBody>
      </p:sp>
      <p:pic>
        <p:nvPicPr>
          <p:cNvPr id="7" name="Content Placeholder 6" descr="AWS Billing and Cost Management icon.">
            <a:extLst>
              <a:ext uri="{FF2B5EF4-FFF2-40B4-BE49-F238E27FC236}">
                <a16:creationId xmlns:a16="http://schemas.microsoft.com/office/drawing/2014/main" id="{F0F1AD94-4E2F-4EF1-B18F-6C22EE610003}"/>
              </a:ext>
            </a:extLst>
          </p:cNvPr>
          <p:cNvPicPr>
            <a:picLocks noGrp="1" noChangeAspect="1"/>
          </p:cNvPicPr>
          <p:nvPr>
            <p:ph sz="quarter" idx="4294967295"/>
          </p:nvPr>
        </p:nvPicPr>
        <p:blipFill>
          <a:blip r:embed="rId4">
            <a:extLst>
              <a:ext uri="{96DAC541-7B7A-43D3-8B79-37D633B846F1}">
                <asvg:svgBlip xmlns:asvg="http://schemas.microsoft.com/office/drawing/2016/SVG/main" r:embed="rId5"/>
              </a:ext>
            </a:extLst>
          </a:blip>
          <a:stretch>
            <a:fillRect/>
          </a:stretch>
        </p:blipFill>
        <p:spPr>
          <a:xfrm>
            <a:off x="3312414" y="1901952"/>
            <a:ext cx="2249424" cy="2999232"/>
          </a:xfrm>
          <a:prstGeom prst="rect">
            <a:avLst/>
          </a:prstGeom>
        </p:spPr>
      </p:pic>
    </p:spTree>
    <p:custDataLst>
      <p:tags r:id="rId1"/>
    </p:custDataLst>
    <p:extLst>
      <p:ext uri="{BB962C8B-B14F-4D97-AF65-F5344CB8AC3E}">
        <p14:creationId xmlns:p14="http://schemas.microsoft.com/office/powerpoint/2010/main" val="28295071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34C890-BA89-442E-8723-9C7598791852}"/>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77</a:t>
            </a:fld>
            <a:endParaRPr lang="en-US" dirty="0"/>
          </a:p>
        </p:txBody>
      </p:sp>
      <p:sp>
        <p:nvSpPr>
          <p:cNvPr id="5" name="Title 4"/>
          <p:cNvSpPr>
            <a:spLocks noGrp="1"/>
          </p:cNvSpPr>
          <p:nvPr>
            <p:ph type="title"/>
          </p:nvPr>
        </p:nvSpPr>
        <p:spPr/>
        <p:txBody>
          <a:bodyPr>
            <a:noAutofit/>
          </a:bodyPr>
          <a:lstStyle/>
          <a:p>
            <a:r>
              <a:rPr lang="en-US" dirty="0"/>
              <a:t>AWS Billing Dashboard</a:t>
            </a:r>
          </a:p>
        </p:txBody>
      </p:sp>
      <p:pic>
        <p:nvPicPr>
          <p:cNvPr id="4" name="Picture 3" descr="The AWS Billing dashboard showing month-to-date spending summary and monthly-to-date spend by service.">
            <a:extLst>
              <a:ext uri="{FF2B5EF4-FFF2-40B4-BE49-F238E27FC236}">
                <a16:creationId xmlns:a16="http://schemas.microsoft.com/office/drawing/2014/main" id="{90D6E864-277A-D041-B6D2-402B4E567CAB}"/>
              </a:ext>
            </a:extLst>
          </p:cNvPr>
          <p:cNvPicPr>
            <a:picLocks noChangeAspect="1"/>
          </p:cNvPicPr>
          <p:nvPr/>
        </p:nvPicPr>
        <p:blipFill>
          <a:blip r:embed="rId4"/>
          <a:stretch>
            <a:fillRect/>
          </a:stretch>
        </p:blipFill>
        <p:spPr>
          <a:xfrm>
            <a:off x="677841" y="1322620"/>
            <a:ext cx="7788320" cy="5132533"/>
          </a:xfrm>
          <a:prstGeom prst="rect">
            <a:avLst/>
          </a:prstGeom>
        </p:spPr>
      </p:pic>
    </p:spTree>
    <p:custDataLst>
      <p:tags r:id="rId1"/>
    </p:custDataLst>
    <p:extLst>
      <p:ext uri="{BB962C8B-B14F-4D97-AF65-F5344CB8AC3E}">
        <p14:creationId xmlns:p14="http://schemas.microsoft.com/office/powerpoint/2010/main" val="19987873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256D0E-0B00-4304-9960-618F86D95381}"/>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78</a:t>
            </a:fld>
            <a:endParaRPr lang="en-US" dirty="0"/>
          </a:p>
        </p:txBody>
      </p:sp>
      <p:sp>
        <p:nvSpPr>
          <p:cNvPr id="5" name="Title 4"/>
          <p:cNvSpPr>
            <a:spLocks noGrp="1"/>
          </p:cNvSpPr>
          <p:nvPr>
            <p:ph type="title"/>
          </p:nvPr>
        </p:nvSpPr>
        <p:spPr/>
        <p:txBody>
          <a:bodyPr/>
          <a:lstStyle/>
          <a:p>
            <a:r>
              <a:rPr lang="en-US" dirty="0"/>
              <a:t>Tools</a:t>
            </a:r>
          </a:p>
        </p:txBody>
      </p:sp>
      <p:grpSp>
        <p:nvGrpSpPr>
          <p:cNvPr id="2" name="Group 5" descr="AWS Budgets, AWS Cost and Usage Report, AWS Cost Explorer.">
            <a:extLst>
              <a:ext uri="{FF2B5EF4-FFF2-40B4-BE49-F238E27FC236}">
                <a16:creationId xmlns:a16="http://schemas.microsoft.com/office/drawing/2014/main" id="{389AB42C-9200-47F6-827A-3E015555348A}"/>
              </a:ext>
              <a:ext uri="{C183D7F6-B498-43B3-948B-1728B52AA6E4}">
                <adec:decorative xmlns:adec="http://schemas.microsoft.com/office/drawing/2017/decorative" val="0"/>
              </a:ext>
            </a:extLst>
          </p:cNvPr>
          <p:cNvGrpSpPr/>
          <p:nvPr/>
        </p:nvGrpSpPr>
        <p:grpSpPr>
          <a:xfrm>
            <a:off x="1166560" y="1392165"/>
            <a:ext cx="7989471" cy="2175034"/>
            <a:chOff x="1555414" y="1392165"/>
            <a:chExt cx="10652628" cy="2175034"/>
          </a:xfrm>
        </p:grpSpPr>
        <p:pic>
          <p:nvPicPr>
            <p:cNvPr id="8" name="Graphic 7" descr="AWS Budgets, AWS Cost and Usage Report and AWS Cost Explorer icons.">
              <a:extLst>
                <a:ext uri="{FF2B5EF4-FFF2-40B4-BE49-F238E27FC236}">
                  <a16:creationId xmlns:a16="http://schemas.microsoft.com/office/drawing/2014/main" id="{467A873B-CB10-4F70-8F6D-00C7C5AFB5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16245" y="1407580"/>
              <a:ext cx="1669692" cy="1669692"/>
            </a:xfrm>
            <a:prstGeom prst="rect">
              <a:avLst/>
            </a:prstGeom>
          </p:spPr>
        </p:pic>
        <p:sp>
          <p:nvSpPr>
            <p:cNvPr id="7" name="TextBox 6">
              <a:extLst>
                <a:ext uri="{FF2B5EF4-FFF2-40B4-BE49-F238E27FC236}">
                  <a16:creationId xmlns:a16="http://schemas.microsoft.com/office/drawing/2014/main" id="{CB45D9AF-6723-4167-A9FF-5A1AB8AEFC9A}"/>
                </a:ext>
              </a:extLst>
            </p:cNvPr>
            <p:cNvSpPr txBox="1"/>
            <p:nvPr/>
          </p:nvSpPr>
          <p:spPr>
            <a:xfrm>
              <a:off x="1555414" y="3197867"/>
              <a:ext cx="2791647" cy="369332"/>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AWS Budgets</a:t>
              </a:r>
            </a:p>
          </p:txBody>
        </p:sp>
        <p:sp>
          <p:nvSpPr>
            <p:cNvPr id="9" name="TextBox 8">
              <a:extLst>
                <a:ext uri="{FF2B5EF4-FFF2-40B4-BE49-F238E27FC236}">
                  <a16:creationId xmlns:a16="http://schemas.microsoft.com/office/drawing/2014/main" id="{19839169-2BF4-447B-8680-66F4165613F1}"/>
                </a:ext>
              </a:extLst>
            </p:cNvPr>
            <p:cNvSpPr txBox="1"/>
            <p:nvPr/>
          </p:nvSpPr>
          <p:spPr>
            <a:xfrm>
              <a:off x="4347061" y="3165830"/>
              <a:ext cx="4202279" cy="369332"/>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AWS Cost and Usage Report</a:t>
              </a:r>
            </a:p>
          </p:txBody>
        </p:sp>
        <p:pic>
          <p:nvPicPr>
            <p:cNvPr id="10" name="Graphic 9" descr="AWS Cost and Usage Report icon.">
              <a:extLst>
                <a:ext uri="{FF2B5EF4-FFF2-40B4-BE49-F238E27FC236}">
                  <a16:creationId xmlns:a16="http://schemas.microsoft.com/office/drawing/2014/main" id="{E115306D-9152-45F5-BBCE-BADC3A1219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85087" y="1392165"/>
              <a:ext cx="1669692" cy="1669692"/>
            </a:xfrm>
            <a:prstGeom prst="rect">
              <a:avLst/>
            </a:prstGeom>
          </p:spPr>
        </p:pic>
        <p:sp>
          <p:nvSpPr>
            <p:cNvPr id="13" name="TextBox 12">
              <a:extLst>
                <a:ext uri="{FF2B5EF4-FFF2-40B4-BE49-F238E27FC236}">
                  <a16:creationId xmlns:a16="http://schemas.microsoft.com/office/drawing/2014/main" id="{52912BA6-E9ED-48BC-9676-D0761762243B}"/>
                </a:ext>
              </a:extLst>
            </p:cNvPr>
            <p:cNvSpPr txBox="1"/>
            <p:nvPr/>
          </p:nvSpPr>
          <p:spPr>
            <a:xfrm>
              <a:off x="7421626" y="3160985"/>
              <a:ext cx="4786416" cy="369332"/>
            </a:xfrm>
            <a:prstGeom prst="rect">
              <a:avLst/>
            </a:prstGeom>
            <a:noFill/>
          </p:spPr>
          <p:txBody>
            <a:bodyPr wrap="square" rtlCol="0">
              <a:spAutoFit/>
            </a:bodyPr>
            <a:lstStyle/>
            <a:p>
              <a:pPr algn="ctr"/>
              <a:r>
                <a:rPr lang="en-US" dirty="0">
                  <a:latin typeface="+mj-lt"/>
                  <a:ea typeface="Amazon Ember" panose="020B0603020204020204" pitchFamily="34" charset="0"/>
                  <a:cs typeface="Amazon Ember" panose="020B0603020204020204" pitchFamily="34" charset="0"/>
                </a:rPr>
                <a:t>AWS Cost Explorer</a:t>
              </a:r>
            </a:p>
          </p:txBody>
        </p:sp>
        <p:pic>
          <p:nvPicPr>
            <p:cNvPr id="14" name="Graphic 13" descr="AWS Cost Explorer icon.">
              <a:extLst>
                <a:ext uri="{FF2B5EF4-FFF2-40B4-BE49-F238E27FC236}">
                  <a16:creationId xmlns:a16="http://schemas.microsoft.com/office/drawing/2014/main" id="{0F2991F0-3715-4EF5-837B-5627134846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2939" y="1423288"/>
              <a:ext cx="1669692" cy="1669692"/>
            </a:xfrm>
            <a:prstGeom prst="rect">
              <a:avLst/>
            </a:prstGeom>
          </p:spPr>
        </p:pic>
      </p:grpSp>
    </p:spTree>
    <p:custDataLst>
      <p:tags r:id="rId1"/>
    </p:custDataLst>
    <p:extLst>
      <p:ext uri="{BB962C8B-B14F-4D97-AF65-F5344CB8AC3E}">
        <p14:creationId xmlns:p14="http://schemas.microsoft.com/office/powerpoint/2010/main" val="6791319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DB8488-3DBF-46D4-8531-D813639F8CC1}"/>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79</a:t>
            </a:fld>
            <a:endParaRPr lang="en-US" dirty="0"/>
          </a:p>
        </p:txBody>
      </p:sp>
      <p:sp>
        <p:nvSpPr>
          <p:cNvPr id="5" name="Title 4"/>
          <p:cNvSpPr>
            <a:spLocks noGrp="1"/>
          </p:cNvSpPr>
          <p:nvPr>
            <p:ph type="title"/>
          </p:nvPr>
        </p:nvSpPr>
        <p:spPr/>
        <p:txBody>
          <a:bodyPr>
            <a:noAutofit/>
          </a:bodyPr>
          <a:lstStyle/>
          <a:p>
            <a:r>
              <a:rPr lang="en-US" dirty="0"/>
              <a:t>Monthly bills</a:t>
            </a:r>
          </a:p>
        </p:txBody>
      </p:sp>
      <p:pic>
        <p:nvPicPr>
          <p:cNvPr id="3" name="Picture 2" descr="Example AWS bill with AWS Marketplace and AWS Service charges.">
            <a:extLst>
              <a:ext uri="{FF2B5EF4-FFF2-40B4-BE49-F238E27FC236}">
                <a16:creationId xmlns:a16="http://schemas.microsoft.com/office/drawing/2014/main" id="{48FC6AE2-2B93-0148-8CBA-716CFA4120A1}"/>
              </a:ext>
            </a:extLst>
          </p:cNvPr>
          <p:cNvPicPr>
            <a:picLocks noChangeAspect="1"/>
          </p:cNvPicPr>
          <p:nvPr/>
        </p:nvPicPr>
        <p:blipFill>
          <a:blip r:embed="rId4"/>
          <a:stretch>
            <a:fillRect/>
          </a:stretch>
        </p:blipFill>
        <p:spPr>
          <a:xfrm>
            <a:off x="595883" y="1314451"/>
            <a:ext cx="7952236" cy="5143499"/>
          </a:xfrm>
          <a:prstGeom prst="rect">
            <a:avLst/>
          </a:prstGeom>
        </p:spPr>
      </p:pic>
    </p:spTree>
    <p:custDataLst>
      <p:tags r:id="rId1"/>
    </p:custDataLst>
    <p:extLst>
      <p:ext uri="{BB962C8B-B14F-4D97-AF65-F5344CB8AC3E}">
        <p14:creationId xmlns:p14="http://schemas.microsoft.com/office/powerpoint/2010/main" val="40120764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7F950A-3830-4E42-9CA5-B3B4BEC43B0B}"/>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80</a:t>
            </a:fld>
            <a:endParaRPr lang="en-US" dirty="0"/>
          </a:p>
        </p:txBody>
      </p:sp>
      <p:sp>
        <p:nvSpPr>
          <p:cNvPr id="5" name="Title 4"/>
          <p:cNvSpPr>
            <a:spLocks noGrp="1"/>
          </p:cNvSpPr>
          <p:nvPr>
            <p:ph type="title"/>
          </p:nvPr>
        </p:nvSpPr>
        <p:spPr/>
        <p:txBody>
          <a:bodyPr>
            <a:noAutofit/>
          </a:bodyPr>
          <a:lstStyle/>
          <a:p>
            <a:r>
              <a:rPr lang="en-US" dirty="0"/>
              <a:t>Cost Explorer</a:t>
            </a:r>
          </a:p>
        </p:txBody>
      </p:sp>
      <p:pic>
        <p:nvPicPr>
          <p:cNvPr id="4" name="Picture 3" descr="The AWS Billing cost explorer with a monthly view of costs per service.">
            <a:extLst>
              <a:ext uri="{FF2B5EF4-FFF2-40B4-BE49-F238E27FC236}">
                <a16:creationId xmlns:a16="http://schemas.microsoft.com/office/drawing/2014/main" id="{5F69D197-F3EC-0644-B23A-EF7D297D407C}"/>
              </a:ext>
            </a:extLst>
          </p:cNvPr>
          <p:cNvPicPr>
            <a:picLocks noChangeAspect="1"/>
          </p:cNvPicPr>
          <p:nvPr/>
        </p:nvPicPr>
        <p:blipFill>
          <a:blip r:embed="rId4"/>
          <a:stretch>
            <a:fillRect/>
          </a:stretch>
        </p:blipFill>
        <p:spPr>
          <a:xfrm>
            <a:off x="613467" y="1252091"/>
            <a:ext cx="8318754" cy="5149075"/>
          </a:xfrm>
          <a:prstGeom prst="rect">
            <a:avLst/>
          </a:prstGeom>
        </p:spPr>
      </p:pic>
    </p:spTree>
    <p:custDataLst>
      <p:tags r:id="rId1"/>
    </p:custDataLst>
    <p:extLst>
      <p:ext uri="{BB962C8B-B14F-4D97-AF65-F5344CB8AC3E}">
        <p14:creationId xmlns:p14="http://schemas.microsoft.com/office/powerpoint/2010/main" val="19112257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D91359-F78C-4B88-9FC5-A80FF4A7300D}"/>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81</a:t>
            </a:fld>
            <a:endParaRPr lang="en-US" dirty="0"/>
          </a:p>
        </p:txBody>
      </p:sp>
      <p:sp>
        <p:nvSpPr>
          <p:cNvPr id="5" name="Title 4"/>
          <p:cNvSpPr>
            <a:spLocks noGrp="1"/>
          </p:cNvSpPr>
          <p:nvPr>
            <p:ph type="title"/>
          </p:nvPr>
        </p:nvSpPr>
        <p:spPr/>
        <p:txBody>
          <a:bodyPr>
            <a:noAutofit/>
          </a:bodyPr>
          <a:lstStyle/>
          <a:p>
            <a:r>
              <a:rPr lang="en-US" dirty="0"/>
              <a:t>Forecast and track costs</a:t>
            </a:r>
          </a:p>
        </p:txBody>
      </p:sp>
      <p:pic>
        <p:nvPicPr>
          <p:cNvPr id="3" name="Picture 2" descr="AWS Billing budgets panel. See description in the slide notes.">
            <a:extLst>
              <a:ext uri="{FF2B5EF4-FFF2-40B4-BE49-F238E27FC236}">
                <a16:creationId xmlns:a16="http://schemas.microsoft.com/office/drawing/2014/main" id="{4C37C2A9-793D-2E41-8A2B-18093A46449A}"/>
              </a:ext>
            </a:extLst>
          </p:cNvPr>
          <p:cNvPicPr>
            <a:picLocks noChangeAspect="1"/>
          </p:cNvPicPr>
          <p:nvPr/>
        </p:nvPicPr>
        <p:blipFill>
          <a:blip r:embed="rId4"/>
          <a:stretch>
            <a:fillRect/>
          </a:stretch>
        </p:blipFill>
        <p:spPr>
          <a:xfrm>
            <a:off x="737982" y="1413035"/>
            <a:ext cx="7962151" cy="5161373"/>
          </a:xfrm>
          <a:prstGeom prst="rect">
            <a:avLst/>
          </a:prstGeom>
        </p:spPr>
      </p:pic>
    </p:spTree>
    <p:custDataLst>
      <p:tags r:id="rId1"/>
    </p:custDataLst>
    <p:extLst>
      <p:ext uri="{BB962C8B-B14F-4D97-AF65-F5344CB8AC3E}">
        <p14:creationId xmlns:p14="http://schemas.microsoft.com/office/powerpoint/2010/main" val="3181369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EE8DE1-15F7-46EA-9EB9-D1459F7CAB36}"/>
              </a:ext>
              <a:ext uri="{C183D7F6-B498-43B3-948B-1728B52AA6E4}">
                <adec:decorative xmlns:adec="http://schemas.microsoft.com/office/drawing/2017/decorative" val="0"/>
              </a:ext>
            </a:extLst>
          </p:cNvPr>
          <p:cNvSpPr>
            <a:spLocks noGrp="1"/>
          </p:cNvSpPr>
          <p:nvPr>
            <p:ph type="sldNum" sz="quarter" idx="4294967295"/>
          </p:nvPr>
        </p:nvSpPr>
        <p:spPr>
          <a:xfrm>
            <a:off x="8602042" y="6568410"/>
            <a:ext cx="363196" cy="265176"/>
          </a:xfrm>
          <a:prstGeom prst="rect">
            <a:avLst/>
          </a:prstGeom>
        </p:spPr>
        <p:txBody>
          <a:bodyPr/>
          <a:lstStyle/>
          <a:p>
            <a:fld id="{B6A95138-A96E-2F42-A959-2EFD44FE4AB7}" type="slidenum">
              <a:rPr lang="en-US" smtClean="0"/>
              <a:pPr/>
              <a:t>82</a:t>
            </a:fld>
            <a:endParaRPr lang="en-US" dirty="0"/>
          </a:p>
        </p:txBody>
      </p:sp>
      <p:sp>
        <p:nvSpPr>
          <p:cNvPr id="5" name="Title 4"/>
          <p:cNvSpPr>
            <a:spLocks noGrp="1"/>
          </p:cNvSpPr>
          <p:nvPr>
            <p:ph type="title"/>
          </p:nvPr>
        </p:nvSpPr>
        <p:spPr/>
        <p:txBody>
          <a:bodyPr>
            <a:noAutofit/>
          </a:bodyPr>
          <a:lstStyle/>
          <a:p>
            <a:r>
              <a:rPr lang="en-US" dirty="0"/>
              <a:t>Cost and usage reporting</a:t>
            </a:r>
          </a:p>
        </p:txBody>
      </p:sp>
      <p:pic>
        <p:nvPicPr>
          <p:cNvPr id="4" name="Picture 3" descr="AWS Billing Reports listing products, usage types, operations, Availability Zones, usage amounts, and line item descriptions.">
            <a:extLst>
              <a:ext uri="{FF2B5EF4-FFF2-40B4-BE49-F238E27FC236}">
                <a16:creationId xmlns:a16="http://schemas.microsoft.com/office/drawing/2014/main" id="{3AD61F25-323F-024E-BE8A-7765DDB44115}"/>
              </a:ext>
            </a:extLst>
          </p:cNvPr>
          <p:cNvPicPr>
            <a:picLocks noChangeAspect="1"/>
          </p:cNvPicPr>
          <p:nvPr/>
        </p:nvPicPr>
        <p:blipFill>
          <a:blip r:embed="rId4"/>
          <a:stretch>
            <a:fillRect/>
          </a:stretch>
        </p:blipFill>
        <p:spPr>
          <a:xfrm>
            <a:off x="500037" y="1425442"/>
            <a:ext cx="8536386" cy="4419548"/>
          </a:xfrm>
          <a:prstGeom prst="rect">
            <a:avLst/>
          </a:prstGeom>
        </p:spPr>
      </p:pic>
    </p:spTree>
    <p:custDataLst>
      <p:tags r:id="rId1"/>
    </p:custDataLst>
    <p:extLst>
      <p:ext uri="{BB962C8B-B14F-4D97-AF65-F5344CB8AC3E}">
        <p14:creationId xmlns:p14="http://schemas.microsoft.com/office/powerpoint/2010/main" val="6876539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Budgets</a:t>
            </a:r>
          </a:p>
        </p:txBody>
      </p:sp>
      <p:sp>
        <p:nvSpPr>
          <p:cNvPr id="3" name="Content Placeholder 2"/>
          <p:cNvSpPr>
            <a:spLocks noGrp="1"/>
          </p:cNvSpPr>
          <p:nvPr>
            <p:ph idx="1"/>
          </p:nvPr>
        </p:nvSpPr>
        <p:spPr/>
        <p:txBody>
          <a:bodyPr/>
          <a:lstStyle/>
          <a:p>
            <a:r>
              <a:rPr lang="en-US" dirty="0"/>
              <a:t>use AWS Budgets to track and take action on your AWS costs and usage. </a:t>
            </a:r>
          </a:p>
          <a:p>
            <a:r>
              <a:rPr lang="en-US" dirty="0"/>
              <a:t>You can use AWS Budgets to monitor your aggregate utilization and coverage metrics for your Reserved Instances (RIs) or Savings Plans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Budgets</a:t>
            </a:r>
          </a:p>
        </p:txBody>
      </p:sp>
      <p:sp>
        <p:nvSpPr>
          <p:cNvPr id="3" name="Content Placeholder 2"/>
          <p:cNvSpPr>
            <a:spLocks noGrp="1"/>
          </p:cNvSpPr>
          <p:nvPr>
            <p:ph idx="1"/>
          </p:nvPr>
        </p:nvSpPr>
        <p:spPr>
          <a:xfrm>
            <a:off x="381000" y="1600200"/>
            <a:ext cx="8305800" cy="5029200"/>
          </a:xfrm>
        </p:spPr>
        <p:txBody>
          <a:bodyPr>
            <a:normAutofit fontScale="62500" lnSpcReduction="20000"/>
          </a:bodyPr>
          <a:lstStyle/>
          <a:p>
            <a:r>
              <a:rPr lang="en-US" b="1" dirty="0"/>
              <a:t>Cost budgets</a:t>
            </a:r>
            <a:r>
              <a:rPr lang="en-US" dirty="0"/>
              <a:t> – Plan how much you want to spend on a service.</a:t>
            </a:r>
          </a:p>
          <a:p>
            <a:r>
              <a:rPr lang="en-US" b="1" dirty="0"/>
              <a:t>Usage budgets</a:t>
            </a:r>
            <a:r>
              <a:rPr lang="en-US" dirty="0"/>
              <a:t> – Plan how much you want to use one or more services.</a:t>
            </a:r>
          </a:p>
          <a:p>
            <a:r>
              <a:rPr lang="en-US" b="1" dirty="0"/>
              <a:t>RI utilization budgets</a:t>
            </a:r>
            <a:r>
              <a:rPr lang="en-US" dirty="0"/>
              <a:t> – Define a utilization threshold and receive alerts when your RI usage falls below that threshold. This lets you see if your RIs are unused or under-utilized.</a:t>
            </a:r>
          </a:p>
          <a:p>
            <a:r>
              <a:rPr lang="en-US" b="1" dirty="0"/>
              <a:t>RI coverage budgets</a:t>
            </a:r>
            <a:r>
              <a:rPr lang="en-US" dirty="0"/>
              <a:t> – Define a coverage threshold and receive alerts when the number of your instance hours that are covered by RIs fall below that threshold. This lets you see how much of your instance usage is covered by a reservation.</a:t>
            </a:r>
          </a:p>
          <a:p>
            <a:r>
              <a:rPr lang="en-US" b="1" dirty="0"/>
              <a:t>Savings Plans utilization budgets</a:t>
            </a:r>
            <a:r>
              <a:rPr lang="en-US" dirty="0"/>
              <a:t> – Define a utilization threshold and receive alerts when the usage of your Savings Plans falls below that threshold. This lets you see if your Savings Plans are unused or under-utilized.</a:t>
            </a:r>
          </a:p>
          <a:p>
            <a:r>
              <a:rPr lang="en-US" b="1" dirty="0"/>
              <a:t>Savings Plans coverage budgets</a:t>
            </a:r>
            <a:r>
              <a:rPr lang="en-US" dirty="0"/>
              <a:t> – Define a coverage threshold and receive alerts when your Savings Plans eligible usage that is covered by Savings Plans fall below that threshold. This lets you see how much of your instance usage is covered by Savings Plans.</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Creating Budget</a:t>
            </a:r>
          </a:p>
        </p:txBody>
      </p:sp>
      <p:sp>
        <p:nvSpPr>
          <p:cNvPr id="3" name="Content Placeholder 2"/>
          <p:cNvSpPr>
            <a:spLocks noGrp="1"/>
          </p:cNvSpPr>
          <p:nvPr>
            <p:ph idx="1"/>
          </p:nvPr>
        </p:nvSpPr>
        <p:spPr>
          <a:xfrm>
            <a:off x="457200" y="1600200"/>
            <a:ext cx="8382000" cy="4953000"/>
          </a:xfrm>
        </p:spPr>
        <p:txBody>
          <a:bodyPr>
            <a:normAutofit fontScale="85000" lnSpcReduction="20000"/>
          </a:bodyPr>
          <a:lstStyle/>
          <a:p>
            <a:r>
              <a:rPr lang="en-US" dirty="0"/>
              <a:t>1. Sign in to the AWS Management Console and open the AWS Cost Management console at https://console.aws.amazon.com/cost-management/home. </a:t>
            </a:r>
          </a:p>
          <a:p>
            <a:r>
              <a:rPr lang="en-US" dirty="0"/>
              <a:t>2. In the navigation pane, choose Budgets. </a:t>
            </a:r>
          </a:p>
          <a:p>
            <a:r>
              <a:rPr lang="en-US" dirty="0"/>
              <a:t>3. At the top of the page, choose Create budget.</a:t>
            </a:r>
          </a:p>
          <a:p>
            <a:r>
              <a:rPr lang="en-US" dirty="0"/>
              <a:t>4. Under Budget setup, choose Use a template (simplified). </a:t>
            </a:r>
          </a:p>
          <a:p>
            <a:r>
              <a:rPr lang="en-US" dirty="0"/>
              <a:t>5. Under Templates, choose a template that best matches your use case</a:t>
            </a:r>
          </a:p>
          <a:p>
            <a:r>
              <a:rPr lang="en-US" dirty="0"/>
              <a:t>6. Update the details and settings for your specific template. </a:t>
            </a:r>
          </a:p>
          <a:p>
            <a:r>
              <a:rPr lang="en-US" dirty="0"/>
              <a:t>7. Choose Create budget.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 Templates</a:t>
            </a:r>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r>
              <a:rPr lang="en-US" dirty="0"/>
              <a:t>Zero spend budget: A budget that notifies you after your spending exceeds AWS</a:t>
            </a:r>
          </a:p>
          <a:p>
            <a:r>
              <a:rPr lang="en-US" dirty="0"/>
              <a:t>Monthly cost budget: A monthly budget that notifies you if you exceed, or are forecasted to exceed, the budget amount.</a:t>
            </a:r>
          </a:p>
          <a:p>
            <a:r>
              <a:rPr lang="en-US" dirty="0"/>
              <a:t> Daily Savings Plans coverage budget: A coverage budget for your Savings Plans that notifies you when you fall below the defined target. This helps you to identify your on demand spend sooner so that you can consider purchasing a new commitment. </a:t>
            </a:r>
          </a:p>
          <a:p>
            <a:r>
              <a:rPr lang="en-US" dirty="0"/>
              <a:t>Daily reservation utilization budget: A utilization budget for your Reserved Instances that notifies you when you fall below the defined target. This helps you to identify when you're not using some of your hourly commitment that you already purchased.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Methods</a:t>
            </a:r>
          </a:p>
        </p:txBody>
      </p:sp>
      <p:sp>
        <p:nvSpPr>
          <p:cNvPr id="3" name="Content Placeholder 2"/>
          <p:cNvSpPr>
            <a:spLocks noGrp="1"/>
          </p:cNvSpPr>
          <p:nvPr>
            <p:ph idx="1"/>
          </p:nvPr>
        </p:nvSpPr>
        <p:spPr/>
        <p:txBody>
          <a:bodyPr/>
          <a:lstStyle/>
          <a:p>
            <a:r>
              <a:rPr lang="en-US" dirty="0"/>
              <a:t>Budget methods:</a:t>
            </a:r>
          </a:p>
          <a:p>
            <a:r>
              <a:rPr lang="en-US" dirty="0"/>
              <a:t>Fixed planned and Auto-adjusting</a:t>
            </a:r>
          </a:p>
          <a:p>
            <a:pPr>
              <a:buNone/>
            </a:pPr>
            <a:endParaRPr lang="en-US" dirty="0"/>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Trusted Advisor</a:t>
            </a:r>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r>
              <a:rPr lang="en-US" dirty="0"/>
              <a:t>draws upon best practices learned from serving hundreds of thousands of AWS customers. </a:t>
            </a:r>
          </a:p>
          <a:p>
            <a:r>
              <a:rPr lang="en-US" dirty="0"/>
              <a:t>inspects your AWS environment, and then makes recommendations when opportunities exist to save money, improve system availability and performance, or help close security gaps. </a:t>
            </a:r>
          </a:p>
          <a:p>
            <a:r>
              <a:rPr lang="en-US" dirty="0"/>
              <a:t>If you have a Basic or Developer Support plan, you can use the Trusted Advisor console to access all checks in the Service Limits category and six checks in the Security category. </a:t>
            </a:r>
          </a:p>
          <a:p>
            <a:r>
              <a:rPr lang="en-US" dirty="0"/>
              <a:t>If you have a Business, Enterprise On-Ramp, or Enterprise Support plan, you can use the Trusted Advisor console and the AWS Trusted Advisor API to access all Trusted Advisor checks. </a:t>
            </a:r>
          </a:p>
          <a:p>
            <a:r>
              <a:rPr lang="en-US" dirty="0"/>
              <a:t>You also can use Amazon </a:t>
            </a:r>
            <a:r>
              <a:rPr lang="en-US" dirty="0" err="1"/>
              <a:t>CloudWatch</a:t>
            </a:r>
            <a:r>
              <a:rPr lang="en-US" dirty="0"/>
              <a:t> Events to monitor the status of Trusted Advisor checks.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Steps</a:t>
            </a:r>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r>
              <a:rPr lang="en-US" dirty="0"/>
              <a:t>1. Sign in to the Trusted Advisor console at https://console.aws.amazon.com/trustedadvisor/ home. </a:t>
            </a:r>
          </a:p>
          <a:p>
            <a:r>
              <a:rPr lang="en-US" dirty="0"/>
              <a:t>2. On the Trusted Advisor Recommendations page, view the summary for each check category:</a:t>
            </a:r>
          </a:p>
          <a:p>
            <a:pPr lvl="1"/>
            <a:r>
              <a:rPr lang="en-US" dirty="0"/>
              <a:t>Action recommended (red) – Trusted Advisor recommends an action for the check. For example, a check that detects a security issue for your IAM resources might recommend urgent steps. </a:t>
            </a:r>
          </a:p>
          <a:p>
            <a:pPr lvl="1"/>
            <a:r>
              <a:rPr lang="en-US" dirty="0"/>
              <a:t>Investigation recommended (yellow) – Trusted Advisor detects a possible issue for the check. For example, a check that reaches a quota for a resource might recommend ways to delete unused resources. </a:t>
            </a:r>
          </a:p>
          <a:p>
            <a:pPr lvl="1"/>
            <a:r>
              <a:rPr lang="en-US" dirty="0"/>
              <a:t>Checks with excluded items (gray) – The number of checks that have excluded items, such as resources that you want a check to ignore. For example, this might be Amazon EC2 instances that you don't want the check to evaluate.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Steps</a:t>
            </a:r>
          </a:p>
        </p:txBody>
      </p:sp>
      <p:sp>
        <p:nvSpPr>
          <p:cNvPr id="3" name="Content Placeholder 2"/>
          <p:cNvSpPr>
            <a:spLocks noGrp="1"/>
          </p:cNvSpPr>
          <p:nvPr>
            <p:ph idx="1"/>
          </p:nvPr>
        </p:nvSpPr>
        <p:spPr/>
        <p:txBody>
          <a:bodyPr>
            <a:normAutofit fontScale="92500" lnSpcReduction="20000"/>
          </a:bodyPr>
          <a:lstStyle/>
          <a:p>
            <a:pPr marL="342900" lvl="1" indent="-342900">
              <a:buFont typeface="Arial" pitchFamily="34" charset="0"/>
              <a:buChar char="•"/>
            </a:pPr>
            <a:r>
              <a:rPr lang="en-US" dirty="0"/>
              <a:t>3. You can do the following on the Trusted Advisor Recommendations page: </a:t>
            </a:r>
          </a:p>
          <a:p>
            <a:pPr marL="742950" lvl="2" indent="-342900"/>
            <a:r>
              <a:rPr lang="en-US" dirty="0"/>
              <a:t>To refresh all checks in your account, choose Refresh all checks</a:t>
            </a:r>
          </a:p>
          <a:p>
            <a:pPr marL="742950" lvl="2" indent="-342900"/>
            <a:r>
              <a:rPr lang="en-US" dirty="0"/>
              <a:t>To create an .</a:t>
            </a:r>
            <a:r>
              <a:rPr lang="en-US" dirty="0" err="1"/>
              <a:t>xls</a:t>
            </a:r>
            <a:r>
              <a:rPr lang="en-US" dirty="0"/>
              <a:t> file that includes all check results, choose Download all checks. </a:t>
            </a:r>
          </a:p>
          <a:p>
            <a:pPr marL="742950" lvl="2" indent="-342900"/>
            <a:r>
              <a:rPr lang="en-US" dirty="0"/>
              <a:t>Under Checks summary, choose a check category, such as Security, to view the results. </a:t>
            </a:r>
          </a:p>
          <a:p>
            <a:pPr marL="742950" lvl="2" indent="-342900"/>
            <a:r>
              <a:rPr lang="en-US" dirty="0"/>
              <a:t>Under Potential monthly savings, you can view how much you can save for your account and the cost optimization checks for recommendations. </a:t>
            </a:r>
          </a:p>
          <a:p>
            <a:pPr marL="742950" lvl="2" indent="-342900"/>
            <a:r>
              <a:rPr lang="en-US" dirty="0"/>
              <a:t>Under Recent changes, you can view changes to check statuses within the last 30 days. Choose a check name to view the latest results for that check or choose the arrow icon to view the next page. </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Sample</a:t>
            </a:r>
          </a:p>
        </p:txBody>
      </p:sp>
      <p:pic>
        <p:nvPicPr>
          <p:cNvPr id="1026" name="Picture 2"/>
          <p:cNvPicPr>
            <a:picLocks noChangeAspect="1" noChangeArrowheads="1"/>
          </p:cNvPicPr>
          <p:nvPr/>
        </p:nvPicPr>
        <p:blipFill>
          <a:blip r:embed="rId2"/>
          <a:srcRect/>
          <a:stretch>
            <a:fillRect/>
          </a:stretch>
        </p:blipFill>
        <p:spPr bwMode="auto">
          <a:xfrm>
            <a:off x="0" y="2224088"/>
            <a:ext cx="9067800" cy="3262312"/>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View Check Descriptions</a:t>
            </a:r>
          </a:p>
        </p:txBody>
      </p:sp>
      <p:sp>
        <p:nvSpPr>
          <p:cNvPr id="3" name="Content Placeholder 2"/>
          <p:cNvSpPr>
            <a:spLocks noGrp="1"/>
          </p:cNvSpPr>
          <p:nvPr>
            <p:ph idx="1"/>
          </p:nvPr>
        </p:nvSpPr>
        <p:spPr/>
        <p:txBody>
          <a:bodyPr>
            <a:normAutofit fontScale="62500" lnSpcReduction="20000"/>
          </a:bodyPr>
          <a:lstStyle/>
          <a:p>
            <a:r>
              <a:rPr lang="en-US" dirty="0"/>
              <a:t>You can view the check descriptions and results for the following check categories:</a:t>
            </a:r>
          </a:p>
          <a:p>
            <a:pPr lvl="1"/>
            <a:r>
              <a:rPr lang="en-US" dirty="0"/>
              <a:t>Cost optimization – Recommendations that can potentially save you money. These checks highlight unused resources and opportunities to reduce your bill. </a:t>
            </a:r>
          </a:p>
          <a:p>
            <a:pPr lvl="1"/>
            <a:r>
              <a:rPr lang="en-US" dirty="0"/>
              <a:t>Performance – Recommendations that can improve the speed and responsiveness of your applications. </a:t>
            </a:r>
          </a:p>
          <a:p>
            <a:pPr lvl="1"/>
            <a:r>
              <a:rPr lang="en-US" dirty="0"/>
              <a:t>Security – Recommendations for security settings that can make your AWS solution more secure. </a:t>
            </a:r>
          </a:p>
          <a:p>
            <a:pPr lvl="1"/>
            <a:r>
              <a:rPr lang="en-US" dirty="0"/>
              <a:t>Fault tolerance – Recommendations that help increase the resiliency of your AWS solution. These checks highlight redundancy shortfalls and overused resources. </a:t>
            </a:r>
          </a:p>
          <a:p>
            <a:pPr lvl="1"/>
            <a:r>
              <a:rPr lang="en-US" dirty="0"/>
              <a:t>Service limits – Checks the usage for your account and whether your account approaches or exceeds the limit (also known as quotas) for AWS services and resources. </a:t>
            </a:r>
          </a:p>
          <a:p>
            <a:pPr lvl="1"/>
            <a:r>
              <a:rPr lang="en-US" dirty="0"/>
              <a:t>Operational Excellence – Recommendations to help you operate your AWS environment effectively, and at scale.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Operations</a:t>
            </a:r>
          </a:p>
        </p:txBody>
      </p:sp>
      <p:sp>
        <p:nvSpPr>
          <p:cNvPr id="3" name="Content Placeholder 2"/>
          <p:cNvSpPr>
            <a:spLocks noGrp="1"/>
          </p:cNvSpPr>
          <p:nvPr>
            <p:ph idx="1"/>
          </p:nvPr>
        </p:nvSpPr>
        <p:spPr/>
        <p:txBody>
          <a:bodyPr/>
          <a:lstStyle/>
          <a:p>
            <a:r>
              <a:rPr lang="en-US" dirty="0"/>
              <a:t>Get the list of available Trusted Advisor checks</a:t>
            </a:r>
          </a:p>
          <a:p>
            <a:r>
              <a:rPr lang="en-US" dirty="0"/>
              <a:t>Refresh the list of available Trusted Advisor checks </a:t>
            </a:r>
          </a:p>
          <a:p>
            <a:r>
              <a:rPr lang="en-US" dirty="0"/>
              <a:t>Poll a Trusted Advisor check for status changes</a:t>
            </a:r>
          </a:p>
          <a:p>
            <a:r>
              <a:rPr lang="en-US" dirty="0"/>
              <a:t>Request a Trusted Advisor check result </a:t>
            </a:r>
          </a:p>
          <a:p>
            <a:r>
              <a:rPr lang="en-US" dirty="0"/>
              <a:t>Show details of a Trusted Advisor check</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3202</TotalTime>
  <Words>5787</Words>
  <Application>Microsoft Office PowerPoint</Application>
  <PresentationFormat>On-screen Show (4:3)</PresentationFormat>
  <Paragraphs>671</Paragraphs>
  <Slides>93</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93</vt:i4>
      </vt:variant>
    </vt:vector>
  </HeadingPairs>
  <TitlesOfParts>
    <vt:vector size="102" baseType="lpstr">
      <vt:lpstr>Amazon Ember</vt:lpstr>
      <vt:lpstr>Amazon Ember Light</vt:lpstr>
      <vt:lpstr>Amazon Ember Medium</vt:lpstr>
      <vt:lpstr>Arial</vt:lpstr>
      <vt:lpstr>Calibri</vt:lpstr>
      <vt:lpstr>Segoe UI</vt:lpstr>
      <vt:lpstr>Times New Roman</vt:lpstr>
      <vt:lpstr>Wingdings</vt:lpstr>
      <vt:lpstr>Office Theme</vt:lpstr>
      <vt:lpstr>AWS</vt:lpstr>
      <vt:lpstr>Details</vt:lpstr>
      <vt:lpstr>Management Tools</vt:lpstr>
      <vt:lpstr>CloudWatch</vt:lpstr>
      <vt:lpstr>Metrics by Cloudwatch</vt:lpstr>
      <vt:lpstr>Components</vt:lpstr>
      <vt:lpstr>PowerPoint Presentation</vt:lpstr>
      <vt:lpstr>CloudWatch Metric Streams</vt:lpstr>
      <vt:lpstr>CloudWatch Logs (Destinations)</vt:lpstr>
      <vt:lpstr>CloudWatch Logs (Sources)</vt:lpstr>
      <vt:lpstr>Insights</vt:lpstr>
      <vt:lpstr>What can be done?</vt:lpstr>
      <vt:lpstr>Sample</vt:lpstr>
      <vt:lpstr>CloudWatch Logs – S3 Export</vt:lpstr>
      <vt:lpstr>CloudWatch Logs Subscriptions</vt:lpstr>
      <vt:lpstr>CloudWatch Logs Aggregation Multi-Account &amp; Multi Region</vt:lpstr>
      <vt:lpstr>CloudWatch Logs Subscriptions</vt:lpstr>
      <vt:lpstr>CloudWatch Logs for EC2</vt:lpstr>
      <vt:lpstr>CloudWatch Logs Agent &amp; Unified Agent</vt:lpstr>
      <vt:lpstr>CloudWatch Unified Agent – Metrics</vt:lpstr>
      <vt:lpstr>CloudWatch Alarms</vt:lpstr>
      <vt:lpstr>CloudWatch Alarm Targets</vt:lpstr>
      <vt:lpstr>CloudWatch Alarms – Composite Alarms</vt:lpstr>
      <vt:lpstr>EC2 Instance Recovery</vt:lpstr>
      <vt:lpstr>CloudWatch Alarm: good to know</vt:lpstr>
      <vt:lpstr>Amazon EventBridge (formerly CloudWatch Events)</vt:lpstr>
      <vt:lpstr>EventBridge Rules</vt:lpstr>
      <vt:lpstr>Amazon EventBridge</vt:lpstr>
      <vt:lpstr>CloudWatch Container Insights</vt:lpstr>
      <vt:lpstr>CloudWatch Lambda Insights</vt:lpstr>
      <vt:lpstr>CloudWatch Contributor Insights</vt:lpstr>
      <vt:lpstr>CloudWatch Application Insights</vt:lpstr>
      <vt:lpstr>Operational Visibility</vt:lpstr>
      <vt:lpstr>Cloud Trail</vt:lpstr>
      <vt:lpstr>Diagram</vt:lpstr>
      <vt:lpstr>Events</vt:lpstr>
      <vt:lpstr>CloudTrail Insights</vt:lpstr>
      <vt:lpstr>CloudTrail Events Retention</vt:lpstr>
      <vt:lpstr>Work with API calls</vt:lpstr>
      <vt:lpstr>Cloud Trail usecases</vt:lpstr>
      <vt:lpstr>AWS Config</vt:lpstr>
      <vt:lpstr>Details</vt:lpstr>
      <vt:lpstr>Resource</vt:lpstr>
      <vt:lpstr>Remediations</vt:lpstr>
      <vt:lpstr>Notifications</vt:lpstr>
      <vt:lpstr>CloudWatch vs CloudTrail vs Config</vt:lpstr>
      <vt:lpstr>Ex: Load Balancer</vt:lpstr>
      <vt:lpstr>System Manager</vt:lpstr>
      <vt:lpstr>PowerPoint Presentation</vt:lpstr>
      <vt:lpstr>Capabilities</vt:lpstr>
      <vt:lpstr>Os support</vt:lpstr>
      <vt:lpstr>  Security in AWS Systems Manager</vt:lpstr>
      <vt:lpstr>AWS pricing model</vt:lpstr>
      <vt:lpstr>How do you pay for AWS?</vt:lpstr>
      <vt:lpstr>Pay for what you use</vt:lpstr>
      <vt:lpstr>Pay less when you reserve</vt:lpstr>
      <vt:lpstr>Pay less by using more</vt:lpstr>
      <vt:lpstr>Pay even less as AWS grows</vt:lpstr>
      <vt:lpstr>Custom pricing</vt:lpstr>
      <vt:lpstr>AWS Free Tier</vt:lpstr>
      <vt:lpstr>Services with no charge</vt:lpstr>
      <vt:lpstr>On-premises versus cloud</vt:lpstr>
      <vt:lpstr>What is Total Cost of Ownership (TCO)?                                                   </vt:lpstr>
      <vt:lpstr>TCO considerations</vt:lpstr>
      <vt:lpstr>On-premises versus all-in-cloud</vt:lpstr>
      <vt:lpstr>AWS Pricing Calculator</vt:lpstr>
      <vt:lpstr>Reading an estimate</vt:lpstr>
      <vt:lpstr>Activity: AWS Pricing Calculator activity </vt:lpstr>
      <vt:lpstr>Additional benefit considerations</vt:lpstr>
      <vt:lpstr>Case study: Total Cost Of Ownership (1 of 6)                                                   </vt:lpstr>
      <vt:lpstr>Case study: Total Cost of Ownership (2 of 6)                                                   </vt:lpstr>
      <vt:lpstr>Case study: Total Cost of Ownership (3 of 6)                                                   </vt:lpstr>
      <vt:lpstr>Case study: Total Cost of Ownership (4 of 6)                                                   </vt:lpstr>
      <vt:lpstr>Case study: Total Cost of Ownership (5 of 6)                                                   </vt:lpstr>
      <vt:lpstr>Case study: Total Cost of Ownership (6 of 6)                                               </vt:lpstr>
      <vt:lpstr>Introducing AWS Billing and Cost Management</vt:lpstr>
      <vt:lpstr>AWS Billing Dashboard</vt:lpstr>
      <vt:lpstr>Tools</vt:lpstr>
      <vt:lpstr>Monthly bills</vt:lpstr>
      <vt:lpstr>Cost Explorer</vt:lpstr>
      <vt:lpstr>Forecast and track costs</vt:lpstr>
      <vt:lpstr>Cost and usage reporting</vt:lpstr>
      <vt:lpstr>AWS Budgets</vt:lpstr>
      <vt:lpstr>AWS Budgets</vt:lpstr>
      <vt:lpstr>Creating Budget</vt:lpstr>
      <vt:lpstr>Budget Templates</vt:lpstr>
      <vt:lpstr>Methods</vt:lpstr>
      <vt:lpstr>Trusted Advisor</vt:lpstr>
      <vt:lpstr>Steps</vt:lpstr>
      <vt:lpstr>Steps</vt:lpstr>
      <vt:lpstr>Sample</vt:lpstr>
      <vt:lpstr>View Check Descriptions</vt:lpstr>
      <vt:lpstr>Operations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Adrija Bhattacharya</dc:creator>
  <cp:lastModifiedBy>adrija bhattacharya</cp:lastModifiedBy>
  <cp:revision>70</cp:revision>
  <dcterms:created xsi:type="dcterms:W3CDTF">2024-09-02T05:25:22Z</dcterms:created>
  <dcterms:modified xsi:type="dcterms:W3CDTF">2025-09-18T04:16:15Z</dcterms:modified>
</cp:coreProperties>
</file>