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tags/tag12.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tags/tag13.xml" ContentType="application/vnd.openxmlformats-officedocument.presentationml.tags+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Default Extension="svg" ContentType="image/svg+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69" r:id="rId5"/>
    <p:sldId id="270" r:id="rId6"/>
    <p:sldId id="259" r:id="rId7"/>
    <p:sldId id="260" r:id="rId8"/>
    <p:sldId id="261" r:id="rId9"/>
    <p:sldId id="262" r:id="rId10"/>
    <p:sldId id="263" r:id="rId11"/>
    <p:sldId id="264" r:id="rId12"/>
    <p:sldId id="265" r:id="rId13"/>
    <p:sldId id="266" r:id="rId14"/>
    <p:sldId id="267" r:id="rId15"/>
    <p:sldId id="268"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88" r:id="rId34"/>
    <p:sldId id="290" r:id="rId35"/>
    <p:sldId id="291" r:id="rId36"/>
    <p:sldId id="292" r:id="rId37"/>
    <p:sldId id="293" r:id="rId38"/>
    <p:sldId id="294" r:id="rId39"/>
    <p:sldId id="295" r:id="rId40"/>
    <p:sldId id="296" r:id="rId41"/>
    <p:sldId id="297" r:id="rId42"/>
    <p:sldId id="298" r:id="rId43"/>
    <p:sldId id="299" r:id="rId44"/>
    <p:sldId id="300" r:id="rId45"/>
    <p:sldId id="303" r:id="rId46"/>
    <p:sldId id="301" r:id="rId47"/>
    <p:sldId id="302" r:id="rId48"/>
    <p:sldId id="304" r:id="rId49"/>
    <p:sldId id="305" r:id="rId50"/>
    <p:sldId id="306"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B39452-50EE-4189-9209-267B8D0223AB}" type="datetimeFigureOut">
              <a:rPr lang="en-US" smtClean="0"/>
              <a:pPr/>
              <a:t>3/30/2025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63BD20-CA31-4683-8502-62C06F116DCD}"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4" name="Notes Placeholder 3"/>
          <p:cNvSpPr>
            <a:spLocks noGrp="1"/>
          </p:cNvSpPr>
          <p:nvPr>
            <p:ph type="body" sz="quarter" idx="10"/>
          </p:nvPr>
        </p:nvSpPr>
        <p:spPr>
          <a:xfrm>
            <a:off x="686361" y="4400262"/>
            <a:ext cx="5485279" cy="3600738"/>
          </a:xfrm>
          <a:prstGeom prst="rect">
            <a:avLst/>
          </a:prstGeom>
        </p:spPr>
        <p:txBody>
          <a:bodyPr>
            <a:normAutofit lnSpcReduction="10000"/>
          </a:bodyPr>
          <a:lstStyle/>
          <a:p>
            <a:endParaRPr lang="en-US" sz="1000" dirty="0"/>
          </a:p>
        </p:txBody>
      </p:sp>
    </p:spTree>
    <p:extLst>
      <p:ext uri="{BB962C8B-B14F-4D97-AF65-F5344CB8AC3E}">
        <p14:creationId xmlns="" xmlns:p14="http://schemas.microsoft.com/office/powerpoint/2010/main" val="330106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1"/>
            <a:ext cx="5485279" cy="4302912"/>
          </a:xfrm>
          <a:prstGeom prst="rect">
            <a:avLst/>
          </a:prstGeom>
        </p:spPr>
        <p:txBody>
          <a:bodyPr>
            <a:normAutofit fontScale="92500"/>
          </a:bodyPr>
          <a:lstStyle/>
          <a:p>
            <a:endParaRPr lang="en-US" dirty="0"/>
          </a:p>
        </p:txBody>
      </p:sp>
    </p:spTree>
    <p:extLst>
      <p:ext uri="{BB962C8B-B14F-4D97-AF65-F5344CB8AC3E}">
        <p14:creationId xmlns="" xmlns:p14="http://schemas.microsoft.com/office/powerpoint/2010/main" val="786268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fontScale="92500" lnSpcReduction="10000"/>
          </a:bodyPr>
          <a:lstStyle/>
          <a:p>
            <a:pPr defTabSz="410291">
              <a:spcAft>
                <a:spcPts val="538"/>
              </a:spcAft>
              <a:defRPr/>
            </a:pPr>
            <a:endParaRPr lang="en-US" kern="1200" dirty="0">
              <a:solidFill>
                <a:schemeClr val="tx1"/>
              </a:solidFill>
              <a:effectLst/>
              <a:latin typeface="+mn-lt"/>
              <a:ea typeface="+mn-ea"/>
              <a:cs typeface="+mn-cs"/>
            </a:endParaRPr>
          </a:p>
        </p:txBody>
      </p:sp>
    </p:spTree>
    <p:extLst>
      <p:ext uri="{BB962C8B-B14F-4D97-AF65-F5344CB8AC3E}">
        <p14:creationId xmlns="" xmlns:p14="http://schemas.microsoft.com/office/powerpoint/2010/main" val="2056702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4252532"/>
          </a:xfrm>
          <a:prstGeom prst="rect">
            <a:avLst/>
          </a:prstGeom>
        </p:spPr>
        <p:txBody>
          <a:bodyPr/>
          <a:lstStyle/>
          <a:p>
            <a:endParaRPr lang="en-US" dirty="0"/>
          </a:p>
        </p:txBody>
      </p:sp>
    </p:spTree>
    <p:extLst>
      <p:ext uri="{BB962C8B-B14F-4D97-AF65-F5344CB8AC3E}">
        <p14:creationId xmlns="" xmlns:p14="http://schemas.microsoft.com/office/powerpoint/2010/main" val="634395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962845"/>
          </a:xfrm>
          <a:prstGeom prst="rect">
            <a:avLst/>
          </a:prstGeom>
        </p:spPr>
        <p:txBody>
          <a:bodyPr>
            <a:normAutofit fontScale="92500" lnSpcReduction="10000"/>
          </a:bodyPr>
          <a:lstStyle/>
          <a:p>
            <a:pPr defTabSz="820583">
              <a:defRPr/>
            </a:pPr>
            <a:endParaRPr lang="en-US" dirty="0"/>
          </a:p>
        </p:txBody>
      </p:sp>
    </p:spTree>
    <p:extLst>
      <p:ext uri="{BB962C8B-B14F-4D97-AF65-F5344CB8AC3E}">
        <p14:creationId xmlns="" xmlns:p14="http://schemas.microsoft.com/office/powerpoint/2010/main" val="30699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4051011"/>
          </a:xfrm>
          <a:prstGeom prst="rect">
            <a:avLst/>
          </a:prstGeom>
        </p:spPr>
        <p:txBody>
          <a:bodyPr>
            <a:normAutofit fontScale="92500" lnSpcReduction="10000"/>
          </a:bodyPr>
          <a:lstStyle/>
          <a:p>
            <a:pPr defTabSz="820583">
              <a:defRPr/>
            </a:pPr>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273205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521568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dirty="0"/>
          </a:p>
        </p:txBody>
      </p:sp>
    </p:spTree>
    <p:extLst>
      <p:ext uri="{BB962C8B-B14F-4D97-AF65-F5344CB8AC3E}">
        <p14:creationId xmlns="" xmlns:p14="http://schemas.microsoft.com/office/powerpoint/2010/main" val="262776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dirty="0"/>
          </a:p>
        </p:txBody>
      </p:sp>
    </p:spTree>
    <p:extLst>
      <p:ext uri="{BB962C8B-B14F-4D97-AF65-F5344CB8AC3E}">
        <p14:creationId xmlns="" xmlns:p14="http://schemas.microsoft.com/office/powerpoint/2010/main" val="360707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dirty="0"/>
          </a:p>
        </p:txBody>
      </p:sp>
    </p:spTree>
    <p:extLst>
      <p:ext uri="{BB962C8B-B14F-4D97-AF65-F5344CB8AC3E}">
        <p14:creationId xmlns="" xmlns:p14="http://schemas.microsoft.com/office/powerpoint/2010/main" val="1043286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3188" y="1143000"/>
            <a:ext cx="4111625" cy="3084513"/>
          </a:xfrm>
          <a:prstGeom prst="rect">
            <a:avLst/>
          </a:prstGeom>
        </p:spPr>
      </p:sp>
      <p:sp>
        <p:nvSpPr>
          <p:cNvPr id="3" name="Notes Placeholder 2"/>
          <p:cNvSpPr>
            <a:spLocks noGrp="1"/>
          </p:cNvSpPr>
          <p:nvPr>
            <p:ph type="body" idx="1"/>
          </p:nvPr>
        </p:nvSpPr>
        <p:spPr>
          <a:xfrm>
            <a:off x="686361" y="4400262"/>
            <a:ext cx="5485279" cy="4340697"/>
          </a:xfrm>
          <a:prstGeom prst="rect">
            <a:avLst/>
          </a:prstGeom>
        </p:spPr>
        <p:txBody>
          <a:bodyPr/>
          <a:lstStyle/>
          <a:p>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3318010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3188" y="1143000"/>
            <a:ext cx="4111625" cy="3084513"/>
          </a:xfrm>
          <a:prstGeom prst="rect">
            <a:avLst/>
          </a:prstGeom>
        </p:spPr>
      </p:sp>
      <p:sp>
        <p:nvSpPr>
          <p:cNvPr id="3" name="Notes Placeholder 2"/>
          <p:cNvSpPr>
            <a:spLocks noGrp="1"/>
          </p:cNvSpPr>
          <p:nvPr>
            <p:ph type="body" idx="1"/>
          </p:nvPr>
        </p:nvSpPr>
        <p:spPr>
          <a:xfrm>
            <a:off x="686361" y="4400262"/>
            <a:ext cx="5485279" cy="4340697"/>
          </a:xfrm>
          <a:prstGeom prst="rect">
            <a:avLst/>
          </a:prstGeom>
        </p:spPr>
        <p:txBody>
          <a:bodyPr/>
          <a:lstStyle/>
          <a:p>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194845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2839321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ea typeface="+mn-ea"/>
              <a:cs typeface="+mn-cs"/>
            </a:endParaRPr>
          </a:p>
        </p:txBody>
      </p:sp>
    </p:spTree>
    <p:extLst>
      <p:ext uri="{BB962C8B-B14F-4D97-AF65-F5344CB8AC3E}">
        <p14:creationId xmlns="" xmlns:p14="http://schemas.microsoft.com/office/powerpoint/2010/main" val="1494048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22910-D91E-430D-B0D5-3F021D62A7CE}" type="datetimeFigureOut">
              <a:rPr lang="en-US" smtClean="0"/>
              <a:pPr/>
              <a:t>3/30/2025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7AA780-50D9-476A-81C5-9B35B33CD803}"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3.svg"/><Relationship Id="rId3" Type="http://schemas.openxmlformats.org/officeDocument/2006/relationships/notesSlide" Target="../notesSlides/notesSlide2.xml"/><Relationship Id="rId7" Type="http://schemas.openxmlformats.org/officeDocument/2006/relationships/image" Target="../media/image27.svg"/><Relationship Id="rId12" Type="http://schemas.openxmlformats.org/officeDocument/2006/relationships/image" Target="../media/image9.png"/><Relationship Id="rId17" Type="http://schemas.openxmlformats.org/officeDocument/2006/relationships/image" Target="../media/image12.png"/><Relationship Id="rId2" Type="http://schemas.openxmlformats.org/officeDocument/2006/relationships/slideLayout" Target="../slideLayouts/slideLayout2.xml"/><Relationship Id="rId16" Type="http://schemas.openxmlformats.org/officeDocument/2006/relationships/image" Target="../media/image11.png"/><Relationship Id="rId1" Type="http://schemas.openxmlformats.org/officeDocument/2006/relationships/tags" Target="../tags/tag2.xml"/><Relationship Id="rId6" Type="http://schemas.openxmlformats.org/officeDocument/2006/relationships/image" Target="../media/image6.png"/><Relationship Id="rId11" Type="http://schemas.openxmlformats.org/officeDocument/2006/relationships/image" Target="../media/image31.sv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29.svg"/><Relationship Id="rId1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47.svg"/><Relationship Id="rId3" Type="http://schemas.openxmlformats.org/officeDocument/2006/relationships/notesSlide" Target="../notesSlides/notesSlide4.xml"/><Relationship Id="rId7" Type="http://schemas.openxmlformats.org/officeDocument/2006/relationships/image" Target="../media/image41.svg"/><Relationship Id="rId12"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4.png"/><Relationship Id="rId11" Type="http://schemas.openxmlformats.org/officeDocument/2006/relationships/image" Target="../media/image45.svg"/><Relationship Id="rId5" Type="http://schemas.openxmlformats.org/officeDocument/2006/relationships/image" Target="../media/image39.svg"/><Relationship Id="rId15" Type="http://schemas.openxmlformats.org/officeDocument/2006/relationships/image" Target="../media/image49.svg"/><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43.sv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5.xml"/><Relationship Id="rId7" Type="http://schemas.openxmlformats.org/officeDocument/2006/relationships/image" Target="../media/image53.sv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20.png"/><Relationship Id="rId5" Type="http://schemas.openxmlformats.org/officeDocument/2006/relationships/image" Target="../media/image51.svg"/><Relationship Id="rId4" Type="http://schemas.openxmlformats.org/officeDocument/2006/relationships/image" Target="../media/image19.png"/><Relationship Id="rId9" Type="http://schemas.openxmlformats.org/officeDocument/2006/relationships/image" Target="../media/image55.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93.svg"/><Relationship Id="rId5" Type="http://schemas.openxmlformats.org/officeDocument/2006/relationships/image" Target="../media/image23.png"/><Relationship Id="rId4" Type="http://schemas.openxmlformats.org/officeDocument/2006/relationships/hyperlink" Target="https://safenet.gemalto.com/multi-factor-authentication/"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64.svg"/><Relationship Id="rId3" Type="http://schemas.openxmlformats.org/officeDocument/2006/relationships/notesSlide" Target="../notesSlides/notesSlide11.xml"/><Relationship Id="rId7" Type="http://schemas.openxmlformats.org/officeDocument/2006/relationships/image" Target="../media/image39.svg"/><Relationship Id="rId12"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25.png"/><Relationship Id="rId11" Type="http://schemas.openxmlformats.org/officeDocument/2006/relationships/image" Target="../media/image62.svg"/><Relationship Id="rId5" Type="http://schemas.openxmlformats.org/officeDocument/2006/relationships/image" Target="../media/image58.svg"/><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image" Target="../media/image60.sv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64.svg"/><Relationship Id="rId3" Type="http://schemas.openxmlformats.org/officeDocument/2006/relationships/notesSlide" Target="../notesSlides/notesSlide12.xml"/><Relationship Id="rId7" Type="http://schemas.openxmlformats.org/officeDocument/2006/relationships/image" Target="../media/image39.svg"/><Relationship Id="rId12"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5.png"/><Relationship Id="rId11" Type="http://schemas.openxmlformats.org/officeDocument/2006/relationships/image" Target="../media/image62.svg"/><Relationship Id="rId5" Type="http://schemas.openxmlformats.org/officeDocument/2006/relationships/image" Target="../media/image58.svg"/><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image" Target="../media/image60.sv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72.svg"/><Relationship Id="rId18" Type="http://schemas.openxmlformats.org/officeDocument/2006/relationships/image" Target="../media/image36.png"/><Relationship Id="rId3" Type="http://schemas.openxmlformats.org/officeDocument/2006/relationships/notesSlide" Target="../notesSlides/notesSlide13.xml"/><Relationship Id="rId7" Type="http://schemas.openxmlformats.org/officeDocument/2006/relationships/image" Target="../media/image68.svg"/><Relationship Id="rId12" Type="http://schemas.openxmlformats.org/officeDocument/2006/relationships/image" Target="../media/image33.png"/><Relationship Id="rId17" Type="http://schemas.openxmlformats.org/officeDocument/2006/relationships/image" Target="../media/image76.svg"/><Relationship Id="rId2" Type="http://schemas.openxmlformats.org/officeDocument/2006/relationships/slideLayout" Target="../slideLayouts/slideLayout2.xml"/><Relationship Id="rId16" Type="http://schemas.openxmlformats.org/officeDocument/2006/relationships/image" Target="../media/image35.png"/><Relationship Id="rId1" Type="http://schemas.openxmlformats.org/officeDocument/2006/relationships/tags" Target="../tags/tag13.xml"/><Relationship Id="rId6" Type="http://schemas.openxmlformats.org/officeDocument/2006/relationships/image" Target="../media/image30.png"/><Relationship Id="rId11" Type="http://schemas.openxmlformats.org/officeDocument/2006/relationships/image" Target="../media/image70.svg"/><Relationship Id="rId5" Type="http://schemas.openxmlformats.org/officeDocument/2006/relationships/image" Target="../media/image66.svg"/><Relationship Id="rId15" Type="http://schemas.openxmlformats.org/officeDocument/2006/relationships/image" Target="../media/image74.svg"/><Relationship Id="rId10" Type="http://schemas.openxmlformats.org/officeDocument/2006/relationships/image" Target="../media/image32.png"/><Relationship Id="rId19" Type="http://schemas.openxmlformats.org/officeDocument/2006/relationships/image" Target="../media/image78.svg"/><Relationship Id="rId4" Type="http://schemas.openxmlformats.org/officeDocument/2006/relationships/image" Target="../media/image29.png"/><Relationship Id="rId9" Type="http://schemas.openxmlformats.org/officeDocument/2006/relationships/image" Target="../media/image60.svg"/><Relationship Id="rId14"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72.svg"/><Relationship Id="rId18" Type="http://schemas.openxmlformats.org/officeDocument/2006/relationships/image" Target="../media/image36.png"/><Relationship Id="rId3" Type="http://schemas.openxmlformats.org/officeDocument/2006/relationships/notesSlide" Target="../notesSlides/notesSlide14.xml"/><Relationship Id="rId7" Type="http://schemas.openxmlformats.org/officeDocument/2006/relationships/image" Target="../media/image68.svg"/><Relationship Id="rId12" Type="http://schemas.openxmlformats.org/officeDocument/2006/relationships/image" Target="../media/image33.png"/><Relationship Id="rId17" Type="http://schemas.openxmlformats.org/officeDocument/2006/relationships/image" Target="../media/image76.svg"/><Relationship Id="rId2" Type="http://schemas.openxmlformats.org/officeDocument/2006/relationships/slideLayout" Target="../slideLayouts/slideLayout2.xml"/><Relationship Id="rId16" Type="http://schemas.openxmlformats.org/officeDocument/2006/relationships/image" Target="../media/image35.png"/><Relationship Id="rId1" Type="http://schemas.openxmlformats.org/officeDocument/2006/relationships/tags" Target="../tags/tag14.xml"/><Relationship Id="rId6" Type="http://schemas.openxmlformats.org/officeDocument/2006/relationships/image" Target="../media/image30.png"/><Relationship Id="rId11" Type="http://schemas.openxmlformats.org/officeDocument/2006/relationships/image" Target="../media/image70.svg"/><Relationship Id="rId5" Type="http://schemas.openxmlformats.org/officeDocument/2006/relationships/image" Target="../media/image66.svg"/><Relationship Id="rId15" Type="http://schemas.openxmlformats.org/officeDocument/2006/relationships/image" Target="../media/image74.svg"/><Relationship Id="rId10" Type="http://schemas.openxmlformats.org/officeDocument/2006/relationships/image" Target="../media/image32.png"/><Relationship Id="rId19" Type="http://schemas.openxmlformats.org/officeDocument/2006/relationships/image" Target="../media/image78.svg"/><Relationship Id="rId4" Type="http://schemas.openxmlformats.org/officeDocument/2006/relationships/image" Target="../media/image29.png"/><Relationship Id="rId9" Type="http://schemas.openxmlformats.org/officeDocument/2006/relationships/image" Target="../media/image60.svg"/><Relationship Id="rId1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AWS</a:t>
            </a:r>
            <a:endParaRPr lang="en-US" dirty="0"/>
          </a:p>
        </p:txBody>
      </p:sp>
      <p:sp>
        <p:nvSpPr>
          <p:cNvPr id="3" name="Subtitle 2"/>
          <p:cNvSpPr>
            <a:spLocks noGrp="1"/>
          </p:cNvSpPr>
          <p:nvPr>
            <p:ph type="subTitle" idx="1"/>
          </p:nvPr>
        </p:nvSpPr>
        <p:spPr/>
        <p:txBody>
          <a:bodyPr/>
          <a:lstStyle/>
          <a:p>
            <a:r>
              <a:rPr lang="en-US" dirty="0" smtClean="0"/>
              <a:t>Module 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Details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AWS Security and Compliance, AWS Shared Responsibility Model, </a:t>
            </a:r>
          </a:p>
          <a:p>
            <a:r>
              <a:rPr lang="en-US" dirty="0" smtClean="0"/>
              <a:t>AWS Key Management Service (KMS), AWS WAF (Web Application Firewall), AWS Shield,</a:t>
            </a:r>
          </a:p>
          <a:p>
            <a:r>
              <a:rPr lang="en-US" dirty="0" smtClean="0"/>
              <a:t>AWS Security Best Practices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AWS Security</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TLS encryption is used.</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1" y="4124325"/>
            <a:ext cx="9144000" cy="2047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Server side (at rest)</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Data is encrypted after being received by the server.</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47625" y="3952875"/>
            <a:ext cx="9048750" cy="2143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Client Side</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Encryption by client cannot be decrypted by server</a:t>
            </a:r>
          </a:p>
          <a:p>
            <a:r>
              <a:rPr lang="en-US" dirty="0" smtClean="0"/>
              <a:t>Can be decrypted by receiving client only.</a:t>
            </a:r>
            <a:endParaRPr lang="en-US" dirty="0"/>
          </a:p>
        </p:txBody>
      </p:sp>
      <p:pic>
        <p:nvPicPr>
          <p:cNvPr id="3074" name="Picture 2"/>
          <p:cNvPicPr>
            <a:picLocks noChangeAspect="1" noChangeArrowheads="1"/>
          </p:cNvPicPr>
          <p:nvPr/>
        </p:nvPicPr>
        <p:blipFill>
          <a:blip r:embed="rId2"/>
          <a:srcRect/>
          <a:stretch>
            <a:fillRect/>
          </a:stretch>
        </p:blipFill>
        <p:spPr bwMode="auto">
          <a:xfrm>
            <a:off x="220133" y="3581400"/>
            <a:ext cx="8695267"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AWS shared responsibility model</a:t>
            </a:r>
          </a:p>
        </p:txBody>
      </p:sp>
      <p:pic>
        <p:nvPicPr>
          <p:cNvPr id="6" name="Picture 5" descr="Table showing AWS and customer responsibilities outlines in the notes.">
            <a:extLst>
              <a:ext uri="{FF2B5EF4-FFF2-40B4-BE49-F238E27FC236}">
                <a16:creationId xmlns="" xmlns:a16="http://schemas.microsoft.com/office/drawing/2014/main" id="{D5F4E624-EA61-354F-A853-2DFDFBA31A41}"/>
              </a:ext>
            </a:extLst>
          </p:cNvPr>
          <p:cNvPicPr>
            <a:picLocks noChangeAspect="1"/>
          </p:cNvPicPr>
          <p:nvPr/>
        </p:nvPicPr>
        <p:blipFill>
          <a:blip r:embed="rId4"/>
          <a:stretch>
            <a:fillRect/>
          </a:stretch>
        </p:blipFill>
        <p:spPr>
          <a:xfrm>
            <a:off x="1331365" y="1376417"/>
            <a:ext cx="6481270" cy="4759579"/>
          </a:xfrm>
          <a:prstGeom prst="rect">
            <a:avLst/>
          </a:prstGeom>
        </p:spPr>
      </p:pic>
      <p:sp>
        <p:nvSpPr>
          <p:cNvPr id="3" name="Slide Number Placeholder 2">
            <a:extLst>
              <a:ext uri="{FF2B5EF4-FFF2-40B4-BE49-F238E27FC236}">
                <a16:creationId xmlns="" xmlns:a16="http://schemas.microsoft.com/office/drawing/2014/main" id="{80BEC6BD-FE49-6AFE-F78F-EF5ACD82FD3F}"/>
              </a:ext>
            </a:extLst>
          </p:cNvPr>
          <p:cNvSpPr>
            <a:spLocks noGrp="1"/>
          </p:cNvSpPr>
          <p:nvPr>
            <p:ph type="sldNum" sz="quarter" idx="4294967295"/>
          </p:nvPr>
        </p:nvSpPr>
        <p:spPr>
          <a:xfrm>
            <a:off x="8602042" y="6568410"/>
            <a:ext cx="363196" cy="265176"/>
          </a:xfrm>
          <a:prstGeom prst="rect">
            <a:avLst/>
          </a:prstGeom>
        </p:spPr>
        <p:txBody>
          <a:bodyPr/>
          <a:lstStyle/>
          <a:p>
            <a:fld id="{930176A1-BCF0-4712-97A6-6B495F55390B}" type="slidenum">
              <a:rPr lang="en-US" smtClean="0"/>
              <a:pPr/>
              <a:t>6</a:t>
            </a:fld>
            <a:endParaRPr lang="en-US" dirty="0"/>
          </a:p>
        </p:txBody>
      </p:sp>
    </p:spTree>
    <p:custDataLst>
      <p:tags r:id="rId1"/>
    </p:custDataLst>
    <p:extLst>
      <p:ext uri="{BB962C8B-B14F-4D97-AF65-F5344CB8AC3E}">
        <p14:creationId xmlns="" xmlns:p14="http://schemas.microsoft.com/office/powerpoint/2010/main" val="21158973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BBFEC340-B24E-7F46-896A-C6AABAAC16C3}"/>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a:t>
            </a:fld>
            <a:endParaRPr lang="en-US" dirty="0"/>
          </a:p>
        </p:txBody>
      </p:sp>
      <p:sp>
        <p:nvSpPr>
          <p:cNvPr id="2" name="Title 1"/>
          <p:cNvSpPr>
            <a:spLocks noGrp="1"/>
          </p:cNvSpPr>
          <p:nvPr>
            <p:ph type="title"/>
          </p:nvPr>
        </p:nvSpPr>
        <p:spPr/>
        <p:txBody>
          <a:bodyPr>
            <a:noAutofit/>
          </a:bodyPr>
          <a:lstStyle/>
          <a:p>
            <a:r>
              <a:rPr lang="en-US" dirty="0">
                <a:solidFill>
                  <a:srgbClr val="FF0000"/>
                </a:solidFill>
                <a:latin typeface="+mj-lt"/>
              </a:rPr>
              <a:t>AWS responsibility: Security </a:t>
            </a:r>
            <a:r>
              <a:rPr lang="en-US" i="1" dirty="0">
                <a:solidFill>
                  <a:srgbClr val="FF0000"/>
                </a:solidFill>
                <a:latin typeface="+mj-lt"/>
                <a:ea typeface="Amazon Ember Medium" panose="020B0603020204030204" pitchFamily="34" charset="0"/>
                <a:cs typeface="Amazon Ember Medium" panose="020B0603020204030204" pitchFamily="34" charset="0"/>
              </a:rPr>
              <a:t>of</a:t>
            </a:r>
            <a:r>
              <a:rPr lang="en-US" dirty="0">
                <a:solidFill>
                  <a:srgbClr val="FF0000"/>
                </a:solidFill>
                <a:latin typeface="+mj-lt"/>
              </a:rPr>
              <a:t> the cloud</a:t>
            </a:r>
          </a:p>
        </p:txBody>
      </p:sp>
      <p:sp>
        <p:nvSpPr>
          <p:cNvPr id="5" name="Content Placeholder 4">
            <a:extLst>
              <a:ext uri="{FF2B5EF4-FFF2-40B4-BE49-F238E27FC236}">
                <a16:creationId xmlns="" xmlns:a16="http://schemas.microsoft.com/office/drawing/2014/main" id="{40751EE0-0829-BA4D-840A-AB4C542CD4C6}"/>
              </a:ext>
            </a:extLst>
          </p:cNvPr>
          <p:cNvSpPr>
            <a:spLocks noGrp="1"/>
          </p:cNvSpPr>
          <p:nvPr>
            <p:ph sz="quarter" idx="4294967295"/>
          </p:nvPr>
        </p:nvSpPr>
        <p:spPr>
          <a:xfrm>
            <a:off x="4684014" y="1527048"/>
            <a:ext cx="4128516" cy="4645152"/>
          </a:xfrm>
          <a:prstGeom prst="rect">
            <a:avLst/>
          </a:prstGeom>
        </p:spPr>
        <p:txBody>
          <a:bodyPr>
            <a:normAutofit fontScale="92500" lnSpcReduction="10000"/>
          </a:bodyPr>
          <a:lstStyle/>
          <a:p>
            <a:pPr marL="0" indent="0">
              <a:buNone/>
            </a:pPr>
            <a:r>
              <a:rPr lang="en-US" sz="2400" dirty="0"/>
              <a:t>AWS responsibilities:</a:t>
            </a:r>
          </a:p>
          <a:p>
            <a:r>
              <a:rPr lang="en-US" sz="2000" dirty="0"/>
              <a:t>Physical security of data centers</a:t>
            </a:r>
          </a:p>
          <a:p>
            <a:pPr lvl="1"/>
            <a:r>
              <a:rPr lang="en-US" sz="1800" dirty="0"/>
              <a:t>Controlled, need-based access</a:t>
            </a:r>
          </a:p>
          <a:p>
            <a:pPr marL="227012" lvl="1" indent="0">
              <a:buNone/>
            </a:pPr>
            <a:endParaRPr lang="en-US" sz="1800" dirty="0"/>
          </a:p>
          <a:p>
            <a:r>
              <a:rPr lang="en-US" sz="2000" dirty="0"/>
              <a:t>Hardware and software infrastructure</a:t>
            </a:r>
          </a:p>
          <a:p>
            <a:pPr lvl="1"/>
            <a:r>
              <a:rPr lang="en-US" sz="1800" dirty="0"/>
              <a:t>Storage decommissioning, host operating system (OS) access logging, and auditing</a:t>
            </a:r>
          </a:p>
          <a:p>
            <a:pPr marL="227012" lvl="1" indent="0">
              <a:buNone/>
            </a:pPr>
            <a:endParaRPr lang="en-US" sz="1800" dirty="0"/>
          </a:p>
          <a:p>
            <a:r>
              <a:rPr lang="en-US" sz="2000" dirty="0"/>
              <a:t>Network infrastructure</a:t>
            </a:r>
          </a:p>
          <a:p>
            <a:pPr lvl="1"/>
            <a:r>
              <a:rPr lang="en-US" sz="1800" dirty="0"/>
              <a:t>Intrusion detection</a:t>
            </a:r>
          </a:p>
          <a:p>
            <a:pPr marL="227012" lvl="1" indent="0">
              <a:buNone/>
            </a:pPr>
            <a:endParaRPr lang="en-US" sz="1800" dirty="0"/>
          </a:p>
          <a:p>
            <a:r>
              <a:rPr lang="en-US" sz="2000" dirty="0"/>
              <a:t>Virtualization infrastructure</a:t>
            </a:r>
          </a:p>
          <a:p>
            <a:pPr lvl="1"/>
            <a:r>
              <a:rPr lang="en-US" sz="1800" dirty="0"/>
              <a:t>Instance isolation</a:t>
            </a:r>
          </a:p>
        </p:txBody>
      </p:sp>
      <p:grpSp>
        <p:nvGrpSpPr>
          <p:cNvPr id="4" name="Group 5" descr="AWS Services showing four icons labeled as follows: compute, storage, database, and networking.">
            <a:extLst>
              <a:ext uri="{FF2B5EF4-FFF2-40B4-BE49-F238E27FC236}">
                <a16:creationId xmlns="" xmlns:a16="http://schemas.microsoft.com/office/drawing/2014/main" id="{DFFE68B3-B6EB-4267-639F-85C108F3B6F7}"/>
              </a:ext>
            </a:extLst>
          </p:cNvPr>
          <p:cNvGrpSpPr/>
          <p:nvPr/>
        </p:nvGrpSpPr>
        <p:grpSpPr>
          <a:xfrm>
            <a:off x="330750" y="2172635"/>
            <a:ext cx="4095309" cy="1375517"/>
            <a:chOff x="441000" y="2172634"/>
            <a:chExt cx="5460412" cy="1375517"/>
          </a:xfrm>
        </p:grpSpPr>
        <p:sp>
          <p:nvSpPr>
            <p:cNvPr id="18" name="Rectangle 17">
              <a:extLst>
                <a:ext uri="{FF2B5EF4-FFF2-40B4-BE49-F238E27FC236}">
                  <a16:creationId xmlns="" xmlns:a16="http://schemas.microsoft.com/office/drawing/2014/main" id="{1204C99E-1809-DC4F-AA5D-4B07C5CB4A64}"/>
                </a:ext>
              </a:extLst>
            </p:cNvPr>
            <p:cNvSpPr/>
            <p:nvPr/>
          </p:nvSpPr>
          <p:spPr>
            <a:xfrm>
              <a:off x="441000" y="2172634"/>
              <a:ext cx="5323665" cy="136246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b="1" dirty="0">
                  <a:solidFill>
                    <a:schemeClr val="tx1"/>
                  </a:solidFill>
                </a:rPr>
                <a:t>AWS services</a:t>
              </a:r>
            </a:p>
          </p:txBody>
        </p:sp>
        <p:pic>
          <p:nvPicPr>
            <p:cNvPr id="10" name="Graphic 9">
              <a:extLst>
                <a:ext uri="{FF2B5EF4-FFF2-40B4-BE49-F238E27FC236}">
                  <a16:creationId xmlns="" xmlns:a16="http://schemas.microsoft.com/office/drawing/2014/main" id="{0A401706-D3C2-4240-8BCC-E191126A6843}"/>
                </a:ext>
                <a:ext uri="{C183D7F6-B498-43B3-948B-1728B52AA6E4}">
                  <adec:decorative xmlns="" xmlns:adec="http://schemas.microsoft.com/office/drawing/2017/decorative" val="1"/>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736992" y="2582294"/>
              <a:ext cx="659595" cy="659595"/>
            </a:xfrm>
            <a:prstGeom prst="rect">
              <a:avLst/>
            </a:prstGeom>
          </p:spPr>
        </p:pic>
        <p:sp>
          <p:nvSpPr>
            <p:cNvPr id="3" name="TextBox 2">
              <a:extLst>
                <a:ext uri="{FF2B5EF4-FFF2-40B4-BE49-F238E27FC236}">
                  <a16:creationId xmlns="" xmlns:a16="http://schemas.microsoft.com/office/drawing/2014/main" id="{1B20CD48-D3E3-8649-99CD-E7BBAC1D5D35}"/>
                </a:ext>
              </a:extLst>
            </p:cNvPr>
            <p:cNvSpPr txBox="1"/>
            <p:nvPr/>
          </p:nvSpPr>
          <p:spPr>
            <a:xfrm>
              <a:off x="570613" y="3196545"/>
              <a:ext cx="1355500"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Compute</a:t>
              </a:r>
            </a:p>
          </p:txBody>
        </p:sp>
        <p:sp>
          <p:nvSpPr>
            <p:cNvPr id="12" name="TextBox 11">
              <a:extLst>
                <a:ext uri="{FF2B5EF4-FFF2-40B4-BE49-F238E27FC236}">
                  <a16:creationId xmlns="" xmlns:a16="http://schemas.microsoft.com/office/drawing/2014/main" id="{A3335D24-F115-9B4E-963F-7E5DE065A869}"/>
                </a:ext>
              </a:extLst>
            </p:cNvPr>
            <p:cNvSpPr txBox="1"/>
            <p:nvPr/>
          </p:nvSpPr>
          <p:spPr>
            <a:xfrm>
              <a:off x="1883201" y="3195910"/>
              <a:ext cx="1203748"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Storage</a:t>
              </a:r>
            </a:p>
          </p:txBody>
        </p:sp>
        <p:sp>
          <p:nvSpPr>
            <p:cNvPr id="13" name="TextBox 12">
              <a:extLst>
                <a:ext uri="{FF2B5EF4-FFF2-40B4-BE49-F238E27FC236}">
                  <a16:creationId xmlns="" xmlns:a16="http://schemas.microsoft.com/office/drawing/2014/main" id="{66C48087-CD60-0E4A-BC00-261EE7B3DBD8}"/>
                </a:ext>
              </a:extLst>
            </p:cNvPr>
            <p:cNvSpPr txBox="1"/>
            <p:nvPr/>
          </p:nvSpPr>
          <p:spPr>
            <a:xfrm>
              <a:off x="3092260" y="3209597"/>
              <a:ext cx="1415345"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Database</a:t>
              </a:r>
            </a:p>
          </p:txBody>
        </p:sp>
        <p:sp>
          <p:nvSpPr>
            <p:cNvPr id="14" name="TextBox 13">
              <a:extLst>
                <a:ext uri="{FF2B5EF4-FFF2-40B4-BE49-F238E27FC236}">
                  <a16:creationId xmlns="" xmlns:a16="http://schemas.microsoft.com/office/drawing/2014/main" id="{EFDF146A-9CD5-AB48-BD87-2DC140812655}"/>
                </a:ext>
              </a:extLst>
            </p:cNvPr>
            <p:cNvSpPr txBox="1"/>
            <p:nvPr/>
          </p:nvSpPr>
          <p:spPr>
            <a:xfrm>
              <a:off x="4289432" y="3209597"/>
              <a:ext cx="1611980"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Networking</a:t>
              </a:r>
            </a:p>
          </p:txBody>
        </p:sp>
        <p:pic>
          <p:nvPicPr>
            <p:cNvPr id="15" name="Graphic 14">
              <a:extLst>
                <a:ext uri="{FF2B5EF4-FFF2-40B4-BE49-F238E27FC236}">
                  <a16:creationId xmlns="" xmlns:a16="http://schemas.microsoft.com/office/drawing/2014/main" id="{9500C1C1-62F5-0145-B5BD-61AEE95E6B32}"/>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3306967" y="2582294"/>
              <a:ext cx="659595" cy="659595"/>
            </a:xfrm>
            <a:prstGeom prst="rect">
              <a:avLst/>
            </a:prstGeom>
          </p:spPr>
        </p:pic>
        <p:pic>
          <p:nvPicPr>
            <p:cNvPr id="16" name="Graphic 15">
              <a:extLst>
                <a:ext uri="{FF2B5EF4-FFF2-40B4-BE49-F238E27FC236}">
                  <a16:creationId xmlns="" xmlns:a16="http://schemas.microsoft.com/office/drawing/2014/main" id="{A06448C9-6A1E-E74F-A9AF-2B21ED1B525F}"/>
                </a:ext>
                <a:ext uri="{C183D7F6-B498-43B3-948B-1728B52AA6E4}">
                  <adec:decorative xmlns="" xmlns:adec="http://schemas.microsoft.com/office/drawing/2017/decorative" val="1"/>
                </a:ext>
              </a:extLst>
            </p:cNvPr>
            <p:cNvPicPr>
              <a:picLocks noChangeAspect="1"/>
            </p:cNvPicPr>
            <p:nvPr/>
          </p:nvPicPr>
          <p:blipFill>
            <a:blip r:embed="rId8" cstate="print">
              <a:extLst>
                <a:ext uri="{96DAC541-7B7A-43D3-8B79-37D633B846F1}">
                  <asvg:svgBlip xmlns="" xmlns:asvg="http://schemas.microsoft.com/office/drawing/2016/SVG/main" r:embed="rId9"/>
                </a:ext>
              </a:extLst>
            </a:blip>
            <a:stretch>
              <a:fillRect/>
            </a:stretch>
          </p:blipFill>
          <p:spPr>
            <a:xfrm>
              <a:off x="2021979" y="2582294"/>
              <a:ext cx="659596" cy="659596"/>
            </a:xfrm>
            <a:prstGeom prst="rect">
              <a:avLst/>
            </a:prstGeom>
          </p:spPr>
        </p:pic>
        <p:pic>
          <p:nvPicPr>
            <p:cNvPr id="17" name="Graphic 16">
              <a:extLst>
                <a:ext uri="{FF2B5EF4-FFF2-40B4-BE49-F238E27FC236}">
                  <a16:creationId xmlns="" xmlns:a16="http://schemas.microsoft.com/office/drawing/2014/main" id="{4C83EBCD-3B3F-CC4D-931C-23846B80B140}"/>
                </a:ext>
                <a:ext uri="{C183D7F6-B498-43B3-948B-1728B52AA6E4}">
                  <adec:decorative xmlns="" xmlns:adec="http://schemas.microsoft.com/office/drawing/2017/decorative" val="1"/>
                </a:ext>
              </a:extLst>
            </p:cNvPr>
            <p:cNvPicPr>
              <a:picLocks noChangeAspect="1"/>
            </p:cNvPicPr>
            <p:nvPr/>
          </p:nvPicPr>
          <p:blipFill>
            <a:blip r:embed="rId10" cstate="print">
              <a:extLst>
                <a:ext uri="{96DAC541-7B7A-43D3-8B79-37D633B846F1}">
                  <asvg:svgBlip xmlns="" xmlns:asvg="http://schemas.microsoft.com/office/drawing/2016/SVG/main" r:embed="rId11"/>
                </a:ext>
              </a:extLst>
            </a:blip>
            <a:stretch>
              <a:fillRect/>
            </a:stretch>
          </p:blipFill>
          <p:spPr>
            <a:xfrm>
              <a:off x="4591955" y="2582294"/>
              <a:ext cx="659595" cy="659595"/>
            </a:xfrm>
            <a:prstGeom prst="rect">
              <a:avLst/>
            </a:prstGeom>
          </p:spPr>
        </p:pic>
      </p:grpSp>
      <p:grpSp>
        <p:nvGrpSpPr>
          <p:cNvPr id="6" name="Group 7" descr="Box labeled AWS Global Infrastructure containing an icon labeled &quot;Edge locations&quot; and another labeled &quot;Regions&quot; that contains an item labeled &quot;Availability Zones.&quot;">
            <a:extLst>
              <a:ext uri="{FF2B5EF4-FFF2-40B4-BE49-F238E27FC236}">
                <a16:creationId xmlns="" xmlns:a16="http://schemas.microsoft.com/office/drawing/2014/main" id="{3AF02045-8D0B-78BB-EDE2-E288212C27EB}"/>
              </a:ext>
            </a:extLst>
          </p:cNvPr>
          <p:cNvGrpSpPr/>
          <p:nvPr/>
        </p:nvGrpSpPr>
        <p:grpSpPr>
          <a:xfrm>
            <a:off x="330750" y="3660495"/>
            <a:ext cx="3992749" cy="1362464"/>
            <a:chOff x="441000" y="3660495"/>
            <a:chExt cx="5323665" cy="1362464"/>
          </a:xfrm>
        </p:grpSpPr>
        <p:sp>
          <p:nvSpPr>
            <p:cNvPr id="19" name="Rectangle 18">
              <a:extLst>
                <a:ext uri="{FF2B5EF4-FFF2-40B4-BE49-F238E27FC236}">
                  <a16:creationId xmlns="" xmlns:a16="http://schemas.microsoft.com/office/drawing/2014/main" id="{C859B9F7-4319-CB42-A6B4-B6C986D043D6}"/>
                </a:ext>
              </a:extLst>
            </p:cNvPr>
            <p:cNvSpPr/>
            <p:nvPr/>
          </p:nvSpPr>
          <p:spPr>
            <a:xfrm>
              <a:off x="441000" y="3660495"/>
              <a:ext cx="5323665" cy="13624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dirty="0">
                  <a:solidFill>
                    <a:schemeClr val="tx1"/>
                  </a:solidFill>
                  <a:latin typeface="Amazon Ember" panose="02000000000000000000" pitchFamily="2" charset="0"/>
                  <a:ea typeface="Amazon Ember" panose="02000000000000000000" pitchFamily="2" charset="0"/>
                </a:rPr>
                <a:t>AWS Global </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Infrastructure</a:t>
              </a:r>
            </a:p>
          </p:txBody>
        </p:sp>
        <p:sp>
          <p:nvSpPr>
            <p:cNvPr id="20" name="Rectangle 19">
              <a:extLst>
                <a:ext uri="{FF2B5EF4-FFF2-40B4-BE49-F238E27FC236}">
                  <a16:creationId xmlns="" xmlns:a16="http://schemas.microsoft.com/office/drawing/2014/main" id="{B56B23F6-830F-BE4B-BF7A-870E0F8EC5D8}"/>
                </a:ext>
              </a:extLst>
            </p:cNvPr>
            <p:cNvSpPr/>
            <p:nvPr/>
          </p:nvSpPr>
          <p:spPr>
            <a:xfrm>
              <a:off x="2010012" y="3773587"/>
              <a:ext cx="2013886" cy="1024566"/>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tx1"/>
                  </a:solidFill>
                  <a:latin typeface="Amazon Ember" panose="02000000000000000000" pitchFamily="2" charset="0"/>
                  <a:ea typeface="Amazon Ember" panose="02000000000000000000" pitchFamily="2" charset="0"/>
                </a:rPr>
                <a:t>Regions</a:t>
              </a:r>
              <a:endParaRPr lang="en-US" sz="1200" dirty="0">
                <a:solidFill>
                  <a:schemeClr val="tx1"/>
                </a:solidFill>
                <a:latin typeface="Amazon Ember" panose="02000000000000000000" pitchFamily="2" charset="0"/>
                <a:ea typeface="Amazon Ember" panose="02000000000000000000" pitchFamily="2" charset="0"/>
              </a:endParaRPr>
            </a:p>
          </p:txBody>
        </p:sp>
        <p:pic>
          <p:nvPicPr>
            <p:cNvPr id="21" name="Graphic 20">
              <a:extLst>
                <a:ext uri="{FF2B5EF4-FFF2-40B4-BE49-F238E27FC236}">
                  <a16:creationId xmlns="" xmlns:a16="http://schemas.microsoft.com/office/drawing/2014/main" id="{D8269494-C325-A941-BC53-08B5862DBB8F}"/>
                </a:ext>
                <a:ext uri="{C183D7F6-B498-43B3-948B-1728B52AA6E4}">
                  <adec:decorative xmlns="" xmlns:adec="http://schemas.microsoft.com/office/drawing/2017/decorative" val="1"/>
                </a:ext>
              </a:extLst>
            </p:cNvPr>
            <p:cNvPicPr>
              <a:picLocks noChangeAspect="1"/>
            </p:cNvPicPr>
            <p:nvPr/>
          </p:nvPicPr>
          <p:blipFill>
            <a:blip r:embed="rId12" cstate="print">
              <a:extLst>
                <a:ext uri="{96DAC541-7B7A-43D3-8B79-37D633B846F1}">
                  <asvg:svgBlip xmlns="" xmlns:asvg="http://schemas.microsoft.com/office/drawing/2016/SVG/main" r:embed="rId13"/>
                </a:ext>
              </a:extLst>
            </a:blip>
            <a:stretch>
              <a:fillRect/>
            </a:stretch>
          </p:blipFill>
          <p:spPr>
            <a:xfrm>
              <a:off x="2010012" y="3773587"/>
              <a:ext cx="330200" cy="330200"/>
            </a:xfrm>
            <a:prstGeom prst="rect">
              <a:avLst/>
            </a:prstGeom>
          </p:spPr>
        </p:pic>
        <p:sp>
          <p:nvSpPr>
            <p:cNvPr id="22" name="Rectangle 21">
              <a:extLst>
                <a:ext uri="{FF2B5EF4-FFF2-40B4-BE49-F238E27FC236}">
                  <a16:creationId xmlns="" xmlns:a16="http://schemas.microsoft.com/office/drawing/2014/main" id="{E9CA7CAF-24D0-9748-8D87-F79A061B2AC9}"/>
                </a:ext>
              </a:extLst>
            </p:cNvPr>
            <p:cNvSpPr/>
            <p:nvPr/>
          </p:nvSpPr>
          <p:spPr>
            <a:xfrm>
              <a:off x="2072779" y="4224459"/>
              <a:ext cx="1877626" cy="466604"/>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rPr>
                <a:t>Availability Zones</a:t>
              </a:r>
            </a:p>
          </p:txBody>
        </p:sp>
        <p:sp>
          <p:nvSpPr>
            <p:cNvPr id="24" name="TextBox 23" descr="box labeled AWS Global Infrastructure. Shows  a Regions box containing Availability Zones and an icon labeled Edge locations.">
              <a:extLst>
                <a:ext uri="{FF2B5EF4-FFF2-40B4-BE49-F238E27FC236}">
                  <a16:creationId xmlns="" xmlns:a16="http://schemas.microsoft.com/office/drawing/2014/main" id="{35FE19B9-7FDC-C64D-99F4-6D3C264F05D4}"/>
                </a:ext>
              </a:extLst>
            </p:cNvPr>
            <p:cNvSpPr txBox="1"/>
            <p:nvPr/>
          </p:nvSpPr>
          <p:spPr>
            <a:xfrm>
              <a:off x="4109806" y="4386028"/>
              <a:ext cx="1654859" cy="584775"/>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rial" panose="020B0604020202020204" pitchFamily="34" charset="0"/>
                </a:rPr>
                <a:t>Edge locations</a:t>
              </a:r>
            </a:p>
          </p:txBody>
        </p:sp>
        <p:pic>
          <p:nvPicPr>
            <p:cNvPr id="25" name="Graphic 24">
              <a:extLst>
                <a:ext uri="{FF2B5EF4-FFF2-40B4-BE49-F238E27FC236}">
                  <a16:creationId xmlns="" xmlns:a16="http://schemas.microsoft.com/office/drawing/2014/main" id="{78A233E0-26B9-DF4D-9339-6BD1AC512A42}"/>
                </a:ext>
                <a:ext uri="{C183D7F6-B498-43B3-948B-1728B52AA6E4}">
                  <adec:decorative xmlns="" xmlns:adec="http://schemas.microsoft.com/office/drawing/2017/decorative" val="1"/>
                </a:ext>
              </a:extLst>
            </p:cNvPr>
            <p:cNvPicPr>
              <a:picLocks noChangeAspect="1"/>
            </p:cNvPicPr>
            <p:nvPr/>
          </p:nvPicPr>
          <p:blipFill>
            <a:blip r:embed="rId14" cstate="print">
              <a:extLst>
                <a:ext uri="{96DAC541-7B7A-43D3-8B79-37D633B846F1}">
                  <asvg:svgBlip xmlns="" xmlns:asvg="http://schemas.microsoft.com/office/drawing/2016/SVG/main" r:embed="rId15"/>
                </a:ext>
              </a:extLst>
            </a:blip>
            <a:stretch>
              <a:fillRect/>
            </a:stretch>
          </p:blipFill>
          <p:spPr>
            <a:xfrm>
              <a:off x="4659331" y="3894752"/>
              <a:ext cx="469900" cy="469900"/>
            </a:xfrm>
            <a:prstGeom prst="rect">
              <a:avLst/>
            </a:prstGeom>
          </p:spPr>
        </p:pic>
      </p:grpSp>
      <p:pic>
        <p:nvPicPr>
          <p:cNvPr id="11" name="Picture 10">
            <a:extLst>
              <a:ext uri="{FF2B5EF4-FFF2-40B4-BE49-F238E27FC236}">
                <a16:creationId xmlns="" xmlns:a16="http://schemas.microsoft.com/office/drawing/2014/main" id="{B7C3252A-593F-224A-8569-BF6868508692}"/>
              </a:ext>
              <a:ext uri="{C183D7F6-B498-43B3-948B-1728B52AA6E4}">
                <adec:decorative xmlns="" xmlns:adec="http://schemas.microsoft.com/office/drawing/2017/decorative" val="1"/>
              </a:ext>
            </a:extLst>
          </p:cNvPr>
          <p:cNvPicPr>
            <a:picLocks noChangeAspect="1"/>
          </p:cNvPicPr>
          <p:nvPr/>
        </p:nvPicPr>
        <p:blipFill>
          <a:blip r:embed="rId16" cstate="print"/>
          <a:stretch>
            <a:fillRect/>
          </a:stretch>
        </p:blipFill>
        <p:spPr>
          <a:xfrm>
            <a:off x="7935345" y="1524228"/>
            <a:ext cx="894331" cy="1199988"/>
          </a:xfrm>
          <a:prstGeom prst="rect">
            <a:avLst/>
          </a:prstGeom>
        </p:spPr>
      </p:pic>
      <p:pic>
        <p:nvPicPr>
          <p:cNvPr id="26" name="Picture 25">
            <a:extLst>
              <a:ext uri="{FF2B5EF4-FFF2-40B4-BE49-F238E27FC236}">
                <a16:creationId xmlns="" xmlns:a16="http://schemas.microsoft.com/office/drawing/2014/main" id="{E9D390CA-BA69-2C45-AE15-2219534BD377}"/>
              </a:ext>
              <a:ext uri="{C183D7F6-B498-43B3-948B-1728B52AA6E4}">
                <adec:decorative xmlns="" xmlns:adec="http://schemas.microsoft.com/office/drawing/2017/decorative" val="1"/>
              </a:ext>
            </a:extLst>
          </p:cNvPr>
          <p:cNvPicPr>
            <a:picLocks noChangeAspect="1"/>
          </p:cNvPicPr>
          <p:nvPr/>
        </p:nvPicPr>
        <p:blipFill>
          <a:blip r:embed="rId17"/>
          <a:stretch>
            <a:fillRect/>
          </a:stretch>
        </p:blipFill>
        <p:spPr>
          <a:xfrm>
            <a:off x="7535002" y="4088577"/>
            <a:ext cx="1278248" cy="1204973"/>
          </a:xfrm>
          <a:prstGeom prst="rect">
            <a:avLst/>
          </a:prstGeom>
        </p:spPr>
      </p:pic>
    </p:spTree>
    <p:custDataLst>
      <p:tags r:id="rId1"/>
    </p:custDataLst>
    <p:extLst>
      <p:ext uri="{BB962C8B-B14F-4D97-AF65-F5344CB8AC3E}">
        <p14:creationId xmlns="" xmlns:p14="http://schemas.microsoft.com/office/powerpoint/2010/main" val="1535980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B02AD194-FDCE-DE40-ACDC-34462D47F30C}"/>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8</a:t>
            </a:fld>
            <a:endParaRPr lang="en-US" dirty="0"/>
          </a:p>
        </p:txBody>
      </p:sp>
      <p:sp>
        <p:nvSpPr>
          <p:cNvPr id="2" name="Title 1"/>
          <p:cNvSpPr>
            <a:spLocks noGrp="1"/>
          </p:cNvSpPr>
          <p:nvPr>
            <p:ph type="title"/>
          </p:nvPr>
        </p:nvSpPr>
        <p:spPr/>
        <p:txBody>
          <a:bodyPr>
            <a:noAutofit/>
          </a:bodyPr>
          <a:lstStyle/>
          <a:p>
            <a:r>
              <a:rPr lang="en-US" dirty="0">
                <a:solidFill>
                  <a:srgbClr val="FF0000"/>
                </a:solidFill>
                <a:latin typeface="+mj-lt"/>
              </a:rPr>
              <a:t>Customer responsibility: Security </a:t>
            </a:r>
            <a:r>
              <a:rPr lang="en-US" i="1" dirty="0">
                <a:solidFill>
                  <a:srgbClr val="FF0000"/>
                </a:solidFill>
                <a:latin typeface="+mj-lt"/>
                <a:ea typeface="Amazon Ember" panose="020B0603020204020204" pitchFamily="34" charset="0"/>
                <a:cs typeface="Amazon Ember" panose="020B0603020204020204" pitchFamily="34" charset="0"/>
              </a:rPr>
              <a:t>in</a:t>
            </a:r>
            <a:r>
              <a:rPr lang="en-US" b="1" dirty="0">
                <a:solidFill>
                  <a:srgbClr val="FF0000"/>
                </a:solidFill>
                <a:latin typeface="+mj-lt"/>
              </a:rPr>
              <a:t> </a:t>
            </a:r>
            <a:r>
              <a:rPr lang="en-US" dirty="0">
                <a:solidFill>
                  <a:srgbClr val="FF0000"/>
                </a:solidFill>
                <a:latin typeface="+mj-lt"/>
              </a:rPr>
              <a:t>the cloud</a:t>
            </a:r>
          </a:p>
        </p:txBody>
      </p:sp>
      <p:sp>
        <p:nvSpPr>
          <p:cNvPr id="4" name="Content Placeholder 3">
            <a:extLst>
              <a:ext uri="{FF2B5EF4-FFF2-40B4-BE49-F238E27FC236}">
                <a16:creationId xmlns="" xmlns:a16="http://schemas.microsoft.com/office/drawing/2014/main" id="{C8DC1965-B68E-EA4E-9BED-CDBA4C6064DA}"/>
              </a:ext>
            </a:extLst>
          </p:cNvPr>
          <p:cNvSpPr>
            <a:spLocks noGrp="1"/>
          </p:cNvSpPr>
          <p:nvPr>
            <p:ph sz="quarter" idx="4294967295"/>
          </p:nvPr>
        </p:nvSpPr>
        <p:spPr>
          <a:xfrm>
            <a:off x="4684014" y="1527048"/>
            <a:ext cx="4128516" cy="4645152"/>
          </a:xfrm>
          <a:prstGeom prst="rect">
            <a:avLst/>
          </a:prstGeom>
        </p:spPr>
        <p:txBody>
          <a:bodyPr>
            <a:normAutofit fontScale="92500" lnSpcReduction="10000"/>
          </a:bodyPr>
          <a:lstStyle/>
          <a:p>
            <a:pPr marL="0" indent="0">
              <a:buNone/>
            </a:pPr>
            <a:r>
              <a:rPr lang="en-US" sz="2400" dirty="0"/>
              <a:t>Customer responsibilities:</a:t>
            </a:r>
          </a:p>
          <a:p>
            <a:r>
              <a:rPr lang="en-US" sz="2000" dirty="0"/>
              <a:t>Amazon Elastic Compute Cloud (Amazon EC2) instance </a:t>
            </a:r>
            <a:r>
              <a:rPr lang="en-US" sz="2000" dirty="0">
                <a:solidFill>
                  <a:schemeClr val="accent6"/>
                </a:solidFill>
              </a:rPr>
              <a:t>operating system</a:t>
            </a:r>
          </a:p>
          <a:p>
            <a:pPr lvl="1"/>
            <a:r>
              <a:rPr lang="en-US" sz="1800" dirty="0"/>
              <a:t>Including patching, maintenance</a:t>
            </a:r>
          </a:p>
          <a:p>
            <a:r>
              <a:rPr lang="en-US" sz="2000" dirty="0">
                <a:solidFill>
                  <a:schemeClr val="accent6"/>
                </a:solidFill>
              </a:rPr>
              <a:t>Applications</a:t>
            </a:r>
            <a:endParaRPr lang="en-US" sz="2000" dirty="0"/>
          </a:p>
          <a:p>
            <a:pPr lvl="1"/>
            <a:r>
              <a:rPr lang="en-US" sz="1800" dirty="0"/>
              <a:t>Passwords, role-based access, etc.</a:t>
            </a:r>
          </a:p>
          <a:p>
            <a:r>
              <a:rPr lang="en-US" sz="2000" dirty="0">
                <a:solidFill>
                  <a:schemeClr val="accent6"/>
                </a:solidFill>
              </a:rPr>
              <a:t>Security group </a:t>
            </a:r>
            <a:r>
              <a:rPr lang="en-US" sz="2000" dirty="0"/>
              <a:t>configuration</a:t>
            </a:r>
          </a:p>
          <a:p>
            <a:r>
              <a:rPr lang="en-US" sz="2000" dirty="0"/>
              <a:t>OS or host-based </a:t>
            </a:r>
            <a:r>
              <a:rPr lang="en-US" sz="2000" dirty="0">
                <a:solidFill>
                  <a:schemeClr val="accent6"/>
                </a:solidFill>
              </a:rPr>
              <a:t>firewalls</a:t>
            </a:r>
            <a:endParaRPr lang="en-US" sz="2000" dirty="0"/>
          </a:p>
          <a:p>
            <a:pPr lvl="1"/>
            <a:r>
              <a:rPr lang="en-US" sz="1800" dirty="0"/>
              <a:t>Including intrusion detection or prevention systems</a:t>
            </a:r>
          </a:p>
          <a:p>
            <a:r>
              <a:rPr lang="en-US" sz="2000" dirty="0">
                <a:solidFill>
                  <a:schemeClr val="accent6"/>
                </a:solidFill>
              </a:rPr>
              <a:t>Network</a:t>
            </a:r>
            <a:r>
              <a:rPr lang="en-US" sz="2000" dirty="0"/>
              <a:t> configurations</a:t>
            </a:r>
          </a:p>
          <a:p>
            <a:r>
              <a:rPr lang="en-US" sz="2000" dirty="0"/>
              <a:t>Account management</a:t>
            </a:r>
          </a:p>
          <a:p>
            <a:pPr lvl="1"/>
            <a:r>
              <a:rPr lang="en-US" sz="1800" dirty="0"/>
              <a:t>Login and permission settings for each user</a:t>
            </a:r>
            <a:endParaRPr lang="en-US" sz="2000" dirty="0"/>
          </a:p>
        </p:txBody>
      </p:sp>
      <p:sp>
        <p:nvSpPr>
          <p:cNvPr id="20" name="TextBox 19"/>
          <p:cNvSpPr txBox="1"/>
          <p:nvPr/>
        </p:nvSpPr>
        <p:spPr>
          <a:xfrm>
            <a:off x="908568" y="5456345"/>
            <a:ext cx="2862311" cy="345451"/>
          </a:xfrm>
          <a:prstGeom prst="rect">
            <a:avLst/>
          </a:prstGeom>
          <a:noFill/>
        </p:spPr>
        <p:txBody>
          <a:bodyPr wrap="square" lIns="67744" tIns="33895" rIns="67744" bIns="33895" rtlCol="0">
            <a:spAutoFit/>
          </a:bodyPr>
          <a:lstStyle/>
          <a:p>
            <a:pPr algn="ctr" defTabSz="457200"/>
            <a:r>
              <a:rPr lang="en-US" kern="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Customer-configurable</a:t>
            </a:r>
          </a:p>
        </p:txBody>
      </p:sp>
      <p:sp>
        <p:nvSpPr>
          <p:cNvPr id="26" name="Rectangle 5" descr="Customer data."/>
          <p:cNvSpPr/>
          <p:nvPr/>
        </p:nvSpPr>
        <p:spPr bwMode="auto">
          <a:xfrm>
            <a:off x="318760" y="2210463"/>
            <a:ext cx="4041926" cy="562791"/>
          </a:xfrm>
          <a:prstGeom prst="roundRect">
            <a:avLst/>
          </a:prstGeom>
          <a:solidFill>
            <a:srgbClr val="D6F4F0"/>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Customer data</a:t>
            </a:r>
          </a:p>
        </p:txBody>
      </p:sp>
      <p:sp>
        <p:nvSpPr>
          <p:cNvPr id="24" name="Rectangle 5" descr="Applications, IAM."/>
          <p:cNvSpPr/>
          <p:nvPr/>
        </p:nvSpPr>
        <p:spPr bwMode="auto">
          <a:xfrm>
            <a:off x="318760" y="2849819"/>
            <a:ext cx="4041926" cy="562791"/>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Applications, IAM</a:t>
            </a:r>
          </a:p>
        </p:txBody>
      </p:sp>
      <p:sp>
        <p:nvSpPr>
          <p:cNvPr id="25" name="Rectangle 5" descr="Operating system, network, and firewall configuration."/>
          <p:cNvSpPr/>
          <p:nvPr/>
        </p:nvSpPr>
        <p:spPr bwMode="auto">
          <a:xfrm>
            <a:off x="329723" y="3481027"/>
            <a:ext cx="4038540" cy="517606"/>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Operating system, network, and firewall configuration</a:t>
            </a:r>
          </a:p>
        </p:txBody>
      </p:sp>
      <p:sp>
        <p:nvSpPr>
          <p:cNvPr id="28" name="Rectangle 5" descr="Client-side data&#10;encryption and data integrity authentication."/>
          <p:cNvSpPr/>
          <p:nvPr/>
        </p:nvSpPr>
        <p:spPr bwMode="auto">
          <a:xfrm>
            <a:off x="326962" y="4069771"/>
            <a:ext cx="1324552"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Client-side data</a:t>
            </a:r>
          </a:p>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and data integrity authentication</a:t>
            </a:r>
          </a:p>
        </p:txBody>
      </p:sp>
      <p:sp>
        <p:nvSpPr>
          <p:cNvPr id="29" name="Rectangle 5" descr="Server-side encryption (file system or data)."/>
          <p:cNvSpPr/>
          <p:nvPr/>
        </p:nvSpPr>
        <p:spPr bwMode="auto">
          <a:xfrm>
            <a:off x="1683957" y="4079277"/>
            <a:ext cx="1324552" cy="1324264"/>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Server-side encryption </a:t>
            </a:r>
          </a:p>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(file system or data)</a:t>
            </a:r>
          </a:p>
        </p:txBody>
      </p:sp>
      <p:sp>
        <p:nvSpPr>
          <p:cNvPr id="27" name="Rectangle 5" descr="Network traffic protection (encryption, integrity, identity).&#10;"/>
          <p:cNvSpPr/>
          <p:nvPr/>
        </p:nvSpPr>
        <p:spPr bwMode="auto">
          <a:xfrm>
            <a:off x="3043709" y="4076559"/>
            <a:ext cx="1324552" cy="133847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Network traffic protection</a:t>
            </a:r>
          </a:p>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integrity, identity)</a:t>
            </a:r>
          </a:p>
        </p:txBody>
      </p:sp>
    </p:spTree>
    <p:custDataLst>
      <p:tags r:id="rId1"/>
    </p:custDataLst>
    <p:extLst>
      <p:ext uri="{BB962C8B-B14F-4D97-AF65-F5344CB8AC3E}">
        <p14:creationId xmlns="" xmlns:p14="http://schemas.microsoft.com/office/powerpoint/2010/main" val="35617901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 xmlns:a16="http://schemas.microsoft.com/office/drawing/2014/main" id="{FC4566DC-C2EA-FE46-B4A0-24B3DD03C35E}"/>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9</a:t>
            </a:fld>
            <a:endParaRPr lang="en-US" dirty="0"/>
          </a:p>
        </p:txBody>
      </p:sp>
      <p:sp>
        <p:nvSpPr>
          <p:cNvPr id="28" name="Title 1">
            <a:extLst>
              <a:ext uri="{FF2B5EF4-FFF2-40B4-BE49-F238E27FC236}">
                <a16:creationId xmlns="" xmlns:a16="http://schemas.microsoft.com/office/drawing/2014/main" id="{50E36C29-8FC1-9346-A380-6D0710444240}"/>
              </a:ext>
            </a:extLst>
          </p:cNvPr>
          <p:cNvSpPr>
            <a:spLocks noGrp="1"/>
          </p:cNvSpPr>
          <p:nvPr>
            <p:ph type="title"/>
          </p:nvPr>
        </p:nvSpPr>
        <p:spPr/>
        <p:txBody>
          <a:bodyPr>
            <a:noAutofit/>
          </a:bodyPr>
          <a:lstStyle/>
          <a:p>
            <a:r>
              <a:rPr lang="en-US" dirty="0">
                <a:solidFill>
                  <a:srgbClr val="FF0000"/>
                </a:solidFill>
                <a:latin typeface="+mj-lt"/>
              </a:rPr>
              <a:t>Service characteristics and security responsibility (1 of 2)</a:t>
            </a:r>
          </a:p>
        </p:txBody>
      </p:sp>
      <p:sp>
        <p:nvSpPr>
          <p:cNvPr id="15" name="Content Placeholder 14">
            <a:extLst>
              <a:ext uri="{FF2B5EF4-FFF2-40B4-BE49-F238E27FC236}">
                <a16:creationId xmlns="" xmlns:a16="http://schemas.microsoft.com/office/drawing/2014/main" id="{6FAB4940-2062-1E4B-B80C-5D09C0E649FA}"/>
              </a:ext>
            </a:extLst>
          </p:cNvPr>
          <p:cNvSpPr>
            <a:spLocks noGrp="1"/>
          </p:cNvSpPr>
          <p:nvPr>
            <p:ph sz="quarter" idx="4294967295"/>
          </p:nvPr>
        </p:nvSpPr>
        <p:spPr>
          <a:xfrm>
            <a:off x="4684014" y="1527048"/>
            <a:ext cx="4128516" cy="4645152"/>
          </a:xfrm>
          <a:prstGeom prst="rect">
            <a:avLst/>
          </a:prstGeom>
        </p:spPr>
        <p:txBody>
          <a:bodyPr>
            <a:normAutofit fontScale="92500" lnSpcReduction="10000"/>
          </a:bodyPr>
          <a:lstStyle/>
          <a:p>
            <a:pPr marL="0" indent="0">
              <a:buNone/>
            </a:pPr>
            <a:r>
              <a:rPr lang="en-US" sz="2400" b="1" dirty="0"/>
              <a:t>Infrastructure as a service (</a:t>
            </a:r>
            <a:r>
              <a:rPr lang="en-US" sz="2400" b="1" dirty="0" err="1"/>
              <a:t>IaaS</a:t>
            </a:r>
            <a:r>
              <a:rPr lang="en-US" sz="2400" b="1" dirty="0"/>
              <a:t>) </a:t>
            </a:r>
          </a:p>
          <a:p>
            <a:r>
              <a:rPr lang="en-US" sz="1800" dirty="0"/>
              <a:t>Customer has more flexibility over configuring networking and storage settings</a:t>
            </a:r>
          </a:p>
          <a:p>
            <a:r>
              <a:rPr lang="en-US" sz="1800" dirty="0"/>
              <a:t>Customer is responsible for managing more aspects of the security </a:t>
            </a:r>
          </a:p>
          <a:p>
            <a:r>
              <a:rPr lang="en-US" sz="1800" dirty="0"/>
              <a:t>Customer configures the access controls </a:t>
            </a:r>
          </a:p>
          <a:p>
            <a:pPr marL="0" indent="0">
              <a:buNone/>
            </a:pPr>
            <a:endParaRPr lang="en-US" sz="1800" dirty="0"/>
          </a:p>
          <a:p>
            <a:pPr marL="0" indent="0">
              <a:buNone/>
            </a:pPr>
            <a:r>
              <a:rPr lang="en-US" sz="2400" b="1" dirty="0"/>
              <a:t>Platform as a service (</a:t>
            </a:r>
            <a:r>
              <a:rPr lang="en-US" sz="2400" b="1" dirty="0" err="1"/>
              <a:t>PaaS</a:t>
            </a:r>
            <a:r>
              <a:rPr lang="en-US" sz="2400" b="1" dirty="0"/>
              <a:t>) </a:t>
            </a:r>
          </a:p>
          <a:p>
            <a:r>
              <a:rPr lang="en-US" sz="1800" dirty="0"/>
              <a:t>Customer does not need to manage the underlying infrastructure</a:t>
            </a:r>
          </a:p>
          <a:p>
            <a:r>
              <a:rPr lang="en-US" sz="1800" dirty="0"/>
              <a:t>AWS handles the operating system, database patching, firewall configuration, and disaster recovery</a:t>
            </a:r>
          </a:p>
          <a:p>
            <a:r>
              <a:rPr lang="en-US" sz="1800" dirty="0"/>
              <a:t>Customer can focus on managing code or data</a:t>
            </a:r>
            <a:endParaRPr lang="en-US" sz="2000" dirty="0"/>
          </a:p>
          <a:p>
            <a:pPr marL="0" indent="0">
              <a:buNone/>
            </a:pPr>
            <a:endParaRPr lang="en-US" sz="1200" dirty="0"/>
          </a:p>
        </p:txBody>
      </p:sp>
      <p:grpSp>
        <p:nvGrpSpPr>
          <p:cNvPr id="2" name="Group 3" descr="Example services managed by the customer, including three examples: EC2, Elastic Block Store, and Amazon VPC.">
            <a:extLst>
              <a:ext uri="{FF2B5EF4-FFF2-40B4-BE49-F238E27FC236}">
                <a16:creationId xmlns="" xmlns:a16="http://schemas.microsoft.com/office/drawing/2014/main" id="{41D77E78-FA29-5647-9B83-3D91593EF2DB}"/>
              </a:ext>
            </a:extLst>
          </p:cNvPr>
          <p:cNvGrpSpPr/>
          <p:nvPr/>
        </p:nvGrpSpPr>
        <p:grpSpPr>
          <a:xfrm>
            <a:off x="244937" y="1516114"/>
            <a:ext cx="3601400" cy="2642828"/>
            <a:chOff x="326582" y="1516113"/>
            <a:chExt cx="4801867" cy="2642828"/>
          </a:xfrm>
        </p:grpSpPr>
        <p:sp>
          <p:nvSpPr>
            <p:cNvPr id="45" name="Rectangle 44">
              <a:extLst>
                <a:ext uri="{FF2B5EF4-FFF2-40B4-BE49-F238E27FC236}">
                  <a16:creationId xmlns="" xmlns:a16="http://schemas.microsoft.com/office/drawing/2014/main" id="{C1453445-1B87-614D-93DA-9DBF2F452C47}"/>
                </a:ext>
              </a:extLst>
            </p:cNvPr>
            <p:cNvSpPr/>
            <p:nvPr/>
          </p:nvSpPr>
          <p:spPr>
            <a:xfrm>
              <a:off x="326582" y="1516113"/>
              <a:ext cx="4801867" cy="223989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Example services managed by the customer</a:t>
              </a:r>
            </a:p>
          </p:txBody>
        </p:sp>
        <p:sp>
          <p:nvSpPr>
            <p:cNvPr id="41" name="TextBox 40">
              <a:extLst>
                <a:ext uri="{FF2B5EF4-FFF2-40B4-BE49-F238E27FC236}">
                  <a16:creationId xmlns="" xmlns:a16="http://schemas.microsoft.com/office/drawing/2014/main" id="{F04AD06B-AE35-624A-9992-EEB39434A661}"/>
                </a:ext>
              </a:extLst>
            </p:cNvPr>
            <p:cNvSpPr txBox="1"/>
            <p:nvPr/>
          </p:nvSpPr>
          <p:spPr>
            <a:xfrm>
              <a:off x="344931" y="2835502"/>
              <a:ext cx="1278964" cy="584775"/>
            </a:xfrm>
            <a:prstGeom prst="rect">
              <a:avLst/>
            </a:prstGeom>
            <a:noFill/>
          </p:spPr>
          <p:txBody>
            <a:bodyPr wrap="square" rtlCol="0">
              <a:spAutoFit/>
            </a:bodyPr>
            <a:lstStyle/>
            <a:p>
              <a:pPr algn="ctr"/>
              <a:r>
                <a:rPr lang="en-US" sz="1600"/>
                <a:t>Amazon </a:t>
              </a:r>
              <a:br>
                <a:rPr lang="en-US" sz="1600"/>
              </a:br>
              <a:r>
                <a:rPr lang="en-US" sz="1600"/>
                <a:t>EC2</a:t>
              </a:r>
            </a:p>
          </p:txBody>
        </p:sp>
        <p:pic>
          <p:nvPicPr>
            <p:cNvPr id="42" name="Graphic 41">
              <a:extLst>
                <a:ext uri="{FF2B5EF4-FFF2-40B4-BE49-F238E27FC236}">
                  <a16:creationId xmlns="" xmlns:a16="http://schemas.microsoft.com/office/drawing/2014/main" id="{EA977331-F586-464D-8939-4A2DF1F2A492}"/>
                </a:ext>
                <a:ext uri="{C183D7F6-B498-43B3-948B-1728B52AA6E4}">
                  <adec:decorative xmlns="" xmlns:adec="http://schemas.microsoft.com/office/drawing/2017/decorative" val="1"/>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617868" y="2093819"/>
              <a:ext cx="720047" cy="711200"/>
            </a:xfrm>
            <a:prstGeom prst="rect">
              <a:avLst/>
            </a:prstGeom>
          </p:spPr>
        </p:pic>
        <p:sp>
          <p:nvSpPr>
            <p:cNvPr id="43" name="TextBox 42">
              <a:extLst>
                <a:ext uri="{FF2B5EF4-FFF2-40B4-BE49-F238E27FC236}">
                  <a16:creationId xmlns="" xmlns:a16="http://schemas.microsoft.com/office/drawing/2014/main" id="{C17D701A-E912-D54C-9B19-2710EAF1C9BF}"/>
                </a:ext>
              </a:extLst>
            </p:cNvPr>
            <p:cNvSpPr txBox="1"/>
            <p:nvPr/>
          </p:nvSpPr>
          <p:spPr>
            <a:xfrm>
              <a:off x="1571163" y="2835502"/>
              <a:ext cx="1581951" cy="1323439"/>
            </a:xfrm>
            <a:prstGeom prst="rect">
              <a:avLst/>
            </a:prstGeom>
            <a:noFill/>
          </p:spPr>
          <p:txBody>
            <a:bodyPr wrap="square" rtlCol="0">
              <a:spAutoFit/>
            </a:bodyPr>
            <a:lstStyle/>
            <a:p>
              <a:pPr algn="ctr"/>
              <a:r>
                <a:rPr lang="en-US" sz="1600"/>
                <a:t>Amazon Elastic Block Store (Amazon EBS)</a:t>
              </a:r>
            </a:p>
          </p:txBody>
        </p:sp>
        <p:pic>
          <p:nvPicPr>
            <p:cNvPr id="44" name="Graphic 43">
              <a:extLst>
                <a:ext uri="{FF2B5EF4-FFF2-40B4-BE49-F238E27FC236}">
                  <a16:creationId xmlns="" xmlns:a16="http://schemas.microsoft.com/office/drawing/2014/main" id="{D34B0274-6A22-F84E-88CE-8A06A7BF77A4}"/>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2021711" y="2093819"/>
              <a:ext cx="720047" cy="711200"/>
            </a:xfrm>
            <a:prstGeom prst="rect">
              <a:avLst/>
            </a:prstGeom>
          </p:spPr>
        </p:pic>
        <p:sp>
          <p:nvSpPr>
            <p:cNvPr id="46" name="TextBox 45">
              <a:extLst>
                <a:ext uri="{FF2B5EF4-FFF2-40B4-BE49-F238E27FC236}">
                  <a16:creationId xmlns="" xmlns:a16="http://schemas.microsoft.com/office/drawing/2014/main" id="{58921647-3DB1-A84C-91A7-83FC8D3A9AA7}"/>
                </a:ext>
              </a:extLst>
            </p:cNvPr>
            <p:cNvSpPr txBox="1"/>
            <p:nvPr/>
          </p:nvSpPr>
          <p:spPr>
            <a:xfrm>
              <a:off x="3020213" y="2789335"/>
              <a:ext cx="2095879" cy="1077218"/>
            </a:xfrm>
            <a:prstGeom prst="rect">
              <a:avLst/>
            </a:prstGeom>
            <a:noFill/>
          </p:spPr>
          <p:txBody>
            <a:bodyPr wrap="square" rtlCol="0">
              <a:spAutoFit/>
            </a:bodyPr>
            <a:lstStyle/>
            <a:p>
              <a:pPr algn="ctr"/>
              <a:r>
                <a:rPr lang="en-US" sz="1600"/>
                <a:t>Amazon </a:t>
              </a:r>
              <a:br>
                <a:rPr lang="en-US" sz="1600"/>
              </a:br>
              <a:r>
                <a:rPr lang="en-US" sz="1600"/>
                <a:t>Virtual Private Cloud (Amazon VPC)</a:t>
              </a:r>
            </a:p>
          </p:txBody>
        </p:sp>
        <p:pic>
          <p:nvPicPr>
            <p:cNvPr id="47" name="Graphic 46">
              <a:extLst>
                <a:ext uri="{FF2B5EF4-FFF2-40B4-BE49-F238E27FC236}">
                  <a16:creationId xmlns="" xmlns:a16="http://schemas.microsoft.com/office/drawing/2014/main" id="{08B831A5-66C5-D24C-AFB4-83D181CB9F86}"/>
                </a:ext>
                <a:ext uri="{C183D7F6-B498-43B3-948B-1728B52AA6E4}">
                  <adec:decorative xmlns="" xmlns:adec="http://schemas.microsoft.com/office/drawing/2017/decorative" val="1"/>
                </a:ext>
              </a:extLst>
            </p:cNvPr>
            <p:cNvPicPr>
              <a:picLocks noChangeAspect="1"/>
            </p:cNvPicPr>
            <p:nvPr/>
          </p:nvPicPr>
          <p:blipFill>
            <a:blip r:embed="rId8" cstate="print">
              <a:extLst>
                <a:ext uri="{96DAC541-7B7A-43D3-8B79-37D633B846F1}">
                  <asvg:svgBlip xmlns="" xmlns:asvg="http://schemas.microsoft.com/office/drawing/2016/SVG/main" r:embed="rId9"/>
                </a:ext>
              </a:extLst>
            </a:blip>
            <a:stretch>
              <a:fillRect/>
            </a:stretch>
          </p:blipFill>
          <p:spPr>
            <a:xfrm>
              <a:off x="3797116" y="2093819"/>
              <a:ext cx="720047" cy="711200"/>
            </a:xfrm>
            <a:prstGeom prst="rect">
              <a:avLst/>
            </a:prstGeom>
          </p:spPr>
        </p:pic>
      </p:grpSp>
      <p:grpSp>
        <p:nvGrpSpPr>
          <p:cNvPr id="3" name="Group 5" descr="Example services managed by AWS, including three examples: Lambda, RDS, and Elastic Beanstalk.">
            <a:extLst>
              <a:ext uri="{FF2B5EF4-FFF2-40B4-BE49-F238E27FC236}">
                <a16:creationId xmlns="" xmlns:a16="http://schemas.microsoft.com/office/drawing/2014/main" id="{8CD6E908-7220-E54F-AECB-17FDDF36BB54}"/>
              </a:ext>
            </a:extLst>
          </p:cNvPr>
          <p:cNvGrpSpPr/>
          <p:nvPr/>
        </p:nvGrpSpPr>
        <p:grpSpPr>
          <a:xfrm>
            <a:off x="160359" y="4058398"/>
            <a:ext cx="3676710" cy="2453729"/>
            <a:chOff x="213812" y="4058398"/>
            <a:chExt cx="4902280" cy="2453729"/>
          </a:xfrm>
        </p:grpSpPr>
        <p:sp>
          <p:nvSpPr>
            <p:cNvPr id="31" name="Rectangle 30">
              <a:extLst>
                <a:ext uri="{FF2B5EF4-FFF2-40B4-BE49-F238E27FC236}">
                  <a16:creationId xmlns="" xmlns:a16="http://schemas.microsoft.com/office/drawing/2014/main" id="{27D6FBD0-8666-4B4C-926F-F2C768EE553D}"/>
                </a:ext>
              </a:extLst>
            </p:cNvPr>
            <p:cNvSpPr/>
            <p:nvPr/>
          </p:nvSpPr>
          <p:spPr>
            <a:xfrm>
              <a:off x="314225" y="4058398"/>
              <a:ext cx="4801867" cy="2297952"/>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Example services managed by AWS</a:t>
              </a:r>
            </a:p>
          </p:txBody>
        </p:sp>
        <p:sp>
          <p:nvSpPr>
            <p:cNvPr id="32" name="TextBox 31">
              <a:extLst>
                <a:ext uri="{FF2B5EF4-FFF2-40B4-BE49-F238E27FC236}">
                  <a16:creationId xmlns="" xmlns:a16="http://schemas.microsoft.com/office/drawing/2014/main" id="{7E15D212-99D7-724E-9B9B-83511FC32E6D}"/>
                </a:ext>
              </a:extLst>
            </p:cNvPr>
            <p:cNvSpPr txBox="1"/>
            <p:nvPr/>
          </p:nvSpPr>
          <p:spPr>
            <a:xfrm>
              <a:off x="1519429" y="5434909"/>
              <a:ext cx="2208917" cy="1077218"/>
            </a:xfrm>
            <a:prstGeom prst="rect">
              <a:avLst/>
            </a:prstGeom>
            <a:noFill/>
          </p:spPr>
          <p:txBody>
            <a:bodyPr wrap="square" rtlCol="0">
              <a:spAutoFit/>
            </a:bodyPr>
            <a:lstStyle/>
            <a:p>
              <a:pPr algn="ctr"/>
              <a:r>
                <a:rPr lang="en-US" sz="1600"/>
                <a:t>Amazon </a:t>
              </a:r>
              <a:br>
                <a:rPr lang="en-US" sz="1600"/>
              </a:br>
              <a:r>
                <a:rPr lang="en-US" sz="1600"/>
                <a:t>Relational Database Service (Amazon RDS)</a:t>
              </a:r>
            </a:p>
          </p:txBody>
        </p:sp>
        <p:pic>
          <p:nvPicPr>
            <p:cNvPr id="33" name="Graphic 32">
              <a:extLst>
                <a:ext uri="{FF2B5EF4-FFF2-40B4-BE49-F238E27FC236}">
                  <a16:creationId xmlns="" xmlns:a16="http://schemas.microsoft.com/office/drawing/2014/main" id="{FFB4EDBD-AC1E-2541-A1C9-4EFB1311B17F}"/>
                </a:ext>
                <a:ext uri="{C183D7F6-B498-43B3-948B-1728B52AA6E4}">
                  <adec:decorative xmlns="" xmlns:adec="http://schemas.microsoft.com/office/drawing/2017/decorative" val="1"/>
                </a:ext>
              </a:extLst>
            </p:cNvPr>
            <p:cNvPicPr>
              <a:picLocks noChangeAspect="1"/>
            </p:cNvPicPr>
            <p:nvPr/>
          </p:nvPicPr>
          <p:blipFill>
            <a:blip r:embed="rId10" cstate="print">
              <a:extLst>
                <a:ext uri="{96DAC541-7B7A-43D3-8B79-37D633B846F1}">
                  <asvg:svgBlip xmlns="" xmlns:asvg="http://schemas.microsoft.com/office/drawing/2016/SVG/main" r:embed="rId11"/>
                </a:ext>
              </a:extLst>
            </a:blip>
            <a:stretch>
              <a:fillRect/>
            </a:stretch>
          </p:blipFill>
          <p:spPr>
            <a:xfrm>
              <a:off x="2268288" y="4687410"/>
              <a:ext cx="711200" cy="711200"/>
            </a:xfrm>
            <a:prstGeom prst="rect">
              <a:avLst/>
            </a:prstGeom>
          </p:spPr>
        </p:pic>
        <p:sp>
          <p:nvSpPr>
            <p:cNvPr id="36" name="TextBox 35">
              <a:extLst>
                <a:ext uri="{FF2B5EF4-FFF2-40B4-BE49-F238E27FC236}">
                  <a16:creationId xmlns="" xmlns:a16="http://schemas.microsoft.com/office/drawing/2014/main" id="{E7086C61-CF0E-C341-AD93-F731FAEC2804}"/>
                </a:ext>
              </a:extLst>
            </p:cNvPr>
            <p:cNvSpPr txBox="1"/>
            <p:nvPr/>
          </p:nvSpPr>
          <p:spPr>
            <a:xfrm>
              <a:off x="3767936" y="5434909"/>
              <a:ext cx="1312064" cy="830997"/>
            </a:xfrm>
            <a:prstGeom prst="rect">
              <a:avLst/>
            </a:prstGeom>
            <a:noFill/>
          </p:spPr>
          <p:txBody>
            <a:bodyPr wrap="square" rtlCol="0">
              <a:spAutoFit/>
            </a:bodyPr>
            <a:lstStyle/>
            <a:p>
              <a:pPr algn="ctr"/>
              <a:r>
                <a:rPr lang="en-US" sz="1600"/>
                <a:t>AWS Elastic Beanstalk</a:t>
              </a:r>
            </a:p>
          </p:txBody>
        </p:sp>
        <p:pic>
          <p:nvPicPr>
            <p:cNvPr id="38" name="Graphic 37">
              <a:extLst>
                <a:ext uri="{FF2B5EF4-FFF2-40B4-BE49-F238E27FC236}">
                  <a16:creationId xmlns="" xmlns:a16="http://schemas.microsoft.com/office/drawing/2014/main" id="{53314BDA-95C1-5845-9235-0EBF5DABA197}"/>
                </a:ext>
                <a:ext uri="{C183D7F6-B498-43B3-948B-1728B52AA6E4}">
                  <adec:decorative xmlns="" xmlns:adec="http://schemas.microsoft.com/office/drawing/2017/decorative" val="1"/>
                </a:ext>
              </a:extLst>
            </p:cNvPr>
            <p:cNvPicPr>
              <a:picLocks noChangeAspect="1"/>
            </p:cNvPicPr>
            <p:nvPr/>
          </p:nvPicPr>
          <p:blipFill>
            <a:blip r:embed="rId12" cstate="print">
              <a:extLst>
                <a:ext uri="{96DAC541-7B7A-43D3-8B79-37D633B846F1}">
                  <asvg:svgBlip xmlns="" xmlns:asvg="http://schemas.microsoft.com/office/drawing/2016/SVG/main" r:embed="rId13"/>
                </a:ext>
              </a:extLst>
            </a:blip>
            <a:stretch>
              <a:fillRect/>
            </a:stretch>
          </p:blipFill>
          <p:spPr>
            <a:xfrm>
              <a:off x="604566" y="4731351"/>
              <a:ext cx="711200" cy="623318"/>
            </a:xfrm>
            <a:prstGeom prst="rect">
              <a:avLst/>
            </a:prstGeom>
          </p:spPr>
        </p:pic>
        <p:sp>
          <p:nvSpPr>
            <p:cNvPr id="39" name="TextBox 38">
              <a:extLst>
                <a:ext uri="{FF2B5EF4-FFF2-40B4-BE49-F238E27FC236}">
                  <a16:creationId xmlns="" xmlns:a16="http://schemas.microsoft.com/office/drawing/2014/main" id="{11C4E2EF-0A17-CB45-A120-E72F4A3FDDF0}"/>
                </a:ext>
              </a:extLst>
            </p:cNvPr>
            <p:cNvSpPr txBox="1"/>
            <p:nvPr/>
          </p:nvSpPr>
          <p:spPr>
            <a:xfrm>
              <a:off x="213812" y="5434909"/>
              <a:ext cx="1506552" cy="584775"/>
            </a:xfrm>
            <a:prstGeom prst="rect">
              <a:avLst/>
            </a:prstGeom>
            <a:noFill/>
          </p:spPr>
          <p:txBody>
            <a:bodyPr wrap="square" rtlCol="0">
              <a:spAutoFit/>
            </a:bodyPr>
            <a:lstStyle/>
            <a:p>
              <a:pPr algn="ctr"/>
              <a:r>
                <a:rPr lang="en-US" sz="1600"/>
                <a:t>AWS </a:t>
              </a:r>
              <a:br>
                <a:rPr lang="en-US" sz="1600"/>
              </a:br>
              <a:r>
                <a:rPr lang="en-US" sz="1600"/>
                <a:t>Lambda</a:t>
              </a:r>
            </a:p>
          </p:txBody>
        </p:sp>
        <p:pic>
          <p:nvPicPr>
            <p:cNvPr id="50" name="Graphic 49">
              <a:extLst>
                <a:ext uri="{FF2B5EF4-FFF2-40B4-BE49-F238E27FC236}">
                  <a16:creationId xmlns="" xmlns:a16="http://schemas.microsoft.com/office/drawing/2014/main" id="{38EF2782-C2B3-2B48-A3E5-DB3C54BEB12F}"/>
                </a:ext>
                <a:ext uri="{C183D7F6-B498-43B3-948B-1728B52AA6E4}">
                  <adec:decorative xmlns="" xmlns:adec="http://schemas.microsoft.com/office/drawing/2017/decorative" val="1"/>
                </a:ext>
              </a:extLst>
            </p:cNvPr>
            <p:cNvPicPr>
              <a:picLocks noChangeAspect="1"/>
            </p:cNvPicPr>
            <p:nvPr/>
          </p:nvPicPr>
          <p:blipFill>
            <a:blip r:embed="rId14" cstate="print">
              <a:extLst>
                <a:ext uri="{96DAC541-7B7A-43D3-8B79-37D633B846F1}">
                  <asvg:svgBlip xmlns="" xmlns:asvg="http://schemas.microsoft.com/office/drawing/2016/SVG/main" r:embed="rId15"/>
                </a:ext>
              </a:extLst>
            </a:blip>
            <a:stretch>
              <a:fillRect/>
            </a:stretch>
          </p:blipFill>
          <p:spPr>
            <a:xfrm>
              <a:off x="4033609" y="4687410"/>
              <a:ext cx="711200" cy="711200"/>
            </a:xfrm>
            <a:prstGeom prst="rect">
              <a:avLst/>
            </a:prstGeom>
          </p:spPr>
        </p:pic>
      </p:grpSp>
    </p:spTree>
    <p:custDataLst>
      <p:tags r:id="rId1"/>
    </p:custDataLst>
    <p:extLst>
      <p:ext uri="{BB962C8B-B14F-4D97-AF65-F5344CB8AC3E}">
        <p14:creationId xmlns="" xmlns:p14="http://schemas.microsoft.com/office/powerpoint/2010/main" val="36121726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 xmlns:a16="http://schemas.microsoft.com/office/drawing/2014/main" id="{FC4566DC-C2EA-FE46-B4A0-24B3DD03C35E}"/>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10</a:t>
            </a:fld>
            <a:endParaRPr lang="en-US"/>
          </a:p>
        </p:txBody>
      </p:sp>
      <p:sp>
        <p:nvSpPr>
          <p:cNvPr id="28" name="Title 1">
            <a:extLst>
              <a:ext uri="{FF2B5EF4-FFF2-40B4-BE49-F238E27FC236}">
                <a16:creationId xmlns="" xmlns:a16="http://schemas.microsoft.com/office/drawing/2014/main" id="{50E36C29-8FC1-9346-A380-6D0710444240}"/>
              </a:ext>
            </a:extLst>
          </p:cNvPr>
          <p:cNvSpPr>
            <a:spLocks noGrp="1"/>
          </p:cNvSpPr>
          <p:nvPr>
            <p:ph type="title"/>
          </p:nvPr>
        </p:nvSpPr>
        <p:spPr/>
        <p:txBody>
          <a:bodyPr>
            <a:noAutofit/>
          </a:bodyPr>
          <a:lstStyle/>
          <a:p>
            <a:r>
              <a:rPr lang="en-US" dirty="0">
                <a:solidFill>
                  <a:srgbClr val="FF0000"/>
                </a:solidFill>
                <a:latin typeface="+mj-lt"/>
              </a:rPr>
              <a:t>Service characteristics and security responsibility (2 of 2)</a:t>
            </a:r>
          </a:p>
        </p:txBody>
      </p:sp>
      <p:sp>
        <p:nvSpPr>
          <p:cNvPr id="15" name="Content Placeholder 14">
            <a:extLst>
              <a:ext uri="{FF2B5EF4-FFF2-40B4-BE49-F238E27FC236}">
                <a16:creationId xmlns="" xmlns:a16="http://schemas.microsoft.com/office/drawing/2014/main" id="{6FAB4940-2062-1E4B-B80C-5D09C0E649FA}"/>
              </a:ext>
            </a:extLst>
          </p:cNvPr>
          <p:cNvSpPr>
            <a:spLocks noGrp="1"/>
          </p:cNvSpPr>
          <p:nvPr>
            <p:ph sz="quarter" idx="4294967295"/>
          </p:nvPr>
        </p:nvSpPr>
        <p:spPr>
          <a:xfrm>
            <a:off x="4684014" y="1527048"/>
            <a:ext cx="4128516" cy="4645152"/>
          </a:xfrm>
          <a:prstGeom prst="rect">
            <a:avLst/>
          </a:prstGeom>
        </p:spPr>
        <p:txBody>
          <a:bodyPr/>
          <a:lstStyle/>
          <a:p>
            <a:pPr marL="0" indent="0">
              <a:buNone/>
            </a:pPr>
            <a:r>
              <a:rPr lang="en-US" sz="2400" b="1"/>
              <a:t>Software as a service (SaaS) </a:t>
            </a:r>
          </a:p>
          <a:p>
            <a:r>
              <a:rPr lang="en-US" sz="1800"/>
              <a:t>Software is centrally hosted</a:t>
            </a:r>
          </a:p>
          <a:p>
            <a:r>
              <a:rPr lang="en-US" sz="1800"/>
              <a:t>Licensed on a subscription model or pay-as-you-go basis.</a:t>
            </a:r>
          </a:p>
          <a:p>
            <a:r>
              <a:rPr lang="en-US" sz="1800"/>
              <a:t>Services are typically accessed via web browser, mobile app, or application programming interface (API)</a:t>
            </a:r>
          </a:p>
          <a:p>
            <a:r>
              <a:rPr lang="en-US" sz="1800"/>
              <a:t>Customers do not need to manage the infrastructure that supports the service</a:t>
            </a:r>
            <a:endParaRPr lang="en-US" sz="1200"/>
          </a:p>
        </p:txBody>
      </p:sp>
      <p:sp>
        <p:nvSpPr>
          <p:cNvPr id="45" name="Rectangle 44" descr="SaaS examples.">
            <a:extLst>
              <a:ext uri="{FF2B5EF4-FFF2-40B4-BE49-F238E27FC236}">
                <a16:creationId xmlns="" xmlns:a16="http://schemas.microsoft.com/office/drawing/2014/main" id="{C1453445-1B87-614D-93DA-9DBF2F452C47}"/>
              </a:ext>
              <a:ext uri="{C183D7F6-B498-43B3-948B-1728B52AA6E4}">
                <adec:decorative xmlns="" xmlns:adec="http://schemas.microsoft.com/office/drawing/2017/decorative" val="0"/>
              </a:ext>
            </a:extLst>
          </p:cNvPr>
          <p:cNvSpPr/>
          <p:nvPr/>
        </p:nvSpPr>
        <p:spPr>
          <a:xfrm>
            <a:off x="244937" y="1516114"/>
            <a:ext cx="3601400" cy="205805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a:solidFill>
                  <a:schemeClr val="tx1"/>
                </a:solidFill>
              </a:rPr>
              <a:t>SaaS examples</a:t>
            </a:r>
          </a:p>
        </p:txBody>
      </p:sp>
      <p:sp>
        <p:nvSpPr>
          <p:cNvPr id="22" name="TextBox 21">
            <a:extLst>
              <a:ext uri="{FF2B5EF4-FFF2-40B4-BE49-F238E27FC236}">
                <a16:creationId xmlns="" xmlns:a16="http://schemas.microsoft.com/office/drawing/2014/main" id="{74CCDEB9-2A7D-E94C-AF20-4AD4238603BC}"/>
              </a:ext>
            </a:extLst>
          </p:cNvPr>
          <p:cNvSpPr txBox="1"/>
          <p:nvPr/>
        </p:nvSpPr>
        <p:spPr>
          <a:xfrm>
            <a:off x="369881" y="2920545"/>
            <a:ext cx="1129914" cy="830997"/>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 Trusted </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Advisor</a:t>
            </a:r>
          </a:p>
        </p:txBody>
      </p:sp>
      <p:pic>
        <p:nvPicPr>
          <p:cNvPr id="23" name="Graphic 22">
            <a:extLst>
              <a:ext uri="{FF2B5EF4-FFF2-40B4-BE49-F238E27FC236}">
                <a16:creationId xmlns="" xmlns:a16="http://schemas.microsoft.com/office/drawing/2014/main" id="{E5AE8CFA-097F-B446-A17B-51F05497EA7F}"/>
              </a:ext>
              <a:ext uri="{C183D7F6-B498-43B3-948B-1728B52AA6E4}">
                <adec:decorative xmlns="" xmlns:adec="http://schemas.microsoft.com/office/drawing/2017/decorative" val="1"/>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668012" y="2189539"/>
            <a:ext cx="533400" cy="711200"/>
          </a:xfrm>
          <a:prstGeom prst="rect">
            <a:avLst/>
          </a:prstGeom>
        </p:spPr>
      </p:pic>
      <p:sp>
        <p:nvSpPr>
          <p:cNvPr id="24" name="TextBox 23">
            <a:extLst>
              <a:ext uri="{FF2B5EF4-FFF2-40B4-BE49-F238E27FC236}">
                <a16:creationId xmlns="" xmlns:a16="http://schemas.microsoft.com/office/drawing/2014/main" id="{66124682-7940-5242-8038-EFABFA20C90B}"/>
              </a:ext>
            </a:extLst>
          </p:cNvPr>
          <p:cNvSpPr txBox="1"/>
          <p:nvPr/>
        </p:nvSpPr>
        <p:spPr>
          <a:xfrm>
            <a:off x="1500199" y="2937178"/>
            <a:ext cx="949547" cy="584775"/>
          </a:xfrm>
          <a:prstGeom prst="rect">
            <a:avLst/>
          </a:prstGeom>
          <a:no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 Shield</a:t>
            </a:r>
          </a:p>
        </p:txBody>
      </p:sp>
      <p:pic>
        <p:nvPicPr>
          <p:cNvPr id="25" name="Graphic 24">
            <a:extLst>
              <a:ext uri="{FF2B5EF4-FFF2-40B4-BE49-F238E27FC236}">
                <a16:creationId xmlns="" xmlns:a16="http://schemas.microsoft.com/office/drawing/2014/main" id="{0E4066DC-F0F7-B543-8F11-3730DC597170}"/>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1723774" y="2189539"/>
            <a:ext cx="533400" cy="711200"/>
          </a:xfrm>
          <a:prstGeom prst="rect">
            <a:avLst/>
          </a:prstGeom>
        </p:spPr>
      </p:pic>
      <p:sp>
        <p:nvSpPr>
          <p:cNvPr id="11" name="TextBox 10">
            <a:extLst>
              <a:ext uri="{FF2B5EF4-FFF2-40B4-BE49-F238E27FC236}">
                <a16:creationId xmlns="" xmlns:a16="http://schemas.microsoft.com/office/drawing/2014/main" id="{118DF70E-4CB9-3A4C-8269-8AA2ACE6CD9B}"/>
              </a:ext>
            </a:extLst>
          </p:cNvPr>
          <p:cNvSpPr txBox="1"/>
          <p:nvPr/>
        </p:nvSpPr>
        <p:spPr>
          <a:xfrm>
            <a:off x="2177486" y="2913407"/>
            <a:ext cx="1737501" cy="338554"/>
          </a:xfrm>
          <a:prstGeom prst="rect">
            <a:avLst/>
          </a:prstGeom>
          <a:noFill/>
        </p:spPr>
        <p:txBody>
          <a:bodyPr wrap="square" rtlCol="0">
            <a:spAutoFit/>
          </a:bodyPr>
          <a:lstStyle/>
          <a:p>
            <a:pPr algn="ctr"/>
            <a:r>
              <a:rPr lang="pt" sz="1600">
                <a:latin typeface="Amazon Ember Light" panose="020B0403020204020204" pitchFamily="34" charset="0"/>
                <a:ea typeface="Amazon Ember Light" panose="020B0403020204020204" pitchFamily="34" charset="0"/>
                <a:cs typeface="Amazon Ember Light" panose="020B0403020204020204" pitchFamily="34" charset="0"/>
              </a:rPr>
              <a:t>Amazon Chime</a:t>
            </a:r>
            <a:endParaRPr lang="en-US" sz="160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2" name="Graphic 11">
            <a:extLst>
              <a:ext uri="{FF2B5EF4-FFF2-40B4-BE49-F238E27FC236}">
                <a16:creationId xmlns="" xmlns:a16="http://schemas.microsoft.com/office/drawing/2014/main" id="{B4A0077D-CA8F-EF48-8DCC-AEC26A646581}"/>
              </a:ext>
              <a:ext uri="{C183D7F6-B498-43B3-948B-1728B52AA6E4}">
                <adec:decorative xmlns="" xmlns:adec="http://schemas.microsoft.com/office/drawing/2017/decorative" val="1"/>
              </a:ext>
            </a:extLst>
          </p:cNvPr>
          <p:cNvPicPr>
            <a:picLocks noChangeAspect="1"/>
          </p:cNvPicPr>
          <p:nvPr/>
        </p:nvPicPr>
        <p:blipFill>
          <a:blip r:embed="rId8" cstate="print">
            <a:extLst>
              <a:ext uri="{96DAC541-7B7A-43D3-8B79-37D633B846F1}">
                <asvg:svgBlip xmlns="" xmlns:asvg="http://schemas.microsoft.com/office/drawing/2016/SVG/main" r:embed="rId9"/>
              </a:ext>
            </a:extLst>
          </a:blip>
          <a:stretch>
            <a:fillRect/>
          </a:stretch>
        </p:blipFill>
        <p:spPr>
          <a:xfrm>
            <a:off x="2779536" y="2175537"/>
            <a:ext cx="533400" cy="711200"/>
          </a:xfrm>
          <a:prstGeom prst="rect">
            <a:avLst/>
          </a:prstGeom>
        </p:spPr>
      </p:pic>
    </p:spTree>
    <p:custDataLst>
      <p:tags r:id="rId1"/>
    </p:custDataLst>
    <p:extLst>
      <p:ext uri="{BB962C8B-B14F-4D97-AF65-F5344CB8AC3E}">
        <p14:creationId xmlns="" xmlns:p14="http://schemas.microsoft.com/office/powerpoint/2010/main" val="8191379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 xmlns:a16="http://schemas.microsoft.com/office/drawing/2014/main" id="{1185E386-25AD-454D-AFAE-AD4AAB32410F}"/>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11</a:t>
            </a:fld>
            <a:endParaRPr lang="en-US"/>
          </a:p>
        </p:txBody>
      </p:sp>
      <p:sp>
        <p:nvSpPr>
          <p:cNvPr id="6" name="Title 5"/>
          <p:cNvSpPr>
            <a:spLocks noGrp="1"/>
          </p:cNvSpPr>
          <p:nvPr>
            <p:ph type="title"/>
          </p:nvPr>
        </p:nvSpPr>
        <p:spPr/>
        <p:txBody>
          <a:bodyPr>
            <a:normAutofit fontScale="90000"/>
          </a:bodyPr>
          <a:lstStyle/>
          <a:p>
            <a:r>
              <a:rPr lang="en-US" dirty="0">
                <a:solidFill>
                  <a:srgbClr val="FF0000"/>
                </a:solidFill>
              </a:rPr>
              <a:t>AWS account root user access versus IAM access</a:t>
            </a:r>
          </a:p>
        </p:txBody>
      </p:sp>
      <p:sp>
        <p:nvSpPr>
          <p:cNvPr id="10" name="Content Placeholder 2">
            <a:extLst>
              <a:ext uri="{FF2B5EF4-FFF2-40B4-BE49-F238E27FC236}">
                <a16:creationId xmlns="" xmlns:a16="http://schemas.microsoft.com/office/drawing/2014/main" id="{7EF35E08-2B21-9340-83D3-7153605EA629}"/>
              </a:ext>
            </a:extLst>
          </p:cNvPr>
          <p:cNvSpPr txBox="1">
            <a:spLocks/>
          </p:cNvSpPr>
          <p:nvPr/>
        </p:nvSpPr>
        <p:spPr>
          <a:xfrm>
            <a:off x="4706526" y="1519967"/>
            <a:ext cx="4028401" cy="491330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buFont typeface="Arial" panose="020B0604020202020204" pitchFamily="34" charset="0"/>
              <a:buChar char="•"/>
            </a:pPr>
            <a:r>
              <a:rPr lang="en-US" sz="2400" b="1">
                <a:latin typeface="+mn-lt"/>
                <a:ea typeface="Amazon Ember" panose="020B0603020204020204" pitchFamily="34" charset="0"/>
                <a:cs typeface="Amazon Ember" panose="020B0603020204020204" pitchFamily="34" charset="0"/>
              </a:rPr>
              <a:t>Best practice</a:t>
            </a:r>
            <a:r>
              <a:rPr lang="en-US" sz="2400">
                <a:latin typeface="+mn-lt"/>
                <a:ea typeface="Amazon Ember" panose="020B0603020204020204" pitchFamily="34" charset="0"/>
                <a:cs typeface="Amazon Ember" panose="020B0603020204020204" pitchFamily="34" charset="0"/>
              </a:rPr>
              <a:t>: </a:t>
            </a:r>
            <a:r>
              <a:rPr lang="en-US" sz="2400">
                <a:solidFill>
                  <a:schemeClr val="accent5"/>
                </a:solidFill>
                <a:latin typeface="+mn-lt"/>
                <a:ea typeface="Amazon Ember" panose="020B0603020204020204" pitchFamily="34" charset="0"/>
                <a:cs typeface="Amazon Ember" panose="020B0603020204020204" pitchFamily="34" charset="0"/>
              </a:rPr>
              <a:t>Do not use the AWS account root user except when necessary</a:t>
            </a:r>
            <a:r>
              <a:rPr lang="en-US" sz="2400">
                <a:latin typeface="+mn-lt"/>
                <a:ea typeface="Amazon Ember" panose="020B0603020204020204" pitchFamily="34" charset="0"/>
                <a:cs typeface="Amazon Ember" panose="020B0603020204020204" pitchFamily="34" charset="0"/>
              </a:rPr>
              <a:t>.</a:t>
            </a:r>
          </a:p>
          <a:p>
            <a:pPr lvl="1">
              <a:lnSpc>
                <a:spcPct val="100000"/>
              </a:lnSpc>
              <a:buFont typeface="Arial" panose="020B0604020202020204" pitchFamily="34" charset="0"/>
              <a:buChar char="•"/>
            </a:pPr>
            <a:r>
              <a:rPr lang="en-US" sz="2000">
                <a:latin typeface="+mn-lt"/>
                <a:ea typeface="Amazon Ember" panose="020B0603020204020204" pitchFamily="34" charset="0"/>
                <a:cs typeface="Amazon Ember" panose="020B0603020204020204" pitchFamily="34" charset="0"/>
              </a:rPr>
              <a:t>Access to the </a:t>
            </a:r>
            <a:r>
              <a:rPr lang="en-US" sz="2000" b="1">
                <a:solidFill>
                  <a:schemeClr val="accent6"/>
                </a:solidFill>
                <a:latin typeface="+mn-lt"/>
                <a:ea typeface="Amazon Ember" panose="020B0603020204020204" pitchFamily="34" charset="0"/>
                <a:cs typeface="Amazon Ember" panose="020B0603020204020204" pitchFamily="34" charset="0"/>
              </a:rPr>
              <a:t>account root user </a:t>
            </a:r>
            <a:r>
              <a:rPr lang="en-US" sz="2000">
                <a:latin typeface="+mn-lt"/>
                <a:ea typeface="Amazon Ember" panose="020B0603020204020204" pitchFamily="34" charset="0"/>
                <a:cs typeface="Amazon Ember" panose="020B0603020204020204" pitchFamily="34" charset="0"/>
              </a:rPr>
              <a:t>requires logging in with the </a:t>
            </a:r>
            <a:r>
              <a:rPr lang="en-US" sz="2000" i="1">
                <a:latin typeface="+mn-lt"/>
                <a:ea typeface="Amazon Ember" panose="020B0603020204020204" pitchFamily="34" charset="0"/>
                <a:cs typeface="Amazon Ember" panose="020B0603020204020204" pitchFamily="34" charset="0"/>
              </a:rPr>
              <a:t>email address </a:t>
            </a:r>
            <a:r>
              <a:rPr lang="en-US" sz="2000">
                <a:ea typeface="Amazon Ember" panose="020B0603020204020204" pitchFamily="34" charset="0"/>
                <a:cs typeface="Amazon Ember" panose="020B0603020204020204" pitchFamily="34" charset="0"/>
              </a:rPr>
              <a:t>(and password) </a:t>
            </a:r>
            <a:r>
              <a:rPr lang="en-US" sz="2000">
                <a:latin typeface="+mn-lt"/>
                <a:ea typeface="Amazon Ember" panose="020B0603020204020204" pitchFamily="34" charset="0"/>
                <a:cs typeface="Amazon Ember" panose="020B0603020204020204" pitchFamily="34" charset="0"/>
              </a:rPr>
              <a:t>that you used to create the account.</a:t>
            </a:r>
          </a:p>
          <a:p>
            <a:pPr>
              <a:lnSpc>
                <a:spcPct val="100000"/>
              </a:lnSpc>
              <a:buFont typeface="Arial" panose="020B0604020202020204" pitchFamily="34" charset="0"/>
              <a:buChar char="•"/>
            </a:pPr>
            <a:r>
              <a:rPr lang="en-US" sz="2400">
                <a:latin typeface="+mn-lt"/>
                <a:ea typeface="Amazon Ember" panose="020B0603020204020204" pitchFamily="34" charset="0"/>
                <a:cs typeface="Amazon Ember" panose="020B0603020204020204" pitchFamily="34" charset="0"/>
              </a:rPr>
              <a:t>Example actions that can only be done with the account root user:</a:t>
            </a:r>
          </a:p>
          <a:p>
            <a:pPr lvl="1">
              <a:lnSpc>
                <a:spcPct val="100000"/>
              </a:lnSpc>
              <a:buFont typeface="Arial" panose="020B0604020202020204" pitchFamily="34" charset="0"/>
              <a:buChar char="•"/>
            </a:pPr>
            <a:r>
              <a:rPr lang="en-US" sz="2000">
                <a:latin typeface="+mn-lt"/>
                <a:ea typeface="Amazon Ember" panose="020B0603020204020204" pitchFamily="34" charset="0"/>
                <a:cs typeface="Amazon Ember" panose="020B0603020204020204" pitchFamily="34" charset="0"/>
              </a:rPr>
              <a:t>Update the account root user password</a:t>
            </a:r>
          </a:p>
          <a:p>
            <a:pPr lvl="1">
              <a:lnSpc>
                <a:spcPct val="100000"/>
              </a:lnSpc>
              <a:buFont typeface="Arial" panose="020B0604020202020204" pitchFamily="34" charset="0"/>
              <a:buChar char="•"/>
            </a:pPr>
            <a:r>
              <a:rPr lang="en-US" sz="2000">
                <a:latin typeface="+mn-lt"/>
                <a:ea typeface="Amazon Ember" panose="020B0603020204020204" pitchFamily="34" charset="0"/>
                <a:cs typeface="Amazon Ember" panose="020B0603020204020204" pitchFamily="34" charset="0"/>
              </a:rPr>
              <a:t>Change the AWS Support plan</a:t>
            </a:r>
          </a:p>
          <a:p>
            <a:pPr lvl="1">
              <a:lnSpc>
                <a:spcPct val="100000"/>
              </a:lnSpc>
              <a:buFont typeface="Arial" panose="020B0604020202020204" pitchFamily="34" charset="0"/>
              <a:buChar char="•"/>
            </a:pPr>
            <a:r>
              <a:rPr lang="en-US" sz="2000">
                <a:latin typeface="+mn-lt"/>
                <a:ea typeface="Amazon Ember" panose="020B0603020204020204" pitchFamily="34" charset="0"/>
                <a:cs typeface="Amazon Ember" panose="020B0603020204020204" pitchFamily="34" charset="0"/>
              </a:rPr>
              <a:t>Restore an IAM user's permissions</a:t>
            </a:r>
          </a:p>
          <a:p>
            <a:pPr lvl="1">
              <a:lnSpc>
                <a:spcPct val="100000"/>
              </a:lnSpc>
              <a:buFont typeface="Arial" panose="020B0604020202020204" pitchFamily="34" charset="0"/>
              <a:buChar char="•"/>
            </a:pPr>
            <a:r>
              <a:rPr lang="en-US" sz="2000">
                <a:latin typeface="+mn-lt"/>
                <a:ea typeface="Amazon Ember" panose="020B0603020204020204" pitchFamily="34" charset="0"/>
                <a:cs typeface="Amazon Ember" panose="020B0603020204020204" pitchFamily="34" charset="0"/>
              </a:rPr>
              <a:t>Change account settings (for example, contact information, allowed Regions)</a:t>
            </a:r>
          </a:p>
          <a:p>
            <a:pPr lvl="1">
              <a:lnSpc>
                <a:spcPct val="100000"/>
              </a:lnSpc>
              <a:buFont typeface="Arial" panose="020B0604020202020204" pitchFamily="34" charset="0"/>
              <a:buChar char="•"/>
            </a:pPr>
            <a:endParaRPr lang="en-US" sz="2000">
              <a:latin typeface="+mn-lt"/>
              <a:ea typeface="Amazon Ember" panose="020B0603020204020204" pitchFamily="34" charset="0"/>
              <a:cs typeface="Amazon Ember" panose="020B0603020204020204" pitchFamily="34" charset="0"/>
            </a:endParaRPr>
          </a:p>
          <a:p>
            <a:pPr lvl="1">
              <a:lnSpc>
                <a:spcPct val="100000"/>
              </a:lnSpc>
              <a:buFont typeface="Arial" panose="020B0604020202020204" pitchFamily="34" charset="0"/>
              <a:buChar char="•"/>
            </a:pPr>
            <a:endParaRPr lang="en-US">
              <a:latin typeface="+mn-lt"/>
              <a:ea typeface="Amazon Ember" panose="020B0603020204020204" pitchFamily="34" charset="0"/>
              <a:cs typeface="Amazon Ember" panose="020B0603020204020204" pitchFamily="34" charset="0"/>
            </a:endParaRPr>
          </a:p>
        </p:txBody>
      </p:sp>
      <p:grpSp>
        <p:nvGrpSpPr>
          <p:cNvPr id="2" name="Group 17" descr="Graphic shows that root account user privileges cannot be controlled and has full access to all resources. On the other hand, an IAM user integrates with other AWS services, and has identity federation, secure access for applications, and granular permissions."/>
          <p:cNvGrpSpPr/>
          <p:nvPr/>
        </p:nvGrpSpPr>
        <p:grpSpPr>
          <a:xfrm>
            <a:off x="314326" y="1283158"/>
            <a:ext cx="3446303" cy="5044810"/>
            <a:chOff x="1281422" y="1283158"/>
            <a:chExt cx="4595071" cy="5044810"/>
          </a:xfrm>
        </p:grpSpPr>
        <p:sp>
          <p:nvSpPr>
            <p:cNvPr id="5" name="Freeform 4"/>
            <p:cNvSpPr/>
            <p:nvPr/>
          </p:nvSpPr>
          <p:spPr>
            <a:xfrm>
              <a:off x="1611194" y="1339841"/>
              <a:ext cx="1597521"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3624" tIns="113624" rIns="113624" bIns="113624" numCol="1" spcCol="1270" anchor="ctr" anchorCtr="0">
              <a:noAutofit/>
            </a:bodyPr>
            <a:lstStyle/>
            <a:p>
              <a:pPr lvl="0" algn="ctr" defTabSz="1022350">
                <a:lnSpc>
                  <a:spcPct val="90000"/>
                </a:lnSpc>
                <a:spcBef>
                  <a:spcPct val="0"/>
                </a:spcBef>
                <a:spcAft>
                  <a:spcPct val="35000"/>
                </a:spcAft>
              </a:pPr>
              <a:r>
                <a:rPr lang="en-US" sz="2300" kern="1200">
                  <a:latin typeface="Amazon Ember" panose="020B0603020204020204" pitchFamily="34" charset="0"/>
                  <a:ea typeface="Amazon Ember" panose="020B0603020204020204" pitchFamily="34" charset="0"/>
                  <a:cs typeface="Amazon Ember" panose="020B0603020204020204" pitchFamily="34" charset="0"/>
                </a:rPr>
                <a:t>Account root user</a:t>
              </a:r>
            </a:p>
          </p:txBody>
        </p:sp>
        <p:sp>
          <p:nvSpPr>
            <p:cNvPr id="7" name="Freeform 6"/>
            <p:cNvSpPr/>
            <p:nvPr/>
          </p:nvSpPr>
          <p:spPr>
            <a:xfrm>
              <a:off x="4007476" y="1283158"/>
              <a:ext cx="1597521"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3624" tIns="113624" rIns="113624" bIns="113624" numCol="1" spcCol="1270" anchor="ctr" anchorCtr="0">
              <a:noAutofit/>
            </a:bodyPr>
            <a:lstStyle/>
            <a:p>
              <a:pPr lvl="0" algn="ctr" defTabSz="1022350">
                <a:lnSpc>
                  <a:spcPct val="90000"/>
                </a:lnSpc>
                <a:spcBef>
                  <a:spcPct val="0"/>
                </a:spcBef>
                <a:spcAft>
                  <a:spcPct val="35000"/>
                </a:spcAft>
              </a:pPr>
              <a:r>
                <a:rPr lang="en-US" sz="2300" kern="1200">
                  <a:latin typeface="Amazon Ember" panose="020B0603020204020204" pitchFamily="34" charset="0"/>
                  <a:ea typeface="Amazon Ember" panose="020B0603020204020204" pitchFamily="34" charset="0"/>
                  <a:cs typeface="Amazon Ember" panose="020B0603020204020204" pitchFamily="34" charset="0"/>
                </a:rPr>
                <a:t>IAM</a:t>
              </a:r>
            </a:p>
          </p:txBody>
        </p:sp>
        <p:sp>
          <p:nvSpPr>
            <p:cNvPr id="9" name="Isosceles Triangle 8"/>
            <p:cNvSpPr/>
            <p:nvPr/>
          </p:nvSpPr>
          <p:spPr>
            <a:xfrm>
              <a:off x="3199073" y="5662335"/>
              <a:ext cx="665633" cy="665633"/>
            </a:xfrm>
            <a:prstGeom prst="triangl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1" name="Rectangle 10"/>
            <p:cNvSpPr/>
            <p:nvPr/>
          </p:nvSpPr>
          <p:spPr>
            <a:xfrm rot="240000">
              <a:off x="1281422" y="5456535"/>
              <a:ext cx="4500937" cy="283806"/>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2" name="Freeform 11"/>
            <p:cNvSpPr/>
            <p:nvPr/>
          </p:nvSpPr>
          <p:spPr>
            <a:xfrm rot="240000">
              <a:off x="3691604" y="473996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a:latin typeface="Amazon Ember" panose="020B0603020204020204" pitchFamily="34" charset="0"/>
                  <a:ea typeface="Amazon Ember" panose="020B0603020204020204" pitchFamily="34" charset="0"/>
                  <a:cs typeface="Amazon Ember" panose="020B0603020204020204" pitchFamily="34" charset="0"/>
                </a:rPr>
                <a:t>Granular permissions</a:t>
              </a:r>
            </a:p>
          </p:txBody>
        </p:sp>
        <p:sp>
          <p:nvSpPr>
            <p:cNvPr id="13" name="Freeform 12"/>
            <p:cNvSpPr/>
            <p:nvPr/>
          </p:nvSpPr>
          <p:spPr>
            <a:xfrm rot="240000">
              <a:off x="3735980" y="3951010"/>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a:latin typeface="Amazon Ember" panose="020B0603020204020204" pitchFamily="34" charset="0"/>
                  <a:ea typeface="Amazon Ember" panose="020B0603020204020204" pitchFamily="34" charset="0"/>
                  <a:cs typeface="Amazon Ember" panose="020B0603020204020204" pitchFamily="34" charset="0"/>
                </a:rPr>
                <a:t>Secure access for applications</a:t>
              </a:r>
            </a:p>
          </p:txBody>
        </p:sp>
        <p:sp>
          <p:nvSpPr>
            <p:cNvPr id="14" name="Freeform 13"/>
            <p:cNvSpPr/>
            <p:nvPr/>
          </p:nvSpPr>
          <p:spPr>
            <a:xfrm rot="240000">
              <a:off x="3780356" y="3162052"/>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a:latin typeface="Amazon Ember" panose="020B0603020204020204" pitchFamily="34" charset="0"/>
                  <a:ea typeface="Amazon Ember" panose="020B0603020204020204" pitchFamily="34" charset="0"/>
                  <a:cs typeface="Amazon Ember" panose="020B0603020204020204" pitchFamily="34" charset="0"/>
                </a:rPr>
                <a:t>Identity federation</a:t>
              </a:r>
            </a:p>
          </p:txBody>
        </p:sp>
        <p:sp>
          <p:nvSpPr>
            <p:cNvPr id="15" name="Freeform 14"/>
            <p:cNvSpPr/>
            <p:nvPr/>
          </p:nvSpPr>
          <p:spPr>
            <a:xfrm rot="240000">
              <a:off x="3824731" y="2373094"/>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a:latin typeface="Amazon Ember" panose="020B0603020204020204" pitchFamily="34" charset="0"/>
                  <a:ea typeface="Amazon Ember" panose="020B0603020204020204" pitchFamily="34" charset="0"/>
                  <a:cs typeface="Amazon Ember" panose="020B0603020204020204" pitchFamily="34" charset="0"/>
                </a:rPr>
                <a:t>Integrates</a:t>
              </a:r>
              <a:r>
                <a:rPr lang="en-US" sz="1600" kern="1200">
                  <a:latin typeface="Amazon Ember" panose="020B0603020204020204" pitchFamily="34" charset="0"/>
                  <a:ea typeface="Amazon Ember" panose="020B0603020204020204" pitchFamily="34" charset="0"/>
                  <a:cs typeface="Amazon Ember" panose="020B0603020204020204" pitchFamily="34" charset="0"/>
                </a:rPr>
                <a:t> with other AWS services</a:t>
              </a:r>
            </a:p>
          </p:txBody>
        </p:sp>
        <p:sp>
          <p:nvSpPr>
            <p:cNvPr id="16" name="Freeform 15"/>
            <p:cNvSpPr/>
            <p:nvPr/>
          </p:nvSpPr>
          <p:spPr>
            <a:xfrm rot="240000">
              <a:off x="1384074" y="4580215"/>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a:latin typeface="Amazon Ember" panose="020B0603020204020204" pitchFamily="34" charset="0"/>
                  <a:ea typeface="Amazon Ember" panose="020B0603020204020204" pitchFamily="34" charset="0"/>
                  <a:cs typeface="Amazon Ember" panose="020B0603020204020204" pitchFamily="34" charset="0"/>
                </a:rPr>
                <a:t>Full access to all resources</a:t>
              </a:r>
            </a:p>
          </p:txBody>
        </p:sp>
        <p:sp>
          <p:nvSpPr>
            <p:cNvPr id="17" name="Freeform 16"/>
            <p:cNvSpPr/>
            <p:nvPr/>
          </p:nvSpPr>
          <p:spPr>
            <a:xfrm rot="240000">
              <a:off x="1428449" y="377855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a:latin typeface="Amazon Ember" panose="020B0603020204020204" pitchFamily="34" charset="0"/>
                  <a:ea typeface="Amazon Ember" panose="020B0603020204020204" pitchFamily="34" charset="0"/>
                  <a:cs typeface="Amazon Ember" panose="020B0603020204020204" pitchFamily="34" charset="0"/>
                </a:rPr>
                <a:t>Privileges cannot be controlled</a:t>
              </a:r>
            </a:p>
          </p:txBody>
        </p:sp>
      </p:grpSp>
    </p:spTree>
    <p:custDataLst>
      <p:tags r:id="rId1"/>
    </p:custDataLst>
    <p:extLst>
      <p:ext uri="{BB962C8B-B14F-4D97-AF65-F5344CB8AC3E}">
        <p14:creationId xmlns="" xmlns:p14="http://schemas.microsoft.com/office/powerpoint/2010/main" val="35293830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A5421CEB-5553-DE43-9276-DFE75FA3605C}"/>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12</a:t>
            </a:fld>
            <a:endParaRPr lang="en-US"/>
          </a:p>
        </p:txBody>
      </p:sp>
      <p:sp>
        <p:nvSpPr>
          <p:cNvPr id="2" name="Title 1"/>
          <p:cNvSpPr>
            <a:spLocks noGrp="1"/>
          </p:cNvSpPr>
          <p:nvPr>
            <p:ph type="title"/>
          </p:nvPr>
        </p:nvSpPr>
        <p:spPr/>
        <p:txBody>
          <a:bodyPr>
            <a:normAutofit fontScale="90000"/>
          </a:bodyPr>
          <a:lstStyle/>
          <a:p>
            <a:r>
              <a:rPr lang="en-US" dirty="0" smtClean="0">
                <a:solidFill>
                  <a:srgbClr val="FF0000"/>
                </a:solidFill>
              </a:rPr>
              <a:t>Securing a new AWS account: Account root user</a:t>
            </a:r>
            <a:endParaRPr lang="en-US" dirty="0">
              <a:solidFill>
                <a:srgbClr val="FF0000"/>
              </a:solidFill>
            </a:endParaRPr>
          </a:p>
        </p:txBody>
      </p:sp>
      <p:sp>
        <p:nvSpPr>
          <p:cNvPr id="3" name="Content Placeholder 2"/>
          <p:cNvSpPr>
            <a:spLocks noGrp="1"/>
          </p:cNvSpPr>
          <p:nvPr>
            <p:ph sz="quarter" idx="4294967295"/>
          </p:nvPr>
        </p:nvSpPr>
        <p:spPr>
          <a:xfrm>
            <a:off x="274320" y="1143000"/>
            <a:ext cx="8690918" cy="5291750"/>
          </a:xfrm>
          <a:prstGeom prst="rect">
            <a:avLst/>
          </a:prstGeom>
        </p:spPr>
        <p:txBody>
          <a:bodyPr>
            <a:normAutofit fontScale="85000" lnSpcReduction="20000"/>
          </a:bodyPr>
          <a:lstStyle/>
          <a:p>
            <a:pPr marL="0" indent="0">
              <a:buNone/>
            </a:pPr>
            <a:r>
              <a:rPr lang="en-US" b="1">
                <a:solidFill>
                  <a:schemeClr val="accent6"/>
                </a:solidFill>
              </a:rPr>
              <a:t>Step 1: Stop using the account root user as soon as possible.</a:t>
            </a:r>
          </a:p>
          <a:p>
            <a:pPr lvl="1"/>
            <a:r>
              <a:rPr lang="en-US"/>
              <a:t>The account root user has unrestricted access to all your resources.</a:t>
            </a:r>
          </a:p>
          <a:p>
            <a:pPr marL="457200" lvl="1" indent="0">
              <a:buNone/>
            </a:pPr>
            <a:endParaRPr lang="en-US" sz="2000"/>
          </a:p>
          <a:p>
            <a:r>
              <a:rPr lang="en-US"/>
              <a:t>To stop using the account root user:</a:t>
            </a:r>
          </a:p>
          <a:p>
            <a:pPr marL="914400" lvl="1" indent="-457200">
              <a:buFont typeface="+mj-lt"/>
              <a:buAutoNum type="arabicPeriod"/>
            </a:pPr>
            <a:r>
              <a:rPr lang="en-US"/>
              <a:t>While you are logged in as the account root user, </a:t>
            </a:r>
            <a:r>
              <a:rPr lang="en-US">
                <a:solidFill>
                  <a:schemeClr val="accent6"/>
                </a:solidFill>
              </a:rPr>
              <a:t>create an IAM user </a:t>
            </a:r>
            <a:r>
              <a:rPr lang="en-US"/>
              <a:t>for yourself. Save the access keys if needed.</a:t>
            </a:r>
          </a:p>
          <a:p>
            <a:pPr marL="914400" lvl="1" indent="-457200">
              <a:buFont typeface="+mj-lt"/>
              <a:buAutoNum type="arabicPeriod"/>
            </a:pPr>
            <a:r>
              <a:rPr lang="en-US"/>
              <a:t>Create an IAM group, give it full administrator permissions, and add the IAM user to the group.</a:t>
            </a:r>
          </a:p>
          <a:p>
            <a:pPr marL="914400" lvl="1" indent="-457200">
              <a:buFont typeface="+mj-lt"/>
              <a:buAutoNum type="arabicPeriod"/>
            </a:pPr>
            <a:r>
              <a:rPr lang="en-US"/>
              <a:t>Disable and </a:t>
            </a:r>
            <a:r>
              <a:rPr lang="en-US">
                <a:solidFill>
                  <a:schemeClr val="accent6"/>
                </a:solidFill>
              </a:rPr>
              <a:t>remove your account root user access keys</a:t>
            </a:r>
            <a:r>
              <a:rPr lang="en-US"/>
              <a:t>, if they exist.</a:t>
            </a:r>
          </a:p>
          <a:p>
            <a:pPr marL="914400" lvl="1" indent="-457200">
              <a:buFont typeface="+mj-lt"/>
              <a:buAutoNum type="arabicPeriod"/>
            </a:pPr>
            <a:r>
              <a:rPr lang="en-US">
                <a:solidFill>
                  <a:schemeClr val="accent6"/>
                </a:solidFill>
              </a:rPr>
              <a:t>Enable a password policy </a:t>
            </a:r>
            <a:r>
              <a:rPr lang="en-US"/>
              <a:t>for users.</a:t>
            </a:r>
          </a:p>
          <a:p>
            <a:pPr marL="914400" lvl="1" indent="-457200">
              <a:buFont typeface="+mj-lt"/>
              <a:buAutoNum type="arabicPeriod"/>
            </a:pPr>
            <a:r>
              <a:rPr lang="en-US"/>
              <a:t>Sign in with your new IAM user credentials. </a:t>
            </a:r>
          </a:p>
          <a:p>
            <a:pPr marL="914400" lvl="1" indent="-457200">
              <a:buFont typeface="+mj-lt"/>
              <a:buAutoNum type="arabicPeriod"/>
            </a:pPr>
            <a:r>
              <a:rPr lang="en-US"/>
              <a:t>Store your account root user credentials in a secure place. </a:t>
            </a:r>
          </a:p>
        </p:txBody>
      </p:sp>
    </p:spTree>
    <p:custDataLst>
      <p:tags r:id="rId1"/>
    </p:custDataLst>
    <p:extLst>
      <p:ext uri="{BB962C8B-B14F-4D97-AF65-F5344CB8AC3E}">
        <p14:creationId xmlns="" xmlns:p14="http://schemas.microsoft.com/office/powerpoint/2010/main" val="34361916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9F8519F2-8D64-DE4A-8C4C-0F4B78466A74}"/>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13</a:t>
            </a:fld>
            <a:endParaRPr lang="en-US"/>
          </a:p>
        </p:txBody>
      </p:sp>
      <p:sp>
        <p:nvSpPr>
          <p:cNvPr id="2" name="Title 1"/>
          <p:cNvSpPr>
            <a:spLocks noGrp="1"/>
          </p:cNvSpPr>
          <p:nvPr>
            <p:ph type="title"/>
          </p:nvPr>
        </p:nvSpPr>
        <p:spPr/>
        <p:txBody>
          <a:bodyPr/>
          <a:lstStyle/>
          <a:p>
            <a:r>
              <a:rPr lang="en-US" dirty="0">
                <a:solidFill>
                  <a:srgbClr val="FF0000"/>
                </a:solidFill>
              </a:rPr>
              <a:t>Securing a new AWS account: MFA</a:t>
            </a:r>
          </a:p>
        </p:txBody>
      </p:sp>
      <p:sp>
        <p:nvSpPr>
          <p:cNvPr id="3" name="Content Placeholder 2"/>
          <p:cNvSpPr>
            <a:spLocks noGrp="1"/>
          </p:cNvSpPr>
          <p:nvPr>
            <p:ph sz="quarter" idx="4294967295"/>
          </p:nvPr>
        </p:nvSpPr>
        <p:spPr>
          <a:xfrm>
            <a:off x="274320" y="1143000"/>
            <a:ext cx="8690918" cy="5291750"/>
          </a:xfrm>
          <a:prstGeom prst="rect">
            <a:avLst/>
          </a:prstGeom>
        </p:spPr>
        <p:txBody>
          <a:bodyPr>
            <a:normAutofit fontScale="92500" lnSpcReduction="20000"/>
          </a:bodyPr>
          <a:lstStyle/>
          <a:p>
            <a:pPr marL="0" indent="0">
              <a:buNone/>
            </a:pPr>
            <a:r>
              <a:rPr lang="en-US" b="1">
                <a:solidFill>
                  <a:schemeClr val="accent6"/>
                </a:solidFill>
              </a:rPr>
              <a:t>Step 2: Enable multi-factor authentication (MFA).</a:t>
            </a:r>
          </a:p>
          <a:p>
            <a:pPr lvl="1"/>
            <a:r>
              <a:rPr lang="en-US"/>
              <a:t>Require MFA for your </a:t>
            </a:r>
            <a:r>
              <a:rPr lang="en-US">
                <a:solidFill>
                  <a:schemeClr val="accent6"/>
                </a:solidFill>
              </a:rPr>
              <a:t>account root user </a:t>
            </a:r>
            <a:r>
              <a:rPr lang="en-US"/>
              <a:t>and for </a:t>
            </a:r>
            <a:r>
              <a:rPr lang="en-US">
                <a:solidFill>
                  <a:schemeClr val="accent6"/>
                </a:solidFill>
              </a:rPr>
              <a:t>all IAM users</a:t>
            </a:r>
            <a:r>
              <a:rPr lang="en-US"/>
              <a:t>.</a:t>
            </a:r>
          </a:p>
          <a:p>
            <a:pPr lvl="1"/>
            <a:r>
              <a:rPr lang="en-US"/>
              <a:t>You can also use MFA to control access to AWS service APIs.</a:t>
            </a:r>
          </a:p>
          <a:p>
            <a:pPr lvl="1"/>
            <a:endParaRPr lang="en-US"/>
          </a:p>
          <a:p>
            <a:r>
              <a:rPr lang="en-US"/>
              <a:t>Options for retrieving the MFA token – </a:t>
            </a:r>
          </a:p>
          <a:p>
            <a:pPr lvl="1"/>
            <a:r>
              <a:rPr lang="en-US"/>
              <a:t>Virtual MFA-compliant applications:</a:t>
            </a:r>
          </a:p>
          <a:p>
            <a:pPr lvl="2"/>
            <a:r>
              <a:rPr lang="en-US"/>
              <a:t>Google Authenticator.</a:t>
            </a:r>
          </a:p>
          <a:p>
            <a:pPr lvl="2"/>
            <a:r>
              <a:rPr lang="en-US" err="1"/>
              <a:t>Authy</a:t>
            </a:r>
            <a:r>
              <a:rPr lang="en-US"/>
              <a:t> Authenticator (Windows phone app).</a:t>
            </a:r>
          </a:p>
          <a:p>
            <a:pPr lvl="1"/>
            <a:r>
              <a:rPr lang="en-US"/>
              <a:t>U2F security key devices:</a:t>
            </a:r>
          </a:p>
          <a:p>
            <a:pPr lvl="2"/>
            <a:r>
              <a:rPr lang="en-US"/>
              <a:t>For example, YubiKey.</a:t>
            </a:r>
          </a:p>
          <a:p>
            <a:pPr lvl="1"/>
            <a:r>
              <a:rPr lang="en-US"/>
              <a:t>Hardware MFA options:</a:t>
            </a:r>
          </a:p>
          <a:p>
            <a:pPr lvl="2"/>
            <a:r>
              <a:rPr lang="en-US"/>
              <a:t>Key fob or display card offered by </a:t>
            </a:r>
            <a:r>
              <a:rPr lang="en-US">
                <a:hlinkClick r:id="rId4"/>
              </a:rPr>
              <a:t>Gemalto</a:t>
            </a:r>
            <a:r>
              <a:rPr lang="en-US"/>
              <a:t>.</a:t>
            </a:r>
          </a:p>
          <a:p>
            <a:endParaRPr lang="en-US"/>
          </a:p>
        </p:txBody>
      </p:sp>
      <p:sp>
        <p:nvSpPr>
          <p:cNvPr id="11" name="TextBox 10">
            <a:extLst>
              <a:ext uri="{FF2B5EF4-FFF2-40B4-BE49-F238E27FC236}">
                <a16:creationId xmlns="" xmlns:a16="http://schemas.microsoft.com/office/drawing/2014/main" id="{4C9B502D-30BF-924A-A260-C8EF48C4B475}"/>
              </a:ext>
            </a:extLst>
          </p:cNvPr>
          <p:cNvSpPr txBox="1"/>
          <p:nvPr/>
        </p:nvSpPr>
        <p:spPr>
          <a:xfrm>
            <a:off x="7509962" y="4991271"/>
            <a:ext cx="1178269" cy="338554"/>
          </a:xfrm>
          <a:prstGeom prst="rect">
            <a:avLst/>
          </a:prstGeom>
          <a:noFill/>
        </p:spPr>
        <p:txBody>
          <a:bodyPr wrap="square" rtlCol="0">
            <a:spAutoFit/>
          </a:bodyPr>
          <a:lstStyle/>
          <a:p>
            <a:pPr algn="ctr"/>
            <a:r>
              <a:rPr lang="en-US" sz="1600"/>
              <a:t>MFA token</a:t>
            </a:r>
          </a:p>
        </p:txBody>
      </p:sp>
      <p:pic>
        <p:nvPicPr>
          <p:cNvPr id="12" name="Graphic 11">
            <a:extLst>
              <a:ext uri="{FF2B5EF4-FFF2-40B4-BE49-F238E27FC236}">
                <a16:creationId xmlns="" xmlns:a16="http://schemas.microsoft.com/office/drawing/2014/main" id="{E8C11CF0-0AA0-7B49-B8C2-F7535DD6CC5E}"/>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7742856" y="4064551"/>
            <a:ext cx="695041" cy="926721"/>
          </a:xfrm>
          <a:prstGeom prst="rect">
            <a:avLst/>
          </a:prstGeom>
        </p:spPr>
      </p:pic>
    </p:spTree>
    <p:custDataLst>
      <p:tags r:id="rId1"/>
    </p:custDataLst>
    <p:extLst>
      <p:ext uri="{BB962C8B-B14F-4D97-AF65-F5344CB8AC3E}">
        <p14:creationId xmlns="" xmlns:p14="http://schemas.microsoft.com/office/powerpoint/2010/main" val="38335658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46FDFC53-4EC0-7D44-851F-707C2853C833}"/>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14</a:t>
            </a:fld>
            <a:endParaRPr lang="en-US"/>
          </a:p>
        </p:txBody>
      </p:sp>
      <p:sp>
        <p:nvSpPr>
          <p:cNvPr id="2" name="Title 1"/>
          <p:cNvSpPr>
            <a:spLocks noGrp="1"/>
          </p:cNvSpPr>
          <p:nvPr>
            <p:ph type="title"/>
          </p:nvPr>
        </p:nvSpPr>
        <p:spPr/>
        <p:txBody>
          <a:bodyPr>
            <a:normAutofit fontScale="90000"/>
          </a:bodyPr>
          <a:lstStyle/>
          <a:p>
            <a:r>
              <a:rPr lang="en-US" dirty="0">
                <a:solidFill>
                  <a:srgbClr val="FF0000"/>
                </a:solidFill>
              </a:rPr>
              <a:t>Securing a new AWS account: AWS </a:t>
            </a:r>
            <a:r>
              <a:rPr lang="en-US" dirty="0" err="1">
                <a:solidFill>
                  <a:srgbClr val="FF0000"/>
                </a:solidFill>
              </a:rPr>
              <a:t>CloudTrail</a:t>
            </a:r>
            <a:endParaRPr lang="en-US" dirty="0">
              <a:solidFill>
                <a:srgbClr val="FF0000"/>
              </a:solidFill>
            </a:endParaRPr>
          </a:p>
        </p:txBody>
      </p:sp>
      <p:sp>
        <p:nvSpPr>
          <p:cNvPr id="3" name="Content Placeholder 2"/>
          <p:cNvSpPr>
            <a:spLocks noGrp="1"/>
          </p:cNvSpPr>
          <p:nvPr>
            <p:ph sz="quarter" idx="4294967295"/>
          </p:nvPr>
        </p:nvSpPr>
        <p:spPr>
          <a:xfrm>
            <a:off x="274320" y="1143000"/>
            <a:ext cx="8690918" cy="5291750"/>
          </a:xfrm>
          <a:prstGeom prst="rect">
            <a:avLst/>
          </a:prstGeom>
        </p:spPr>
        <p:txBody>
          <a:bodyPr>
            <a:normAutofit fontScale="92500"/>
          </a:bodyPr>
          <a:lstStyle/>
          <a:p>
            <a:pPr marL="0" indent="0">
              <a:buNone/>
            </a:pPr>
            <a:r>
              <a:rPr lang="en-US" sz="2400" b="1">
                <a:solidFill>
                  <a:schemeClr val="accent6"/>
                </a:solidFill>
              </a:rPr>
              <a:t>Step 3: Use AWS CloudTrail.</a:t>
            </a:r>
          </a:p>
          <a:p>
            <a:pPr lvl="1"/>
            <a:r>
              <a:rPr lang="en-US" sz="2000"/>
              <a:t>CloudTrail tracks user activity on your account.</a:t>
            </a:r>
          </a:p>
          <a:p>
            <a:pPr lvl="2"/>
            <a:r>
              <a:rPr lang="en-US" sz="1800"/>
              <a:t>Logs all API requests to resources in all supported services your account.</a:t>
            </a:r>
          </a:p>
          <a:p>
            <a:pPr lvl="1"/>
            <a:r>
              <a:rPr lang="en-US" sz="2000">
                <a:solidFill>
                  <a:schemeClr val="accent6"/>
                </a:solidFill>
              </a:rPr>
              <a:t>Basic AWS CloudTrail event history is enabled by default</a:t>
            </a:r>
            <a:r>
              <a:rPr lang="en-US" sz="2000"/>
              <a:t> and is free.</a:t>
            </a:r>
          </a:p>
          <a:p>
            <a:pPr lvl="2"/>
            <a:r>
              <a:rPr lang="en-US" sz="1800"/>
              <a:t>It contains all management event data on latest 90 days of account activity.</a:t>
            </a:r>
          </a:p>
          <a:p>
            <a:r>
              <a:rPr lang="en-US" sz="2400"/>
              <a:t>To access CloudTrail – </a:t>
            </a:r>
          </a:p>
          <a:p>
            <a:pPr marL="914400" lvl="1" indent="-457200">
              <a:buFont typeface="+mj-lt"/>
              <a:buAutoNum type="arabicPeriod"/>
            </a:pPr>
            <a:r>
              <a:rPr lang="en-US" sz="2000"/>
              <a:t>Log in to the </a:t>
            </a:r>
            <a:r>
              <a:rPr lang="en-US" sz="2000" b="1"/>
              <a:t>AWS Management Console</a:t>
            </a:r>
            <a:r>
              <a:rPr lang="en-US" sz="2000"/>
              <a:t> and choose the </a:t>
            </a:r>
            <a:r>
              <a:rPr lang="en-US" sz="2000" b="1"/>
              <a:t>CloudTrail</a:t>
            </a:r>
            <a:r>
              <a:rPr lang="en-US" sz="2000"/>
              <a:t> service.</a:t>
            </a:r>
          </a:p>
          <a:p>
            <a:pPr marL="914400" lvl="1" indent="-457200">
              <a:buFont typeface="+mj-lt"/>
              <a:buAutoNum type="arabicPeriod"/>
            </a:pPr>
            <a:r>
              <a:rPr lang="en-US" sz="2000"/>
              <a:t>Click </a:t>
            </a:r>
            <a:r>
              <a:rPr lang="en-US" sz="2000" b="1"/>
              <a:t>Event history</a:t>
            </a:r>
            <a:r>
              <a:rPr lang="en-US" sz="2000"/>
              <a:t> to view, filter, and search the last 90 days of events.</a:t>
            </a:r>
          </a:p>
          <a:p>
            <a:r>
              <a:rPr lang="en-US" sz="2400" b="1">
                <a:solidFill>
                  <a:schemeClr val="accent6"/>
                </a:solidFill>
              </a:rPr>
              <a:t>To enable logs beyond 90 days and enable specified event alerting, create a trail.</a:t>
            </a:r>
          </a:p>
          <a:p>
            <a:pPr marL="914400" lvl="1" indent="-457200">
              <a:buFont typeface="+mj-lt"/>
              <a:buAutoNum type="arabicPeriod"/>
            </a:pPr>
            <a:r>
              <a:rPr lang="en-US" sz="2000"/>
              <a:t>From the CloudTrail Console trails page, click </a:t>
            </a:r>
            <a:r>
              <a:rPr lang="en-US" sz="2000" b="1"/>
              <a:t>Create trail</a:t>
            </a:r>
            <a:r>
              <a:rPr lang="en-US" sz="2000"/>
              <a:t>.</a:t>
            </a:r>
          </a:p>
          <a:p>
            <a:pPr marL="914400" lvl="1" indent="-457200">
              <a:buFont typeface="+mj-lt"/>
              <a:buAutoNum type="arabicPeriod"/>
            </a:pPr>
            <a:r>
              <a:rPr lang="en-US" sz="2000"/>
              <a:t>Give it a name, apply it to all Regions, and create a new Amazon S3 bucket for log storage. </a:t>
            </a:r>
          </a:p>
          <a:p>
            <a:pPr marL="914400" lvl="1" indent="-457200">
              <a:buFont typeface="+mj-lt"/>
              <a:buAutoNum type="arabicPeriod"/>
            </a:pPr>
            <a:r>
              <a:rPr lang="en-US" sz="2000"/>
              <a:t>Configure access restrictions on the S3 bucket (for example, only admin users should have access).</a:t>
            </a:r>
          </a:p>
          <a:p>
            <a:endParaRPr lang="en-US"/>
          </a:p>
        </p:txBody>
      </p:sp>
    </p:spTree>
    <p:custDataLst>
      <p:tags r:id="rId1"/>
    </p:custDataLst>
    <p:extLst>
      <p:ext uri="{BB962C8B-B14F-4D97-AF65-F5344CB8AC3E}">
        <p14:creationId xmlns="" xmlns:p14="http://schemas.microsoft.com/office/powerpoint/2010/main" val="17887628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71FE6C2F-1BB3-2146-BC84-19B594161D37}"/>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15</a:t>
            </a:fld>
            <a:endParaRPr lang="en-US"/>
          </a:p>
        </p:txBody>
      </p:sp>
      <p:sp>
        <p:nvSpPr>
          <p:cNvPr id="2" name="Title 1"/>
          <p:cNvSpPr>
            <a:spLocks noGrp="1"/>
          </p:cNvSpPr>
          <p:nvPr>
            <p:ph type="title"/>
          </p:nvPr>
        </p:nvSpPr>
        <p:spPr/>
        <p:txBody>
          <a:bodyPr>
            <a:normAutofit fontScale="90000"/>
          </a:bodyPr>
          <a:lstStyle/>
          <a:p>
            <a:r>
              <a:rPr lang="en-US" dirty="0">
                <a:solidFill>
                  <a:srgbClr val="FF0000"/>
                </a:solidFill>
              </a:rPr>
              <a:t>Securing a new AWS account: Billing reports</a:t>
            </a:r>
          </a:p>
        </p:txBody>
      </p:sp>
      <p:sp>
        <p:nvSpPr>
          <p:cNvPr id="3" name="Content Placeholder 2"/>
          <p:cNvSpPr>
            <a:spLocks noGrp="1"/>
          </p:cNvSpPr>
          <p:nvPr>
            <p:ph sz="quarter" idx="4294967295"/>
          </p:nvPr>
        </p:nvSpPr>
        <p:spPr>
          <a:xfrm>
            <a:off x="274320" y="1143000"/>
            <a:ext cx="8690918" cy="5291750"/>
          </a:xfrm>
          <a:prstGeom prst="rect">
            <a:avLst/>
          </a:prstGeom>
        </p:spPr>
        <p:txBody>
          <a:bodyPr>
            <a:normAutofit/>
          </a:bodyPr>
          <a:lstStyle/>
          <a:p>
            <a:pPr marL="0" indent="0">
              <a:spcBef>
                <a:spcPts val="2400"/>
              </a:spcBef>
              <a:buClr>
                <a:srgbClr val="FF9933"/>
              </a:buClr>
              <a:buNone/>
            </a:pPr>
            <a:r>
              <a:rPr lang="en-US" b="1">
                <a:solidFill>
                  <a:schemeClr val="accent6"/>
                </a:solidFill>
              </a:rPr>
              <a:t>Step 4: Enable a </a:t>
            </a:r>
            <a:r>
              <a:rPr lang="en-US">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billing</a:t>
            </a:r>
            <a:r>
              <a:rPr lang="en-US">
                <a:solidFill>
                  <a:schemeClr val="accent6"/>
                </a:solidFill>
              </a:rPr>
              <a:t> </a:t>
            </a:r>
            <a:r>
              <a:rPr lang="en-US">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report</a:t>
            </a:r>
            <a:r>
              <a:rPr lang="en-US">
                <a:solidFill>
                  <a:schemeClr val="accent6"/>
                </a:solidFill>
              </a:rPr>
              <a:t>,</a:t>
            </a:r>
            <a:r>
              <a:rPr lang="en-US" b="1">
                <a:solidFill>
                  <a:schemeClr val="accent6"/>
                </a:solidFill>
              </a:rPr>
              <a:t> such as the AWS Cost and Usage Report.</a:t>
            </a:r>
          </a:p>
          <a:p>
            <a:pPr marL="231775" indent="-217488">
              <a:spcBef>
                <a:spcPts val="2400"/>
              </a:spcBef>
              <a:spcAft>
                <a:spcPts val="600"/>
              </a:spcAft>
              <a:buSzPct val="100000"/>
            </a:pPr>
            <a:r>
              <a:rPr lang="en-US" sz="2400"/>
              <a:t>Billing reports provide information about your use of AWS resources and estimated costs for that use. </a:t>
            </a:r>
          </a:p>
          <a:p>
            <a:pPr marL="231775" indent="-217488">
              <a:spcBef>
                <a:spcPts val="2400"/>
              </a:spcBef>
              <a:spcAft>
                <a:spcPts val="600"/>
              </a:spcAft>
              <a:buSzPct val="100000"/>
            </a:pPr>
            <a:r>
              <a:rPr lang="en-US" sz="2400"/>
              <a:t>AWS delivers the reports to an Amazon S3 bucket that you specify.</a:t>
            </a:r>
          </a:p>
          <a:p>
            <a:pPr marL="688975" lvl="1" indent="-217488">
              <a:spcBef>
                <a:spcPts val="2400"/>
              </a:spcBef>
              <a:spcAft>
                <a:spcPts val="600"/>
              </a:spcAft>
              <a:buSzPct val="100000"/>
            </a:pPr>
            <a:r>
              <a:rPr lang="en-US"/>
              <a:t>Report is updated at least once per day. </a:t>
            </a:r>
          </a:p>
          <a:p>
            <a:pPr marL="231775" indent="-217488">
              <a:spcBef>
                <a:spcPts val="2400"/>
              </a:spcBef>
              <a:spcAft>
                <a:spcPts val="600"/>
              </a:spcAft>
              <a:buSzPct val="100000"/>
            </a:pPr>
            <a:r>
              <a:rPr lang="en-US" sz="2400"/>
              <a:t>The </a:t>
            </a:r>
            <a:r>
              <a:rPr lang="en-US" sz="2400" b="1"/>
              <a:t>AWS Cost and Usage Report </a:t>
            </a:r>
            <a:r>
              <a:rPr lang="en-US" sz="2400"/>
              <a:t>tracks your AWS usage and provides estimated charges associated with your AWS account, either by the hour or by the day.</a:t>
            </a:r>
            <a:endParaRPr lang="en-US"/>
          </a:p>
        </p:txBody>
      </p:sp>
    </p:spTree>
    <p:custDataLst>
      <p:tags r:id="rId1"/>
    </p:custDataLst>
    <p:extLst>
      <p:ext uri="{BB962C8B-B14F-4D97-AF65-F5344CB8AC3E}">
        <p14:creationId xmlns="" xmlns:p14="http://schemas.microsoft.com/office/powerpoint/2010/main" val="33408419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675D8BB1-3643-6B45-996C-47BCC8095C8A}"/>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16</a:t>
            </a:fld>
            <a:endParaRPr lang="en-US"/>
          </a:p>
        </p:txBody>
      </p:sp>
      <p:sp>
        <p:nvSpPr>
          <p:cNvPr id="4" name="Title 1"/>
          <p:cNvSpPr>
            <a:spLocks noGrp="1"/>
          </p:cNvSpPr>
          <p:nvPr>
            <p:ph type="title"/>
          </p:nvPr>
        </p:nvSpPr>
        <p:spPr/>
        <p:txBody>
          <a:bodyPr/>
          <a:lstStyle/>
          <a:p>
            <a:r>
              <a:rPr lang="en-US" dirty="0">
                <a:solidFill>
                  <a:srgbClr val="FF0000"/>
                </a:solidFill>
              </a:rPr>
              <a:t>Activity: Scenario 1 of 2</a:t>
            </a:r>
          </a:p>
        </p:txBody>
      </p:sp>
      <p:sp>
        <p:nvSpPr>
          <p:cNvPr id="6" name="TextBox 5">
            <a:extLst>
              <a:ext uri="{FF2B5EF4-FFF2-40B4-BE49-F238E27FC236}">
                <a16:creationId xmlns="" xmlns:a16="http://schemas.microsoft.com/office/drawing/2014/main" id="{6281A826-29AD-774B-AE52-A047C7B4AD91}"/>
              </a:ext>
            </a:extLst>
          </p:cNvPr>
          <p:cNvSpPr txBox="1"/>
          <p:nvPr/>
        </p:nvSpPr>
        <p:spPr>
          <a:xfrm>
            <a:off x="314325" y="1281788"/>
            <a:ext cx="8369920" cy="830997"/>
          </a:xfrm>
          <a:prstGeom prst="rect">
            <a:avLst/>
          </a:prstGeom>
          <a:noFill/>
        </p:spPr>
        <p:txBody>
          <a:bodyPr wrap="square" rtlCol="0">
            <a:spAutoFit/>
          </a:bodyPr>
          <a:lstStyle/>
          <a:p>
            <a:r>
              <a:rPr lang="en-US" sz="2400" b="1">
                <a:solidFill>
                  <a:srgbClr val="504BAB"/>
                </a:solidFill>
              </a:rPr>
              <a:t>Consider this deployment. Who is responsible – AWS or the customer?</a:t>
            </a:r>
            <a:endParaRPr lang="en-US" sz="2400" b="1">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 xmlns:a16="http://schemas.microsoft.com/office/drawing/2014/main" id="{3168251C-9A60-F14C-9D92-CD0B1D639F03}"/>
              </a:ext>
            </a:extLst>
          </p:cNvPr>
          <p:cNvSpPr txBox="1">
            <a:spLocks/>
          </p:cNvSpPr>
          <p:nvPr/>
        </p:nvSpPr>
        <p:spPr>
          <a:xfrm>
            <a:off x="3900417" y="1927955"/>
            <a:ext cx="2320769"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Upgrades and patches to the operating system on the </a:t>
            </a:r>
            <a:r>
              <a:rPr lang="en-US" sz="1600" dirty="0" err="1"/>
              <a:t>EC2</a:t>
            </a:r>
            <a:r>
              <a:rPr lang="en-US" sz="1600" dirty="0"/>
              <a:t> instance?</a:t>
            </a:r>
          </a:p>
          <a:p>
            <a:pPr marL="342900" indent="-342900">
              <a:buFont typeface="+mj-lt"/>
              <a:buAutoNum type="arabicPeriod"/>
            </a:pPr>
            <a:r>
              <a:rPr lang="en-US" sz="1600" dirty="0"/>
              <a:t>Physical security of the data center?</a:t>
            </a:r>
            <a:endParaRPr lang="en-US" sz="1600" dirty="0">
              <a:solidFill>
                <a:schemeClr val="accent6"/>
              </a:solidFill>
            </a:endParaRPr>
          </a:p>
          <a:p>
            <a:pPr marL="342900" indent="-342900">
              <a:buFont typeface="+mj-lt"/>
              <a:buAutoNum type="arabicPeriod"/>
            </a:pPr>
            <a:r>
              <a:rPr lang="en-US" sz="1600" dirty="0"/>
              <a:t>Virtualization infrastructure?</a:t>
            </a:r>
          </a:p>
          <a:p>
            <a:pPr marL="342900" indent="-342900">
              <a:buFont typeface="+mj-lt"/>
              <a:buAutoNum type="arabicPeriod"/>
            </a:pPr>
            <a:r>
              <a:rPr lang="en-US" sz="1600" dirty="0" err="1"/>
              <a:t>EC2</a:t>
            </a:r>
            <a:r>
              <a:rPr lang="en-US" sz="1600" dirty="0"/>
              <a:t> security group settings?</a:t>
            </a:r>
          </a:p>
          <a:p>
            <a:pPr marL="342900" indent="-342900">
              <a:buFont typeface="+mj-lt"/>
              <a:buAutoNum type="arabicPeriod"/>
            </a:pPr>
            <a:r>
              <a:rPr lang="en-US" sz="1600" dirty="0"/>
              <a:t>Configuration of applications that run on the </a:t>
            </a:r>
            <a:r>
              <a:rPr lang="en-US" sz="1600" dirty="0" err="1"/>
              <a:t>EC2</a:t>
            </a:r>
            <a:r>
              <a:rPr lang="en-US" sz="1600" dirty="0"/>
              <a:t> instance?</a:t>
            </a:r>
          </a:p>
        </p:txBody>
      </p:sp>
      <p:sp>
        <p:nvSpPr>
          <p:cNvPr id="30" name="Content Placeholder 2">
            <a:extLst>
              <a:ext uri="{FF2B5EF4-FFF2-40B4-BE49-F238E27FC236}">
                <a16:creationId xmlns="" xmlns:a16="http://schemas.microsoft.com/office/drawing/2014/main" id="{0D6A1B44-E47E-714D-A549-0CCAF10451D2}"/>
              </a:ext>
            </a:extLst>
          </p:cNvPr>
          <p:cNvSpPr txBox="1">
            <a:spLocks/>
          </p:cNvSpPr>
          <p:nvPr/>
        </p:nvSpPr>
        <p:spPr>
          <a:xfrm>
            <a:off x="6363476" y="1929138"/>
            <a:ext cx="2320769"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t>Oracle upgrades or patches If the Oracle instance runs as an Amazon </a:t>
            </a:r>
            <a:r>
              <a:rPr lang="en-US" sz="1600" dirty="0" err="1"/>
              <a:t>RDS</a:t>
            </a:r>
            <a:r>
              <a:rPr lang="en-US" sz="1600" dirty="0"/>
              <a:t> instance?</a:t>
            </a:r>
          </a:p>
          <a:p>
            <a:pPr marL="342900" indent="-342900">
              <a:buFont typeface="+mj-lt"/>
              <a:buAutoNum type="arabicPeriod" startAt="6"/>
            </a:pPr>
            <a:r>
              <a:rPr lang="en-US" sz="1600" dirty="0"/>
              <a:t>Oracle upgrades or patches If Oracle runs on an </a:t>
            </a:r>
            <a:r>
              <a:rPr lang="en-US" sz="1600" dirty="0" err="1"/>
              <a:t>EC2</a:t>
            </a:r>
            <a:r>
              <a:rPr lang="en-US" sz="1600" dirty="0"/>
              <a:t> instance?</a:t>
            </a:r>
          </a:p>
          <a:p>
            <a:pPr marL="342900" indent="-342900">
              <a:buFont typeface="+mj-lt"/>
              <a:buAutoNum type="arabicPeriod" startAt="6"/>
            </a:pPr>
            <a:r>
              <a:rPr lang="en-US" sz="1600" dirty="0" err="1"/>
              <a:t>S3</a:t>
            </a:r>
            <a:r>
              <a:rPr lang="en-US" sz="1600" dirty="0"/>
              <a:t> bucket access configuration?</a:t>
            </a:r>
          </a:p>
        </p:txBody>
      </p:sp>
      <p:grpSp>
        <p:nvGrpSpPr>
          <p:cNvPr id="2" name="Group 1" descr="Architectural diagram showing an AWS Cloud box which contains an AWS Global Infrastructure area, an Amazon S3 bucket, and a VPC which contains an Amazon EC2 instance and an Oracle instance.">
            <a:extLst>
              <a:ext uri="{FF2B5EF4-FFF2-40B4-BE49-F238E27FC236}">
                <a16:creationId xmlns="" xmlns:a16="http://schemas.microsoft.com/office/drawing/2014/main" id="{9A745969-01CA-C614-74D4-3A8435904153}"/>
              </a:ext>
            </a:extLst>
          </p:cNvPr>
          <p:cNvGrpSpPr/>
          <p:nvPr/>
        </p:nvGrpSpPr>
        <p:grpSpPr>
          <a:xfrm>
            <a:off x="190500" y="2241844"/>
            <a:ext cx="3597729" cy="3244556"/>
            <a:chOff x="254000" y="1894114"/>
            <a:chExt cx="4796972" cy="3244556"/>
          </a:xfrm>
        </p:grpSpPr>
        <p:pic>
          <p:nvPicPr>
            <p:cNvPr id="10" name="Graphic 9">
              <a:extLst>
                <a:ext uri="{FF2B5EF4-FFF2-40B4-BE49-F238E27FC236}">
                  <a16:creationId xmlns="" xmlns:a16="http://schemas.microsoft.com/office/drawing/2014/main" id="{6BB2521E-0885-344C-9748-52E3F00AB24E}"/>
                </a:ext>
                <a:ext uri="{C183D7F6-B498-43B3-948B-1728B52AA6E4}">
                  <adec:decorative xmlns="" xmlns:adec="http://schemas.microsoft.com/office/drawing/2017/decorative" val="1"/>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796096" y="2741058"/>
              <a:ext cx="711200" cy="711200"/>
            </a:xfrm>
            <a:prstGeom prst="rect">
              <a:avLst/>
            </a:prstGeom>
          </p:spPr>
        </p:pic>
        <p:sp>
          <p:nvSpPr>
            <p:cNvPr id="12" name="TextBox 11">
              <a:extLst>
                <a:ext uri="{FF2B5EF4-FFF2-40B4-BE49-F238E27FC236}">
                  <a16:creationId xmlns="" xmlns:a16="http://schemas.microsoft.com/office/drawing/2014/main" id="{1EA8A186-3FF5-A842-B753-04F0E39A200B}"/>
                </a:ext>
              </a:extLst>
            </p:cNvPr>
            <p:cNvSpPr txBox="1"/>
            <p:nvPr/>
          </p:nvSpPr>
          <p:spPr>
            <a:xfrm>
              <a:off x="273667" y="3459335"/>
              <a:ext cx="1624529" cy="1323439"/>
            </a:xfrm>
            <a:prstGeom prst="rect">
              <a:avLst/>
            </a:prstGeom>
            <a:noFill/>
          </p:spPr>
          <p:txBody>
            <a:bodyPr wrap="square" rtlCol="0">
              <a:spAutoFit/>
            </a:bodyPr>
            <a:lstStyle/>
            <a:p>
              <a:pPr algn="ctr"/>
              <a:r>
                <a:rPr lang="en-US" sz="1600"/>
                <a:t>Amazon Simple Storage Service (Amazon S3)</a:t>
              </a:r>
            </a:p>
          </p:txBody>
        </p:sp>
        <p:sp>
          <p:nvSpPr>
            <p:cNvPr id="14" name="TextBox 13">
              <a:extLst>
                <a:ext uri="{FF2B5EF4-FFF2-40B4-BE49-F238E27FC236}">
                  <a16:creationId xmlns="" xmlns:a16="http://schemas.microsoft.com/office/drawing/2014/main" id="{DEFB4DA9-1A4E-F34B-88DE-5D0959E06D03}"/>
                </a:ext>
              </a:extLst>
            </p:cNvPr>
            <p:cNvSpPr txBox="1"/>
            <p:nvPr/>
          </p:nvSpPr>
          <p:spPr>
            <a:xfrm>
              <a:off x="2077747" y="3511425"/>
              <a:ext cx="1513305" cy="584775"/>
            </a:xfrm>
            <a:prstGeom prst="rect">
              <a:avLst/>
            </a:prstGeom>
            <a:noFill/>
          </p:spPr>
          <p:txBody>
            <a:bodyPr wrap="square" rtlCol="0">
              <a:spAutoFit/>
            </a:bodyPr>
            <a:lstStyle/>
            <a:p>
              <a:pPr algn="ctr"/>
              <a:r>
                <a:rPr lang="en-US" sz="1600"/>
                <a:t>Amazon </a:t>
              </a:r>
              <a:br>
                <a:rPr lang="en-US" sz="1600"/>
              </a:br>
              <a:r>
                <a:rPr lang="en-US" sz="1600"/>
                <a:t>EC2</a:t>
              </a:r>
            </a:p>
          </p:txBody>
        </p:sp>
        <p:pic>
          <p:nvPicPr>
            <p:cNvPr id="15" name="Graphic 14">
              <a:extLst>
                <a:ext uri="{FF2B5EF4-FFF2-40B4-BE49-F238E27FC236}">
                  <a16:creationId xmlns="" xmlns:a16="http://schemas.microsoft.com/office/drawing/2014/main" id="{CFCA6B7F-3260-7847-9028-AF1EFB601FBF}"/>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2478800" y="2741058"/>
              <a:ext cx="711200" cy="711200"/>
            </a:xfrm>
            <a:prstGeom prst="rect">
              <a:avLst/>
            </a:prstGeom>
          </p:spPr>
        </p:pic>
        <p:sp>
          <p:nvSpPr>
            <p:cNvPr id="18" name="Rectangle 17">
              <a:extLst>
                <a:ext uri="{FF2B5EF4-FFF2-40B4-BE49-F238E27FC236}">
                  <a16:creationId xmlns="" xmlns:a16="http://schemas.microsoft.com/office/drawing/2014/main" id="{3EA89E8D-EBD6-BC48-A1A4-6F8FB7E9F3DC}"/>
                </a:ext>
              </a:extLst>
            </p:cNvPr>
            <p:cNvSpPr/>
            <p:nvPr/>
          </p:nvSpPr>
          <p:spPr>
            <a:xfrm>
              <a:off x="2039048" y="2130006"/>
              <a:ext cx="2709883" cy="2035244"/>
            </a:xfrm>
            <a:prstGeom prst="rect">
              <a:avLst/>
            </a:prstGeom>
            <a:noFill/>
            <a:ln w="127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ln w="0"/>
                  <a:solidFill>
                    <a:srgbClr val="504BAB"/>
                  </a:solidFill>
                </a:rPr>
                <a:t>Virtual Private Cloud (VPC)</a:t>
              </a:r>
              <a:endParaRPr lang="en-US" sz="1200">
                <a:ln w="0"/>
                <a:solidFill>
                  <a:srgbClr val="504BAB"/>
                </a:solidFill>
              </a:endParaRPr>
            </a:p>
          </p:txBody>
        </p:sp>
        <p:pic>
          <p:nvPicPr>
            <p:cNvPr id="19" name="Graphic 18">
              <a:extLst>
                <a:ext uri="{FF2B5EF4-FFF2-40B4-BE49-F238E27FC236}">
                  <a16:creationId xmlns="" xmlns:a16="http://schemas.microsoft.com/office/drawing/2014/main" id="{217CA18F-C790-8249-A9C4-0B7DF0607DC5}"/>
                </a:ext>
                <a:ext uri="{C183D7F6-B498-43B3-948B-1728B52AA6E4}">
                  <adec:decorative xmlns="" xmlns:adec="http://schemas.microsoft.com/office/drawing/2017/decorative" val="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2039048" y="2138782"/>
              <a:ext cx="327291" cy="327291"/>
            </a:xfrm>
            <a:prstGeom prst="rect">
              <a:avLst/>
            </a:prstGeom>
          </p:spPr>
        </p:pic>
        <p:sp>
          <p:nvSpPr>
            <p:cNvPr id="20" name="TextBox 19">
              <a:extLst>
                <a:ext uri="{FF2B5EF4-FFF2-40B4-BE49-F238E27FC236}">
                  <a16:creationId xmlns="" xmlns:a16="http://schemas.microsoft.com/office/drawing/2014/main" id="{EE1C367D-62EF-0746-B2F0-848ADC656C91}"/>
                </a:ext>
              </a:extLst>
            </p:cNvPr>
            <p:cNvSpPr txBox="1"/>
            <p:nvPr/>
          </p:nvSpPr>
          <p:spPr>
            <a:xfrm>
              <a:off x="3535845" y="3491820"/>
              <a:ext cx="1162652" cy="830997"/>
            </a:xfrm>
            <a:prstGeom prst="rect">
              <a:avLst/>
            </a:prstGeom>
            <a:noFill/>
          </p:spPr>
          <p:txBody>
            <a:bodyPr wrap="square" rtlCol="0">
              <a:spAutoFit/>
            </a:bodyPr>
            <a:lstStyle/>
            <a:p>
              <a:pPr algn="ctr"/>
              <a:r>
                <a:rPr lang="en-US" sz="1600"/>
                <a:t>Oracle instance</a:t>
              </a:r>
            </a:p>
            <a:p>
              <a:pPr algn="ctr"/>
              <a:endParaRPr lang="en-US" sz="1600"/>
            </a:p>
          </p:txBody>
        </p:sp>
        <p:pic>
          <p:nvPicPr>
            <p:cNvPr id="21" name="Graphic 20">
              <a:extLst>
                <a:ext uri="{FF2B5EF4-FFF2-40B4-BE49-F238E27FC236}">
                  <a16:creationId xmlns="" xmlns:a16="http://schemas.microsoft.com/office/drawing/2014/main" id="{5CB8050E-54BF-524A-862D-1688F3F4A330}"/>
                </a:ext>
                <a:ext uri="{C183D7F6-B498-43B3-948B-1728B52AA6E4}">
                  <adec:decorative xmlns="" xmlns:adec="http://schemas.microsoft.com/office/drawing/2017/decorative" val="1"/>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3796417" y="2741058"/>
              <a:ext cx="711200" cy="711200"/>
            </a:xfrm>
            <a:prstGeom prst="rect">
              <a:avLst/>
            </a:prstGeom>
          </p:spPr>
        </p:pic>
        <p:sp>
          <p:nvSpPr>
            <p:cNvPr id="23" name="Rectangle 22">
              <a:extLst>
                <a:ext uri="{FF2B5EF4-FFF2-40B4-BE49-F238E27FC236}">
                  <a16:creationId xmlns="" xmlns:a16="http://schemas.microsoft.com/office/drawing/2014/main" id="{7710ABD6-8348-D848-8430-3475FE28A221}"/>
                </a:ext>
              </a:extLst>
            </p:cNvPr>
            <p:cNvSpPr/>
            <p:nvPr/>
          </p:nvSpPr>
          <p:spPr>
            <a:xfrm>
              <a:off x="254000" y="1894114"/>
              <a:ext cx="4796972" cy="32445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AWS Cloud</a:t>
              </a:r>
            </a:p>
          </p:txBody>
        </p:sp>
        <p:pic>
          <p:nvPicPr>
            <p:cNvPr id="24" name="Graphic 23">
              <a:extLst>
                <a:ext uri="{FF2B5EF4-FFF2-40B4-BE49-F238E27FC236}">
                  <a16:creationId xmlns="" xmlns:a16="http://schemas.microsoft.com/office/drawing/2014/main" id="{8E7E642E-C34B-9B40-93F3-ED96D531A278}"/>
                </a:ext>
                <a:ext uri="{C183D7F6-B498-43B3-948B-1728B52AA6E4}">
                  <adec:decorative xmlns="" xmlns:adec="http://schemas.microsoft.com/office/drawing/2017/decorative" val="1"/>
                </a:ext>
              </a:extLst>
            </p:cNvPr>
            <p:cNvPicPr>
              <a:picLocks noChangeAspect="1"/>
            </p:cNvPicPr>
            <p:nvPr/>
          </p:nvPicPr>
          <p:blipFill>
            <a:blip r:embed="rId12" cstate="print">
              <a:extLst>
                <a:ext uri="{96DAC541-7B7A-43D3-8B79-37D633B846F1}">
                  <asvg:svgBlip xmlns="" xmlns:asvg="http://schemas.microsoft.com/office/drawing/2016/SVG/main" r:embed="rId13"/>
                </a:ext>
              </a:extLst>
            </a:blip>
            <a:stretch>
              <a:fillRect/>
            </a:stretch>
          </p:blipFill>
          <p:spPr>
            <a:xfrm>
              <a:off x="254000" y="1903220"/>
              <a:ext cx="330200" cy="330200"/>
            </a:xfrm>
            <a:prstGeom prst="rect">
              <a:avLst/>
            </a:prstGeom>
          </p:spPr>
        </p:pic>
        <p:sp>
          <p:nvSpPr>
            <p:cNvPr id="26" name="Rectangle 25">
              <a:extLst>
                <a:ext uri="{FF2B5EF4-FFF2-40B4-BE49-F238E27FC236}">
                  <a16:creationId xmlns="" xmlns:a16="http://schemas.microsoft.com/office/drawing/2014/main" id="{91C2A163-D034-FC49-9979-6ADBD7D60443}"/>
                </a:ext>
              </a:extLst>
            </p:cNvPr>
            <p:cNvSpPr/>
            <p:nvPr/>
          </p:nvSpPr>
          <p:spPr>
            <a:xfrm>
              <a:off x="664550" y="4349064"/>
              <a:ext cx="4084382" cy="584775"/>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2400">
                  <a:solidFill>
                    <a:srgbClr val="5A6B86"/>
                  </a:solidFill>
                </a:rPr>
                <a:t>AWS Global Infrastructure</a:t>
              </a:r>
              <a:endParaRPr lang="en-US" sz="1200">
                <a:solidFill>
                  <a:srgbClr val="5A6B86"/>
                </a:solidFill>
              </a:endParaRPr>
            </a:p>
          </p:txBody>
        </p:sp>
      </p:grpSp>
    </p:spTree>
    <p:custDataLst>
      <p:tags r:id="rId1"/>
    </p:custDataLst>
    <p:extLst>
      <p:ext uri="{BB962C8B-B14F-4D97-AF65-F5344CB8AC3E}">
        <p14:creationId xmlns="" xmlns:p14="http://schemas.microsoft.com/office/powerpoint/2010/main" val="37680947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675D8BB1-3643-6B45-996C-47BCC8095C8A}"/>
              </a:ext>
              <a:ext uri="{C183D7F6-B498-43B3-948B-1728B52AA6E4}">
                <adec:decorative xmlns=""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17</a:t>
            </a:fld>
            <a:endParaRPr lang="en-US"/>
          </a:p>
        </p:txBody>
      </p:sp>
      <p:sp>
        <p:nvSpPr>
          <p:cNvPr id="4" name="Title 1"/>
          <p:cNvSpPr>
            <a:spLocks noGrp="1"/>
          </p:cNvSpPr>
          <p:nvPr>
            <p:ph type="title"/>
          </p:nvPr>
        </p:nvSpPr>
        <p:spPr/>
        <p:txBody>
          <a:bodyPr/>
          <a:lstStyle/>
          <a:p>
            <a:r>
              <a:rPr lang="en-US" dirty="0">
                <a:solidFill>
                  <a:srgbClr val="FF0000"/>
                </a:solidFill>
              </a:rPr>
              <a:t>Activity: Scenario 1 of 2 Answers</a:t>
            </a:r>
          </a:p>
        </p:txBody>
      </p:sp>
      <p:sp>
        <p:nvSpPr>
          <p:cNvPr id="6" name="TextBox 5">
            <a:extLst>
              <a:ext uri="{FF2B5EF4-FFF2-40B4-BE49-F238E27FC236}">
                <a16:creationId xmlns="" xmlns:a16="http://schemas.microsoft.com/office/drawing/2014/main" id="{6281A826-29AD-774B-AE52-A047C7B4AD91}"/>
              </a:ext>
            </a:extLst>
          </p:cNvPr>
          <p:cNvSpPr txBox="1"/>
          <p:nvPr/>
        </p:nvSpPr>
        <p:spPr>
          <a:xfrm>
            <a:off x="314325" y="1281788"/>
            <a:ext cx="8369920" cy="830997"/>
          </a:xfrm>
          <a:prstGeom prst="rect">
            <a:avLst/>
          </a:prstGeom>
          <a:noFill/>
        </p:spPr>
        <p:txBody>
          <a:bodyPr wrap="square" rtlCol="0">
            <a:spAutoFit/>
          </a:bodyPr>
          <a:lstStyle/>
          <a:p>
            <a:r>
              <a:rPr lang="en-US" sz="2400" b="1" dirty="0">
                <a:solidFill>
                  <a:srgbClr val="504BAB"/>
                </a:solidFill>
              </a:rPr>
              <a:t>Consider this deployment. Who is responsible – AWS or the customer?</a:t>
            </a:r>
            <a:endPar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 xmlns:a16="http://schemas.microsoft.com/office/drawing/2014/main" id="{3168251C-9A60-F14C-9D92-CD0B1D639F03}"/>
              </a:ext>
            </a:extLst>
          </p:cNvPr>
          <p:cNvSpPr txBox="1">
            <a:spLocks/>
          </p:cNvSpPr>
          <p:nvPr/>
        </p:nvSpPr>
        <p:spPr>
          <a:xfrm>
            <a:off x="3900417" y="1927955"/>
            <a:ext cx="2320769"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a:t>Upgrades and patches to the operating system on the EC2 instance?</a:t>
            </a:r>
          </a:p>
          <a:p>
            <a:pPr lvl="1"/>
            <a:r>
              <a:rPr lang="en-US" sz="1600" b="1">
                <a:solidFill>
                  <a:schemeClr val="accent5"/>
                </a:solidFill>
              </a:rPr>
              <a:t>ANSWER:</a:t>
            </a:r>
            <a:r>
              <a:rPr lang="en-US" sz="1600"/>
              <a:t> </a:t>
            </a:r>
            <a:r>
              <a:rPr lang="en-US" sz="1600">
                <a:solidFill>
                  <a:schemeClr val="accent6"/>
                </a:solidFill>
              </a:rPr>
              <a:t>The customer</a:t>
            </a:r>
          </a:p>
          <a:p>
            <a:pPr marL="342900" indent="-342900">
              <a:buFont typeface="+mj-lt"/>
              <a:buAutoNum type="arabicPeriod"/>
            </a:pPr>
            <a:r>
              <a:rPr lang="en-US" sz="1600"/>
              <a:t>Physical security of the data center?</a:t>
            </a:r>
          </a:p>
          <a:p>
            <a:pPr lvl="1"/>
            <a:r>
              <a:rPr lang="en-US" sz="1600" b="1">
                <a:solidFill>
                  <a:schemeClr val="accent5"/>
                </a:solidFill>
              </a:rPr>
              <a:t>ANSWER: </a:t>
            </a:r>
            <a:r>
              <a:rPr lang="en-US" sz="1600">
                <a:solidFill>
                  <a:schemeClr val="accent6"/>
                </a:solidFill>
              </a:rPr>
              <a:t>AWS</a:t>
            </a:r>
          </a:p>
          <a:p>
            <a:pPr marL="342900" indent="-342900">
              <a:buFont typeface="+mj-lt"/>
              <a:buAutoNum type="arabicPeriod"/>
            </a:pPr>
            <a:r>
              <a:rPr lang="en-US" sz="1600"/>
              <a:t>Virtualization infrastructure?</a:t>
            </a:r>
          </a:p>
          <a:p>
            <a:pPr lvl="1"/>
            <a:r>
              <a:rPr lang="en-US" sz="1600" b="1">
                <a:solidFill>
                  <a:schemeClr val="accent5"/>
                </a:solidFill>
              </a:rPr>
              <a:t>ANSWER: </a:t>
            </a:r>
            <a:r>
              <a:rPr lang="en-US" sz="1600">
                <a:solidFill>
                  <a:schemeClr val="accent6"/>
                </a:solidFill>
              </a:rPr>
              <a:t>AWS</a:t>
            </a:r>
            <a:endParaRPr lang="en-US" sz="1600"/>
          </a:p>
          <a:p>
            <a:pPr marL="342900" indent="-342900">
              <a:buFont typeface="+mj-lt"/>
              <a:buAutoNum type="arabicPeriod"/>
            </a:pPr>
            <a:r>
              <a:rPr lang="en-US" sz="1600"/>
              <a:t>EC2 security group settings?</a:t>
            </a:r>
          </a:p>
          <a:p>
            <a:pPr lvl="1"/>
            <a:r>
              <a:rPr lang="en-US" sz="1600" b="1">
                <a:solidFill>
                  <a:schemeClr val="accent5"/>
                </a:solidFill>
              </a:rPr>
              <a:t>ANSWER:</a:t>
            </a:r>
            <a:r>
              <a:rPr lang="en-US" sz="1600"/>
              <a:t> </a:t>
            </a:r>
            <a:r>
              <a:rPr lang="en-US" sz="1600">
                <a:solidFill>
                  <a:schemeClr val="accent6"/>
                </a:solidFill>
              </a:rPr>
              <a:t>The customer</a:t>
            </a:r>
          </a:p>
          <a:p>
            <a:pPr marL="342900" indent="-342900">
              <a:buFont typeface="+mj-lt"/>
              <a:buAutoNum type="arabicPeriod"/>
            </a:pPr>
            <a:r>
              <a:rPr lang="en-US" sz="1600"/>
              <a:t>Configuration of applications that run on the EC2 instance?</a:t>
            </a:r>
          </a:p>
          <a:p>
            <a:pPr lvl="1"/>
            <a:r>
              <a:rPr lang="en-US" sz="1600" b="1">
                <a:solidFill>
                  <a:schemeClr val="accent5"/>
                </a:solidFill>
              </a:rPr>
              <a:t>ANSWER:</a:t>
            </a:r>
            <a:r>
              <a:rPr lang="en-US" sz="1600"/>
              <a:t> </a:t>
            </a:r>
            <a:r>
              <a:rPr lang="en-US" sz="1600">
                <a:solidFill>
                  <a:schemeClr val="accent6"/>
                </a:solidFill>
              </a:rPr>
              <a:t>The customer</a:t>
            </a:r>
          </a:p>
        </p:txBody>
      </p:sp>
      <p:sp>
        <p:nvSpPr>
          <p:cNvPr id="30" name="Content Placeholder 2">
            <a:extLst>
              <a:ext uri="{FF2B5EF4-FFF2-40B4-BE49-F238E27FC236}">
                <a16:creationId xmlns="" xmlns:a16="http://schemas.microsoft.com/office/drawing/2014/main" id="{0D6A1B44-E47E-714D-A549-0CCAF10451D2}"/>
              </a:ext>
            </a:extLst>
          </p:cNvPr>
          <p:cNvSpPr txBox="1">
            <a:spLocks/>
          </p:cNvSpPr>
          <p:nvPr/>
        </p:nvSpPr>
        <p:spPr>
          <a:xfrm>
            <a:off x="6363476" y="1929138"/>
            <a:ext cx="2320769"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a:t>Oracle upgrades or patches If the Oracle instance runs as an Amazon RDS instance?</a:t>
            </a:r>
          </a:p>
          <a:p>
            <a:pPr lvl="1"/>
            <a:r>
              <a:rPr lang="en-US" sz="1600" b="1">
                <a:solidFill>
                  <a:schemeClr val="accent5"/>
                </a:solidFill>
              </a:rPr>
              <a:t>ANSWER:</a:t>
            </a:r>
            <a:r>
              <a:rPr lang="en-US" sz="1600"/>
              <a:t> </a:t>
            </a:r>
            <a:r>
              <a:rPr lang="en-US" sz="1600">
                <a:solidFill>
                  <a:schemeClr val="accent6"/>
                </a:solidFill>
              </a:rPr>
              <a:t>AWS</a:t>
            </a:r>
          </a:p>
          <a:p>
            <a:pPr marL="342900" indent="-342900">
              <a:buFont typeface="+mj-lt"/>
              <a:buAutoNum type="arabicPeriod" startAt="6"/>
            </a:pPr>
            <a:r>
              <a:rPr lang="en-US" sz="1600"/>
              <a:t>Oracle upgrades or patches If Oracle runs on an EC2 instance?</a:t>
            </a:r>
          </a:p>
          <a:p>
            <a:pPr lvl="1"/>
            <a:r>
              <a:rPr lang="en-US" sz="1600" b="1">
                <a:solidFill>
                  <a:schemeClr val="accent5"/>
                </a:solidFill>
              </a:rPr>
              <a:t>ANSWER:</a:t>
            </a:r>
            <a:r>
              <a:rPr lang="en-US" sz="1600"/>
              <a:t> </a:t>
            </a:r>
            <a:r>
              <a:rPr lang="en-US" sz="1600">
                <a:solidFill>
                  <a:schemeClr val="accent6"/>
                </a:solidFill>
              </a:rPr>
              <a:t>The customer</a:t>
            </a:r>
          </a:p>
          <a:p>
            <a:pPr marL="342900" indent="-342900">
              <a:buFont typeface="+mj-lt"/>
              <a:buAutoNum type="arabicPeriod" startAt="6"/>
            </a:pPr>
            <a:r>
              <a:rPr lang="en-US" sz="1600"/>
              <a:t>S3 bucket access configuration?</a:t>
            </a:r>
          </a:p>
          <a:p>
            <a:pPr lvl="1"/>
            <a:r>
              <a:rPr lang="en-US" sz="1600" b="1">
                <a:solidFill>
                  <a:schemeClr val="accent5"/>
                </a:solidFill>
              </a:rPr>
              <a:t>ANSWER:</a:t>
            </a:r>
            <a:r>
              <a:rPr lang="en-US" sz="1600"/>
              <a:t> </a:t>
            </a:r>
            <a:r>
              <a:rPr lang="en-US" sz="1600">
                <a:solidFill>
                  <a:schemeClr val="accent6"/>
                </a:solidFill>
              </a:rPr>
              <a:t>The customer</a:t>
            </a:r>
          </a:p>
        </p:txBody>
      </p:sp>
      <p:grpSp>
        <p:nvGrpSpPr>
          <p:cNvPr id="2" name="Group 1" descr="Architectural diagram showing an AWS Cloud box which contains an AWS Global Infrastructure area, an Amazon S3 bucket, and a VPC which contains an Amazon EC2 instance and an Oracle instance.">
            <a:extLst>
              <a:ext uri="{FF2B5EF4-FFF2-40B4-BE49-F238E27FC236}">
                <a16:creationId xmlns="" xmlns:a16="http://schemas.microsoft.com/office/drawing/2014/main" id="{9A745969-01CA-C614-74D4-3A8435904153}"/>
              </a:ext>
            </a:extLst>
          </p:cNvPr>
          <p:cNvGrpSpPr/>
          <p:nvPr/>
        </p:nvGrpSpPr>
        <p:grpSpPr>
          <a:xfrm>
            <a:off x="190500" y="2318044"/>
            <a:ext cx="3597729" cy="3244556"/>
            <a:chOff x="254000" y="1894114"/>
            <a:chExt cx="4796972" cy="3244556"/>
          </a:xfrm>
        </p:grpSpPr>
        <p:pic>
          <p:nvPicPr>
            <p:cNvPr id="10" name="Graphic 9">
              <a:extLst>
                <a:ext uri="{FF2B5EF4-FFF2-40B4-BE49-F238E27FC236}">
                  <a16:creationId xmlns="" xmlns:a16="http://schemas.microsoft.com/office/drawing/2014/main" id="{6BB2521E-0885-344C-9748-52E3F00AB24E}"/>
                </a:ext>
                <a:ext uri="{C183D7F6-B498-43B3-948B-1728B52AA6E4}">
                  <adec:decorative xmlns="" xmlns:adec="http://schemas.microsoft.com/office/drawing/2017/decorative" val="1"/>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796096" y="2741058"/>
              <a:ext cx="711200" cy="711200"/>
            </a:xfrm>
            <a:prstGeom prst="rect">
              <a:avLst/>
            </a:prstGeom>
          </p:spPr>
        </p:pic>
        <p:sp>
          <p:nvSpPr>
            <p:cNvPr id="12" name="TextBox 11">
              <a:extLst>
                <a:ext uri="{FF2B5EF4-FFF2-40B4-BE49-F238E27FC236}">
                  <a16:creationId xmlns="" xmlns:a16="http://schemas.microsoft.com/office/drawing/2014/main" id="{1EA8A186-3FF5-A842-B753-04F0E39A200B}"/>
                </a:ext>
              </a:extLst>
            </p:cNvPr>
            <p:cNvSpPr txBox="1"/>
            <p:nvPr/>
          </p:nvSpPr>
          <p:spPr>
            <a:xfrm>
              <a:off x="273667" y="3459335"/>
              <a:ext cx="1624529" cy="1323439"/>
            </a:xfrm>
            <a:prstGeom prst="rect">
              <a:avLst/>
            </a:prstGeom>
            <a:noFill/>
          </p:spPr>
          <p:txBody>
            <a:bodyPr wrap="square" rtlCol="0">
              <a:spAutoFit/>
            </a:bodyPr>
            <a:lstStyle/>
            <a:p>
              <a:pPr algn="ctr"/>
              <a:r>
                <a:rPr lang="en-US" sz="1600"/>
                <a:t>Amazon Simple Storage Service (Amazon S3)</a:t>
              </a:r>
            </a:p>
          </p:txBody>
        </p:sp>
        <p:sp>
          <p:nvSpPr>
            <p:cNvPr id="14" name="TextBox 13">
              <a:extLst>
                <a:ext uri="{FF2B5EF4-FFF2-40B4-BE49-F238E27FC236}">
                  <a16:creationId xmlns="" xmlns:a16="http://schemas.microsoft.com/office/drawing/2014/main" id="{DEFB4DA9-1A4E-F34B-88DE-5D0959E06D03}"/>
                </a:ext>
              </a:extLst>
            </p:cNvPr>
            <p:cNvSpPr txBox="1"/>
            <p:nvPr/>
          </p:nvSpPr>
          <p:spPr>
            <a:xfrm>
              <a:off x="2077747" y="3511425"/>
              <a:ext cx="1513305" cy="584775"/>
            </a:xfrm>
            <a:prstGeom prst="rect">
              <a:avLst/>
            </a:prstGeom>
            <a:noFill/>
          </p:spPr>
          <p:txBody>
            <a:bodyPr wrap="square" rtlCol="0">
              <a:spAutoFit/>
            </a:bodyPr>
            <a:lstStyle/>
            <a:p>
              <a:pPr algn="ctr"/>
              <a:r>
                <a:rPr lang="en-US" sz="1600"/>
                <a:t>Amazon </a:t>
              </a:r>
              <a:br>
                <a:rPr lang="en-US" sz="1600"/>
              </a:br>
              <a:r>
                <a:rPr lang="en-US" sz="1600"/>
                <a:t>EC2</a:t>
              </a:r>
            </a:p>
          </p:txBody>
        </p:sp>
        <p:pic>
          <p:nvPicPr>
            <p:cNvPr id="15" name="Graphic 14">
              <a:extLst>
                <a:ext uri="{FF2B5EF4-FFF2-40B4-BE49-F238E27FC236}">
                  <a16:creationId xmlns="" xmlns:a16="http://schemas.microsoft.com/office/drawing/2014/main" id="{CFCA6B7F-3260-7847-9028-AF1EFB601FBF}"/>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2478800" y="2741058"/>
              <a:ext cx="711200" cy="711200"/>
            </a:xfrm>
            <a:prstGeom prst="rect">
              <a:avLst/>
            </a:prstGeom>
          </p:spPr>
        </p:pic>
        <p:sp>
          <p:nvSpPr>
            <p:cNvPr id="18" name="Rectangle 17">
              <a:extLst>
                <a:ext uri="{FF2B5EF4-FFF2-40B4-BE49-F238E27FC236}">
                  <a16:creationId xmlns="" xmlns:a16="http://schemas.microsoft.com/office/drawing/2014/main" id="{3EA89E8D-EBD6-BC48-A1A4-6F8FB7E9F3DC}"/>
                </a:ext>
              </a:extLst>
            </p:cNvPr>
            <p:cNvSpPr/>
            <p:nvPr/>
          </p:nvSpPr>
          <p:spPr>
            <a:xfrm>
              <a:off x="2039048" y="2130006"/>
              <a:ext cx="2709883" cy="2035244"/>
            </a:xfrm>
            <a:prstGeom prst="rect">
              <a:avLst/>
            </a:prstGeom>
            <a:noFill/>
            <a:ln w="127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ln w="0"/>
                  <a:solidFill>
                    <a:srgbClr val="504BAB"/>
                  </a:solidFill>
                </a:rPr>
                <a:t>Virtual Private Cloud (VPC)</a:t>
              </a:r>
              <a:endParaRPr lang="en-US" sz="1200">
                <a:ln w="0"/>
                <a:solidFill>
                  <a:srgbClr val="504BAB"/>
                </a:solidFill>
              </a:endParaRPr>
            </a:p>
          </p:txBody>
        </p:sp>
        <p:pic>
          <p:nvPicPr>
            <p:cNvPr id="19" name="Graphic 18">
              <a:extLst>
                <a:ext uri="{FF2B5EF4-FFF2-40B4-BE49-F238E27FC236}">
                  <a16:creationId xmlns="" xmlns:a16="http://schemas.microsoft.com/office/drawing/2014/main" id="{217CA18F-C790-8249-A9C4-0B7DF0607DC5}"/>
                </a:ext>
                <a:ext uri="{C183D7F6-B498-43B3-948B-1728B52AA6E4}">
                  <adec:decorative xmlns="" xmlns:adec="http://schemas.microsoft.com/office/drawing/2017/decorative" val="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2039048" y="2138782"/>
              <a:ext cx="327291" cy="327291"/>
            </a:xfrm>
            <a:prstGeom prst="rect">
              <a:avLst/>
            </a:prstGeom>
          </p:spPr>
        </p:pic>
        <p:sp>
          <p:nvSpPr>
            <p:cNvPr id="20" name="TextBox 19">
              <a:extLst>
                <a:ext uri="{FF2B5EF4-FFF2-40B4-BE49-F238E27FC236}">
                  <a16:creationId xmlns="" xmlns:a16="http://schemas.microsoft.com/office/drawing/2014/main" id="{EE1C367D-62EF-0746-B2F0-848ADC656C91}"/>
                </a:ext>
              </a:extLst>
            </p:cNvPr>
            <p:cNvSpPr txBox="1"/>
            <p:nvPr/>
          </p:nvSpPr>
          <p:spPr>
            <a:xfrm>
              <a:off x="3535845" y="3491820"/>
              <a:ext cx="1162652" cy="830997"/>
            </a:xfrm>
            <a:prstGeom prst="rect">
              <a:avLst/>
            </a:prstGeom>
            <a:noFill/>
          </p:spPr>
          <p:txBody>
            <a:bodyPr wrap="square" rtlCol="0">
              <a:spAutoFit/>
            </a:bodyPr>
            <a:lstStyle/>
            <a:p>
              <a:pPr algn="ctr"/>
              <a:r>
                <a:rPr lang="en-US" sz="1600"/>
                <a:t>Oracle instance</a:t>
              </a:r>
            </a:p>
            <a:p>
              <a:pPr algn="ctr"/>
              <a:endParaRPr lang="en-US" sz="1600"/>
            </a:p>
          </p:txBody>
        </p:sp>
        <p:pic>
          <p:nvPicPr>
            <p:cNvPr id="21" name="Graphic 20">
              <a:extLst>
                <a:ext uri="{FF2B5EF4-FFF2-40B4-BE49-F238E27FC236}">
                  <a16:creationId xmlns="" xmlns:a16="http://schemas.microsoft.com/office/drawing/2014/main" id="{5CB8050E-54BF-524A-862D-1688F3F4A330}"/>
                </a:ext>
                <a:ext uri="{C183D7F6-B498-43B3-948B-1728B52AA6E4}">
                  <adec:decorative xmlns="" xmlns:adec="http://schemas.microsoft.com/office/drawing/2017/decorative" val="1"/>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3796417" y="2741058"/>
              <a:ext cx="711200" cy="711200"/>
            </a:xfrm>
            <a:prstGeom prst="rect">
              <a:avLst/>
            </a:prstGeom>
          </p:spPr>
        </p:pic>
        <p:sp>
          <p:nvSpPr>
            <p:cNvPr id="23" name="Rectangle 22">
              <a:extLst>
                <a:ext uri="{FF2B5EF4-FFF2-40B4-BE49-F238E27FC236}">
                  <a16:creationId xmlns="" xmlns:a16="http://schemas.microsoft.com/office/drawing/2014/main" id="{7710ABD6-8348-D848-8430-3475FE28A221}"/>
                </a:ext>
              </a:extLst>
            </p:cNvPr>
            <p:cNvSpPr/>
            <p:nvPr/>
          </p:nvSpPr>
          <p:spPr>
            <a:xfrm>
              <a:off x="254000" y="1894114"/>
              <a:ext cx="4796972" cy="32445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AWS Cloud</a:t>
              </a:r>
            </a:p>
          </p:txBody>
        </p:sp>
        <p:pic>
          <p:nvPicPr>
            <p:cNvPr id="24" name="Graphic 23">
              <a:extLst>
                <a:ext uri="{FF2B5EF4-FFF2-40B4-BE49-F238E27FC236}">
                  <a16:creationId xmlns="" xmlns:a16="http://schemas.microsoft.com/office/drawing/2014/main" id="{8E7E642E-C34B-9B40-93F3-ED96D531A278}"/>
                </a:ext>
                <a:ext uri="{C183D7F6-B498-43B3-948B-1728B52AA6E4}">
                  <adec:decorative xmlns="" xmlns:adec="http://schemas.microsoft.com/office/drawing/2017/decorative" val="1"/>
                </a:ext>
              </a:extLst>
            </p:cNvPr>
            <p:cNvPicPr>
              <a:picLocks noChangeAspect="1"/>
            </p:cNvPicPr>
            <p:nvPr/>
          </p:nvPicPr>
          <p:blipFill>
            <a:blip r:embed="rId12" cstate="print">
              <a:extLst>
                <a:ext uri="{96DAC541-7B7A-43D3-8B79-37D633B846F1}">
                  <asvg:svgBlip xmlns="" xmlns:asvg="http://schemas.microsoft.com/office/drawing/2016/SVG/main" r:embed="rId13"/>
                </a:ext>
              </a:extLst>
            </a:blip>
            <a:stretch>
              <a:fillRect/>
            </a:stretch>
          </p:blipFill>
          <p:spPr>
            <a:xfrm>
              <a:off x="254000" y="1903220"/>
              <a:ext cx="330200" cy="330200"/>
            </a:xfrm>
            <a:prstGeom prst="rect">
              <a:avLst/>
            </a:prstGeom>
          </p:spPr>
        </p:pic>
        <p:sp>
          <p:nvSpPr>
            <p:cNvPr id="26" name="Rectangle 25">
              <a:extLst>
                <a:ext uri="{FF2B5EF4-FFF2-40B4-BE49-F238E27FC236}">
                  <a16:creationId xmlns="" xmlns:a16="http://schemas.microsoft.com/office/drawing/2014/main" id="{91C2A163-D034-FC49-9979-6ADBD7D60443}"/>
                </a:ext>
              </a:extLst>
            </p:cNvPr>
            <p:cNvSpPr/>
            <p:nvPr/>
          </p:nvSpPr>
          <p:spPr>
            <a:xfrm>
              <a:off x="664550" y="4349064"/>
              <a:ext cx="4084382" cy="584775"/>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2400">
                  <a:solidFill>
                    <a:srgbClr val="5A6B86"/>
                  </a:solidFill>
                </a:rPr>
                <a:t>AWS Global Infrastructure</a:t>
              </a:r>
              <a:endParaRPr lang="en-US" sz="1200">
                <a:solidFill>
                  <a:srgbClr val="5A6B86"/>
                </a:solidFill>
              </a:endParaRPr>
            </a:p>
          </p:txBody>
        </p:sp>
      </p:grpSp>
    </p:spTree>
    <p:custDataLst>
      <p:tags r:id="rId1"/>
    </p:custDataLst>
    <p:extLst>
      <p:ext uri="{BB962C8B-B14F-4D97-AF65-F5344CB8AC3E}">
        <p14:creationId xmlns="" xmlns:p14="http://schemas.microsoft.com/office/powerpoint/2010/main" val="32310771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6200"/>
            <a:ext cx="8229600" cy="1143000"/>
          </a:xfrm>
        </p:spPr>
        <p:txBody>
          <a:bodyPr>
            <a:normAutofit/>
          </a:bodyPr>
          <a:lstStyle/>
          <a:p>
            <a:r>
              <a:rPr lang="en-US" dirty="0">
                <a:solidFill>
                  <a:srgbClr val="FF0000"/>
                </a:solidFill>
              </a:rPr>
              <a:t>Activity: Scenario 2 of 2</a:t>
            </a:r>
          </a:p>
        </p:txBody>
      </p:sp>
      <p:sp>
        <p:nvSpPr>
          <p:cNvPr id="6" name="TextBox 5">
            <a:extLst>
              <a:ext uri="{FF2B5EF4-FFF2-40B4-BE49-F238E27FC236}">
                <a16:creationId xmlns="" xmlns:a16="http://schemas.microsoft.com/office/drawing/2014/main" id="{6281A826-29AD-774B-AE52-A047C7B4AD91}"/>
              </a:ext>
            </a:extLst>
          </p:cNvPr>
          <p:cNvSpPr txBox="1"/>
          <p:nvPr/>
        </p:nvSpPr>
        <p:spPr>
          <a:xfrm>
            <a:off x="76200" y="1066800"/>
            <a:ext cx="8991600" cy="830997"/>
          </a:xfrm>
          <a:prstGeom prst="rect">
            <a:avLst/>
          </a:prstGeom>
          <a:noFill/>
        </p:spPr>
        <p:txBody>
          <a:bodyPr wrap="square" rtlCol="0">
            <a:spAutoFit/>
          </a:bodyPr>
          <a:lstStyle/>
          <a:p>
            <a:r>
              <a:rPr lang="en-US" sz="2400" b="1" dirty="0">
                <a:solidFill>
                  <a:srgbClr val="504BAB"/>
                </a:solidFill>
              </a:rPr>
              <a:t>Consider this deployment. Who is responsible – AWS or </a:t>
            </a:r>
            <a:r>
              <a:rPr lang="en-US" sz="2400" b="1" dirty="0" smtClean="0">
                <a:solidFill>
                  <a:srgbClr val="504BAB"/>
                </a:solidFill>
              </a:rPr>
              <a:t>the customer</a:t>
            </a:r>
            <a:r>
              <a:rPr lang="en-US" sz="2400" b="1" dirty="0">
                <a:solidFill>
                  <a:srgbClr val="504BAB"/>
                </a:solidFill>
              </a:rPr>
              <a:t>?</a:t>
            </a:r>
            <a:endPar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 xmlns:a16="http://schemas.microsoft.com/office/drawing/2014/main" id="{3168251C-9A60-F14C-9D92-CD0B1D639F03}"/>
              </a:ext>
            </a:extLst>
          </p:cNvPr>
          <p:cNvSpPr txBox="1">
            <a:spLocks/>
          </p:cNvSpPr>
          <p:nvPr/>
        </p:nvSpPr>
        <p:spPr>
          <a:xfrm>
            <a:off x="4004592" y="1927955"/>
            <a:ext cx="2325634"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Ensuring that the AWS Management Console is not hacked?</a:t>
            </a:r>
          </a:p>
          <a:p>
            <a:pPr marL="342900" indent="-342900">
              <a:buFont typeface="+mj-lt"/>
              <a:buAutoNum type="arabicPeriod"/>
            </a:pPr>
            <a:r>
              <a:rPr lang="en-US" sz="1600" dirty="0"/>
              <a:t>Configuring the subnet?</a:t>
            </a:r>
            <a:endParaRPr lang="en-US" sz="1600" dirty="0">
              <a:solidFill>
                <a:schemeClr val="accent6"/>
              </a:solidFill>
            </a:endParaRPr>
          </a:p>
          <a:p>
            <a:pPr marL="342900" indent="-342900">
              <a:buFont typeface="+mj-lt"/>
              <a:buAutoNum type="arabicPeriod"/>
            </a:pPr>
            <a:r>
              <a:rPr lang="en-US" sz="1600" dirty="0"/>
              <a:t>Configuring the </a:t>
            </a:r>
            <a:r>
              <a:rPr lang="en-US" sz="1600" dirty="0" err="1"/>
              <a:t>VPC</a:t>
            </a:r>
            <a:r>
              <a:rPr lang="en-US" sz="1600" dirty="0"/>
              <a:t>?</a:t>
            </a:r>
          </a:p>
          <a:p>
            <a:pPr marL="342900" indent="-342900">
              <a:buFont typeface="+mj-lt"/>
              <a:buAutoNum type="arabicPeriod"/>
            </a:pPr>
            <a:r>
              <a:rPr lang="en-US" sz="1600" dirty="0"/>
              <a:t>Protecting against network outages in AWS Regions?</a:t>
            </a:r>
          </a:p>
          <a:p>
            <a:pPr marL="342900" indent="-342900">
              <a:buFont typeface="+mj-lt"/>
              <a:buAutoNum type="arabicPeriod"/>
            </a:pPr>
            <a:r>
              <a:rPr lang="en-US" sz="1600" dirty="0"/>
              <a:t>Securing the SSH keys</a:t>
            </a:r>
          </a:p>
        </p:txBody>
      </p:sp>
      <p:sp>
        <p:nvSpPr>
          <p:cNvPr id="30" name="Content Placeholder 2">
            <a:extLst>
              <a:ext uri="{FF2B5EF4-FFF2-40B4-BE49-F238E27FC236}">
                <a16:creationId xmlns="" xmlns:a16="http://schemas.microsoft.com/office/drawing/2014/main" id="{0D6A1B44-E47E-714D-A549-0CCAF10451D2}"/>
              </a:ext>
            </a:extLst>
          </p:cNvPr>
          <p:cNvSpPr txBox="1">
            <a:spLocks/>
          </p:cNvSpPr>
          <p:nvPr/>
        </p:nvSpPr>
        <p:spPr>
          <a:xfrm>
            <a:off x="6466927" y="1903906"/>
            <a:ext cx="2320769"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t>Ensuring network isolation between AWS customers' data?</a:t>
            </a:r>
          </a:p>
          <a:p>
            <a:pPr marL="342900" indent="-342900">
              <a:buFont typeface="+mj-lt"/>
              <a:buAutoNum type="arabicPeriod" startAt="6"/>
            </a:pPr>
            <a:r>
              <a:rPr lang="en-US" sz="1600" dirty="0"/>
              <a:t>Ensuring low-latency network connection between the web server and the </a:t>
            </a:r>
            <a:r>
              <a:rPr lang="en-US" sz="1600" dirty="0" err="1"/>
              <a:t>S3</a:t>
            </a:r>
            <a:r>
              <a:rPr lang="en-US" sz="1600" dirty="0"/>
              <a:t> bucket?</a:t>
            </a:r>
          </a:p>
          <a:p>
            <a:pPr marL="342900" indent="-342900">
              <a:buFont typeface="+mj-lt"/>
              <a:buAutoNum type="arabicPeriod" startAt="6"/>
            </a:pPr>
            <a:r>
              <a:rPr lang="en-US" sz="1600" dirty="0"/>
              <a:t>Enforcing multi-factor authentication for all user logins?</a:t>
            </a:r>
          </a:p>
        </p:txBody>
      </p:sp>
      <p:grpSp>
        <p:nvGrpSpPr>
          <p:cNvPr id="2" name="Group 1" descr="hitectural diagram shows a web server running on EC2 inside a subnet and VPC. The web server connects to an S3 bucket. The web server is accessible by an internet gateway using the AWS Management console or using the AWS Command Line Interface which makes use of SSH keys.">
            <a:extLst>
              <a:ext uri="{FF2B5EF4-FFF2-40B4-BE49-F238E27FC236}">
                <a16:creationId xmlns="" xmlns:a16="http://schemas.microsoft.com/office/drawing/2014/main" id="{8BEFADC3-8D6F-2BEF-C1E6-5125DBC91C6E}"/>
              </a:ext>
            </a:extLst>
          </p:cNvPr>
          <p:cNvGrpSpPr/>
          <p:nvPr/>
        </p:nvGrpSpPr>
        <p:grpSpPr>
          <a:xfrm>
            <a:off x="164939" y="1856781"/>
            <a:ext cx="3536087" cy="4848819"/>
            <a:chOff x="219918" y="1736422"/>
            <a:chExt cx="4714783" cy="4848819"/>
          </a:xfrm>
        </p:grpSpPr>
        <p:cxnSp>
          <p:nvCxnSpPr>
            <p:cNvPr id="29" name="Elbow Connector 28">
              <a:extLst>
                <a:ext uri="{FF2B5EF4-FFF2-40B4-BE49-F238E27FC236}">
                  <a16:creationId xmlns="" xmlns:a16="http://schemas.microsoft.com/office/drawing/2014/main" id="{2D1F2B09-6FEF-E349-8A32-D00785F20A6D}"/>
                </a:ext>
              </a:extLst>
            </p:cNvPr>
            <p:cNvCxnSpPr>
              <a:cxnSpLocks/>
              <a:stCxn id="48" idx="3"/>
            </p:cNvCxnSpPr>
            <p:nvPr/>
          </p:nvCxnSpPr>
          <p:spPr>
            <a:xfrm>
              <a:off x="1237910" y="2228943"/>
              <a:ext cx="1656517" cy="804387"/>
            </a:xfrm>
            <a:prstGeom prst="bentConnector3">
              <a:avLst>
                <a:gd name="adj1" fmla="val 33666"/>
              </a:avLst>
            </a:prstGeom>
            <a:noFill/>
            <a:ln w="12700" cap="flat" cmpd="sng" algn="ctr">
              <a:solidFill>
                <a:srgbClr val="535B63"/>
              </a:solidFill>
              <a:prstDash val="solid"/>
              <a:miter lim="800000"/>
              <a:headEnd type="none" w="med" len="sm"/>
              <a:tailEnd type="arrow" w="med" len="sm"/>
            </a:ln>
            <a:effectLst/>
          </p:spPr>
        </p:cxnSp>
        <p:pic>
          <p:nvPicPr>
            <p:cNvPr id="49" name="Graphic 48">
              <a:extLst>
                <a:ext uri="{FF2B5EF4-FFF2-40B4-BE49-F238E27FC236}">
                  <a16:creationId xmlns="" xmlns:a16="http://schemas.microsoft.com/office/drawing/2014/main" id="{531ED385-B2FD-BF47-9A49-E97A409C7F62}"/>
                </a:ext>
                <a:ext uri="{C183D7F6-B498-43B3-948B-1728B52AA6E4}">
                  <adec:decorative xmlns="" xmlns:adec="http://schemas.microsoft.com/office/drawing/2017/decorative" val="1"/>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2771394" y="2197905"/>
              <a:ext cx="457701" cy="469900"/>
            </a:xfrm>
            <a:prstGeom prst="rect">
              <a:avLst/>
            </a:prstGeom>
          </p:spPr>
        </p:pic>
        <p:sp>
          <p:nvSpPr>
            <p:cNvPr id="50" name="TextBox 49">
              <a:extLst>
                <a:ext uri="{FF2B5EF4-FFF2-40B4-BE49-F238E27FC236}">
                  <a16:creationId xmlns="" xmlns:a16="http://schemas.microsoft.com/office/drawing/2014/main" id="{72658523-8B40-D346-9666-E98D1E1ADE6E}"/>
                </a:ext>
              </a:extLst>
            </p:cNvPr>
            <p:cNvSpPr txBox="1"/>
            <p:nvPr/>
          </p:nvSpPr>
          <p:spPr>
            <a:xfrm>
              <a:off x="1651911" y="1736422"/>
              <a:ext cx="1654521" cy="584775"/>
            </a:xfrm>
            <a:prstGeom prst="rect">
              <a:avLst/>
            </a:prstGeom>
            <a:noFill/>
          </p:spPr>
          <p:txBody>
            <a:bodyPr wrap="square" rtlCol="0">
              <a:spAutoFit/>
            </a:bodyPr>
            <a:lstStyle/>
            <a:p>
              <a:pPr algn="ctr"/>
              <a:r>
                <a:rPr lang="en-US" sz="1600"/>
                <a:t>Secure Shell (SSH) keys</a:t>
              </a:r>
            </a:p>
          </p:txBody>
        </p:sp>
        <p:cxnSp>
          <p:nvCxnSpPr>
            <p:cNvPr id="51" name="Elbow Connector 50">
              <a:extLst>
                <a:ext uri="{FF2B5EF4-FFF2-40B4-BE49-F238E27FC236}">
                  <a16:creationId xmlns="" xmlns:a16="http://schemas.microsoft.com/office/drawing/2014/main" id="{5BD07F69-700E-884D-B4CF-93C1AEA7F3F4}"/>
                </a:ext>
              </a:extLst>
            </p:cNvPr>
            <p:cNvCxnSpPr>
              <a:cxnSpLocks/>
            </p:cNvCxnSpPr>
            <p:nvPr/>
          </p:nvCxnSpPr>
          <p:spPr>
            <a:xfrm rot="5400000">
              <a:off x="2761063" y="3726974"/>
              <a:ext cx="478362" cy="12700"/>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52" name="TextBox 51">
              <a:extLst>
                <a:ext uri="{FF2B5EF4-FFF2-40B4-BE49-F238E27FC236}">
                  <a16:creationId xmlns="" xmlns:a16="http://schemas.microsoft.com/office/drawing/2014/main" id="{7031ADB8-A4C6-C247-AFB4-3881186804C1}"/>
                </a:ext>
              </a:extLst>
            </p:cNvPr>
            <p:cNvSpPr txBox="1"/>
            <p:nvPr/>
          </p:nvSpPr>
          <p:spPr>
            <a:xfrm>
              <a:off x="3190332" y="2389052"/>
              <a:ext cx="1744369" cy="1077218"/>
            </a:xfrm>
            <a:prstGeom prst="rect">
              <a:avLst/>
            </a:prstGeom>
            <a:noFill/>
          </p:spPr>
          <p:txBody>
            <a:bodyPr wrap="square" rtlCol="0">
              <a:spAutoFit/>
            </a:bodyPr>
            <a:lstStyle/>
            <a:p>
              <a:pPr algn="ctr"/>
              <a:r>
                <a:rPr lang="en-US" sz="1600"/>
                <a:t>AWS Command Line Interface (AWS CLI)</a:t>
              </a:r>
            </a:p>
          </p:txBody>
        </p:sp>
        <p:pic>
          <p:nvPicPr>
            <p:cNvPr id="53" name="Graphic 52">
              <a:extLst>
                <a:ext uri="{FF2B5EF4-FFF2-40B4-BE49-F238E27FC236}">
                  <a16:creationId xmlns="" xmlns:a16="http://schemas.microsoft.com/office/drawing/2014/main" id="{E44619DA-359E-4F40-A8E9-68A7A4DB64CA}"/>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3853118" y="1846050"/>
              <a:ext cx="565776" cy="580855"/>
            </a:xfrm>
            <a:prstGeom prst="rect">
              <a:avLst/>
            </a:prstGeom>
          </p:spPr>
        </p:pic>
        <p:cxnSp>
          <p:nvCxnSpPr>
            <p:cNvPr id="56" name="Elbow Connector 55">
              <a:extLst>
                <a:ext uri="{FF2B5EF4-FFF2-40B4-BE49-F238E27FC236}">
                  <a16:creationId xmlns="" xmlns:a16="http://schemas.microsoft.com/office/drawing/2014/main" id="{B26B98A1-316C-FF43-8A94-60DD40BC2ECA}"/>
                </a:ext>
              </a:extLst>
            </p:cNvPr>
            <p:cNvCxnSpPr>
              <a:cxnSpLocks/>
              <a:stCxn id="53" idx="1"/>
              <a:endCxn id="37" idx="0"/>
            </p:cNvCxnSpPr>
            <p:nvPr/>
          </p:nvCxnSpPr>
          <p:spPr>
            <a:xfrm rot="10800000" flipV="1">
              <a:off x="3000246" y="2136478"/>
              <a:ext cx="852873" cy="836336"/>
            </a:xfrm>
            <a:prstGeom prst="bentConnector2">
              <a:avLst/>
            </a:prstGeom>
            <a:noFill/>
            <a:ln w="12700" cap="flat" cmpd="sng" algn="ctr">
              <a:solidFill>
                <a:srgbClr val="535B63"/>
              </a:solidFill>
              <a:prstDash val="solid"/>
              <a:miter lim="800000"/>
              <a:headEnd type="none" w="med" len="sm"/>
              <a:tailEnd type="arrow" w="med" len="sm"/>
            </a:ln>
            <a:effectLst/>
          </p:spPr>
        </p:cxnSp>
        <p:sp>
          <p:nvSpPr>
            <p:cNvPr id="32" name="Rectangle 31">
              <a:extLst>
                <a:ext uri="{FF2B5EF4-FFF2-40B4-BE49-F238E27FC236}">
                  <a16:creationId xmlns="" xmlns:a16="http://schemas.microsoft.com/office/drawing/2014/main" id="{AA5CD74C-F5EF-A241-B6AE-3C17EBFBE46F}"/>
                </a:ext>
              </a:extLst>
            </p:cNvPr>
            <p:cNvSpPr/>
            <p:nvPr/>
          </p:nvSpPr>
          <p:spPr>
            <a:xfrm>
              <a:off x="469116" y="3411196"/>
              <a:ext cx="4373767" cy="205728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33" name="Graphic 36">
              <a:extLst>
                <a:ext uri="{FF2B5EF4-FFF2-40B4-BE49-F238E27FC236}">
                  <a16:creationId xmlns="" xmlns:a16="http://schemas.microsoft.com/office/drawing/2014/main" id="{9811B841-9D14-C748-AFA7-7854903D7D45}"/>
                </a:ext>
                <a:ext uri="{C183D7F6-B498-43B3-948B-1728B52AA6E4}">
                  <adec:decorative xmlns="" xmlns:adec="http://schemas.microsoft.com/office/drawing/2017/decorative" val="1"/>
                </a:ext>
              </a:extLst>
            </p:cNvPr>
            <p:cNvPicPr>
              <a:picLocks noChangeAspect="1"/>
            </p:cNvPicPr>
            <p:nvPr/>
          </p:nvPicPr>
          <p:blipFill>
            <a:blip r:embed="rId8" cstate="print">
              <a:extLst>
                <a:ext uri="{96DAC541-7B7A-43D3-8B79-37D633B846F1}">
                  <asvg:svgBlip xmlns="" xmlns:asvg="http://schemas.microsoft.com/office/drawing/2016/SVG/main" r:embed="rId9"/>
                </a:ext>
              </a:extLst>
            </a:blip>
            <a:stretch>
              <a:fillRect/>
            </a:stretch>
          </p:blipFill>
          <p:spPr>
            <a:xfrm>
              <a:off x="462267" y="3416034"/>
              <a:ext cx="262682" cy="269683"/>
            </a:xfrm>
            <a:prstGeom prst="rect">
              <a:avLst/>
            </a:prstGeom>
          </p:spPr>
        </p:pic>
        <p:sp>
          <p:nvSpPr>
            <p:cNvPr id="34" name="Rectangle 33">
              <a:extLst>
                <a:ext uri="{FF2B5EF4-FFF2-40B4-BE49-F238E27FC236}">
                  <a16:creationId xmlns="" xmlns:a16="http://schemas.microsoft.com/office/drawing/2014/main" id="{C131ED40-2401-644B-BF59-0BE0230450B1}"/>
                </a:ext>
              </a:extLst>
            </p:cNvPr>
            <p:cNvSpPr/>
            <p:nvPr/>
          </p:nvSpPr>
          <p:spPr>
            <a:xfrm>
              <a:off x="795309" y="3818030"/>
              <a:ext cx="3912683" cy="1294595"/>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Subnet</a:t>
              </a:r>
            </a:p>
          </p:txBody>
        </p:sp>
        <p:pic>
          <p:nvPicPr>
            <p:cNvPr id="35" name="Graphic 37">
              <a:extLst>
                <a:ext uri="{FF2B5EF4-FFF2-40B4-BE49-F238E27FC236}">
                  <a16:creationId xmlns="" xmlns:a16="http://schemas.microsoft.com/office/drawing/2014/main" id="{D9486AA8-E2E4-074D-88A8-8B9A997FA9BD}"/>
                </a:ext>
                <a:ext uri="{C183D7F6-B498-43B3-948B-1728B52AA6E4}">
                  <adec:decorative xmlns="" xmlns:adec="http://schemas.microsoft.com/office/drawing/2017/decorative" val="1"/>
                </a:ext>
              </a:extLst>
            </p:cNvPr>
            <p:cNvPicPr>
              <a:picLocks noChangeAspect="1"/>
            </p:cNvPicPr>
            <p:nvPr/>
          </p:nvPicPr>
          <p:blipFill>
            <a:blip r:embed="rId10" cstate="print">
              <a:extLst>
                <a:ext uri="{96DAC541-7B7A-43D3-8B79-37D633B846F1}">
                  <asvg:svgBlip xmlns="" xmlns:asvg="http://schemas.microsoft.com/office/drawing/2016/SVG/main" r:embed="rId11"/>
                </a:ext>
              </a:extLst>
            </a:blip>
            <a:stretch>
              <a:fillRect/>
            </a:stretch>
          </p:blipFill>
          <p:spPr>
            <a:xfrm>
              <a:off x="795309" y="3818030"/>
              <a:ext cx="262682" cy="269683"/>
            </a:xfrm>
            <a:prstGeom prst="rect">
              <a:avLst/>
            </a:prstGeom>
          </p:spPr>
        </p:pic>
        <p:sp>
          <p:nvSpPr>
            <p:cNvPr id="36" name="TextBox 35">
              <a:extLst>
                <a:ext uri="{FF2B5EF4-FFF2-40B4-BE49-F238E27FC236}">
                  <a16:creationId xmlns="" xmlns:a16="http://schemas.microsoft.com/office/drawing/2014/main" id="{91A29267-F422-EF4A-8503-B04364985912}"/>
                </a:ext>
              </a:extLst>
            </p:cNvPr>
            <p:cNvSpPr txBox="1"/>
            <p:nvPr/>
          </p:nvSpPr>
          <p:spPr>
            <a:xfrm>
              <a:off x="3184722" y="3118782"/>
              <a:ext cx="1002084"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Internet gateway</a:t>
              </a:r>
            </a:p>
          </p:txBody>
        </p:sp>
        <p:pic>
          <p:nvPicPr>
            <p:cNvPr id="37" name="Graphic 36">
              <a:extLst>
                <a:ext uri="{FF2B5EF4-FFF2-40B4-BE49-F238E27FC236}">
                  <a16:creationId xmlns="" xmlns:a16="http://schemas.microsoft.com/office/drawing/2014/main" id="{1AF7F657-4644-2C41-90F1-CB2AEE42C73C}"/>
                </a:ext>
                <a:ext uri="{C183D7F6-B498-43B3-948B-1728B52AA6E4}">
                  <adec:decorative xmlns="" xmlns:adec="http://schemas.microsoft.com/office/drawing/2017/decorative" val="1"/>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2749439" y="2972814"/>
              <a:ext cx="501611" cy="514979"/>
            </a:xfrm>
            <a:prstGeom prst="rect">
              <a:avLst/>
            </a:prstGeom>
          </p:spPr>
        </p:pic>
        <p:pic>
          <p:nvPicPr>
            <p:cNvPr id="40" name="Graphic 135">
              <a:extLst>
                <a:ext uri="{FF2B5EF4-FFF2-40B4-BE49-F238E27FC236}">
                  <a16:creationId xmlns="" xmlns:a16="http://schemas.microsoft.com/office/drawing/2014/main" id="{5EFB97B7-F4DA-0A4D-9623-8150FF553813}"/>
                </a:ext>
                <a:ext uri="{C183D7F6-B498-43B3-948B-1728B52AA6E4}">
                  <adec:decorative xmlns="" xmlns:adec="http://schemas.microsoft.com/office/drawing/2017/decorative" val="1"/>
                </a:ext>
              </a:extLst>
            </p:cNvPr>
            <p:cNvPicPr>
              <a:picLocks noChangeAspect="1"/>
            </p:cNvPicPr>
            <p:nvPr/>
          </p:nvPicPr>
          <p:blipFill>
            <a:blip r:embed="rId14" cstate="print">
              <a:extLst>
                <a:ext uri="{96DAC541-7B7A-43D3-8B79-37D633B846F1}">
                  <asvg:svgBlip xmlns="" xmlns:asvg="http://schemas.microsoft.com/office/drawing/2016/SVG/main" r:embed="rId15"/>
                </a:ext>
              </a:extLst>
            </a:blip>
            <a:stretch>
              <a:fillRect/>
            </a:stretch>
          </p:blipFill>
          <p:spPr>
            <a:xfrm>
              <a:off x="2694057" y="3966155"/>
              <a:ext cx="612375" cy="628695"/>
            </a:xfrm>
            <a:prstGeom prst="rect">
              <a:avLst/>
            </a:prstGeom>
          </p:spPr>
        </p:pic>
        <p:sp>
          <p:nvSpPr>
            <p:cNvPr id="41" name="TextBox 40">
              <a:extLst>
                <a:ext uri="{FF2B5EF4-FFF2-40B4-BE49-F238E27FC236}">
                  <a16:creationId xmlns="" xmlns:a16="http://schemas.microsoft.com/office/drawing/2014/main" id="{9E1136AA-E256-144D-8568-46F909B87562}"/>
                </a:ext>
              </a:extLst>
            </p:cNvPr>
            <p:cNvSpPr txBox="1"/>
            <p:nvPr/>
          </p:nvSpPr>
          <p:spPr>
            <a:xfrm>
              <a:off x="2173362" y="4549451"/>
              <a:ext cx="165376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Web server on Amazon EC2</a:t>
              </a:r>
            </a:p>
          </p:txBody>
        </p:sp>
        <p:sp>
          <p:nvSpPr>
            <p:cNvPr id="47" name="TextBox 46">
              <a:extLst>
                <a:ext uri="{FF2B5EF4-FFF2-40B4-BE49-F238E27FC236}">
                  <a16:creationId xmlns="" xmlns:a16="http://schemas.microsoft.com/office/drawing/2014/main" id="{EC2E0B8E-58D0-434B-B646-2E3D055B896A}"/>
                </a:ext>
              </a:extLst>
            </p:cNvPr>
            <p:cNvSpPr txBox="1"/>
            <p:nvPr/>
          </p:nvSpPr>
          <p:spPr>
            <a:xfrm>
              <a:off x="219918" y="2531688"/>
              <a:ext cx="153132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AWS Management Console</a:t>
              </a:r>
            </a:p>
          </p:txBody>
        </p:sp>
        <p:pic>
          <p:nvPicPr>
            <p:cNvPr id="48" name="Graphic 34">
              <a:extLst>
                <a:ext uri="{FF2B5EF4-FFF2-40B4-BE49-F238E27FC236}">
                  <a16:creationId xmlns="" xmlns:a16="http://schemas.microsoft.com/office/drawing/2014/main" id="{A3076FA9-C9F1-C044-AEC9-E2F28F5D1A1E}"/>
                </a:ext>
                <a:ext uri="{C183D7F6-B498-43B3-948B-1728B52AA6E4}">
                  <adec:decorative xmlns="" xmlns:adec="http://schemas.microsoft.com/office/drawing/2017/decorative" val="1"/>
                </a:ext>
              </a:extLst>
            </p:cNvPr>
            <p:cNvPicPr>
              <a:picLocks noChangeAspect="1"/>
            </p:cNvPicPr>
            <p:nvPr/>
          </p:nvPicPr>
          <p:blipFill>
            <a:blip r:embed="rId16" cstate="print">
              <a:extLst>
                <a:ext uri="{96DAC541-7B7A-43D3-8B79-37D633B846F1}">
                  <asvg:svgBlip xmlns="" xmlns:asvg="http://schemas.microsoft.com/office/drawing/2016/SVG/main" r:embed="rId17"/>
                </a:ext>
              </a:extLst>
            </a:blip>
            <a:stretch>
              <a:fillRect/>
            </a:stretch>
          </p:blipFill>
          <p:spPr>
            <a:xfrm>
              <a:off x="672135" y="1938516"/>
              <a:ext cx="565776" cy="580855"/>
            </a:xfrm>
            <a:prstGeom prst="rect">
              <a:avLst/>
            </a:prstGeom>
          </p:spPr>
        </p:pic>
        <p:pic>
          <p:nvPicPr>
            <p:cNvPr id="61" name="Graphic 60">
              <a:extLst>
                <a:ext uri="{FF2B5EF4-FFF2-40B4-BE49-F238E27FC236}">
                  <a16:creationId xmlns="" xmlns:a16="http://schemas.microsoft.com/office/drawing/2014/main" id="{5BD26303-2D9D-6E4D-ABF8-0A43BFC2CF59}"/>
                </a:ext>
                <a:ext uri="{C183D7F6-B498-43B3-948B-1728B52AA6E4}">
                  <adec:decorative xmlns="" xmlns:adec="http://schemas.microsoft.com/office/drawing/2017/decorative" val="1"/>
                </a:ext>
              </a:extLst>
            </p:cNvPr>
            <p:cNvPicPr>
              <a:picLocks noChangeAspect="1"/>
            </p:cNvPicPr>
            <p:nvPr/>
          </p:nvPicPr>
          <p:blipFill>
            <a:blip r:embed="rId18">
              <a:extLst>
                <a:ext uri="{96DAC541-7B7A-43D3-8B79-37D633B846F1}">
                  <asvg:svgBlip xmlns="" xmlns:asvg="http://schemas.microsoft.com/office/drawing/2016/SVG/main" r:embed="rId19"/>
                </a:ext>
              </a:extLst>
            </a:blip>
            <a:stretch>
              <a:fillRect/>
            </a:stretch>
          </p:blipFill>
          <p:spPr>
            <a:xfrm>
              <a:off x="4176093" y="5755869"/>
              <a:ext cx="469900" cy="469900"/>
            </a:xfrm>
            <a:prstGeom prst="rect">
              <a:avLst/>
            </a:prstGeom>
          </p:spPr>
        </p:pic>
        <p:sp>
          <p:nvSpPr>
            <p:cNvPr id="62" name="TextBox 61">
              <a:extLst>
                <a:ext uri="{FF2B5EF4-FFF2-40B4-BE49-F238E27FC236}">
                  <a16:creationId xmlns="" xmlns:a16="http://schemas.microsoft.com/office/drawing/2014/main" id="{51B8C04D-1D8E-DB4C-8C1B-C3FA7062A7B6}"/>
                </a:ext>
              </a:extLst>
            </p:cNvPr>
            <p:cNvSpPr txBox="1"/>
            <p:nvPr/>
          </p:nvSpPr>
          <p:spPr>
            <a:xfrm>
              <a:off x="2786332" y="5754244"/>
              <a:ext cx="1479733" cy="830997"/>
            </a:xfrm>
            <a:prstGeom prst="rect">
              <a:avLst/>
            </a:prstGeom>
            <a:noFill/>
          </p:spPr>
          <p:txBody>
            <a:bodyPr wrap="square" rtlCol="0">
              <a:spAutoFit/>
            </a:bodyPr>
            <a:lstStyle/>
            <a:p>
              <a:pPr algn="ctr"/>
              <a:r>
                <a:rPr lang="en-US" sz="1600"/>
                <a:t>S3 bucket with objects</a:t>
              </a:r>
            </a:p>
          </p:txBody>
        </p:sp>
        <p:cxnSp>
          <p:nvCxnSpPr>
            <p:cNvPr id="63" name="Elbow Connector 62">
              <a:extLst>
                <a:ext uri="{FF2B5EF4-FFF2-40B4-BE49-F238E27FC236}">
                  <a16:creationId xmlns="" xmlns:a16="http://schemas.microsoft.com/office/drawing/2014/main" id="{FE883950-B7D4-3046-9023-3543374F1367}"/>
                </a:ext>
              </a:extLst>
            </p:cNvPr>
            <p:cNvCxnSpPr>
              <a:cxnSpLocks/>
              <a:stCxn id="40" idx="3"/>
              <a:endCxn id="61" idx="0"/>
            </p:cNvCxnSpPr>
            <p:nvPr/>
          </p:nvCxnSpPr>
          <p:spPr>
            <a:xfrm>
              <a:off x="3306432" y="4280503"/>
              <a:ext cx="1104611" cy="1475366"/>
            </a:xfrm>
            <a:prstGeom prst="bentConnector2">
              <a:avLst/>
            </a:prstGeom>
            <a:noFill/>
            <a:ln w="12700" cap="flat" cmpd="sng" algn="ctr">
              <a:solidFill>
                <a:srgbClr val="535B63"/>
              </a:solidFill>
              <a:prstDash val="solid"/>
              <a:miter lim="800000"/>
              <a:headEnd type="triangle" w="med" len="sm"/>
              <a:tailEnd type="arrow" w="med" len="sm"/>
            </a:ln>
            <a:effectLst/>
          </p:spPr>
        </p:cxnSp>
      </p:grpSp>
    </p:spTree>
    <p:custDataLst>
      <p:tags r:id="rId1"/>
    </p:custDataLst>
    <p:extLst>
      <p:ext uri="{BB962C8B-B14F-4D97-AF65-F5344CB8AC3E}">
        <p14:creationId xmlns="" xmlns:p14="http://schemas.microsoft.com/office/powerpoint/2010/main" val="32415471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dirty="0">
                <a:solidFill>
                  <a:srgbClr val="FF0000"/>
                </a:solidFill>
              </a:rPr>
              <a:t>Activity: Scenario 2 of 2 Answers</a:t>
            </a:r>
          </a:p>
        </p:txBody>
      </p:sp>
      <p:sp>
        <p:nvSpPr>
          <p:cNvPr id="6" name="TextBox 5">
            <a:extLst>
              <a:ext uri="{FF2B5EF4-FFF2-40B4-BE49-F238E27FC236}">
                <a16:creationId xmlns="" xmlns:a16="http://schemas.microsoft.com/office/drawing/2014/main" id="{6281A826-29AD-774B-AE52-A047C7B4AD91}"/>
              </a:ext>
            </a:extLst>
          </p:cNvPr>
          <p:cNvSpPr txBox="1"/>
          <p:nvPr/>
        </p:nvSpPr>
        <p:spPr>
          <a:xfrm>
            <a:off x="314325" y="1281788"/>
            <a:ext cx="8369920" cy="830997"/>
          </a:xfrm>
          <a:prstGeom prst="rect">
            <a:avLst/>
          </a:prstGeom>
          <a:noFill/>
        </p:spPr>
        <p:txBody>
          <a:bodyPr wrap="square" rtlCol="0">
            <a:spAutoFit/>
          </a:bodyPr>
          <a:lstStyle/>
          <a:p>
            <a:r>
              <a:rPr lang="en-US" sz="2400" b="1">
                <a:solidFill>
                  <a:srgbClr val="504BAB"/>
                </a:solidFill>
              </a:rPr>
              <a:t>Consider this deployment. Who is responsible – AWS or the customer?</a:t>
            </a:r>
            <a:endParaRPr lang="en-US" sz="2400" b="1">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Content Placeholder 2">
            <a:extLst>
              <a:ext uri="{FF2B5EF4-FFF2-40B4-BE49-F238E27FC236}">
                <a16:creationId xmlns="" xmlns:a16="http://schemas.microsoft.com/office/drawing/2014/main" id="{3168251C-9A60-F14C-9D92-CD0B1D639F03}"/>
              </a:ext>
            </a:extLst>
          </p:cNvPr>
          <p:cNvSpPr txBox="1">
            <a:spLocks/>
          </p:cNvSpPr>
          <p:nvPr/>
        </p:nvSpPr>
        <p:spPr>
          <a:xfrm>
            <a:off x="3728174" y="1732011"/>
            <a:ext cx="2672626" cy="32971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Ensuring that the AWS Management Console is not hacked?</a:t>
            </a:r>
          </a:p>
          <a:p>
            <a:pPr lvl="1"/>
            <a:r>
              <a:rPr lang="en-US" sz="1600" b="1" dirty="0">
                <a:solidFill>
                  <a:schemeClr val="accent5"/>
                </a:solidFill>
              </a:rPr>
              <a:t>ANSWER:</a:t>
            </a:r>
            <a:r>
              <a:rPr lang="en-US" sz="1600" dirty="0"/>
              <a:t> </a:t>
            </a:r>
            <a:r>
              <a:rPr lang="en-US" sz="1600" dirty="0">
                <a:solidFill>
                  <a:schemeClr val="accent6"/>
                </a:solidFill>
              </a:rPr>
              <a:t>AWS</a:t>
            </a:r>
          </a:p>
          <a:p>
            <a:pPr marL="342900" indent="-342900">
              <a:buFont typeface="+mj-lt"/>
              <a:buAutoNum type="arabicPeriod"/>
            </a:pPr>
            <a:r>
              <a:rPr lang="en-US" sz="1600" dirty="0"/>
              <a:t>Configuring the subnet?</a:t>
            </a:r>
          </a:p>
          <a:p>
            <a:pPr lvl="1"/>
            <a:r>
              <a:rPr lang="en-US" sz="1600" b="1" dirty="0">
                <a:solidFill>
                  <a:schemeClr val="accent5"/>
                </a:solidFill>
              </a:rPr>
              <a:t>ANSWER: </a:t>
            </a:r>
            <a:r>
              <a:rPr lang="en-US" sz="1600" dirty="0">
                <a:solidFill>
                  <a:schemeClr val="accent6"/>
                </a:solidFill>
              </a:rPr>
              <a:t>The customer</a:t>
            </a:r>
          </a:p>
          <a:p>
            <a:pPr marL="342900" indent="-342900">
              <a:buFont typeface="+mj-lt"/>
              <a:buAutoNum type="arabicPeriod"/>
            </a:pPr>
            <a:r>
              <a:rPr lang="en-US" sz="1600" dirty="0"/>
              <a:t>Configuring the VPC?</a:t>
            </a:r>
          </a:p>
          <a:p>
            <a:pPr lvl="1"/>
            <a:r>
              <a:rPr lang="en-US" sz="1600" b="1" dirty="0">
                <a:solidFill>
                  <a:schemeClr val="accent5"/>
                </a:solidFill>
              </a:rPr>
              <a:t>ANSWER: </a:t>
            </a:r>
            <a:r>
              <a:rPr lang="en-US" sz="1600" dirty="0">
                <a:solidFill>
                  <a:schemeClr val="accent6"/>
                </a:solidFill>
              </a:rPr>
              <a:t>The customer</a:t>
            </a:r>
            <a:endParaRPr lang="en-US" sz="1600" dirty="0"/>
          </a:p>
          <a:p>
            <a:pPr marL="342900" indent="-342900">
              <a:buFont typeface="+mj-lt"/>
              <a:buAutoNum type="arabicPeriod"/>
            </a:pPr>
            <a:r>
              <a:rPr lang="en-US" sz="1600" dirty="0"/>
              <a:t>Protecting against network outages in AWS Regions?</a:t>
            </a:r>
          </a:p>
          <a:p>
            <a:pPr lvl="1"/>
            <a:r>
              <a:rPr lang="en-US" sz="1600" b="1" dirty="0">
                <a:solidFill>
                  <a:schemeClr val="accent5"/>
                </a:solidFill>
              </a:rPr>
              <a:t>ANSWER:</a:t>
            </a:r>
            <a:r>
              <a:rPr lang="en-US" sz="1600" dirty="0"/>
              <a:t> </a:t>
            </a:r>
            <a:r>
              <a:rPr lang="en-US" sz="1600" dirty="0">
                <a:solidFill>
                  <a:schemeClr val="accent6"/>
                </a:solidFill>
              </a:rPr>
              <a:t>AWS</a:t>
            </a:r>
          </a:p>
          <a:p>
            <a:pPr marL="342900" indent="-342900">
              <a:buFont typeface="+mj-lt"/>
              <a:buAutoNum type="arabicPeriod"/>
            </a:pPr>
            <a:r>
              <a:rPr lang="en-US" sz="1600" dirty="0"/>
              <a:t>Securing the SSH keys</a:t>
            </a:r>
          </a:p>
          <a:p>
            <a:pPr lvl="1"/>
            <a:r>
              <a:rPr lang="en-US" sz="1600" b="1" dirty="0">
                <a:solidFill>
                  <a:schemeClr val="accent5"/>
                </a:solidFill>
              </a:rPr>
              <a:t>ANSWER:</a:t>
            </a:r>
            <a:r>
              <a:rPr lang="en-US" sz="1600" dirty="0"/>
              <a:t> </a:t>
            </a:r>
            <a:r>
              <a:rPr lang="en-US" sz="1600" dirty="0">
                <a:solidFill>
                  <a:schemeClr val="accent6"/>
                </a:solidFill>
              </a:rPr>
              <a:t>The customer</a:t>
            </a:r>
          </a:p>
        </p:txBody>
      </p:sp>
      <p:sp>
        <p:nvSpPr>
          <p:cNvPr id="30" name="Content Placeholder 2">
            <a:extLst>
              <a:ext uri="{FF2B5EF4-FFF2-40B4-BE49-F238E27FC236}">
                <a16:creationId xmlns="" xmlns:a16="http://schemas.microsoft.com/office/drawing/2014/main" id="{0D6A1B44-E47E-714D-A549-0CCAF10451D2}"/>
              </a:ext>
            </a:extLst>
          </p:cNvPr>
          <p:cNvSpPr txBox="1">
            <a:spLocks/>
          </p:cNvSpPr>
          <p:nvPr/>
        </p:nvSpPr>
        <p:spPr>
          <a:xfrm>
            <a:off x="6466927" y="1903906"/>
            <a:ext cx="2320769"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a:t>Ensuring network isolation between AWS customers' data?</a:t>
            </a:r>
          </a:p>
          <a:p>
            <a:pPr lvl="1"/>
            <a:r>
              <a:rPr lang="en-US" sz="1600" b="1">
                <a:solidFill>
                  <a:schemeClr val="accent5"/>
                </a:solidFill>
              </a:rPr>
              <a:t>ANSWER:</a:t>
            </a:r>
            <a:r>
              <a:rPr lang="en-US" sz="1600"/>
              <a:t> </a:t>
            </a:r>
            <a:r>
              <a:rPr lang="en-US" sz="1600">
                <a:solidFill>
                  <a:schemeClr val="accent6"/>
                </a:solidFill>
              </a:rPr>
              <a:t>AWS</a:t>
            </a:r>
          </a:p>
          <a:p>
            <a:pPr marL="342900" indent="-342900">
              <a:buFont typeface="+mj-lt"/>
              <a:buAutoNum type="arabicPeriod" startAt="6"/>
            </a:pPr>
            <a:r>
              <a:rPr lang="en-US" sz="1600"/>
              <a:t>Ensuring low-latency network connection between the web server and the S3 bucket?</a:t>
            </a:r>
          </a:p>
          <a:p>
            <a:pPr lvl="1"/>
            <a:r>
              <a:rPr lang="en-US" sz="1600" b="1">
                <a:solidFill>
                  <a:schemeClr val="accent5"/>
                </a:solidFill>
              </a:rPr>
              <a:t>ANSWER:</a:t>
            </a:r>
            <a:r>
              <a:rPr lang="en-US" sz="1600"/>
              <a:t> </a:t>
            </a:r>
            <a:r>
              <a:rPr lang="en-US" sz="1600">
                <a:solidFill>
                  <a:schemeClr val="accent6"/>
                </a:solidFill>
              </a:rPr>
              <a:t>AWS</a:t>
            </a:r>
          </a:p>
          <a:p>
            <a:pPr marL="342900" indent="-342900">
              <a:buFont typeface="+mj-lt"/>
              <a:buAutoNum type="arabicPeriod" startAt="6"/>
            </a:pPr>
            <a:r>
              <a:rPr lang="en-US" sz="1600"/>
              <a:t>Enforcing multi-factor authentication for all user logins?</a:t>
            </a:r>
          </a:p>
          <a:p>
            <a:pPr lvl="1"/>
            <a:r>
              <a:rPr lang="en-US" sz="1600" b="1">
                <a:solidFill>
                  <a:schemeClr val="accent5"/>
                </a:solidFill>
              </a:rPr>
              <a:t>ANSWER:</a:t>
            </a:r>
            <a:r>
              <a:rPr lang="en-US" sz="1600"/>
              <a:t> </a:t>
            </a:r>
            <a:r>
              <a:rPr lang="en-US" sz="1600">
                <a:solidFill>
                  <a:schemeClr val="accent6"/>
                </a:solidFill>
              </a:rPr>
              <a:t>The customer</a:t>
            </a:r>
          </a:p>
          <a:p>
            <a:pPr marL="0" indent="0">
              <a:buNone/>
            </a:pPr>
            <a:endParaRPr lang="en-US" sz="1600"/>
          </a:p>
        </p:txBody>
      </p:sp>
      <p:grpSp>
        <p:nvGrpSpPr>
          <p:cNvPr id="2" name="Group 1" descr="hitectural diagram shows a web server running on EC2 inside a subnet and VPC. The web server connects to an S3 bucket. The web server is accessible by an internet gateway using the AWS Management console or using the AWS Command Line Interface which makes use of SSH keys.">
            <a:extLst>
              <a:ext uri="{FF2B5EF4-FFF2-40B4-BE49-F238E27FC236}">
                <a16:creationId xmlns="" xmlns:a16="http://schemas.microsoft.com/office/drawing/2014/main" id="{8BEFADC3-8D6F-2BEF-C1E6-5125DBC91C6E}"/>
              </a:ext>
            </a:extLst>
          </p:cNvPr>
          <p:cNvGrpSpPr/>
          <p:nvPr/>
        </p:nvGrpSpPr>
        <p:grpSpPr>
          <a:xfrm>
            <a:off x="164939" y="1932981"/>
            <a:ext cx="3536087" cy="4848819"/>
            <a:chOff x="219918" y="1736422"/>
            <a:chExt cx="4714783" cy="4848819"/>
          </a:xfrm>
        </p:grpSpPr>
        <p:cxnSp>
          <p:nvCxnSpPr>
            <p:cNvPr id="29" name="Elbow Connector 28">
              <a:extLst>
                <a:ext uri="{FF2B5EF4-FFF2-40B4-BE49-F238E27FC236}">
                  <a16:creationId xmlns="" xmlns:a16="http://schemas.microsoft.com/office/drawing/2014/main" id="{2D1F2B09-6FEF-E349-8A32-D00785F20A6D}"/>
                </a:ext>
              </a:extLst>
            </p:cNvPr>
            <p:cNvCxnSpPr>
              <a:cxnSpLocks/>
              <a:stCxn id="48" idx="3"/>
            </p:cNvCxnSpPr>
            <p:nvPr/>
          </p:nvCxnSpPr>
          <p:spPr>
            <a:xfrm>
              <a:off x="1237910" y="2228943"/>
              <a:ext cx="1656517" cy="804387"/>
            </a:xfrm>
            <a:prstGeom prst="bentConnector3">
              <a:avLst>
                <a:gd name="adj1" fmla="val 33666"/>
              </a:avLst>
            </a:prstGeom>
            <a:noFill/>
            <a:ln w="12700" cap="flat" cmpd="sng" algn="ctr">
              <a:solidFill>
                <a:srgbClr val="535B63"/>
              </a:solidFill>
              <a:prstDash val="solid"/>
              <a:miter lim="800000"/>
              <a:headEnd type="none" w="med" len="sm"/>
              <a:tailEnd type="arrow" w="med" len="sm"/>
            </a:ln>
            <a:effectLst/>
          </p:spPr>
        </p:cxnSp>
        <p:pic>
          <p:nvPicPr>
            <p:cNvPr id="49" name="Graphic 48">
              <a:extLst>
                <a:ext uri="{FF2B5EF4-FFF2-40B4-BE49-F238E27FC236}">
                  <a16:creationId xmlns="" xmlns:a16="http://schemas.microsoft.com/office/drawing/2014/main" id="{531ED385-B2FD-BF47-9A49-E97A409C7F62}"/>
                </a:ext>
                <a:ext uri="{C183D7F6-B498-43B3-948B-1728B52AA6E4}">
                  <adec:decorative xmlns="" xmlns:adec="http://schemas.microsoft.com/office/drawing/2017/decorative" val="1"/>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2771394" y="2197905"/>
              <a:ext cx="457701" cy="469900"/>
            </a:xfrm>
            <a:prstGeom prst="rect">
              <a:avLst/>
            </a:prstGeom>
          </p:spPr>
        </p:pic>
        <p:sp>
          <p:nvSpPr>
            <p:cNvPr id="50" name="TextBox 49">
              <a:extLst>
                <a:ext uri="{FF2B5EF4-FFF2-40B4-BE49-F238E27FC236}">
                  <a16:creationId xmlns="" xmlns:a16="http://schemas.microsoft.com/office/drawing/2014/main" id="{72658523-8B40-D346-9666-E98D1E1ADE6E}"/>
                </a:ext>
              </a:extLst>
            </p:cNvPr>
            <p:cNvSpPr txBox="1"/>
            <p:nvPr/>
          </p:nvSpPr>
          <p:spPr>
            <a:xfrm>
              <a:off x="1651911" y="1736422"/>
              <a:ext cx="1654521" cy="584775"/>
            </a:xfrm>
            <a:prstGeom prst="rect">
              <a:avLst/>
            </a:prstGeom>
            <a:noFill/>
          </p:spPr>
          <p:txBody>
            <a:bodyPr wrap="square" rtlCol="0">
              <a:spAutoFit/>
            </a:bodyPr>
            <a:lstStyle/>
            <a:p>
              <a:pPr algn="ctr"/>
              <a:r>
                <a:rPr lang="en-US" sz="1600"/>
                <a:t>Secure Shell (SSH) keys</a:t>
              </a:r>
            </a:p>
          </p:txBody>
        </p:sp>
        <p:cxnSp>
          <p:nvCxnSpPr>
            <p:cNvPr id="51" name="Elbow Connector 50">
              <a:extLst>
                <a:ext uri="{FF2B5EF4-FFF2-40B4-BE49-F238E27FC236}">
                  <a16:creationId xmlns="" xmlns:a16="http://schemas.microsoft.com/office/drawing/2014/main" id="{5BD07F69-700E-884D-B4CF-93C1AEA7F3F4}"/>
                </a:ext>
              </a:extLst>
            </p:cNvPr>
            <p:cNvCxnSpPr>
              <a:cxnSpLocks/>
            </p:cNvCxnSpPr>
            <p:nvPr/>
          </p:nvCxnSpPr>
          <p:spPr>
            <a:xfrm rot="5400000">
              <a:off x="2761063" y="3726974"/>
              <a:ext cx="478362" cy="12700"/>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52" name="TextBox 51">
              <a:extLst>
                <a:ext uri="{FF2B5EF4-FFF2-40B4-BE49-F238E27FC236}">
                  <a16:creationId xmlns="" xmlns:a16="http://schemas.microsoft.com/office/drawing/2014/main" id="{7031ADB8-A4C6-C247-AFB4-3881186804C1}"/>
                </a:ext>
              </a:extLst>
            </p:cNvPr>
            <p:cNvSpPr txBox="1"/>
            <p:nvPr/>
          </p:nvSpPr>
          <p:spPr>
            <a:xfrm>
              <a:off x="3190332" y="2389052"/>
              <a:ext cx="1744369" cy="1077218"/>
            </a:xfrm>
            <a:prstGeom prst="rect">
              <a:avLst/>
            </a:prstGeom>
            <a:noFill/>
          </p:spPr>
          <p:txBody>
            <a:bodyPr wrap="square" rtlCol="0">
              <a:spAutoFit/>
            </a:bodyPr>
            <a:lstStyle/>
            <a:p>
              <a:pPr algn="ctr"/>
              <a:r>
                <a:rPr lang="en-US" sz="1600"/>
                <a:t>AWS Command Line Interface (AWS CLI)</a:t>
              </a:r>
            </a:p>
          </p:txBody>
        </p:sp>
        <p:pic>
          <p:nvPicPr>
            <p:cNvPr id="53" name="Graphic 52">
              <a:extLst>
                <a:ext uri="{FF2B5EF4-FFF2-40B4-BE49-F238E27FC236}">
                  <a16:creationId xmlns="" xmlns:a16="http://schemas.microsoft.com/office/drawing/2014/main" id="{E44619DA-359E-4F40-A8E9-68A7A4DB64CA}"/>
                </a:ext>
                <a:ext uri="{C183D7F6-B498-43B3-948B-1728B52AA6E4}">
                  <adec:decorative xmlns="" xmlns:adec="http://schemas.microsoft.com/office/drawing/2017/decorative" val="1"/>
                </a:ext>
              </a:extLst>
            </p:cNvPr>
            <p:cNvPicPr>
              <a:picLocks noChangeAspect="1"/>
            </p:cNvPicPr>
            <p:nvPr/>
          </p:nvPicPr>
          <p:blipFill>
            <a:blip r:embed="rId6" cstate="print">
              <a:extLst>
                <a:ext uri="{96DAC541-7B7A-43D3-8B79-37D633B846F1}">
                  <asvg:svgBlip xmlns="" xmlns:asvg="http://schemas.microsoft.com/office/drawing/2016/SVG/main" r:embed="rId7"/>
                </a:ext>
              </a:extLst>
            </a:blip>
            <a:stretch>
              <a:fillRect/>
            </a:stretch>
          </p:blipFill>
          <p:spPr>
            <a:xfrm>
              <a:off x="3853118" y="1846050"/>
              <a:ext cx="565776" cy="580855"/>
            </a:xfrm>
            <a:prstGeom prst="rect">
              <a:avLst/>
            </a:prstGeom>
          </p:spPr>
        </p:pic>
        <p:cxnSp>
          <p:nvCxnSpPr>
            <p:cNvPr id="56" name="Elbow Connector 55">
              <a:extLst>
                <a:ext uri="{FF2B5EF4-FFF2-40B4-BE49-F238E27FC236}">
                  <a16:creationId xmlns="" xmlns:a16="http://schemas.microsoft.com/office/drawing/2014/main" id="{B26B98A1-316C-FF43-8A94-60DD40BC2ECA}"/>
                </a:ext>
              </a:extLst>
            </p:cNvPr>
            <p:cNvCxnSpPr>
              <a:cxnSpLocks/>
              <a:stCxn id="53" idx="1"/>
              <a:endCxn id="37" idx="0"/>
            </p:cNvCxnSpPr>
            <p:nvPr/>
          </p:nvCxnSpPr>
          <p:spPr>
            <a:xfrm rot="10800000" flipV="1">
              <a:off x="3000246" y="2136478"/>
              <a:ext cx="852873" cy="836336"/>
            </a:xfrm>
            <a:prstGeom prst="bentConnector2">
              <a:avLst/>
            </a:prstGeom>
            <a:noFill/>
            <a:ln w="12700" cap="flat" cmpd="sng" algn="ctr">
              <a:solidFill>
                <a:srgbClr val="535B63"/>
              </a:solidFill>
              <a:prstDash val="solid"/>
              <a:miter lim="800000"/>
              <a:headEnd type="none" w="med" len="sm"/>
              <a:tailEnd type="arrow" w="med" len="sm"/>
            </a:ln>
            <a:effectLst/>
          </p:spPr>
        </p:cxnSp>
        <p:sp>
          <p:nvSpPr>
            <p:cNvPr id="32" name="Rectangle 31">
              <a:extLst>
                <a:ext uri="{FF2B5EF4-FFF2-40B4-BE49-F238E27FC236}">
                  <a16:creationId xmlns="" xmlns:a16="http://schemas.microsoft.com/office/drawing/2014/main" id="{AA5CD74C-F5EF-A241-B6AE-3C17EBFBE46F}"/>
                </a:ext>
              </a:extLst>
            </p:cNvPr>
            <p:cNvSpPr/>
            <p:nvPr/>
          </p:nvSpPr>
          <p:spPr>
            <a:xfrm>
              <a:off x="469116" y="3411196"/>
              <a:ext cx="4373767" cy="205728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33" name="Graphic 36">
              <a:extLst>
                <a:ext uri="{FF2B5EF4-FFF2-40B4-BE49-F238E27FC236}">
                  <a16:creationId xmlns="" xmlns:a16="http://schemas.microsoft.com/office/drawing/2014/main" id="{9811B841-9D14-C748-AFA7-7854903D7D45}"/>
                </a:ext>
                <a:ext uri="{C183D7F6-B498-43B3-948B-1728B52AA6E4}">
                  <adec:decorative xmlns="" xmlns:adec="http://schemas.microsoft.com/office/drawing/2017/decorative" val="1"/>
                </a:ext>
              </a:extLst>
            </p:cNvPr>
            <p:cNvPicPr>
              <a:picLocks noChangeAspect="1"/>
            </p:cNvPicPr>
            <p:nvPr/>
          </p:nvPicPr>
          <p:blipFill>
            <a:blip r:embed="rId8" cstate="print">
              <a:extLst>
                <a:ext uri="{96DAC541-7B7A-43D3-8B79-37D633B846F1}">
                  <asvg:svgBlip xmlns="" xmlns:asvg="http://schemas.microsoft.com/office/drawing/2016/SVG/main" r:embed="rId9"/>
                </a:ext>
              </a:extLst>
            </a:blip>
            <a:stretch>
              <a:fillRect/>
            </a:stretch>
          </p:blipFill>
          <p:spPr>
            <a:xfrm>
              <a:off x="462267" y="3416034"/>
              <a:ext cx="262682" cy="269683"/>
            </a:xfrm>
            <a:prstGeom prst="rect">
              <a:avLst/>
            </a:prstGeom>
          </p:spPr>
        </p:pic>
        <p:sp>
          <p:nvSpPr>
            <p:cNvPr id="34" name="Rectangle 33">
              <a:extLst>
                <a:ext uri="{FF2B5EF4-FFF2-40B4-BE49-F238E27FC236}">
                  <a16:creationId xmlns="" xmlns:a16="http://schemas.microsoft.com/office/drawing/2014/main" id="{C131ED40-2401-644B-BF59-0BE0230450B1}"/>
                </a:ext>
              </a:extLst>
            </p:cNvPr>
            <p:cNvSpPr/>
            <p:nvPr/>
          </p:nvSpPr>
          <p:spPr>
            <a:xfrm>
              <a:off x="795309" y="3818030"/>
              <a:ext cx="3912683" cy="1294595"/>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Subnet</a:t>
              </a:r>
            </a:p>
          </p:txBody>
        </p:sp>
        <p:pic>
          <p:nvPicPr>
            <p:cNvPr id="35" name="Graphic 37">
              <a:extLst>
                <a:ext uri="{FF2B5EF4-FFF2-40B4-BE49-F238E27FC236}">
                  <a16:creationId xmlns="" xmlns:a16="http://schemas.microsoft.com/office/drawing/2014/main" id="{D9486AA8-E2E4-074D-88A8-8B9A997FA9BD}"/>
                </a:ext>
                <a:ext uri="{C183D7F6-B498-43B3-948B-1728B52AA6E4}">
                  <adec:decorative xmlns="" xmlns:adec="http://schemas.microsoft.com/office/drawing/2017/decorative" val="1"/>
                </a:ext>
              </a:extLst>
            </p:cNvPr>
            <p:cNvPicPr>
              <a:picLocks noChangeAspect="1"/>
            </p:cNvPicPr>
            <p:nvPr/>
          </p:nvPicPr>
          <p:blipFill>
            <a:blip r:embed="rId10" cstate="print">
              <a:extLst>
                <a:ext uri="{96DAC541-7B7A-43D3-8B79-37D633B846F1}">
                  <asvg:svgBlip xmlns="" xmlns:asvg="http://schemas.microsoft.com/office/drawing/2016/SVG/main" r:embed="rId11"/>
                </a:ext>
              </a:extLst>
            </a:blip>
            <a:stretch>
              <a:fillRect/>
            </a:stretch>
          </p:blipFill>
          <p:spPr>
            <a:xfrm>
              <a:off x="795309" y="3818030"/>
              <a:ext cx="262682" cy="269683"/>
            </a:xfrm>
            <a:prstGeom prst="rect">
              <a:avLst/>
            </a:prstGeom>
          </p:spPr>
        </p:pic>
        <p:sp>
          <p:nvSpPr>
            <p:cNvPr id="36" name="TextBox 35">
              <a:extLst>
                <a:ext uri="{FF2B5EF4-FFF2-40B4-BE49-F238E27FC236}">
                  <a16:creationId xmlns="" xmlns:a16="http://schemas.microsoft.com/office/drawing/2014/main" id="{91A29267-F422-EF4A-8503-B04364985912}"/>
                </a:ext>
              </a:extLst>
            </p:cNvPr>
            <p:cNvSpPr txBox="1"/>
            <p:nvPr/>
          </p:nvSpPr>
          <p:spPr>
            <a:xfrm>
              <a:off x="3184722" y="3118782"/>
              <a:ext cx="1002084"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Internet gateway</a:t>
              </a:r>
            </a:p>
          </p:txBody>
        </p:sp>
        <p:pic>
          <p:nvPicPr>
            <p:cNvPr id="37" name="Graphic 36">
              <a:extLst>
                <a:ext uri="{FF2B5EF4-FFF2-40B4-BE49-F238E27FC236}">
                  <a16:creationId xmlns="" xmlns:a16="http://schemas.microsoft.com/office/drawing/2014/main" id="{1AF7F657-4644-2C41-90F1-CB2AEE42C73C}"/>
                </a:ext>
                <a:ext uri="{C183D7F6-B498-43B3-948B-1728B52AA6E4}">
                  <adec:decorative xmlns="" xmlns:adec="http://schemas.microsoft.com/office/drawing/2017/decorative" val="1"/>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2749439" y="2972814"/>
              <a:ext cx="501611" cy="514979"/>
            </a:xfrm>
            <a:prstGeom prst="rect">
              <a:avLst/>
            </a:prstGeom>
          </p:spPr>
        </p:pic>
        <p:pic>
          <p:nvPicPr>
            <p:cNvPr id="40" name="Graphic 135">
              <a:extLst>
                <a:ext uri="{FF2B5EF4-FFF2-40B4-BE49-F238E27FC236}">
                  <a16:creationId xmlns="" xmlns:a16="http://schemas.microsoft.com/office/drawing/2014/main" id="{5EFB97B7-F4DA-0A4D-9623-8150FF553813}"/>
                </a:ext>
                <a:ext uri="{C183D7F6-B498-43B3-948B-1728B52AA6E4}">
                  <adec:decorative xmlns="" xmlns:adec="http://schemas.microsoft.com/office/drawing/2017/decorative" val="1"/>
                </a:ext>
              </a:extLst>
            </p:cNvPr>
            <p:cNvPicPr>
              <a:picLocks noChangeAspect="1"/>
            </p:cNvPicPr>
            <p:nvPr/>
          </p:nvPicPr>
          <p:blipFill>
            <a:blip r:embed="rId14" cstate="print">
              <a:extLst>
                <a:ext uri="{96DAC541-7B7A-43D3-8B79-37D633B846F1}">
                  <asvg:svgBlip xmlns="" xmlns:asvg="http://schemas.microsoft.com/office/drawing/2016/SVG/main" r:embed="rId15"/>
                </a:ext>
              </a:extLst>
            </a:blip>
            <a:stretch>
              <a:fillRect/>
            </a:stretch>
          </p:blipFill>
          <p:spPr>
            <a:xfrm>
              <a:off x="2694057" y="3966155"/>
              <a:ext cx="612375" cy="628695"/>
            </a:xfrm>
            <a:prstGeom prst="rect">
              <a:avLst/>
            </a:prstGeom>
          </p:spPr>
        </p:pic>
        <p:sp>
          <p:nvSpPr>
            <p:cNvPr id="41" name="TextBox 40">
              <a:extLst>
                <a:ext uri="{FF2B5EF4-FFF2-40B4-BE49-F238E27FC236}">
                  <a16:creationId xmlns="" xmlns:a16="http://schemas.microsoft.com/office/drawing/2014/main" id="{9E1136AA-E256-144D-8568-46F909B87562}"/>
                </a:ext>
              </a:extLst>
            </p:cNvPr>
            <p:cNvSpPr txBox="1"/>
            <p:nvPr/>
          </p:nvSpPr>
          <p:spPr>
            <a:xfrm>
              <a:off x="2173362" y="4549451"/>
              <a:ext cx="165376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32F3D"/>
                  </a:solidFill>
                  <a:effectLst/>
                  <a:uLnTx/>
                  <a:uFillTx/>
                  <a:ea typeface="+mn-ea"/>
                  <a:cs typeface="+mn-cs"/>
                </a:rPr>
                <a:t>Web server on Amazon EC2</a:t>
              </a:r>
            </a:p>
          </p:txBody>
        </p:sp>
        <p:sp>
          <p:nvSpPr>
            <p:cNvPr id="47" name="TextBox 46">
              <a:extLst>
                <a:ext uri="{FF2B5EF4-FFF2-40B4-BE49-F238E27FC236}">
                  <a16:creationId xmlns="" xmlns:a16="http://schemas.microsoft.com/office/drawing/2014/main" id="{EC2E0B8E-58D0-434B-B646-2E3D055B896A}"/>
                </a:ext>
              </a:extLst>
            </p:cNvPr>
            <p:cNvSpPr txBox="1"/>
            <p:nvPr/>
          </p:nvSpPr>
          <p:spPr>
            <a:xfrm>
              <a:off x="219918" y="2531688"/>
              <a:ext cx="153132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AWS Management Console</a:t>
              </a:r>
            </a:p>
          </p:txBody>
        </p:sp>
        <p:pic>
          <p:nvPicPr>
            <p:cNvPr id="48" name="Graphic 34">
              <a:extLst>
                <a:ext uri="{FF2B5EF4-FFF2-40B4-BE49-F238E27FC236}">
                  <a16:creationId xmlns="" xmlns:a16="http://schemas.microsoft.com/office/drawing/2014/main" id="{A3076FA9-C9F1-C044-AEC9-E2F28F5D1A1E}"/>
                </a:ext>
                <a:ext uri="{C183D7F6-B498-43B3-948B-1728B52AA6E4}">
                  <adec:decorative xmlns="" xmlns:adec="http://schemas.microsoft.com/office/drawing/2017/decorative" val="1"/>
                </a:ext>
              </a:extLst>
            </p:cNvPr>
            <p:cNvPicPr>
              <a:picLocks noChangeAspect="1"/>
            </p:cNvPicPr>
            <p:nvPr/>
          </p:nvPicPr>
          <p:blipFill>
            <a:blip r:embed="rId16" cstate="print">
              <a:extLst>
                <a:ext uri="{96DAC541-7B7A-43D3-8B79-37D633B846F1}">
                  <asvg:svgBlip xmlns="" xmlns:asvg="http://schemas.microsoft.com/office/drawing/2016/SVG/main" r:embed="rId17"/>
                </a:ext>
              </a:extLst>
            </a:blip>
            <a:stretch>
              <a:fillRect/>
            </a:stretch>
          </p:blipFill>
          <p:spPr>
            <a:xfrm>
              <a:off x="672135" y="1938516"/>
              <a:ext cx="565776" cy="580855"/>
            </a:xfrm>
            <a:prstGeom prst="rect">
              <a:avLst/>
            </a:prstGeom>
          </p:spPr>
        </p:pic>
        <p:pic>
          <p:nvPicPr>
            <p:cNvPr id="61" name="Graphic 60">
              <a:extLst>
                <a:ext uri="{FF2B5EF4-FFF2-40B4-BE49-F238E27FC236}">
                  <a16:creationId xmlns="" xmlns:a16="http://schemas.microsoft.com/office/drawing/2014/main" id="{5BD26303-2D9D-6E4D-ABF8-0A43BFC2CF59}"/>
                </a:ext>
                <a:ext uri="{C183D7F6-B498-43B3-948B-1728B52AA6E4}">
                  <adec:decorative xmlns="" xmlns:adec="http://schemas.microsoft.com/office/drawing/2017/decorative" val="1"/>
                </a:ext>
              </a:extLst>
            </p:cNvPr>
            <p:cNvPicPr>
              <a:picLocks noChangeAspect="1"/>
            </p:cNvPicPr>
            <p:nvPr/>
          </p:nvPicPr>
          <p:blipFill>
            <a:blip r:embed="rId18">
              <a:extLst>
                <a:ext uri="{96DAC541-7B7A-43D3-8B79-37D633B846F1}">
                  <asvg:svgBlip xmlns="" xmlns:asvg="http://schemas.microsoft.com/office/drawing/2016/SVG/main" r:embed="rId19"/>
                </a:ext>
              </a:extLst>
            </a:blip>
            <a:stretch>
              <a:fillRect/>
            </a:stretch>
          </p:blipFill>
          <p:spPr>
            <a:xfrm>
              <a:off x="4176093" y="5755869"/>
              <a:ext cx="469900" cy="469900"/>
            </a:xfrm>
            <a:prstGeom prst="rect">
              <a:avLst/>
            </a:prstGeom>
          </p:spPr>
        </p:pic>
        <p:sp>
          <p:nvSpPr>
            <p:cNvPr id="62" name="TextBox 61">
              <a:extLst>
                <a:ext uri="{FF2B5EF4-FFF2-40B4-BE49-F238E27FC236}">
                  <a16:creationId xmlns="" xmlns:a16="http://schemas.microsoft.com/office/drawing/2014/main" id="{51B8C04D-1D8E-DB4C-8C1B-C3FA7062A7B6}"/>
                </a:ext>
              </a:extLst>
            </p:cNvPr>
            <p:cNvSpPr txBox="1"/>
            <p:nvPr/>
          </p:nvSpPr>
          <p:spPr>
            <a:xfrm>
              <a:off x="2786332" y="5754244"/>
              <a:ext cx="1479733" cy="830997"/>
            </a:xfrm>
            <a:prstGeom prst="rect">
              <a:avLst/>
            </a:prstGeom>
            <a:noFill/>
          </p:spPr>
          <p:txBody>
            <a:bodyPr wrap="square" rtlCol="0">
              <a:spAutoFit/>
            </a:bodyPr>
            <a:lstStyle/>
            <a:p>
              <a:pPr algn="ctr"/>
              <a:r>
                <a:rPr lang="en-US" sz="1600"/>
                <a:t>S3 bucket with objects</a:t>
              </a:r>
            </a:p>
          </p:txBody>
        </p:sp>
        <p:cxnSp>
          <p:nvCxnSpPr>
            <p:cNvPr id="63" name="Elbow Connector 62">
              <a:extLst>
                <a:ext uri="{FF2B5EF4-FFF2-40B4-BE49-F238E27FC236}">
                  <a16:creationId xmlns="" xmlns:a16="http://schemas.microsoft.com/office/drawing/2014/main" id="{FE883950-B7D4-3046-9023-3543374F1367}"/>
                </a:ext>
              </a:extLst>
            </p:cNvPr>
            <p:cNvCxnSpPr>
              <a:cxnSpLocks/>
              <a:stCxn id="40" idx="3"/>
              <a:endCxn id="61" idx="0"/>
            </p:cNvCxnSpPr>
            <p:nvPr/>
          </p:nvCxnSpPr>
          <p:spPr>
            <a:xfrm>
              <a:off x="3306432" y="4280503"/>
              <a:ext cx="1104611" cy="1475366"/>
            </a:xfrm>
            <a:prstGeom prst="bentConnector2">
              <a:avLst/>
            </a:prstGeom>
            <a:noFill/>
            <a:ln w="12700" cap="flat" cmpd="sng" algn="ctr">
              <a:solidFill>
                <a:srgbClr val="535B63"/>
              </a:solidFill>
              <a:prstDash val="solid"/>
              <a:miter lim="800000"/>
              <a:headEnd type="triangle" w="med" len="sm"/>
              <a:tailEnd type="arrow" w="med" len="sm"/>
            </a:ln>
            <a:effectLst/>
          </p:spPr>
        </p:cxnSp>
      </p:grpSp>
    </p:spTree>
    <p:custDataLst>
      <p:tags r:id="rId1"/>
    </p:custDataLst>
    <p:extLst>
      <p:ext uri="{BB962C8B-B14F-4D97-AF65-F5344CB8AC3E}">
        <p14:creationId xmlns="" xmlns:p14="http://schemas.microsoft.com/office/powerpoint/2010/main" val="10627744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Overview of Compliance in AWS</a:t>
            </a:r>
            <a:endParaRPr lang="en-US"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When customers move their production workloads to the AWS cloud, both parties become responsible for managing the IT environment. </a:t>
            </a:r>
          </a:p>
          <a:p>
            <a:r>
              <a:rPr lang="en-US" dirty="0" smtClean="0"/>
              <a:t>The customers are responsible for setting up their environment in a secure and controlled manner. </a:t>
            </a:r>
          </a:p>
          <a:p>
            <a:r>
              <a:rPr lang="en-US" dirty="0" smtClean="0"/>
              <a:t>The customers also need to maintain adequate governance over their entire IT control environment.</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Strong Compliance Governance</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dirty="0" smtClean="0"/>
              <a:t>By deploying to the AWS Cloud, customers have options to apply different types of controls and various verification:</a:t>
            </a:r>
          </a:p>
          <a:p>
            <a:r>
              <a:rPr lang="en-US" dirty="0" smtClean="0"/>
              <a:t>Take a holistic approach. Review the information available from AWS together with all</a:t>
            </a:r>
          </a:p>
          <a:p>
            <a:r>
              <a:rPr lang="en-US" dirty="0" smtClean="0"/>
              <a:t>other information to understand as much of the IT environment as they can. After this is</a:t>
            </a:r>
          </a:p>
          <a:p>
            <a:r>
              <a:rPr lang="en-US" dirty="0" smtClean="0"/>
              <a:t>complete, document all compliance requirements.</a:t>
            </a:r>
          </a:p>
          <a:p>
            <a:r>
              <a:rPr lang="en-US" dirty="0" smtClean="0"/>
              <a:t>2. Design and implement control objectives to meet the organization’s compliance</a:t>
            </a:r>
          </a:p>
          <a:p>
            <a:r>
              <a:rPr lang="en-US" dirty="0" smtClean="0"/>
              <a:t>requirements.</a:t>
            </a:r>
          </a:p>
          <a:p>
            <a:r>
              <a:rPr lang="en-US" dirty="0" smtClean="0"/>
              <a:t>3. Identify and document controls owned by all third parties.</a:t>
            </a:r>
          </a:p>
          <a:p>
            <a:r>
              <a:rPr lang="en-US" dirty="0" smtClean="0"/>
              <a:t>4. Verify that all control objectives are met and all key controls are designed and operating</a:t>
            </a:r>
          </a:p>
          <a:p>
            <a:r>
              <a:rPr lang="en-US" smtClean="0"/>
              <a:t>effectively.</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AWS KMS</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a:buNone/>
            </a:pPr>
            <a:r>
              <a:rPr lang="en-US" dirty="0" smtClean="0"/>
              <a:t>Anytime you hear “encryption” for an AWS service, it’s most likely KMS</a:t>
            </a:r>
          </a:p>
          <a:p>
            <a:r>
              <a:rPr lang="en-US" dirty="0" smtClean="0"/>
              <a:t>AWS manages encryption keys for us</a:t>
            </a:r>
          </a:p>
          <a:p>
            <a:r>
              <a:rPr lang="en-US" dirty="0" smtClean="0"/>
              <a:t>Fully integrated with IAM for authorization</a:t>
            </a:r>
          </a:p>
          <a:p>
            <a:r>
              <a:rPr lang="en-US" dirty="0" smtClean="0"/>
              <a:t>Easy way to control access to your data</a:t>
            </a:r>
          </a:p>
          <a:p>
            <a:r>
              <a:rPr lang="en-US" dirty="0" smtClean="0"/>
              <a:t>Able to audit KMS Key usage using </a:t>
            </a:r>
            <a:r>
              <a:rPr lang="en-US" dirty="0" err="1" smtClean="0"/>
              <a:t>CloudTrail</a:t>
            </a:r>
            <a:endParaRPr lang="en-US" dirty="0" smtClean="0"/>
          </a:p>
          <a:p>
            <a:r>
              <a:rPr lang="en-US" dirty="0" smtClean="0"/>
              <a:t>Seamlessly integrated into most AWS services (EBS, S3, RDS, SSM…)</a:t>
            </a:r>
          </a:p>
          <a:p>
            <a:r>
              <a:rPr lang="en-US" dirty="0" smtClean="0"/>
              <a:t>Never ever store your secrets in plaintext, especially in your code!</a:t>
            </a:r>
          </a:p>
          <a:p>
            <a:r>
              <a:rPr lang="en-US" dirty="0" smtClean="0"/>
              <a:t>KMS Key Encryption also available through API calls (SDK, CLI)</a:t>
            </a:r>
          </a:p>
          <a:p>
            <a:r>
              <a:rPr lang="en-US" dirty="0" smtClean="0"/>
              <a:t>Encrypted secrets can be stored in the code / environment variables</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KMS Keys Types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KMS Keys is the new name of KMS Customer </a:t>
            </a:r>
            <a:r>
              <a:rPr lang="en-US" i="1" dirty="0" smtClean="0"/>
              <a:t>Master Key</a:t>
            </a:r>
          </a:p>
          <a:p>
            <a:r>
              <a:rPr lang="en-US" dirty="0" smtClean="0"/>
              <a:t>Symmetric (AES-256 keys)</a:t>
            </a:r>
          </a:p>
          <a:p>
            <a:pPr lvl="1"/>
            <a:r>
              <a:rPr lang="en-US" dirty="0" smtClean="0"/>
              <a:t>• Single encryption key that is used to Encrypt and Decrypt</a:t>
            </a:r>
          </a:p>
          <a:p>
            <a:pPr lvl="1"/>
            <a:r>
              <a:rPr lang="en-US" dirty="0" smtClean="0"/>
              <a:t>• AWS services that are integrated with KMS use Symmetric CMKs</a:t>
            </a:r>
          </a:p>
          <a:p>
            <a:pPr lvl="1"/>
            <a:r>
              <a:rPr lang="en-US" dirty="0" smtClean="0"/>
              <a:t>• You never get access to the KMS Key unencrypted (must call KMS API to use)</a:t>
            </a:r>
          </a:p>
          <a:p>
            <a:r>
              <a:rPr lang="en-US" dirty="0" smtClean="0"/>
              <a:t>Asymmetric (RSA &amp; ECC key pairs)</a:t>
            </a:r>
          </a:p>
          <a:p>
            <a:pPr lvl="1"/>
            <a:r>
              <a:rPr lang="en-US" dirty="0" smtClean="0"/>
              <a:t>• Public (Encrypt) and Private Key (Decrypt) pair</a:t>
            </a:r>
          </a:p>
          <a:p>
            <a:pPr lvl="1"/>
            <a:r>
              <a:rPr lang="en-US" dirty="0" smtClean="0"/>
              <a:t>• Used for Encrypt/Decrypt, or Sign/Verify operations</a:t>
            </a:r>
          </a:p>
          <a:p>
            <a:pPr lvl="1"/>
            <a:r>
              <a:rPr lang="en-US" dirty="0" smtClean="0"/>
              <a:t>• The public key is downloadable, but you can’t access the Private Key unencrypted</a:t>
            </a:r>
          </a:p>
          <a:p>
            <a:pPr lvl="1"/>
            <a:r>
              <a:rPr lang="en-US" dirty="0" smtClean="0"/>
              <a:t>• Use case: encryption outside of AWS by users who can’t call the KMS API</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Types of KMS Keys:</a:t>
            </a:r>
          </a:p>
          <a:p>
            <a:pPr lvl="1"/>
            <a:r>
              <a:rPr lang="en-US" dirty="0" smtClean="0"/>
              <a:t>• AWS Owned Keys (free): SSE-S3, SSE-SQS, SSE-DDB (default key)</a:t>
            </a:r>
          </a:p>
          <a:p>
            <a:pPr lvl="1"/>
            <a:r>
              <a:rPr lang="en-US" dirty="0" smtClean="0"/>
              <a:t>• AWS Managed Key: free (</a:t>
            </a:r>
            <a:r>
              <a:rPr lang="en-US" dirty="0" err="1" smtClean="0"/>
              <a:t>aws</a:t>
            </a:r>
            <a:r>
              <a:rPr lang="en-US" dirty="0" smtClean="0"/>
              <a:t>/</a:t>
            </a:r>
            <a:r>
              <a:rPr lang="en-US" i="1" dirty="0" smtClean="0"/>
              <a:t>service-name, example: </a:t>
            </a:r>
            <a:r>
              <a:rPr lang="en-US" i="1" dirty="0" err="1" smtClean="0"/>
              <a:t>aws</a:t>
            </a:r>
            <a:r>
              <a:rPr lang="en-US" i="1" dirty="0" smtClean="0"/>
              <a:t>/</a:t>
            </a:r>
            <a:r>
              <a:rPr lang="en-US" i="1" dirty="0" err="1" smtClean="0"/>
              <a:t>rds</a:t>
            </a:r>
            <a:r>
              <a:rPr lang="en-US" i="1" dirty="0" smtClean="0"/>
              <a:t> or </a:t>
            </a:r>
            <a:r>
              <a:rPr lang="en-US" i="1" dirty="0" err="1" smtClean="0"/>
              <a:t>aws</a:t>
            </a:r>
            <a:r>
              <a:rPr lang="en-US" i="1" dirty="0" smtClean="0"/>
              <a:t>/</a:t>
            </a:r>
            <a:r>
              <a:rPr lang="en-US" i="1" dirty="0" err="1" smtClean="0"/>
              <a:t>ebs</a:t>
            </a:r>
            <a:r>
              <a:rPr lang="en-US" i="1" dirty="0" smtClean="0"/>
              <a:t>)</a:t>
            </a:r>
          </a:p>
          <a:p>
            <a:pPr lvl="1"/>
            <a:r>
              <a:rPr lang="en-US" dirty="0" smtClean="0"/>
              <a:t>• Customer managed keys created in KMS: $1 / month</a:t>
            </a:r>
          </a:p>
          <a:p>
            <a:pPr lvl="1"/>
            <a:r>
              <a:rPr lang="en-US" dirty="0" smtClean="0"/>
              <a:t>• Customer managed keys imported (must be symmetric key): $1 / month + pay for API call to KMS ($0.03 / 10000 calls)</a:t>
            </a:r>
          </a:p>
          <a:p>
            <a:r>
              <a:rPr lang="en-US" dirty="0" smtClean="0"/>
              <a:t>Automatic Key rotation:</a:t>
            </a:r>
          </a:p>
          <a:p>
            <a:pPr lvl="1"/>
            <a:r>
              <a:rPr lang="en-US" dirty="0" smtClean="0"/>
              <a:t>• AWS-managed KMS Key: automatic every 1 year</a:t>
            </a:r>
          </a:p>
          <a:p>
            <a:pPr lvl="1"/>
            <a:r>
              <a:rPr lang="en-US" dirty="0" smtClean="0"/>
              <a:t>• Customer-managed KMS Key: (must be enabled) automatic every 1 year</a:t>
            </a:r>
          </a:p>
          <a:p>
            <a:pPr lvl="1"/>
            <a:r>
              <a:rPr lang="en-US" dirty="0" smtClean="0"/>
              <a:t>• Imported KMS Key: only manual rotation possible using alias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Copying snapshots across regions</a:t>
            </a:r>
            <a:endParaRPr lang="en-US" dirty="0"/>
          </a:p>
        </p:txBody>
      </p:sp>
      <p:pic>
        <p:nvPicPr>
          <p:cNvPr id="1026" name="Picture 2"/>
          <p:cNvPicPr>
            <a:picLocks noChangeAspect="1" noChangeArrowheads="1"/>
          </p:cNvPicPr>
          <p:nvPr/>
        </p:nvPicPr>
        <p:blipFill>
          <a:blip r:embed="rId2"/>
          <a:srcRect/>
          <a:stretch>
            <a:fillRect/>
          </a:stretch>
        </p:blipFill>
        <p:spPr bwMode="auto">
          <a:xfrm>
            <a:off x="190500" y="1500188"/>
            <a:ext cx="8763000" cy="3857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KMS key policies</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Control access to KMS keys, “similar” to S3 bucket policies</a:t>
            </a:r>
          </a:p>
          <a:p>
            <a:r>
              <a:rPr lang="en-US" dirty="0" smtClean="0"/>
              <a:t>Difference: you cannot control access without them</a:t>
            </a:r>
          </a:p>
          <a:p>
            <a:endParaRPr lang="en-US" dirty="0" smtClean="0"/>
          </a:p>
          <a:p>
            <a:r>
              <a:rPr lang="en-US" dirty="0" smtClean="0"/>
              <a:t>Default KMS Key Policy:</a:t>
            </a:r>
          </a:p>
          <a:p>
            <a:pPr lvl="1"/>
            <a:r>
              <a:rPr lang="en-US" dirty="0" smtClean="0"/>
              <a:t>Created if you don’t provide a specific KMS Key Policy</a:t>
            </a:r>
          </a:p>
          <a:p>
            <a:pPr lvl="1"/>
            <a:r>
              <a:rPr lang="en-US" dirty="0" smtClean="0"/>
              <a:t>Complete access to the key to the root user = entire AWS account</a:t>
            </a:r>
          </a:p>
          <a:p>
            <a:r>
              <a:rPr lang="en-US" dirty="0" smtClean="0"/>
              <a:t>Custom KMS Key Policy:</a:t>
            </a:r>
          </a:p>
          <a:p>
            <a:pPr lvl="1"/>
            <a:r>
              <a:rPr lang="en-US" dirty="0" smtClean="0"/>
              <a:t> Define users, roles that can access the KMS key</a:t>
            </a:r>
          </a:p>
          <a:p>
            <a:pPr lvl="1"/>
            <a:r>
              <a:rPr lang="en-US" dirty="0" smtClean="0"/>
              <a:t> Define who can administer the key</a:t>
            </a:r>
          </a:p>
          <a:p>
            <a:pPr lvl="1"/>
            <a:r>
              <a:rPr lang="en-US" dirty="0" smtClean="0"/>
              <a:t> Useful for cross-account access of your KMS key</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Copy snapshots across accounts</a:t>
            </a:r>
            <a:endParaRPr lang="en-US" dirty="0">
              <a:solidFill>
                <a:srgbClr val="FF0000"/>
              </a:solidFill>
            </a:endParaRPr>
          </a:p>
        </p:txBody>
      </p:sp>
      <p:sp>
        <p:nvSpPr>
          <p:cNvPr id="3" name="Content Placeholder 2"/>
          <p:cNvSpPr>
            <a:spLocks noGrp="1"/>
          </p:cNvSpPr>
          <p:nvPr>
            <p:ph idx="1"/>
          </p:nvPr>
        </p:nvSpPr>
        <p:spPr>
          <a:xfrm>
            <a:off x="0" y="1600200"/>
            <a:ext cx="4724400" cy="4525963"/>
          </a:xfrm>
        </p:spPr>
        <p:txBody>
          <a:bodyPr>
            <a:normAutofit fontScale="85000" lnSpcReduction="20000"/>
          </a:bodyPr>
          <a:lstStyle/>
          <a:p>
            <a:pPr>
              <a:buNone/>
            </a:pPr>
            <a:r>
              <a:rPr lang="en-US" dirty="0" smtClean="0"/>
              <a:t>1.Create a Snapshot, encrypted with your own KMS Key (Customer Managed Key)</a:t>
            </a:r>
          </a:p>
          <a:p>
            <a:pPr>
              <a:buNone/>
            </a:pPr>
            <a:r>
              <a:rPr lang="en-US" dirty="0" smtClean="0"/>
              <a:t>2. Attach a KMS Key Policy to authorize cross-account access</a:t>
            </a:r>
          </a:p>
          <a:p>
            <a:pPr>
              <a:buNone/>
            </a:pPr>
            <a:r>
              <a:rPr lang="en-US" dirty="0" smtClean="0"/>
              <a:t>3. Share the encrypted snapshot</a:t>
            </a:r>
          </a:p>
          <a:p>
            <a:pPr>
              <a:buNone/>
            </a:pPr>
            <a:r>
              <a:rPr lang="en-US" dirty="0" smtClean="0"/>
              <a:t>4. (in target) Create a copy of the Snapshot, encrypt it with a CMK in your account</a:t>
            </a:r>
          </a:p>
          <a:p>
            <a:pPr>
              <a:buNone/>
            </a:pPr>
            <a:r>
              <a:rPr lang="en-US" dirty="0" smtClean="0"/>
              <a:t>5. Create a volume from the snapshot</a:t>
            </a:r>
            <a:endParaRPr lang="en-US" dirty="0"/>
          </a:p>
        </p:txBody>
      </p:sp>
      <p:pic>
        <p:nvPicPr>
          <p:cNvPr id="2050" name="Picture 2"/>
          <p:cNvPicPr>
            <a:picLocks noChangeAspect="1" noChangeArrowheads="1"/>
          </p:cNvPicPr>
          <p:nvPr/>
        </p:nvPicPr>
        <p:blipFill>
          <a:blip r:embed="rId2"/>
          <a:srcRect/>
          <a:stretch>
            <a:fillRect/>
          </a:stretch>
        </p:blipFill>
        <p:spPr bwMode="auto">
          <a:xfrm>
            <a:off x="4648199" y="1643063"/>
            <a:ext cx="4500473" cy="46815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KMS Multi-Region Keys</a:t>
            </a:r>
            <a:endParaRPr lang="en-US" dirty="0">
              <a:solidFill>
                <a:srgbClr val="FF0000"/>
              </a:solidFill>
            </a:endParaRPr>
          </a:p>
        </p:txBody>
      </p:sp>
      <p:pic>
        <p:nvPicPr>
          <p:cNvPr id="3074" name="Picture 2"/>
          <p:cNvPicPr>
            <a:picLocks noChangeAspect="1" noChangeArrowheads="1"/>
          </p:cNvPicPr>
          <p:nvPr/>
        </p:nvPicPr>
        <p:blipFill>
          <a:blip r:embed="rId2"/>
          <a:srcRect/>
          <a:stretch>
            <a:fillRect/>
          </a:stretch>
        </p:blipFill>
        <p:spPr bwMode="auto">
          <a:xfrm>
            <a:off x="-76200" y="1466850"/>
            <a:ext cx="9222419" cy="5162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Multi-region keys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Identical KMS keys in different AWS Regions that can be used interchangeably</a:t>
            </a:r>
          </a:p>
          <a:p>
            <a:r>
              <a:rPr lang="en-US" dirty="0" smtClean="0"/>
              <a:t>Multi-Region keys have the same key ID, key material, automatic rotation…</a:t>
            </a:r>
          </a:p>
          <a:p>
            <a:endParaRPr lang="en-US" dirty="0" smtClean="0"/>
          </a:p>
          <a:p>
            <a:r>
              <a:rPr lang="en-US" dirty="0" smtClean="0"/>
              <a:t>Encrypt in one Region and decrypt in other Regions</a:t>
            </a:r>
          </a:p>
          <a:p>
            <a:r>
              <a:rPr lang="en-US" dirty="0" smtClean="0"/>
              <a:t>No need to re-encrypt or making cross-Region API calls</a:t>
            </a:r>
          </a:p>
          <a:p>
            <a:endParaRPr lang="en-US" dirty="0" smtClean="0"/>
          </a:p>
          <a:p>
            <a:r>
              <a:rPr lang="en-US" dirty="0" smtClean="0"/>
              <a:t>KMS Multi-Region are NOT global (Primary + Replicas)</a:t>
            </a:r>
          </a:p>
          <a:p>
            <a:r>
              <a:rPr lang="en-US" dirty="0" smtClean="0"/>
              <a:t>Each Multi-Region key is managed independently</a:t>
            </a:r>
          </a:p>
          <a:p>
            <a:endParaRPr lang="en-US" dirty="0" smtClean="0"/>
          </a:p>
          <a:p>
            <a:r>
              <a:rPr lang="en-US" dirty="0" smtClean="0"/>
              <a:t>Use cases: global client-side encryption, encryption on Global </a:t>
            </a:r>
            <a:r>
              <a:rPr lang="en-US" dirty="0" err="1" smtClean="0"/>
              <a:t>DynamoDB</a:t>
            </a:r>
            <a:r>
              <a:rPr lang="en-US" dirty="0" smtClean="0"/>
              <a:t>, Global Aurora</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a:bodyPr>
          <a:lstStyle/>
          <a:p>
            <a:pPr algn="l"/>
            <a:r>
              <a:rPr lang="en-US" sz="3200" dirty="0" err="1" smtClean="0"/>
              <a:t>DynamoDB</a:t>
            </a:r>
            <a:r>
              <a:rPr lang="en-US" sz="3200" dirty="0" smtClean="0"/>
              <a:t> Global Tables and KMS Multi- Region Keys Client-Side encryption</a:t>
            </a:r>
            <a:endParaRPr lang="en-US" sz="3200" dirty="0"/>
          </a:p>
        </p:txBody>
      </p:sp>
      <p:sp>
        <p:nvSpPr>
          <p:cNvPr id="3" name="Content Placeholder 2"/>
          <p:cNvSpPr>
            <a:spLocks noGrp="1"/>
          </p:cNvSpPr>
          <p:nvPr>
            <p:ph idx="1"/>
          </p:nvPr>
        </p:nvSpPr>
        <p:spPr/>
        <p:txBody>
          <a:bodyPr>
            <a:normAutofit fontScale="85000" lnSpcReduction="20000"/>
          </a:bodyPr>
          <a:lstStyle/>
          <a:p>
            <a:r>
              <a:rPr lang="en-US" dirty="0" smtClean="0"/>
              <a:t>We can encrypt specific attributes client-side in our </a:t>
            </a:r>
            <a:r>
              <a:rPr lang="en-US" dirty="0" err="1" smtClean="0"/>
              <a:t>DynamoDB</a:t>
            </a:r>
            <a:r>
              <a:rPr lang="en-US" dirty="0" smtClean="0"/>
              <a:t> table using the Amazon </a:t>
            </a:r>
            <a:r>
              <a:rPr lang="en-US" dirty="0" err="1" smtClean="0"/>
              <a:t>DynamoDB</a:t>
            </a:r>
            <a:r>
              <a:rPr lang="en-US" dirty="0" smtClean="0"/>
              <a:t> Encryption Client</a:t>
            </a:r>
          </a:p>
          <a:p>
            <a:r>
              <a:rPr lang="en-US" dirty="0" smtClean="0"/>
              <a:t>Combined with Global Tables, the client-side encrypted data is replicated to other regions</a:t>
            </a:r>
          </a:p>
          <a:p>
            <a:r>
              <a:rPr lang="en-US" dirty="0" smtClean="0"/>
              <a:t>If we use a multi-region key, replicated in the same region as the </a:t>
            </a:r>
            <a:r>
              <a:rPr lang="en-US" dirty="0" err="1" smtClean="0"/>
              <a:t>DynamoDB</a:t>
            </a:r>
            <a:r>
              <a:rPr lang="en-US" dirty="0" smtClean="0"/>
              <a:t> Global table, then clients in these regions can use low latency API calls to KMS in their region to decrypt the data client-side</a:t>
            </a:r>
          </a:p>
          <a:p>
            <a:r>
              <a:rPr lang="en-US" dirty="0" smtClean="0"/>
              <a:t>Using client-side encryption we can protect specific fields and guarantee only decryption if the client has access to an API key</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09600" y="381000"/>
            <a:ext cx="7696200" cy="60489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Global Aurora and KMS Multi-Region Keys Client-Side encryption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We can encrypt specific attributes client-side in our Aurora table using the AWS</a:t>
            </a:r>
          </a:p>
          <a:p>
            <a:r>
              <a:rPr lang="en-US" dirty="0" smtClean="0"/>
              <a:t>Encryption SDK</a:t>
            </a:r>
          </a:p>
          <a:p>
            <a:r>
              <a:rPr lang="en-US" dirty="0" smtClean="0"/>
              <a:t>Combined with Aurora Global Tables, the client-side encrypted data is replicated to other regions</a:t>
            </a:r>
          </a:p>
          <a:p>
            <a:r>
              <a:rPr lang="en-US" dirty="0" smtClean="0"/>
              <a:t>If we use a multi-region key, replicated in the same region as the Global Aurora DB, then clients in these regions can use low-latency API calls to KMS in their region to decrypt the data client-side</a:t>
            </a:r>
          </a:p>
          <a:p>
            <a:r>
              <a:rPr lang="en-US" dirty="0" smtClean="0"/>
              <a:t>Using client-side encryption we can protect specific fields and guarantee only decryption if the client has access to an API key, we can protect specific fields even from database </a:t>
            </a:r>
            <a:r>
              <a:rPr lang="en-US" dirty="0" err="1" smtClean="0"/>
              <a:t>admins</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609600" y="626515"/>
            <a:ext cx="7696200" cy="607908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S3 replication encryption</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dirty="0" smtClean="0"/>
              <a:t>Unencrypted objects and objects encrypted with SSE-S3 are replicated by default</a:t>
            </a:r>
          </a:p>
          <a:p>
            <a:r>
              <a:rPr lang="en-US" dirty="0" smtClean="0"/>
              <a:t>Objects encrypted with SSE-C (customer provided key) can be replicated</a:t>
            </a:r>
          </a:p>
          <a:p>
            <a:endParaRPr lang="en-US" dirty="0" smtClean="0"/>
          </a:p>
          <a:p>
            <a:r>
              <a:rPr lang="en-US" dirty="0" smtClean="0"/>
              <a:t>For objects encrypted with SSE-KMS, you need to enable the option</a:t>
            </a:r>
          </a:p>
          <a:p>
            <a:pPr lvl="1"/>
            <a:r>
              <a:rPr lang="en-US" dirty="0" smtClean="0"/>
              <a:t>Specify which KMS Key to encrypt the objects within the target bucket</a:t>
            </a:r>
          </a:p>
          <a:p>
            <a:pPr lvl="1"/>
            <a:r>
              <a:rPr lang="en-US" dirty="0" smtClean="0"/>
              <a:t> Adapt the KMS Key Policy for the target key</a:t>
            </a:r>
          </a:p>
          <a:p>
            <a:pPr lvl="1"/>
            <a:r>
              <a:rPr lang="en-US" dirty="0" smtClean="0"/>
              <a:t>An IAM Role with </a:t>
            </a:r>
            <a:r>
              <a:rPr lang="en-US" dirty="0" err="1" smtClean="0"/>
              <a:t>kms:Decrypt</a:t>
            </a:r>
            <a:r>
              <a:rPr lang="en-US" dirty="0" smtClean="0"/>
              <a:t> for the source KMS Key and </a:t>
            </a:r>
            <a:r>
              <a:rPr lang="en-US" dirty="0" err="1" smtClean="0"/>
              <a:t>kms:Encrypt</a:t>
            </a:r>
            <a:r>
              <a:rPr lang="en-US" dirty="0" smtClean="0"/>
              <a:t> for the target KMS Key</a:t>
            </a:r>
          </a:p>
          <a:p>
            <a:pPr lvl="1"/>
            <a:r>
              <a:rPr lang="en-US" dirty="0" smtClean="0"/>
              <a:t>You might get KMS throttling errors, in which case you can ask for a Service Quotas increase</a:t>
            </a:r>
          </a:p>
          <a:p>
            <a:r>
              <a:rPr lang="en-US" dirty="0" smtClean="0"/>
              <a:t>You can use multi-region AWS KMS Keys, but they are currently treated as independent keys by Amazon S3 (the object will still be decrypted and then encrypted)</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AMI Sharing Process Encrypted via KMS</a:t>
            </a:r>
            <a:endParaRPr lang="en-US" dirty="0"/>
          </a:p>
        </p:txBody>
      </p:sp>
      <p:sp>
        <p:nvSpPr>
          <p:cNvPr id="3" name="Content Placeholder 2"/>
          <p:cNvSpPr>
            <a:spLocks noGrp="1"/>
          </p:cNvSpPr>
          <p:nvPr>
            <p:ph idx="1"/>
          </p:nvPr>
        </p:nvSpPr>
        <p:spPr>
          <a:xfrm>
            <a:off x="457200" y="1600200"/>
            <a:ext cx="3886200" cy="4525963"/>
          </a:xfrm>
        </p:spPr>
        <p:txBody>
          <a:bodyPr>
            <a:normAutofit fontScale="55000" lnSpcReduction="20000"/>
          </a:bodyPr>
          <a:lstStyle/>
          <a:p>
            <a:pPr>
              <a:buNone/>
            </a:pPr>
            <a:r>
              <a:rPr lang="en-US" dirty="0" smtClean="0"/>
              <a:t>1. AMI in Source Account is encrypted with KMS Key from Source Account</a:t>
            </a:r>
          </a:p>
          <a:p>
            <a:pPr>
              <a:buNone/>
            </a:pPr>
            <a:r>
              <a:rPr lang="en-US" dirty="0" smtClean="0"/>
              <a:t>2. Must modify the image attribute to add a Launch Permission which corresponds to the specified target AWS account</a:t>
            </a:r>
          </a:p>
          <a:p>
            <a:pPr>
              <a:buNone/>
            </a:pPr>
            <a:r>
              <a:rPr lang="en-US" dirty="0" smtClean="0"/>
              <a:t>3. Must share the KMS Keys used to encrypted the snapshot the AMI references with the target account / IAM Role</a:t>
            </a:r>
          </a:p>
          <a:p>
            <a:pPr>
              <a:buNone/>
            </a:pPr>
            <a:r>
              <a:rPr lang="en-US" dirty="0" smtClean="0"/>
              <a:t>4. The IAM Role/User in the target account must have the permissions to </a:t>
            </a:r>
            <a:r>
              <a:rPr lang="en-US" dirty="0" err="1" smtClean="0"/>
              <a:t>DescribeKey</a:t>
            </a:r>
            <a:r>
              <a:rPr lang="en-US" dirty="0" smtClean="0"/>
              <a:t>, </a:t>
            </a:r>
            <a:r>
              <a:rPr lang="en-US" dirty="0" err="1" smtClean="0"/>
              <a:t>ReEncrypted</a:t>
            </a:r>
            <a:r>
              <a:rPr lang="en-US" dirty="0" smtClean="0"/>
              <a:t>, </a:t>
            </a:r>
            <a:r>
              <a:rPr lang="en-US" dirty="0" err="1" smtClean="0"/>
              <a:t>CreateGrant</a:t>
            </a:r>
            <a:r>
              <a:rPr lang="en-US" dirty="0" smtClean="0"/>
              <a:t>, Decrypt</a:t>
            </a:r>
          </a:p>
          <a:p>
            <a:pPr>
              <a:buNone/>
            </a:pPr>
            <a:r>
              <a:rPr lang="en-US" dirty="0" smtClean="0"/>
              <a:t>5. When launching an EC2 instance from the AMI, optionally the target account can specify a new KMS key in its own account to re-encrypt the volumes</a:t>
            </a:r>
            <a:endParaRPr lang="en-US" dirty="0"/>
          </a:p>
        </p:txBody>
      </p:sp>
      <p:pic>
        <p:nvPicPr>
          <p:cNvPr id="6146" name="Picture 2"/>
          <p:cNvPicPr>
            <a:picLocks noChangeAspect="1" noChangeArrowheads="1"/>
          </p:cNvPicPr>
          <p:nvPr/>
        </p:nvPicPr>
        <p:blipFill>
          <a:blip r:embed="rId2"/>
          <a:srcRect/>
          <a:stretch>
            <a:fillRect/>
          </a:stretch>
        </p:blipFill>
        <p:spPr bwMode="auto">
          <a:xfrm>
            <a:off x="5057775" y="1533525"/>
            <a:ext cx="3705225" cy="52913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SSM Parameter Store</a:t>
            </a:r>
            <a:endParaRPr lang="en-US" dirty="0"/>
          </a:p>
        </p:txBody>
      </p:sp>
      <p:sp>
        <p:nvSpPr>
          <p:cNvPr id="3" name="Content Placeholder 2"/>
          <p:cNvSpPr>
            <a:spLocks noGrp="1"/>
          </p:cNvSpPr>
          <p:nvPr>
            <p:ph idx="1"/>
          </p:nvPr>
        </p:nvSpPr>
        <p:spPr>
          <a:xfrm>
            <a:off x="0" y="1600200"/>
            <a:ext cx="5105400" cy="4525963"/>
          </a:xfrm>
        </p:spPr>
        <p:txBody>
          <a:bodyPr>
            <a:normAutofit fontScale="77500" lnSpcReduction="20000"/>
          </a:bodyPr>
          <a:lstStyle/>
          <a:p>
            <a:r>
              <a:rPr lang="en-US" dirty="0" smtClean="0"/>
              <a:t>Secure storage for configuration and secrets</a:t>
            </a:r>
          </a:p>
          <a:p>
            <a:r>
              <a:rPr lang="en-US" dirty="0" smtClean="0"/>
              <a:t>Optional Seamless Encryption using KMS</a:t>
            </a:r>
          </a:p>
          <a:p>
            <a:r>
              <a:rPr lang="en-US" dirty="0" err="1" smtClean="0"/>
              <a:t>Serverless</a:t>
            </a:r>
            <a:r>
              <a:rPr lang="en-US" dirty="0" smtClean="0"/>
              <a:t>, scalable, durable, easy SDK</a:t>
            </a:r>
          </a:p>
          <a:p>
            <a:r>
              <a:rPr lang="en-US" dirty="0" smtClean="0"/>
              <a:t>Version tracking of configurations / secrets</a:t>
            </a:r>
          </a:p>
          <a:p>
            <a:r>
              <a:rPr lang="en-US" dirty="0" smtClean="0"/>
              <a:t>Security through IAM</a:t>
            </a:r>
          </a:p>
          <a:p>
            <a:r>
              <a:rPr lang="en-US" dirty="0" smtClean="0"/>
              <a:t>Notifications with Amazon </a:t>
            </a:r>
            <a:r>
              <a:rPr lang="en-US" dirty="0" err="1" smtClean="0"/>
              <a:t>EventBridge</a:t>
            </a:r>
            <a:endParaRPr lang="en-US" dirty="0" smtClean="0"/>
          </a:p>
          <a:p>
            <a:r>
              <a:rPr lang="en-US" dirty="0" smtClean="0"/>
              <a:t>Integration with </a:t>
            </a:r>
            <a:r>
              <a:rPr lang="en-US" dirty="0" err="1" smtClean="0"/>
              <a:t>CloudFormation</a:t>
            </a:r>
            <a:endParaRPr lang="en-US" dirty="0"/>
          </a:p>
        </p:txBody>
      </p:sp>
      <p:pic>
        <p:nvPicPr>
          <p:cNvPr id="7170" name="Picture 2"/>
          <p:cNvPicPr>
            <a:picLocks noChangeAspect="1" noChangeArrowheads="1"/>
          </p:cNvPicPr>
          <p:nvPr/>
        </p:nvPicPr>
        <p:blipFill>
          <a:blip r:embed="rId2"/>
          <a:srcRect/>
          <a:stretch>
            <a:fillRect/>
          </a:stretch>
        </p:blipFill>
        <p:spPr bwMode="auto">
          <a:xfrm>
            <a:off x="4953000" y="1600200"/>
            <a:ext cx="4267200" cy="52508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Parameter tiers</a:t>
            </a:r>
            <a:endParaRPr lang="en-US" dirty="0">
              <a:solidFill>
                <a:srgbClr val="FF0000"/>
              </a:solidFill>
            </a:endParaRPr>
          </a:p>
        </p:txBody>
      </p:sp>
      <p:pic>
        <p:nvPicPr>
          <p:cNvPr id="8194" name="Picture 2"/>
          <p:cNvPicPr>
            <a:picLocks noChangeAspect="1" noChangeArrowheads="1"/>
          </p:cNvPicPr>
          <p:nvPr/>
        </p:nvPicPr>
        <p:blipFill>
          <a:blip r:embed="rId2"/>
          <a:srcRect/>
          <a:stretch>
            <a:fillRect/>
          </a:stretch>
        </p:blipFill>
        <p:spPr bwMode="auto">
          <a:xfrm>
            <a:off x="76200" y="1776413"/>
            <a:ext cx="8829675" cy="3305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Parameters Policies (for advanced parameters)</a:t>
            </a:r>
            <a:endParaRPr lang="en-US" dirty="0">
              <a:solidFill>
                <a:srgbClr val="FF0000"/>
              </a:solidFill>
            </a:endParaRPr>
          </a:p>
        </p:txBody>
      </p:sp>
      <p:pic>
        <p:nvPicPr>
          <p:cNvPr id="9218" name="Picture 2"/>
          <p:cNvPicPr>
            <a:picLocks noChangeAspect="1" noChangeArrowheads="1"/>
          </p:cNvPicPr>
          <p:nvPr/>
        </p:nvPicPr>
        <p:blipFill>
          <a:blip r:embed="rId2"/>
          <a:srcRect/>
          <a:stretch>
            <a:fillRect/>
          </a:stretch>
        </p:blipFill>
        <p:spPr bwMode="auto">
          <a:xfrm>
            <a:off x="4763" y="4086225"/>
            <a:ext cx="9134475" cy="1857375"/>
          </a:xfrm>
          <a:prstGeom prst="rect">
            <a:avLst/>
          </a:prstGeom>
          <a:noFill/>
          <a:ln w="9525">
            <a:noFill/>
            <a:miter lim="800000"/>
            <a:headEnd/>
            <a:tailEnd/>
          </a:ln>
          <a:effectLst/>
        </p:spPr>
      </p:pic>
      <p:sp>
        <p:nvSpPr>
          <p:cNvPr id="5" name="Rectangle 4"/>
          <p:cNvSpPr/>
          <p:nvPr/>
        </p:nvSpPr>
        <p:spPr>
          <a:xfrm>
            <a:off x="228600" y="1524000"/>
            <a:ext cx="8610600" cy="1815882"/>
          </a:xfrm>
          <a:prstGeom prst="rect">
            <a:avLst/>
          </a:prstGeom>
        </p:spPr>
        <p:txBody>
          <a:bodyPr wrap="square">
            <a:spAutoFit/>
          </a:bodyPr>
          <a:lstStyle/>
          <a:p>
            <a:r>
              <a:rPr lang="en-US" sz="2800" dirty="0" smtClean="0"/>
              <a:t>Allow to assign a TTL to a parameter (expiration date) to force updating or deleting sensitive data such as passwords</a:t>
            </a:r>
          </a:p>
          <a:p>
            <a:r>
              <a:rPr lang="en-US" sz="2800" dirty="0" smtClean="0"/>
              <a:t>Can assign multiple policies at a time</a:t>
            </a:r>
            <a:endParaRPr lang="en-US" sz="2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WAF – Web Application Firewall</a:t>
            </a:r>
            <a:endParaRPr lang="en-US" dirty="0">
              <a:solidFill>
                <a:srgbClr val="FF0000"/>
              </a:solidFill>
            </a:endParaRPr>
          </a:p>
        </p:txBody>
      </p:sp>
      <p:sp>
        <p:nvSpPr>
          <p:cNvPr id="3" name="Content Placeholder 2"/>
          <p:cNvSpPr>
            <a:spLocks noGrp="1"/>
          </p:cNvSpPr>
          <p:nvPr>
            <p:ph idx="1"/>
          </p:nvPr>
        </p:nvSpPr>
        <p:spPr>
          <a:xfrm>
            <a:off x="381000" y="1600200"/>
            <a:ext cx="8305800" cy="4953000"/>
          </a:xfrm>
        </p:spPr>
        <p:txBody>
          <a:bodyPr>
            <a:normAutofit fontScale="92500" lnSpcReduction="20000"/>
          </a:bodyPr>
          <a:lstStyle/>
          <a:p>
            <a:r>
              <a:rPr lang="en-US" dirty="0" smtClean="0"/>
              <a:t>Define Web ACL (Web Access Control List) Rules:</a:t>
            </a:r>
          </a:p>
          <a:p>
            <a:pPr lvl="1"/>
            <a:r>
              <a:rPr lang="en-US" dirty="0" smtClean="0"/>
              <a:t> IP Set: up to 10,000 IP addresses – use multiple Rules for more </a:t>
            </a:r>
            <a:r>
              <a:rPr lang="en-US" dirty="0" err="1" smtClean="0"/>
              <a:t>Ips</a:t>
            </a:r>
            <a:endParaRPr lang="en-US" dirty="0" smtClean="0"/>
          </a:p>
          <a:p>
            <a:pPr lvl="1"/>
            <a:r>
              <a:rPr lang="en-US" dirty="0" smtClean="0"/>
              <a:t> HTTP headers, HTTP body, or URI strings Protects from common attack – SQL injection and Cross-Site Scripting (XSS)</a:t>
            </a:r>
          </a:p>
          <a:p>
            <a:pPr lvl="1"/>
            <a:r>
              <a:rPr lang="en-US" dirty="0" smtClean="0"/>
              <a:t>Size constraints, geo-match (block countries)</a:t>
            </a:r>
          </a:p>
          <a:p>
            <a:pPr lvl="1"/>
            <a:r>
              <a:rPr lang="en-US" dirty="0" smtClean="0"/>
              <a:t>Rate-based rules (to count occurrences of events) – for </a:t>
            </a:r>
            <a:r>
              <a:rPr lang="en-US" dirty="0" err="1" smtClean="0"/>
              <a:t>DDoS</a:t>
            </a:r>
            <a:r>
              <a:rPr lang="en-US" dirty="0" smtClean="0"/>
              <a:t> protection</a:t>
            </a:r>
          </a:p>
          <a:p>
            <a:r>
              <a:rPr lang="en-US" dirty="0" smtClean="0"/>
              <a:t>Web ACL are Regional except for </a:t>
            </a:r>
            <a:r>
              <a:rPr lang="en-US" dirty="0" err="1" smtClean="0"/>
              <a:t>CloudFront</a:t>
            </a:r>
            <a:endParaRPr lang="en-US" dirty="0" smtClean="0"/>
          </a:p>
          <a:p>
            <a:r>
              <a:rPr lang="en-US" dirty="0" smtClean="0"/>
              <a:t>A rule group is a reusable set of rules that you can add to a web ACL</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WAF – Fixed IP while using WAF with a Load Balancer</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WAF does not support the Network Load Balancer (Layer 4)</a:t>
            </a:r>
          </a:p>
          <a:p>
            <a:r>
              <a:rPr lang="en-US" dirty="0" smtClean="0"/>
              <a:t>We can use Global Accelerator for fixed IP and WAF on the ALB</a:t>
            </a:r>
            <a:endParaRPr lang="en-US" dirty="0"/>
          </a:p>
        </p:txBody>
      </p:sp>
      <p:pic>
        <p:nvPicPr>
          <p:cNvPr id="1026" name="Picture 2"/>
          <p:cNvPicPr>
            <a:picLocks noChangeAspect="1" noChangeArrowheads="1"/>
          </p:cNvPicPr>
          <p:nvPr/>
        </p:nvPicPr>
        <p:blipFill>
          <a:blip r:embed="rId2"/>
          <a:srcRect/>
          <a:stretch>
            <a:fillRect/>
          </a:stretch>
        </p:blipFill>
        <p:spPr bwMode="auto">
          <a:xfrm>
            <a:off x="352425" y="3762375"/>
            <a:ext cx="8439150" cy="3019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Shield: protect from </a:t>
            </a:r>
            <a:r>
              <a:rPr lang="en-US" dirty="0" err="1" smtClean="0">
                <a:solidFill>
                  <a:srgbClr val="FF0000"/>
                </a:solidFill>
              </a:rPr>
              <a:t>DDoS</a:t>
            </a:r>
            <a:r>
              <a:rPr lang="en-US" dirty="0" smtClean="0">
                <a:solidFill>
                  <a:srgbClr val="FF0000"/>
                </a:solidFill>
              </a:rPr>
              <a:t> attack</a:t>
            </a:r>
            <a:endParaRPr lang="en-US" dirty="0">
              <a:solidFill>
                <a:srgbClr val="FF0000"/>
              </a:solidFill>
            </a:endParaRPr>
          </a:p>
        </p:txBody>
      </p:sp>
      <p:sp>
        <p:nvSpPr>
          <p:cNvPr id="3" name="Content Placeholder 2"/>
          <p:cNvSpPr>
            <a:spLocks noGrp="1"/>
          </p:cNvSpPr>
          <p:nvPr>
            <p:ph idx="1"/>
          </p:nvPr>
        </p:nvSpPr>
        <p:spPr>
          <a:xfrm>
            <a:off x="457200" y="1600200"/>
            <a:ext cx="8382000" cy="4800600"/>
          </a:xfrm>
        </p:spPr>
        <p:txBody>
          <a:bodyPr>
            <a:normAutofit fontScale="70000" lnSpcReduction="20000"/>
          </a:bodyPr>
          <a:lstStyle/>
          <a:p>
            <a:r>
              <a:rPr lang="en-US" dirty="0" err="1" smtClean="0"/>
              <a:t>DDoS</a:t>
            </a:r>
            <a:r>
              <a:rPr lang="en-US" dirty="0" smtClean="0"/>
              <a:t>: Distributed Denial of Service – many requests at the same time</a:t>
            </a:r>
          </a:p>
          <a:p>
            <a:r>
              <a:rPr lang="en-US" dirty="0" smtClean="0"/>
              <a:t>AWS Shield Standard:</a:t>
            </a:r>
          </a:p>
          <a:p>
            <a:pPr lvl="1"/>
            <a:r>
              <a:rPr lang="en-US" dirty="0" smtClean="0"/>
              <a:t>Free service that is activated for every AWS customer</a:t>
            </a:r>
          </a:p>
          <a:p>
            <a:pPr lvl="1"/>
            <a:r>
              <a:rPr lang="en-US" dirty="0" smtClean="0"/>
              <a:t>Provides protection from attacks such as SYN/UDP Floods, Reflection attacks and other layer 3/layer 4 attacks</a:t>
            </a:r>
          </a:p>
          <a:p>
            <a:r>
              <a:rPr lang="en-US" dirty="0" smtClean="0"/>
              <a:t>AWS Shield Advanced:</a:t>
            </a:r>
          </a:p>
          <a:p>
            <a:pPr lvl="1"/>
            <a:r>
              <a:rPr lang="en-US" dirty="0" smtClean="0"/>
              <a:t>Optional </a:t>
            </a:r>
            <a:r>
              <a:rPr lang="en-US" dirty="0" err="1" smtClean="0"/>
              <a:t>DDoS</a:t>
            </a:r>
            <a:r>
              <a:rPr lang="en-US" dirty="0" smtClean="0"/>
              <a:t> mitigation service ($3,000 per month per organization)</a:t>
            </a:r>
          </a:p>
          <a:p>
            <a:pPr lvl="1"/>
            <a:r>
              <a:rPr lang="en-US" dirty="0" smtClean="0"/>
              <a:t>Protect against more sophisticated attack on Amazon EC2, Elastic Load Balancing (ELB), Amazon </a:t>
            </a:r>
            <a:r>
              <a:rPr lang="en-US" dirty="0" err="1" smtClean="0"/>
              <a:t>CloudFront</a:t>
            </a:r>
            <a:r>
              <a:rPr lang="en-US" dirty="0" smtClean="0"/>
              <a:t>, AWS Global Accelerator, and Route 53</a:t>
            </a:r>
          </a:p>
          <a:p>
            <a:pPr lvl="1"/>
            <a:r>
              <a:rPr lang="en-US" dirty="0" smtClean="0"/>
              <a:t>24/7 access to AWS </a:t>
            </a:r>
            <a:r>
              <a:rPr lang="en-US" dirty="0" err="1" smtClean="0"/>
              <a:t>DDoS</a:t>
            </a:r>
            <a:r>
              <a:rPr lang="en-US" dirty="0" smtClean="0"/>
              <a:t> response team (DRP)</a:t>
            </a:r>
          </a:p>
          <a:p>
            <a:pPr lvl="1"/>
            <a:r>
              <a:rPr lang="en-US" dirty="0" smtClean="0"/>
              <a:t>Protect against higher fees during usage spikes due to </a:t>
            </a:r>
            <a:r>
              <a:rPr lang="en-US" dirty="0" err="1" smtClean="0"/>
              <a:t>DDoS</a:t>
            </a:r>
            <a:endParaRPr lang="en-US" dirty="0" smtClean="0"/>
          </a:p>
          <a:p>
            <a:pPr lvl="1"/>
            <a:r>
              <a:rPr lang="en-US" dirty="0" smtClean="0"/>
              <a:t>Shield Advanced automatic application layer </a:t>
            </a:r>
            <a:r>
              <a:rPr lang="en-US" dirty="0" err="1" smtClean="0"/>
              <a:t>DDoS</a:t>
            </a:r>
            <a:r>
              <a:rPr lang="en-US" dirty="0" smtClean="0"/>
              <a:t> mitigation automatically creates, evaluates and deploys AWS WAF rules to mitigate layer 7 attacks</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AWS Firewall Manager</a:t>
            </a:r>
            <a:endParaRPr lang="en-US"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r>
              <a:rPr lang="en-US" dirty="0" smtClean="0"/>
              <a:t>Manage rules in all accounts of an AWS Organization</a:t>
            </a:r>
          </a:p>
          <a:p>
            <a:r>
              <a:rPr lang="en-US" dirty="0" smtClean="0"/>
              <a:t>Security policy: common set of security rules</a:t>
            </a:r>
          </a:p>
          <a:p>
            <a:pPr lvl="1"/>
            <a:r>
              <a:rPr lang="en-US" dirty="0" smtClean="0"/>
              <a:t>WAF rules (Application Load Balancer, API Gateways, </a:t>
            </a:r>
            <a:r>
              <a:rPr lang="en-US" dirty="0" err="1" smtClean="0"/>
              <a:t>CloudFront</a:t>
            </a:r>
            <a:r>
              <a:rPr lang="en-US" dirty="0" smtClean="0"/>
              <a:t>)</a:t>
            </a:r>
          </a:p>
          <a:p>
            <a:pPr lvl="1"/>
            <a:r>
              <a:rPr lang="en-US" dirty="0" smtClean="0"/>
              <a:t>AWS Shield Advanced (ALB, CLB, NLB, Elastic IP, </a:t>
            </a:r>
            <a:r>
              <a:rPr lang="en-US" dirty="0" err="1" smtClean="0"/>
              <a:t>CloudFront</a:t>
            </a:r>
            <a:r>
              <a:rPr lang="en-US" dirty="0" smtClean="0"/>
              <a:t>)</a:t>
            </a:r>
          </a:p>
          <a:p>
            <a:pPr lvl="1"/>
            <a:r>
              <a:rPr lang="en-US" dirty="0" smtClean="0"/>
              <a:t>Security Groups for EC2, Application Load </a:t>
            </a:r>
            <a:r>
              <a:rPr lang="en-US" dirty="0" err="1" smtClean="0"/>
              <a:t>BAlancer</a:t>
            </a:r>
            <a:r>
              <a:rPr lang="en-US" dirty="0" smtClean="0"/>
              <a:t> and ENI resources in VPC</a:t>
            </a:r>
          </a:p>
          <a:p>
            <a:pPr lvl="1"/>
            <a:r>
              <a:rPr lang="en-US" dirty="0" smtClean="0"/>
              <a:t>AWS Network Firewall (VPC Level)</a:t>
            </a:r>
          </a:p>
          <a:p>
            <a:pPr lvl="1"/>
            <a:r>
              <a:rPr lang="en-US" dirty="0" smtClean="0"/>
              <a:t>Amazon Route 53 Resolver DNS Firewall</a:t>
            </a:r>
          </a:p>
          <a:p>
            <a:pPr lvl="1"/>
            <a:r>
              <a:rPr lang="en-US" dirty="0" smtClean="0"/>
              <a:t>Policies are created at the region level</a:t>
            </a:r>
          </a:p>
          <a:p>
            <a:r>
              <a:rPr lang="en-US" dirty="0" smtClean="0"/>
              <a:t>Rules are applied to new resources as they are created (good for compliance) across all and future accounts in your Organization</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Comparisons</a:t>
            </a:r>
            <a:endParaRPr lang="en-US"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r>
              <a:rPr lang="en-US" dirty="0" smtClean="0"/>
              <a:t>WAF, Shield and Firewall Manager are used together for comprehensive protection</a:t>
            </a:r>
          </a:p>
          <a:p>
            <a:r>
              <a:rPr lang="en-US" dirty="0" smtClean="0"/>
              <a:t>Define your Web ACL rules in WAF</a:t>
            </a:r>
          </a:p>
          <a:p>
            <a:r>
              <a:rPr lang="en-US" dirty="0" smtClean="0"/>
              <a:t>For granular protection of your resources, WAF alone is the correct choice</a:t>
            </a:r>
          </a:p>
          <a:p>
            <a:r>
              <a:rPr lang="en-US" dirty="0" smtClean="0"/>
              <a:t>If you want to use AWS WAF across accounts, accelerate WAF configuration, automate the protection of new resources, use Firewall Manager with AWS WAF</a:t>
            </a:r>
          </a:p>
          <a:p>
            <a:r>
              <a:rPr lang="en-US" dirty="0" smtClean="0"/>
              <a:t>Shield Advanced adds additional features on top of AWS WAF, such as dedicated support from the Shield Response Team (SRT) and advanced reporting.</a:t>
            </a:r>
          </a:p>
          <a:p>
            <a:r>
              <a:rPr lang="en-US" dirty="0" smtClean="0"/>
              <a:t>If you’re prone to frequent </a:t>
            </a:r>
            <a:r>
              <a:rPr lang="en-US" dirty="0" err="1" smtClean="0"/>
              <a:t>DDoS</a:t>
            </a:r>
            <a:r>
              <a:rPr lang="en-US" dirty="0" smtClean="0"/>
              <a:t> attacks, consider purchasing Shield Advanced</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Best Practices for </a:t>
            </a:r>
            <a:r>
              <a:rPr lang="en-US" dirty="0" err="1" smtClean="0">
                <a:solidFill>
                  <a:srgbClr val="FF0000"/>
                </a:solidFill>
              </a:rPr>
              <a:t>DDoS</a:t>
            </a:r>
            <a:r>
              <a:rPr lang="en-US" dirty="0" smtClean="0">
                <a:solidFill>
                  <a:srgbClr val="FF0000"/>
                </a:solidFill>
              </a:rPr>
              <a:t> Resiliency</a:t>
            </a:r>
            <a:br>
              <a:rPr lang="en-US" dirty="0" smtClean="0">
                <a:solidFill>
                  <a:srgbClr val="FF0000"/>
                </a:solidFill>
              </a:rPr>
            </a:br>
            <a:r>
              <a:rPr lang="en-US" dirty="0" smtClean="0">
                <a:solidFill>
                  <a:srgbClr val="FF0000"/>
                </a:solidFill>
              </a:rPr>
              <a:t>Edge Location Mitigation (BP1, BP3)</a:t>
            </a:r>
            <a:endParaRPr lang="en-US" dirty="0">
              <a:solidFill>
                <a:srgbClr val="FF0000"/>
              </a:solidFill>
            </a:endParaRPr>
          </a:p>
        </p:txBody>
      </p:sp>
      <p:sp>
        <p:nvSpPr>
          <p:cNvPr id="3" name="Content Placeholder 2"/>
          <p:cNvSpPr>
            <a:spLocks noGrp="1"/>
          </p:cNvSpPr>
          <p:nvPr>
            <p:ph idx="1"/>
          </p:nvPr>
        </p:nvSpPr>
        <p:spPr>
          <a:xfrm>
            <a:off x="0" y="1676400"/>
            <a:ext cx="8610600" cy="4724400"/>
          </a:xfrm>
        </p:spPr>
        <p:txBody>
          <a:bodyPr>
            <a:normAutofit fontScale="85000" lnSpcReduction="10000"/>
          </a:bodyPr>
          <a:lstStyle/>
          <a:p>
            <a:r>
              <a:rPr lang="en-US" dirty="0" smtClean="0"/>
              <a:t>BP1 – </a:t>
            </a:r>
            <a:r>
              <a:rPr lang="en-US" dirty="0" err="1" smtClean="0"/>
              <a:t>CloudFront</a:t>
            </a:r>
            <a:endParaRPr lang="en-US" dirty="0" smtClean="0"/>
          </a:p>
          <a:p>
            <a:pPr lvl="1"/>
            <a:r>
              <a:rPr lang="en-US" dirty="0" smtClean="0"/>
              <a:t>Web Application delivery at the edge</a:t>
            </a:r>
          </a:p>
          <a:p>
            <a:pPr lvl="1"/>
            <a:r>
              <a:rPr lang="en-US" dirty="0" smtClean="0"/>
              <a:t>Protect from </a:t>
            </a:r>
            <a:r>
              <a:rPr lang="en-US" dirty="0" err="1" smtClean="0"/>
              <a:t>DDoS</a:t>
            </a:r>
            <a:r>
              <a:rPr lang="en-US" dirty="0" smtClean="0"/>
              <a:t> Common Attacks (SYN floods, UDP reflection…)</a:t>
            </a:r>
          </a:p>
          <a:p>
            <a:r>
              <a:rPr lang="en-US" dirty="0" smtClean="0"/>
              <a:t>BP1 – Global Accelerator</a:t>
            </a:r>
          </a:p>
          <a:p>
            <a:pPr lvl="1"/>
            <a:r>
              <a:rPr lang="en-US" dirty="0" smtClean="0"/>
              <a:t>Access your application from the edge</a:t>
            </a:r>
          </a:p>
          <a:p>
            <a:pPr lvl="1"/>
            <a:r>
              <a:rPr lang="en-US" dirty="0" smtClean="0"/>
              <a:t>Integration with Shield for </a:t>
            </a:r>
            <a:r>
              <a:rPr lang="en-US" dirty="0" err="1" smtClean="0"/>
              <a:t>DDoS</a:t>
            </a:r>
            <a:r>
              <a:rPr lang="en-US" dirty="0" smtClean="0"/>
              <a:t> protection</a:t>
            </a:r>
          </a:p>
          <a:p>
            <a:pPr lvl="1"/>
            <a:r>
              <a:rPr lang="en-US" dirty="0" smtClean="0"/>
              <a:t> Helpful if your backend is not compatible with </a:t>
            </a:r>
            <a:r>
              <a:rPr lang="en-US" dirty="0" err="1" smtClean="0"/>
              <a:t>CloudFront</a:t>
            </a:r>
            <a:endParaRPr lang="en-US" dirty="0" smtClean="0"/>
          </a:p>
          <a:p>
            <a:r>
              <a:rPr lang="en-US" dirty="0" smtClean="0"/>
              <a:t>BP3 – Route 53</a:t>
            </a:r>
          </a:p>
          <a:p>
            <a:pPr lvl="1"/>
            <a:r>
              <a:rPr lang="en-US" dirty="0" smtClean="0"/>
              <a:t>Domain Name Resolution at the edge</a:t>
            </a:r>
          </a:p>
          <a:p>
            <a:pPr lvl="1"/>
            <a:r>
              <a:rPr lang="en-US" dirty="0" err="1" smtClean="0"/>
              <a:t>DDoS</a:t>
            </a:r>
            <a:r>
              <a:rPr lang="en-US" dirty="0" smtClean="0"/>
              <a:t> Protection mechanism</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76200" y="1295400"/>
            <a:ext cx="9103850"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Best Practices for </a:t>
            </a:r>
            <a:r>
              <a:rPr lang="en-US" dirty="0" err="1" smtClean="0">
                <a:solidFill>
                  <a:srgbClr val="FF0000"/>
                </a:solidFill>
              </a:rPr>
              <a:t>DDoS</a:t>
            </a:r>
            <a:r>
              <a:rPr lang="en-US" dirty="0" smtClean="0">
                <a:solidFill>
                  <a:srgbClr val="FF0000"/>
                </a:solidFill>
              </a:rPr>
              <a:t> Resiliency</a:t>
            </a:r>
            <a:br>
              <a:rPr lang="en-US" dirty="0" smtClean="0">
                <a:solidFill>
                  <a:srgbClr val="FF0000"/>
                </a:solidFill>
              </a:rPr>
            </a:br>
            <a:r>
              <a:rPr lang="en-US" dirty="0" smtClean="0">
                <a:solidFill>
                  <a:srgbClr val="FF0000"/>
                </a:solidFill>
              </a:rPr>
              <a:t>Best </a:t>
            </a:r>
            <a:r>
              <a:rPr lang="en-US" dirty="0" err="1" smtClean="0">
                <a:solidFill>
                  <a:srgbClr val="FF0000"/>
                </a:solidFill>
              </a:rPr>
              <a:t>pratices</a:t>
            </a:r>
            <a:r>
              <a:rPr lang="en-US" dirty="0" smtClean="0">
                <a:solidFill>
                  <a:srgbClr val="FF0000"/>
                </a:solidFill>
              </a:rPr>
              <a:t> for </a:t>
            </a:r>
            <a:r>
              <a:rPr lang="en-US" dirty="0" err="1" smtClean="0">
                <a:solidFill>
                  <a:srgbClr val="FF0000"/>
                </a:solidFill>
              </a:rPr>
              <a:t>DDoS</a:t>
            </a:r>
            <a:r>
              <a:rPr lang="en-US" dirty="0" smtClean="0">
                <a:solidFill>
                  <a:srgbClr val="FF0000"/>
                </a:solidFill>
              </a:rPr>
              <a:t> mitigation</a:t>
            </a:r>
            <a:endParaRPr lang="en-US" dirty="0">
              <a:solidFill>
                <a:srgbClr val="FF0000"/>
              </a:solidFill>
            </a:endParaRPr>
          </a:p>
        </p:txBody>
      </p:sp>
      <p:sp>
        <p:nvSpPr>
          <p:cNvPr id="3" name="Content Placeholder 2"/>
          <p:cNvSpPr>
            <a:spLocks noGrp="1"/>
          </p:cNvSpPr>
          <p:nvPr>
            <p:ph idx="1"/>
          </p:nvPr>
        </p:nvSpPr>
        <p:spPr>
          <a:xfrm>
            <a:off x="76200" y="1524000"/>
            <a:ext cx="8839200" cy="5211763"/>
          </a:xfrm>
        </p:spPr>
        <p:txBody>
          <a:bodyPr>
            <a:normAutofit/>
          </a:bodyPr>
          <a:lstStyle/>
          <a:p>
            <a:r>
              <a:rPr lang="en-US" dirty="0" smtClean="0"/>
              <a:t>Infrastructure layer defense(BP1, BP3, BP6)</a:t>
            </a:r>
          </a:p>
          <a:p>
            <a:pPr lvl="1"/>
            <a:r>
              <a:rPr lang="en-US" dirty="0" smtClean="0"/>
              <a:t>Protect Amazon EC2 against high traffic</a:t>
            </a:r>
          </a:p>
          <a:p>
            <a:pPr lvl="1"/>
            <a:r>
              <a:rPr lang="en-US" dirty="0" smtClean="0"/>
              <a:t>That includes using Global Accelerator, Route 53, </a:t>
            </a:r>
            <a:r>
              <a:rPr lang="en-US" dirty="0" err="1" smtClean="0"/>
              <a:t>CloudFront</a:t>
            </a:r>
            <a:r>
              <a:rPr lang="en-US" dirty="0" smtClean="0"/>
              <a:t>, Elastic Load Balancing</a:t>
            </a:r>
          </a:p>
          <a:p>
            <a:r>
              <a:rPr lang="en-US" dirty="0" smtClean="0"/>
              <a:t>Amazon EC2 with Auto Scaling (BP7)</a:t>
            </a:r>
          </a:p>
          <a:p>
            <a:pPr lvl="1"/>
            <a:r>
              <a:rPr lang="en-US" dirty="0" smtClean="0"/>
              <a:t>Helps scale in case of sudden traffic surges including a flash crowd or a </a:t>
            </a:r>
            <a:r>
              <a:rPr lang="en-US" dirty="0" err="1" smtClean="0"/>
              <a:t>DDoS</a:t>
            </a:r>
            <a:r>
              <a:rPr lang="en-US" dirty="0" smtClean="0"/>
              <a:t> attack</a:t>
            </a:r>
          </a:p>
          <a:p>
            <a:r>
              <a:rPr lang="en-US" dirty="0" smtClean="0"/>
              <a:t>Elastic Load Balancing (BP6)</a:t>
            </a:r>
          </a:p>
          <a:p>
            <a:pPr lvl="1"/>
            <a:r>
              <a:rPr lang="en-US" dirty="0" smtClean="0"/>
              <a:t>Elastic Load Balancing scales with the traffic increases and will distribute the traffic to many EC2 instances</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ChangeAspect="1" noChangeArrowheads="1"/>
          </p:cNvPicPr>
          <p:nvPr/>
        </p:nvPicPr>
        <p:blipFill>
          <a:blip r:embed="rId2"/>
          <a:srcRect/>
          <a:stretch>
            <a:fillRect/>
          </a:stretch>
        </p:blipFill>
        <p:spPr bwMode="auto">
          <a:xfrm>
            <a:off x="76200" y="2133600"/>
            <a:ext cx="8972876" cy="3952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Best Practices for </a:t>
            </a:r>
            <a:r>
              <a:rPr lang="en-US" dirty="0" err="1" smtClean="0">
                <a:solidFill>
                  <a:srgbClr val="FF0000"/>
                </a:solidFill>
              </a:rPr>
              <a:t>DDoS</a:t>
            </a:r>
            <a:r>
              <a:rPr lang="en-US" dirty="0" smtClean="0">
                <a:solidFill>
                  <a:srgbClr val="FF0000"/>
                </a:solidFill>
              </a:rPr>
              <a:t> Resiliency</a:t>
            </a:r>
            <a:br>
              <a:rPr lang="en-US" dirty="0" smtClean="0">
                <a:solidFill>
                  <a:srgbClr val="FF0000"/>
                </a:solidFill>
              </a:rPr>
            </a:br>
            <a:r>
              <a:rPr lang="en-US" dirty="0" smtClean="0">
                <a:solidFill>
                  <a:srgbClr val="FF0000"/>
                </a:solidFill>
              </a:rPr>
              <a:t>Application Layer Defense</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dirty="0" smtClean="0"/>
              <a:t>Detect and filter malicious web requests (BP1, BP2)</a:t>
            </a:r>
          </a:p>
          <a:p>
            <a:pPr lvl="1"/>
            <a:r>
              <a:rPr lang="en-US" dirty="0" err="1" smtClean="0"/>
              <a:t>CloudFront</a:t>
            </a:r>
            <a:r>
              <a:rPr lang="en-US" dirty="0" smtClean="0"/>
              <a:t> cache static content and serve it from edge locations, protecting your backend</a:t>
            </a:r>
          </a:p>
          <a:p>
            <a:pPr lvl="1"/>
            <a:r>
              <a:rPr lang="en-US" dirty="0" smtClean="0"/>
              <a:t>AWS WAF is used on top of </a:t>
            </a:r>
            <a:r>
              <a:rPr lang="en-US" dirty="0" err="1" smtClean="0"/>
              <a:t>CloudFront</a:t>
            </a:r>
            <a:r>
              <a:rPr lang="en-US" dirty="0" smtClean="0"/>
              <a:t> and Application Load Balancer to filter and block requests based on request signatures</a:t>
            </a:r>
          </a:p>
          <a:p>
            <a:pPr lvl="1"/>
            <a:r>
              <a:rPr lang="en-US" dirty="0" smtClean="0"/>
              <a:t>WAF rate-based rules can automatically block the IPs of bad actors</a:t>
            </a:r>
          </a:p>
          <a:p>
            <a:pPr lvl="1"/>
            <a:r>
              <a:rPr lang="en-US" dirty="0" smtClean="0"/>
              <a:t>Use managed rules on WAF to block attacks based on IP reputation, or block anonymous </a:t>
            </a:r>
            <a:r>
              <a:rPr lang="en-US" dirty="0" err="1" smtClean="0"/>
              <a:t>Ips</a:t>
            </a:r>
            <a:endParaRPr lang="en-US" dirty="0" smtClean="0"/>
          </a:p>
          <a:p>
            <a:pPr lvl="1"/>
            <a:r>
              <a:rPr lang="en-US" dirty="0" err="1" smtClean="0"/>
              <a:t>CloudFront</a:t>
            </a:r>
            <a:r>
              <a:rPr lang="en-US" dirty="0" smtClean="0"/>
              <a:t> can block specific geographies</a:t>
            </a:r>
          </a:p>
          <a:p>
            <a:r>
              <a:rPr lang="en-US" dirty="0" smtClean="0"/>
              <a:t>Shield Advanced (BP1, BP2, BP6)</a:t>
            </a:r>
          </a:p>
          <a:p>
            <a:r>
              <a:rPr lang="en-US" dirty="0" smtClean="0"/>
              <a:t>Shield Advanced automatic application layer </a:t>
            </a:r>
            <a:r>
              <a:rPr lang="en-US" dirty="0" err="1" smtClean="0"/>
              <a:t>DDoS</a:t>
            </a:r>
            <a:r>
              <a:rPr lang="en-US" dirty="0" smtClean="0"/>
              <a:t> mitigation automatically creates, evaluates and deploys AWS WAF rules to mitigate layer 7 attacks</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1466850"/>
            <a:ext cx="9258300" cy="3924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AWS Best Practices for </a:t>
            </a:r>
            <a:r>
              <a:rPr lang="en-US" dirty="0" err="1" smtClean="0">
                <a:solidFill>
                  <a:srgbClr val="FF0000"/>
                </a:solidFill>
              </a:rPr>
              <a:t>DDoS</a:t>
            </a:r>
            <a:r>
              <a:rPr lang="en-US" dirty="0" smtClean="0">
                <a:solidFill>
                  <a:srgbClr val="FF0000"/>
                </a:solidFill>
              </a:rPr>
              <a:t> Resiliency</a:t>
            </a:r>
            <a:br>
              <a:rPr lang="en-US" dirty="0" smtClean="0">
                <a:solidFill>
                  <a:srgbClr val="FF0000"/>
                </a:solidFill>
              </a:rPr>
            </a:br>
            <a:r>
              <a:rPr lang="en-US" dirty="0" smtClean="0">
                <a:solidFill>
                  <a:srgbClr val="FF0000"/>
                </a:solidFill>
              </a:rPr>
              <a:t>Attack surface reduction</a:t>
            </a:r>
            <a:endParaRPr lang="en-US" dirty="0">
              <a:solidFill>
                <a:srgbClr val="FF0000"/>
              </a:solidFill>
            </a:endParaRPr>
          </a:p>
        </p:txBody>
      </p:sp>
      <p:sp>
        <p:nvSpPr>
          <p:cNvPr id="3" name="Content Placeholder 2"/>
          <p:cNvSpPr>
            <a:spLocks noGrp="1"/>
          </p:cNvSpPr>
          <p:nvPr>
            <p:ph idx="1"/>
          </p:nvPr>
        </p:nvSpPr>
        <p:spPr>
          <a:xfrm>
            <a:off x="457200" y="1600200"/>
            <a:ext cx="8458200" cy="5029200"/>
          </a:xfrm>
        </p:spPr>
        <p:txBody>
          <a:bodyPr>
            <a:normAutofit fontScale="85000" lnSpcReduction="20000"/>
          </a:bodyPr>
          <a:lstStyle/>
          <a:p>
            <a:r>
              <a:rPr lang="en-US" dirty="0" smtClean="0"/>
              <a:t>Obfuscating AWS resources (BP1, BP4, BP6)</a:t>
            </a:r>
          </a:p>
          <a:p>
            <a:pPr lvl="1"/>
            <a:r>
              <a:rPr lang="en-US" dirty="0" smtClean="0"/>
              <a:t>Using </a:t>
            </a:r>
            <a:r>
              <a:rPr lang="en-US" dirty="0" err="1" smtClean="0"/>
              <a:t>CloudFront</a:t>
            </a:r>
            <a:r>
              <a:rPr lang="en-US" dirty="0" smtClean="0"/>
              <a:t>, API Gateway, Elastic Load Balancing to hide your backend resources (Lambda functions, EC2 instances)</a:t>
            </a:r>
          </a:p>
          <a:p>
            <a:r>
              <a:rPr lang="en-US" dirty="0" smtClean="0"/>
              <a:t>Security groups and Network ACLs (BP5)</a:t>
            </a:r>
          </a:p>
          <a:p>
            <a:pPr lvl="1"/>
            <a:r>
              <a:rPr lang="en-US" dirty="0" smtClean="0"/>
              <a:t>Use security groups and NACLs to filter traffic based on specific IP at the subnet or ENI-level</a:t>
            </a:r>
          </a:p>
          <a:p>
            <a:pPr lvl="1"/>
            <a:r>
              <a:rPr lang="en-US" dirty="0" smtClean="0"/>
              <a:t>Elastic IP are protected by AWS Shield Advanced</a:t>
            </a:r>
          </a:p>
          <a:p>
            <a:r>
              <a:rPr lang="en-US" dirty="0" smtClean="0"/>
              <a:t>Protecting API endpoints (BP4)</a:t>
            </a:r>
          </a:p>
          <a:p>
            <a:pPr lvl="1"/>
            <a:r>
              <a:rPr lang="en-US" dirty="0" smtClean="0"/>
              <a:t>Hide EC2, Lambda, elsewhere</a:t>
            </a:r>
          </a:p>
          <a:p>
            <a:pPr lvl="1"/>
            <a:r>
              <a:rPr lang="en-US" dirty="0" smtClean="0"/>
              <a:t>Edge-optimized mode, or </a:t>
            </a:r>
            <a:r>
              <a:rPr lang="en-US" dirty="0" err="1" smtClean="0"/>
              <a:t>CloudFront</a:t>
            </a:r>
            <a:r>
              <a:rPr lang="en-US" dirty="0" smtClean="0"/>
              <a:t>+ regional mode (more control for </a:t>
            </a:r>
            <a:r>
              <a:rPr lang="en-US" dirty="0" err="1" smtClean="0"/>
              <a:t>DDoS</a:t>
            </a:r>
            <a:r>
              <a:rPr lang="en-US" dirty="0" smtClean="0"/>
              <a:t>)</a:t>
            </a:r>
          </a:p>
          <a:p>
            <a:pPr lvl="1"/>
            <a:r>
              <a:rPr lang="en-US" dirty="0" smtClean="0"/>
              <a:t>WAF + API Gateway: burst limits, headers filtering, use API keys</a:t>
            </a:r>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TotalTime>
  <Words>3596</Words>
  <Application>Microsoft Office PowerPoint</Application>
  <PresentationFormat>On-screen Show (4:3)</PresentationFormat>
  <Paragraphs>434</Paragraphs>
  <Slides>50</Slides>
  <Notes>14</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AWS</vt:lpstr>
      <vt:lpstr>Details</vt:lpstr>
      <vt:lpstr>AWS Security</vt:lpstr>
      <vt:lpstr>Server side (at rest)</vt:lpstr>
      <vt:lpstr>Client Side</vt:lpstr>
      <vt:lpstr>AWS shared responsibility model</vt:lpstr>
      <vt:lpstr>AWS responsibility: Security of the cloud</vt:lpstr>
      <vt:lpstr>Customer responsibility: Security in the cloud</vt:lpstr>
      <vt:lpstr>Service characteristics and security responsibility (1 of 2)</vt:lpstr>
      <vt:lpstr>Service characteristics and security responsibility (2 of 2)</vt:lpstr>
      <vt:lpstr>AWS account root user access versus IAM access</vt:lpstr>
      <vt:lpstr>Securing a new AWS account: Account root user</vt:lpstr>
      <vt:lpstr>Securing a new AWS account: MFA</vt:lpstr>
      <vt:lpstr>Securing a new AWS account: AWS CloudTrail</vt:lpstr>
      <vt:lpstr>Securing a new AWS account: Billing reports</vt:lpstr>
      <vt:lpstr>Activity: Scenario 1 of 2</vt:lpstr>
      <vt:lpstr>Activity: Scenario 1 of 2 Answers</vt:lpstr>
      <vt:lpstr>Activity: Scenario 2 of 2</vt:lpstr>
      <vt:lpstr>Activity: Scenario 2 of 2 Answers</vt:lpstr>
      <vt:lpstr>Overview of Compliance in AWS</vt:lpstr>
      <vt:lpstr>Strong Compliance Governance</vt:lpstr>
      <vt:lpstr>AWS KMS</vt:lpstr>
      <vt:lpstr>KMS Keys Types</vt:lpstr>
      <vt:lpstr>KMS</vt:lpstr>
      <vt:lpstr>Copying snapshots across regions</vt:lpstr>
      <vt:lpstr>KMS key policies</vt:lpstr>
      <vt:lpstr>Copy snapshots across accounts</vt:lpstr>
      <vt:lpstr>KMS Multi-Region Keys</vt:lpstr>
      <vt:lpstr>Multi-region keys</vt:lpstr>
      <vt:lpstr>DynamoDB Global Tables and KMS Multi- Region Keys Client-Side encryption</vt:lpstr>
      <vt:lpstr>Slide 31</vt:lpstr>
      <vt:lpstr>Global Aurora and KMS Multi-Region Keys Client-Side encryption</vt:lpstr>
      <vt:lpstr>Slide 33</vt:lpstr>
      <vt:lpstr>S3 replication encryption</vt:lpstr>
      <vt:lpstr>AMI Sharing Process Encrypted via KMS</vt:lpstr>
      <vt:lpstr>SSM Parameter Store</vt:lpstr>
      <vt:lpstr>Parameter tiers</vt:lpstr>
      <vt:lpstr>Parameters Policies (for advanced parameters)</vt:lpstr>
      <vt:lpstr>AWS WAF – Web Application Firewall</vt:lpstr>
      <vt:lpstr>WAF – Fixed IP while using WAF with a Load Balancer</vt:lpstr>
      <vt:lpstr>AWS Shield: protect from DDoS attack</vt:lpstr>
      <vt:lpstr>AWS Firewall Manager</vt:lpstr>
      <vt:lpstr>Comparisons</vt:lpstr>
      <vt:lpstr>AWS Best Practices for DDoS Resiliency Edge Location Mitigation (BP1, BP3)</vt:lpstr>
      <vt:lpstr>Slide 45</vt:lpstr>
      <vt:lpstr>AWS Best Practices for DDoS Resiliency Best pratices for DDoS mitigation</vt:lpstr>
      <vt:lpstr>Slide 47</vt:lpstr>
      <vt:lpstr>AWS Best Practices for DDoS Resiliency Application Layer Defense</vt:lpstr>
      <vt:lpstr>Slide 49</vt:lpstr>
      <vt:lpstr>AWS Best Practices for DDoS Resiliency Attack surface reduction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Adrija Bhattacharya</dc:creator>
  <cp:lastModifiedBy>Adrija Bhattacharya</cp:lastModifiedBy>
  <cp:revision>51</cp:revision>
  <dcterms:created xsi:type="dcterms:W3CDTF">2024-09-02T05:25:22Z</dcterms:created>
  <dcterms:modified xsi:type="dcterms:W3CDTF">2025-03-30T10:54:54Z</dcterms:modified>
</cp:coreProperties>
</file>