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5" r:id="rId14"/>
    <p:sldId id="276" r:id="rId15"/>
    <p:sldId id="268" r:id="rId16"/>
    <p:sldId id="269" r:id="rId17"/>
    <p:sldId id="270" r:id="rId18"/>
    <p:sldId id="271" r:id="rId19"/>
    <p:sldId id="272" r:id="rId20"/>
    <p:sldId id="273" r:id="rId21"/>
    <p:sldId id="274" r:id="rId22"/>
    <p:sldId id="277" r:id="rId23"/>
    <p:sldId id="278" r:id="rId24"/>
    <p:sldId id="279" r:id="rId25"/>
    <p:sldId id="281" r:id="rId26"/>
    <p:sldId id="282" r:id="rId27"/>
    <p:sldId id="283" r:id="rId28"/>
    <p:sldId id="284" r:id="rId29"/>
    <p:sldId id="290" r:id="rId30"/>
    <p:sldId id="288" r:id="rId31"/>
    <p:sldId id="289" r:id="rId32"/>
    <p:sldId id="285" r:id="rId33"/>
    <p:sldId id="286" r:id="rId34"/>
    <p:sldId id="287" r:id="rId35"/>
    <p:sldId id="291" r:id="rId36"/>
    <p:sldId id="292" r:id="rId37"/>
    <p:sldId id="293" r:id="rId38"/>
    <p:sldId id="294" r:id="rId39"/>
    <p:sldId id="295" r:id="rId40"/>
    <p:sldId id="296" r:id="rId41"/>
    <p:sldId id="325" r:id="rId42"/>
    <p:sldId id="297" r:id="rId43"/>
    <p:sldId id="298" r:id="rId44"/>
    <p:sldId id="309" r:id="rId45"/>
    <p:sldId id="299" r:id="rId46"/>
    <p:sldId id="301" r:id="rId47"/>
    <p:sldId id="310" r:id="rId48"/>
    <p:sldId id="311" r:id="rId49"/>
    <p:sldId id="312" r:id="rId50"/>
    <p:sldId id="313" r:id="rId51"/>
    <p:sldId id="314" r:id="rId52"/>
    <p:sldId id="315" r:id="rId53"/>
    <p:sldId id="300" r:id="rId54"/>
    <p:sldId id="316" r:id="rId55"/>
    <p:sldId id="317" r:id="rId56"/>
    <p:sldId id="302" r:id="rId57"/>
    <p:sldId id="318" r:id="rId58"/>
    <p:sldId id="319" r:id="rId59"/>
    <p:sldId id="320" r:id="rId60"/>
    <p:sldId id="321" r:id="rId61"/>
    <p:sldId id="322" r:id="rId62"/>
    <p:sldId id="323" r:id="rId63"/>
    <p:sldId id="324" r:id="rId64"/>
    <p:sldId id="303" r:id="rId65"/>
    <p:sldId id="304" r:id="rId66"/>
    <p:sldId id="305" r:id="rId67"/>
    <p:sldId id="306" r:id="rId68"/>
    <p:sldId id="307" r:id="rId69"/>
    <p:sldId id="308"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C6747-17F7-46FC-A62B-F5C63B38D66F}" v="1" dt="2025-09-09T03:37:17.5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ja bhattacharya" userId="724ec4db8bc51beb" providerId="LiveId" clId="{10159404-DE1B-4E92-BD9B-8AE638DDD844}"/>
    <pc:docChg chg="custSel addSld modSld">
      <pc:chgData name="adrija bhattacharya" userId="724ec4db8bc51beb" providerId="LiveId" clId="{10159404-DE1B-4E92-BD9B-8AE638DDD844}" dt="2025-09-09T03:37:54.847" v="101" actId="20577"/>
      <pc:docMkLst>
        <pc:docMk/>
      </pc:docMkLst>
      <pc:sldChg chg="modSp mod">
        <pc:chgData name="adrija bhattacharya" userId="724ec4db8bc51beb" providerId="LiveId" clId="{10159404-DE1B-4E92-BD9B-8AE638DDD844}" dt="2025-09-09T03:37:17.746" v="4" actId="27636"/>
        <pc:sldMkLst>
          <pc:docMk/>
          <pc:sldMk cId="0" sldId="259"/>
        </pc:sldMkLst>
        <pc:spChg chg="mod">
          <ac:chgData name="adrija bhattacharya" userId="724ec4db8bc51beb" providerId="LiveId" clId="{10159404-DE1B-4E92-BD9B-8AE638DDD844}" dt="2025-09-09T03:37:17.746" v="4" actId="27636"/>
          <ac:spMkLst>
            <pc:docMk/>
            <pc:sldMk cId="0" sldId="259"/>
            <ac:spMk id="3" creationId="{00000000-0000-0000-0000-000000000000}"/>
          </ac:spMkLst>
        </pc:spChg>
      </pc:sldChg>
      <pc:sldChg chg="modSp mod">
        <pc:chgData name="adrija bhattacharya" userId="724ec4db8bc51beb" providerId="LiveId" clId="{10159404-DE1B-4E92-BD9B-8AE638DDD844}" dt="2025-09-09T03:37:17.767" v="5" actId="27636"/>
        <pc:sldMkLst>
          <pc:docMk/>
          <pc:sldMk cId="0" sldId="270"/>
        </pc:sldMkLst>
        <pc:spChg chg="mod">
          <ac:chgData name="adrija bhattacharya" userId="724ec4db8bc51beb" providerId="LiveId" clId="{10159404-DE1B-4E92-BD9B-8AE638DDD844}" dt="2025-09-09T03:37:17.767" v="5" actId="27636"/>
          <ac:spMkLst>
            <pc:docMk/>
            <pc:sldMk cId="0" sldId="270"/>
            <ac:spMk id="3" creationId="{00000000-0000-0000-0000-000000000000}"/>
          </ac:spMkLst>
        </pc:spChg>
      </pc:sldChg>
      <pc:sldChg chg="modSp mod">
        <pc:chgData name="adrija bhattacharya" userId="724ec4db8bc51beb" providerId="LiveId" clId="{10159404-DE1B-4E92-BD9B-8AE638DDD844}" dt="2025-09-09T03:37:17.694" v="3" actId="27636"/>
        <pc:sldMkLst>
          <pc:docMk/>
          <pc:sldMk cId="0" sldId="314"/>
        </pc:sldMkLst>
        <pc:spChg chg="mod">
          <ac:chgData name="adrija bhattacharya" userId="724ec4db8bc51beb" providerId="LiveId" clId="{10159404-DE1B-4E92-BD9B-8AE638DDD844}" dt="2025-09-09T03:37:17.694" v="3" actId="27636"/>
          <ac:spMkLst>
            <pc:docMk/>
            <pc:sldMk cId="0" sldId="314"/>
            <ac:spMk id="3" creationId="{00000000-0000-0000-0000-000000000000}"/>
          </ac:spMkLst>
        </pc:spChg>
      </pc:sldChg>
      <pc:sldChg chg="modSp new mod">
        <pc:chgData name="adrija bhattacharya" userId="724ec4db8bc51beb" providerId="LiveId" clId="{10159404-DE1B-4E92-BD9B-8AE638DDD844}" dt="2025-09-09T03:37:54.847" v="101" actId="20577"/>
        <pc:sldMkLst>
          <pc:docMk/>
          <pc:sldMk cId="1990082599" sldId="325"/>
        </pc:sldMkLst>
        <pc:spChg chg="mod">
          <ac:chgData name="adrija bhattacharya" userId="724ec4db8bc51beb" providerId="LiveId" clId="{10159404-DE1B-4E92-BD9B-8AE638DDD844}" dt="2025-09-09T03:37:54.847" v="101" actId="20577"/>
          <ac:spMkLst>
            <pc:docMk/>
            <pc:sldMk cId="1990082599" sldId="325"/>
            <ac:spMk id="3" creationId="{3EF354D7-AD3D-F257-C4BF-F02B8DDF423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2D22910-D91E-430D-B0D5-3F021D62A7CE}"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D22910-D91E-430D-B0D5-3F021D62A7CE}"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D22910-D91E-430D-B0D5-3F021D62A7CE}"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D22910-D91E-430D-B0D5-3F021D62A7CE}"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D22910-D91E-430D-B0D5-3F021D62A7CE}" type="datetimeFigureOut">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22910-D91E-430D-B0D5-3F021D62A7CE}" type="datetimeFigureOut">
              <a:rPr lang="en-US" smtClean="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D22910-D91E-430D-B0D5-3F021D62A7CE}"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D22910-D91E-430D-B0D5-3F021D62A7CE}"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7AA780-50D9-476A-81C5-9B35B33CD80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22910-D91E-430D-B0D5-3F021D62A7CE}" type="datetimeFigureOut">
              <a:rPr lang="en-US" smtClean="0"/>
              <a:pPr/>
              <a:t>9/9/2025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7AA780-50D9-476A-81C5-9B35B33CD80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4.svg"/><Relationship Id="rId7" Type="http://schemas.openxmlformats.org/officeDocument/2006/relationships/image" Target="../media/image17.svg"/><Relationship Id="rId12" Type="http://schemas.openxmlformats.org/officeDocument/2006/relationships/image" Target="../media/image22.png"/><Relationship Id="rId17" Type="http://schemas.openxmlformats.org/officeDocument/2006/relationships/image" Target="../media/image8.svg"/><Relationship Id="rId2" Type="http://schemas.openxmlformats.org/officeDocument/2006/relationships/image" Target="../media/image3.png"/><Relationship Id="rId16"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5" Type="http://schemas.openxmlformats.org/officeDocument/2006/relationships/image" Target="../media/image2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3.svg"/><Relationship Id="rId3" Type="http://schemas.openxmlformats.org/officeDocument/2006/relationships/image" Target="../media/image19.svg"/><Relationship Id="rId7" Type="http://schemas.openxmlformats.org/officeDocument/2006/relationships/image" Target="../media/image27.svg"/><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1.svg"/><Relationship Id="rId5" Type="http://schemas.openxmlformats.org/officeDocument/2006/relationships/image" Target="../media/image17.svg"/><Relationship Id="rId15" Type="http://schemas.openxmlformats.org/officeDocument/2006/relationships/image" Target="../media/image25.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8.svg"/><Relationship Id="rId1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3.svg"/><Relationship Id="rId3" Type="http://schemas.openxmlformats.org/officeDocument/2006/relationships/image" Target="../media/image19.svg"/><Relationship Id="rId7" Type="http://schemas.openxmlformats.org/officeDocument/2006/relationships/image" Target="../media/image27.svg"/><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1.svg"/><Relationship Id="rId5" Type="http://schemas.openxmlformats.org/officeDocument/2006/relationships/image" Target="../media/image17.svg"/><Relationship Id="rId15" Type="http://schemas.openxmlformats.org/officeDocument/2006/relationships/image" Target="../media/image25.svg"/><Relationship Id="rId10" Type="http://schemas.openxmlformats.org/officeDocument/2006/relationships/image" Target="../media/image20.png"/><Relationship Id="rId4" Type="http://schemas.openxmlformats.org/officeDocument/2006/relationships/image" Target="../media/image16.png"/><Relationship Id="rId9" Type="http://schemas.openxmlformats.org/officeDocument/2006/relationships/image" Target="../media/image8.svg"/><Relationship Id="rId1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3" Type="http://schemas.openxmlformats.org/officeDocument/2006/relationships/image" Target="../media/image19.svg"/><Relationship Id="rId7" Type="http://schemas.openxmlformats.org/officeDocument/2006/relationships/image" Target="../media/image8.svg"/><Relationship Id="rId12"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3.svg"/><Relationship Id="rId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image" Target="../media/image26.png"/><Relationship Id="rId9" Type="http://schemas.openxmlformats.org/officeDocument/2006/relationships/image" Target="../media/image21.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8.svg"/><Relationship Id="rId5" Type="http://schemas.openxmlformats.org/officeDocument/2006/relationships/image" Target="../media/image58.svg"/><Relationship Id="rId10" Type="http://schemas.openxmlformats.org/officeDocument/2006/relationships/image" Target="../media/image7.png"/><Relationship Id="rId4" Type="http://schemas.openxmlformats.org/officeDocument/2006/relationships/image" Target="../media/image57.png"/><Relationship Id="rId9" Type="http://schemas.openxmlformats.org/officeDocument/2006/relationships/image" Target="../media/image62.sv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4.svg"/><Relationship Id="rId7" Type="http://schemas.openxmlformats.org/officeDocument/2006/relationships/image" Target="../media/image56.sv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27.svg"/><Relationship Id="rId5" Type="http://schemas.openxmlformats.org/officeDocument/2006/relationships/image" Target="../media/image66.svg"/><Relationship Id="rId10" Type="http://schemas.openxmlformats.org/officeDocument/2006/relationships/image" Target="../media/image26.png"/><Relationship Id="rId4" Type="http://schemas.openxmlformats.org/officeDocument/2006/relationships/image" Target="../media/image65.png"/><Relationship Id="rId9" Type="http://schemas.openxmlformats.org/officeDocument/2006/relationships/image" Target="../media/image68.sv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svg"/><Relationship Id="rId18" Type="http://schemas.openxmlformats.org/officeDocument/2006/relationships/image" Target="../media/image26.png"/><Relationship Id="rId3" Type="http://schemas.openxmlformats.org/officeDocument/2006/relationships/image" Target="../media/image70.svg"/><Relationship Id="rId21" Type="http://schemas.openxmlformats.org/officeDocument/2006/relationships/image" Target="../media/image8.svg"/><Relationship Id="rId7" Type="http://schemas.openxmlformats.org/officeDocument/2006/relationships/image" Target="../media/image74.svg"/><Relationship Id="rId12" Type="http://schemas.openxmlformats.org/officeDocument/2006/relationships/image" Target="../media/image79.png"/><Relationship Id="rId17" Type="http://schemas.openxmlformats.org/officeDocument/2006/relationships/image" Target="../media/image82.svg"/><Relationship Id="rId2" Type="http://schemas.openxmlformats.org/officeDocument/2006/relationships/image" Target="../media/image69.png"/><Relationship Id="rId16" Type="http://schemas.openxmlformats.org/officeDocument/2006/relationships/image" Target="../media/image81.png"/><Relationship Id="rId20"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5" Type="http://schemas.openxmlformats.org/officeDocument/2006/relationships/image" Target="../media/image19.svg"/><Relationship Id="rId10" Type="http://schemas.openxmlformats.org/officeDocument/2006/relationships/image" Target="../media/image77.png"/><Relationship Id="rId19" Type="http://schemas.openxmlformats.org/officeDocument/2006/relationships/image" Target="../media/image27.sv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AWS</a:t>
            </a:r>
          </a:p>
        </p:txBody>
      </p:sp>
      <p:sp>
        <p:nvSpPr>
          <p:cNvPr id="3" name="Subtitle 2"/>
          <p:cNvSpPr>
            <a:spLocks noGrp="1"/>
          </p:cNvSpPr>
          <p:nvPr>
            <p:ph type="subTitle" idx="1"/>
          </p:nvPr>
        </p:nvSpPr>
        <p:spPr/>
        <p:txBody>
          <a:bodyPr/>
          <a:lstStyle/>
          <a:p>
            <a:r>
              <a:rPr lang="en-US" dirty="0"/>
              <a:t>Module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Details</a:t>
            </a:r>
          </a:p>
        </p:txBody>
      </p:sp>
      <p:sp>
        <p:nvSpPr>
          <p:cNvPr id="3" name="Content Placeholder 2"/>
          <p:cNvSpPr>
            <a:spLocks noGrp="1"/>
          </p:cNvSpPr>
          <p:nvPr>
            <p:ph idx="1"/>
          </p:nvPr>
        </p:nvSpPr>
        <p:spPr/>
        <p:txBody>
          <a:bodyPr/>
          <a:lstStyle/>
          <a:p>
            <a:r>
              <a:rPr lang="en-US" dirty="0"/>
              <a:t>AWS Database </a:t>
            </a:r>
            <a:r>
              <a:rPr lang="en-US" dirty="0" err="1"/>
              <a:t>ServiceS</a:t>
            </a:r>
            <a:r>
              <a:rPr lang="en-US" dirty="0"/>
              <a:t>, Amazon RDS (Relational Database Service), RDS Multi-AZ Deployments, RDS Read Replicas, </a:t>
            </a:r>
          </a:p>
          <a:p>
            <a:r>
              <a:rPr lang="en-US" dirty="0"/>
              <a:t>Amazon Aurora, </a:t>
            </a:r>
          </a:p>
          <a:p>
            <a:r>
              <a:rPr lang="en-US" dirty="0"/>
              <a:t>Amazon </a:t>
            </a:r>
            <a:r>
              <a:rPr lang="en-US" dirty="0" err="1"/>
              <a:t>DynamoDB</a:t>
            </a:r>
            <a:r>
              <a:rPr lang="en-US" dirty="0"/>
              <a:t>, </a:t>
            </a:r>
            <a:r>
              <a:rPr lang="en-US" dirty="0" err="1"/>
              <a:t>DynamoDB</a:t>
            </a:r>
            <a:r>
              <a:rPr lang="en-US" dirty="0"/>
              <a:t> Streams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AWS Database Services</a:t>
            </a:r>
          </a:p>
        </p:txBody>
      </p:sp>
      <p:sp>
        <p:nvSpPr>
          <p:cNvPr id="3" name="Content Placeholder 2"/>
          <p:cNvSpPr>
            <a:spLocks noGrp="1"/>
          </p:cNvSpPr>
          <p:nvPr>
            <p:ph idx="1"/>
          </p:nvPr>
        </p:nvSpPr>
        <p:spPr/>
        <p:txBody>
          <a:bodyPr>
            <a:normAutofit fontScale="70000" lnSpcReduction="20000"/>
          </a:bodyPr>
          <a:lstStyle/>
          <a:p>
            <a:r>
              <a:rPr lang="en-US" dirty="0"/>
              <a:t>Amazon </a:t>
            </a:r>
            <a:r>
              <a:rPr lang="en-US" dirty="0" err="1"/>
              <a:t>DynamoDB</a:t>
            </a:r>
            <a:endParaRPr lang="en-US" dirty="0"/>
          </a:p>
          <a:p>
            <a:endParaRPr lang="en-US" dirty="0"/>
          </a:p>
          <a:p>
            <a:r>
              <a:rPr lang="en-US" dirty="0"/>
              <a:t>Amazon Aurora</a:t>
            </a:r>
          </a:p>
          <a:p>
            <a:endParaRPr lang="en-US" dirty="0"/>
          </a:p>
          <a:p>
            <a:r>
              <a:rPr lang="en-US" dirty="0"/>
              <a:t>Amazon Relational Database Service</a:t>
            </a:r>
          </a:p>
          <a:p>
            <a:endParaRPr lang="en-US" dirty="0"/>
          </a:p>
          <a:p>
            <a:r>
              <a:rPr lang="en-US" dirty="0"/>
              <a:t>Amazon </a:t>
            </a:r>
            <a:r>
              <a:rPr lang="en-US" dirty="0" err="1"/>
              <a:t>Timestream</a:t>
            </a:r>
            <a:endParaRPr lang="en-US" dirty="0"/>
          </a:p>
          <a:p>
            <a:endParaRPr lang="en-US" dirty="0"/>
          </a:p>
          <a:p>
            <a:r>
              <a:rPr lang="en-US" dirty="0"/>
              <a:t>Amazon Neptune</a:t>
            </a:r>
          </a:p>
          <a:p>
            <a:endParaRPr lang="en-US" dirty="0"/>
          </a:p>
          <a:p>
            <a:r>
              <a:rPr lang="en-US" dirty="0"/>
              <a:t>Amazon Quantum Ledger Database (QLDB)</a:t>
            </a:r>
          </a:p>
          <a:p>
            <a:endParaRPr lang="en-US" dirty="0"/>
          </a:p>
          <a:p>
            <a:r>
              <a:rPr lang="en-US" dirty="0"/>
              <a:t>Amazon RDS on VMware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RDS</a:t>
            </a:r>
          </a:p>
        </p:txBody>
      </p:sp>
      <p:sp>
        <p:nvSpPr>
          <p:cNvPr id="3" name="Content Placeholder 2"/>
          <p:cNvSpPr>
            <a:spLocks noGrp="1"/>
          </p:cNvSpPr>
          <p:nvPr>
            <p:ph idx="1"/>
          </p:nvPr>
        </p:nvSpPr>
        <p:spPr>
          <a:xfrm>
            <a:off x="457200" y="3505201"/>
            <a:ext cx="8229600" cy="1524000"/>
          </a:xfrm>
        </p:spPr>
        <p:txBody>
          <a:bodyPr>
            <a:norm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Managed service that sets up and operates a relational database in the cloud.</a:t>
            </a:r>
          </a:p>
          <a:p>
            <a:pPr>
              <a:buNone/>
            </a:pPr>
            <a:endParaRPr lang="en-US" dirty="0"/>
          </a:p>
        </p:txBody>
      </p:sp>
      <p:pic>
        <p:nvPicPr>
          <p:cNvPr id="4" name="Graphic 5">
            <a:extLst>
              <a:ext uri="{FF2B5EF4-FFF2-40B4-BE49-F238E27FC236}">
                <a16:creationId xmlns:a16="http://schemas.microsoft.com/office/drawing/2014/main" id="{D56A1A3B-103B-424F-8676-F2D99E72692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81324" y="1143000"/>
            <a:ext cx="1556472" cy="1556472"/>
          </a:xfrm>
          <a:prstGeom prst="rect">
            <a:avLst/>
          </a:prstGeom>
        </p:spPr>
      </p:pic>
      <p:sp>
        <p:nvSpPr>
          <p:cNvPr id="5" name="TextBox 4"/>
          <p:cNvSpPr txBox="1"/>
          <p:nvPr/>
        </p:nvSpPr>
        <p:spPr>
          <a:xfrm>
            <a:off x="2895600" y="2743200"/>
            <a:ext cx="3886200" cy="615553"/>
          </a:xfrm>
          <a:prstGeom prst="rect">
            <a:avLst/>
          </a:prstGeom>
          <a:noFill/>
        </p:spPr>
        <p:txBody>
          <a:bodyPr wrap="square" lIns="0" tIns="0" rIns="0" bIns="0" rtlCol="0" anchor="ctr">
            <a:spAutoFit/>
          </a:bodyPr>
          <a:lstStyle/>
          <a:p>
            <a:pPr algn="ctr"/>
            <a:r>
              <a:rPr lang="en-US" sz="2000" dirty="0">
                <a:ea typeface="Amazon Ember" panose="020B0603020204020204" pitchFamily="34" charset="0"/>
                <a:cs typeface="Amazon Ember" panose="020B0603020204020204" pitchFamily="34" charset="0"/>
              </a:rPr>
              <a:t>Amazon </a:t>
            </a:r>
            <a:r>
              <a:rPr lang="en-US" sz="2000" dirty="0"/>
              <a:t>Relational Database Service (Amazon </a:t>
            </a:r>
            <a:r>
              <a:rPr lang="en-US" sz="2000" dirty="0">
                <a:ea typeface="Amazon Ember" panose="020B0603020204020204" pitchFamily="34" charset="0"/>
                <a:cs typeface="Amazon Ember" panose="020B0603020204020204" pitchFamily="34" charset="0"/>
              </a:rPr>
              <a:t>RDS)</a:t>
            </a:r>
          </a:p>
        </p:txBody>
      </p:sp>
      <p:grpSp>
        <p:nvGrpSpPr>
          <p:cNvPr id="6" name="Group 5" descr="A diagram of users pointing to application servers, pointing to Amazon RDS.">
            <a:extLst>
              <a:ext uri="{FF2B5EF4-FFF2-40B4-BE49-F238E27FC236}">
                <a16:creationId xmlns:a16="http://schemas.microsoft.com/office/drawing/2014/main" id="{BC703AC7-353D-494E-9864-D322C37FFA42}"/>
              </a:ext>
              <a:ext uri="{C183D7F6-B498-43B3-948B-1728B52AA6E4}">
                <adec:decorative xmlns:adec="http://schemas.microsoft.com/office/drawing/2017/decorative" val="0"/>
              </a:ext>
            </a:extLst>
          </p:cNvPr>
          <p:cNvGrpSpPr/>
          <p:nvPr/>
        </p:nvGrpSpPr>
        <p:grpSpPr>
          <a:xfrm>
            <a:off x="304800" y="4995289"/>
            <a:ext cx="8538199" cy="1634111"/>
            <a:chOff x="1559281" y="3197241"/>
            <a:chExt cx="8538199" cy="1634111"/>
          </a:xfrm>
        </p:grpSpPr>
        <p:grpSp>
          <p:nvGrpSpPr>
            <p:cNvPr id="7" name="Group 24">
              <a:extLst>
                <a:ext uri="{FF2B5EF4-FFF2-40B4-BE49-F238E27FC236}">
                  <a16:creationId xmlns:a16="http://schemas.microsoft.com/office/drawing/2014/main" id="{361FA67E-1FA0-450B-979A-6EC309A64BF1}"/>
                </a:ext>
                <a:ext uri="{C183D7F6-B498-43B3-948B-1728B52AA6E4}">
                  <adec:decorative xmlns:adec="http://schemas.microsoft.com/office/drawing/2017/decorative" val="1"/>
                </a:ext>
              </a:extLst>
            </p:cNvPr>
            <p:cNvGrpSpPr/>
            <p:nvPr/>
          </p:nvGrpSpPr>
          <p:grpSpPr>
            <a:xfrm>
              <a:off x="1559281" y="3545117"/>
              <a:ext cx="1072750" cy="910523"/>
              <a:chOff x="1559281" y="3545117"/>
              <a:chExt cx="1072750" cy="910523"/>
            </a:xfrm>
          </p:grpSpPr>
          <p:pic>
            <p:nvPicPr>
              <p:cNvPr id="22" name="Graphic 8">
                <a:extLst>
                  <a:ext uri="{FF2B5EF4-FFF2-40B4-BE49-F238E27FC236}">
                    <a16:creationId xmlns:a16="http://schemas.microsoft.com/office/drawing/2014/main" id="{A949E4D3-A8F9-4417-9F71-F7DFB2DF1FC4}"/>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flipH="1">
                <a:off x="1853863" y="3545117"/>
                <a:ext cx="483586" cy="469900"/>
              </a:xfrm>
              <a:prstGeom prst="rect">
                <a:avLst/>
              </a:prstGeom>
            </p:spPr>
          </p:pic>
          <p:sp>
            <p:nvSpPr>
              <p:cNvPr id="23" name="TextBox 9">
                <a:extLst>
                  <a:ext uri="{FF2B5EF4-FFF2-40B4-BE49-F238E27FC236}">
                    <a16:creationId xmlns:a16="http://schemas.microsoft.com/office/drawing/2014/main" id="{FFCCAACB-2653-409C-8E44-3C33923A720C}"/>
                  </a:ext>
                  <a:ext uri="{C183D7F6-B498-43B3-948B-1728B52AA6E4}">
                    <adec:decorative xmlns:adec="http://schemas.microsoft.com/office/drawing/2017/decorative" val="1"/>
                  </a:ext>
                </a:extLst>
              </p:cNvPr>
              <p:cNvSpPr txBox="1"/>
              <p:nvPr/>
            </p:nvSpPr>
            <p:spPr>
              <a:xfrm>
                <a:off x="1559281" y="4117086"/>
                <a:ext cx="1072750" cy="338554"/>
              </a:xfrm>
              <a:prstGeom prst="rect">
                <a:avLst/>
              </a:prstGeom>
              <a:noFill/>
            </p:spPr>
            <p:txBody>
              <a:bodyPr wrap="square" rtlCol="0">
                <a:spAutoFit/>
              </a:bodyPr>
              <a:lstStyle/>
              <a:p>
                <a:pPr algn="ctr"/>
                <a:r>
                  <a:rPr lang="en-US" sz="1600">
                    <a:solidFill>
                      <a:srgbClr val="232F3E"/>
                    </a:solidFill>
                    <a:latin typeface="+mj-lt"/>
                  </a:rPr>
                  <a:t>Users</a:t>
                </a:r>
              </a:p>
            </p:txBody>
          </p:sp>
        </p:grpSp>
        <p:cxnSp>
          <p:nvCxnSpPr>
            <p:cNvPr id="8" name="Straight Arrow Connector 7">
              <a:extLst>
                <a:ext uri="{FF2B5EF4-FFF2-40B4-BE49-F238E27FC236}">
                  <a16:creationId xmlns:a16="http://schemas.microsoft.com/office/drawing/2014/main" id="{8D05AEC4-4714-470E-B26C-ED6E71A8CA68}"/>
                </a:ext>
                <a:ext uri="{C183D7F6-B498-43B3-948B-1728B52AA6E4}">
                  <adec:decorative xmlns:adec="http://schemas.microsoft.com/office/drawing/2017/decorative" val="1"/>
                </a:ext>
              </a:extLst>
            </p:cNvPr>
            <p:cNvCxnSpPr/>
            <p:nvPr/>
          </p:nvCxnSpPr>
          <p:spPr>
            <a:xfrm>
              <a:off x="2902390"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 name="Group 23">
              <a:extLst>
                <a:ext uri="{FF2B5EF4-FFF2-40B4-BE49-F238E27FC236}">
                  <a16:creationId xmlns:a16="http://schemas.microsoft.com/office/drawing/2014/main" id="{DDCFFB60-E530-4109-8AD3-949FE2DE55E1}"/>
                </a:ext>
                <a:ext uri="{C183D7F6-B498-43B3-948B-1728B52AA6E4}">
                  <adec:decorative xmlns:adec="http://schemas.microsoft.com/office/drawing/2017/decorative" val="1"/>
                </a:ext>
              </a:extLst>
            </p:cNvPr>
            <p:cNvGrpSpPr/>
            <p:nvPr/>
          </p:nvGrpSpPr>
          <p:grpSpPr>
            <a:xfrm>
              <a:off x="4544349" y="3298842"/>
              <a:ext cx="1338909" cy="1470957"/>
              <a:chOff x="4446478" y="3298842"/>
              <a:chExt cx="1338909" cy="1470957"/>
            </a:xfrm>
          </p:grpSpPr>
          <p:grpSp>
            <p:nvGrpSpPr>
              <p:cNvPr id="17" name="Group 6">
                <a:extLst>
                  <a:ext uri="{FF2B5EF4-FFF2-40B4-BE49-F238E27FC236}">
                    <a16:creationId xmlns:a16="http://schemas.microsoft.com/office/drawing/2014/main" id="{05753E9D-B13A-4552-82B4-6044BF6FE8F8}"/>
                  </a:ext>
                  <a:ext uri="{C183D7F6-B498-43B3-948B-1728B52AA6E4}">
                    <adec:decorative xmlns:adec="http://schemas.microsoft.com/office/drawing/2017/decorative" val="1"/>
                  </a:ext>
                </a:extLst>
              </p:cNvPr>
              <p:cNvGrpSpPr/>
              <p:nvPr/>
            </p:nvGrpSpPr>
            <p:grpSpPr>
              <a:xfrm>
                <a:off x="4446478" y="3298842"/>
                <a:ext cx="1338909" cy="774700"/>
                <a:chOff x="4446478" y="3298842"/>
                <a:chExt cx="1338909" cy="774700"/>
              </a:xfrm>
            </p:grpSpPr>
            <p:pic>
              <p:nvPicPr>
                <p:cNvPr id="19" name="Graphic 10">
                  <a:extLst>
                    <a:ext uri="{FF2B5EF4-FFF2-40B4-BE49-F238E27FC236}">
                      <a16:creationId xmlns:a16="http://schemas.microsoft.com/office/drawing/2014/main" id="{CFFB19BB-E201-4B05-91F3-1136D3349BB7}"/>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4446478" y="3298842"/>
                  <a:ext cx="469900" cy="469900"/>
                </a:xfrm>
                <a:prstGeom prst="rect">
                  <a:avLst/>
                </a:prstGeom>
              </p:spPr>
            </p:pic>
            <p:pic>
              <p:nvPicPr>
                <p:cNvPr id="20" name="Graphic 11">
                  <a:extLst>
                    <a:ext uri="{FF2B5EF4-FFF2-40B4-BE49-F238E27FC236}">
                      <a16:creationId xmlns:a16="http://schemas.microsoft.com/office/drawing/2014/main" id="{93F7EF8F-86EE-4E90-AA20-B88867417B23}"/>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4880983" y="3451242"/>
                  <a:ext cx="469900" cy="469900"/>
                </a:xfrm>
                <a:prstGeom prst="rect">
                  <a:avLst/>
                </a:prstGeom>
              </p:spPr>
            </p:pic>
            <p:pic>
              <p:nvPicPr>
                <p:cNvPr id="21" name="Graphic 12">
                  <a:extLst>
                    <a:ext uri="{FF2B5EF4-FFF2-40B4-BE49-F238E27FC236}">
                      <a16:creationId xmlns:a16="http://schemas.microsoft.com/office/drawing/2014/main" id="{9FF2A9F5-AFE7-4689-838A-A22D99E70998}"/>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5315487" y="3603642"/>
                  <a:ext cx="469900" cy="469900"/>
                </a:xfrm>
                <a:prstGeom prst="rect">
                  <a:avLst/>
                </a:prstGeom>
              </p:spPr>
            </p:pic>
          </p:grpSp>
          <p:sp>
            <p:nvSpPr>
              <p:cNvPr id="18" name="TextBox 17">
                <a:extLst>
                  <a:ext uri="{FF2B5EF4-FFF2-40B4-BE49-F238E27FC236}">
                    <a16:creationId xmlns:a16="http://schemas.microsoft.com/office/drawing/2014/main" id="{B29237E9-0D1D-4332-845B-7E840F7204CC}"/>
                  </a:ext>
                  <a:ext uri="{C183D7F6-B498-43B3-948B-1728B52AA6E4}">
                    <adec:decorative xmlns:adec="http://schemas.microsoft.com/office/drawing/2017/decorative" val="1"/>
                  </a:ext>
                </a:extLst>
              </p:cNvPr>
              <p:cNvSpPr txBox="1"/>
              <p:nvPr/>
            </p:nvSpPr>
            <p:spPr>
              <a:xfrm>
                <a:off x="4519455" y="4185024"/>
                <a:ext cx="1192955" cy="584775"/>
              </a:xfrm>
              <a:prstGeom prst="rect">
                <a:avLst/>
              </a:prstGeom>
              <a:noFill/>
            </p:spPr>
            <p:txBody>
              <a:bodyPr wrap="none" rtlCol="0">
                <a:spAutoFit/>
              </a:bodyPr>
              <a:lstStyle/>
              <a:p>
                <a:pPr algn="ctr"/>
                <a:r>
                  <a:rPr lang="en-US" sz="1600">
                    <a:latin typeface="+mj-lt"/>
                    <a:ea typeface="Amazon Ember Light" panose="020B0403020204020204" pitchFamily="34" charset="0"/>
                    <a:cs typeface="Amazon Ember Light" panose="020B0403020204020204" pitchFamily="34" charset="0"/>
                  </a:rPr>
                  <a:t>Application</a:t>
                </a:r>
              </a:p>
              <a:p>
                <a:pPr algn="ctr"/>
                <a:r>
                  <a:rPr lang="en-US" sz="1600">
                    <a:latin typeface="+mj-lt"/>
                    <a:ea typeface="Amazon Ember Light" panose="020B0403020204020204" pitchFamily="34" charset="0"/>
                    <a:cs typeface="Amazon Ember Light" panose="020B0403020204020204" pitchFamily="34" charset="0"/>
                  </a:rPr>
                  <a:t>Servers</a:t>
                </a:r>
              </a:p>
            </p:txBody>
          </p:sp>
        </p:grpSp>
        <p:cxnSp>
          <p:nvCxnSpPr>
            <p:cNvPr id="10" name="Straight Arrow Connector 9">
              <a:extLst>
                <a:ext uri="{FF2B5EF4-FFF2-40B4-BE49-F238E27FC236}">
                  <a16:creationId xmlns:a16="http://schemas.microsoft.com/office/drawing/2014/main" id="{5F77357D-2004-4281-8E38-2D1BE81EAB9B}"/>
                </a:ext>
                <a:ext uri="{C183D7F6-B498-43B3-948B-1728B52AA6E4}">
                  <adec:decorative xmlns:adec="http://schemas.microsoft.com/office/drawing/2017/decorative" val="1"/>
                </a:ext>
              </a:extLst>
            </p:cNvPr>
            <p:cNvCxnSpPr/>
            <p:nvPr/>
          </p:nvCxnSpPr>
          <p:spPr>
            <a:xfrm>
              <a:off x="6153617"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22">
              <a:extLst>
                <a:ext uri="{FF2B5EF4-FFF2-40B4-BE49-F238E27FC236}">
                  <a16:creationId xmlns:a16="http://schemas.microsoft.com/office/drawing/2014/main" id="{1B404088-5E11-4BD0-B6A4-26DA34127CA5}"/>
                </a:ext>
                <a:ext uri="{C183D7F6-B498-43B3-948B-1728B52AA6E4}">
                  <adec:decorative xmlns:adec="http://schemas.microsoft.com/office/drawing/2017/decorative" val="1"/>
                </a:ext>
              </a:extLst>
            </p:cNvPr>
            <p:cNvGrpSpPr/>
            <p:nvPr/>
          </p:nvGrpSpPr>
          <p:grpSpPr>
            <a:xfrm>
              <a:off x="7795576" y="3197241"/>
              <a:ext cx="2301904" cy="1634111"/>
              <a:chOff x="7795576" y="3197241"/>
              <a:chExt cx="2301904" cy="1634111"/>
            </a:xfrm>
          </p:grpSpPr>
          <p:pic>
            <p:nvPicPr>
              <p:cNvPr id="12" name="Graphic 16">
                <a:extLst>
                  <a:ext uri="{FF2B5EF4-FFF2-40B4-BE49-F238E27FC236}">
                    <a16:creationId xmlns:a16="http://schemas.microsoft.com/office/drawing/2014/main" id="{38A8BDA3-C21E-4A91-833D-AD21ADC56642}"/>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8590928" y="3689844"/>
                <a:ext cx="711200" cy="711200"/>
              </a:xfrm>
              <a:prstGeom prst="rect">
                <a:avLst/>
              </a:prstGeom>
            </p:spPr>
          </p:pic>
          <p:sp>
            <p:nvSpPr>
              <p:cNvPr id="13" name="TextBox 12">
                <a:extLst>
                  <a:ext uri="{FF2B5EF4-FFF2-40B4-BE49-F238E27FC236}">
                    <a16:creationId xmlns:a16="http://schemas.microsoft.com/office/drawing/2014/main" id="{F4841233-CC48-4A8E-A4DE-41C67820F95A}"/>
                  </a:ext>
                  <a:ext uri="{C183D7F6-B498-43B3-948B-1728B52AA6E4}">
                    <adec:decorative xmlns:adec="http://schemas.microsoft.com/office/drawing/2017/decorative" val="1"/>
                  </a:ext>
                </a:extLst>
              </p:cNvPr>
              <p:cNvSpPr txBox="1"/>
              <p:nvPr/>
            </p:nvSpPr>
            <p:spPr>
              <a:xfrm>
                <a:off x="7795576" y="4485657"/>
                <a:ext cx="2301904" cy="338554"/>
              </a:xfrm>
              <a:prstGeom prst="rect">
                <a:avLst/>
              </a:prstGeom>
              <a:noFill/>
            </p:spPr>
            <p:txBody>
              <a:bodyPr wrap="square" rtlCol="0">
                <a:spAutoFit/>
              </a:bodyPr>
              <a:lstStyle/>
              <a:p>
                <a:pPr algn="ctr"/>
                <a:r>
                  <a:rPr lang="en-US" sz="1600"/>
                  <a:t>Amazon RDS</a:t>
                </a:r>
              </a:p>
            </p:txBody>
          </p:sp>
          <p:grpSp>
            <p:nvGrpSpPr>
              <p:cNvPr id="14" name="Group 17">
                <a:extLst>
                  <a:ext uri="{FF2B5EF4-FFF2-40B4-BE49-F238E27FC236}">
                    <a16:creationId xmlns:a16="http://schemas.microsoft.com/office/drawing/2014/main" id="{6685C532-4385-48CD-8A29-699FCE4E6FF0}"/>
                  </a:ext>
                  <a:ext uri="{C183D7F6-B498-43B3-948B-1728B52AA6E4}">
                    <adec:decorative xmlns:adec="http://schemas.microsoft.com/office/drawing/2017/decorative" val="1"/>
                  </a:ext>
                </a:extLst>
              </p:cNvPr>
              <p:cNvGrpSpPr/>
              <p:nvPr/>
            </p:nvGrpSpPr>
            <p:grpSpPr>
              <a:xfrm>
                <a:off x="7924880" y="3197241"/>
                <a:ext cx="2043296" cy="1634111"/>
                <a:chOff x="7894416" y="3197241"/>
                <a:chExt cx="2043296" cy="1634111"/>
              </a:xfrm>
            </p:grpSpPr>
            <p:sp>
              <p:nvSpPr>
                <p:cNvPr id="15" name="Rectangle 14">
                  <a:extLst>
                    <a:ext uri="{FF2B5EF4-FFF2-40B4-BE49-F238E27FC236}">
                      <a16:creationId xmlns:a16="http://schemas.microsoft.com/office/drawing/2014/main" id="{499EE4DD-9825-43B0-8ED2-FA8A9E07D4BB}"/>
                    </a:ext>
                    <a:ext uri="{C183D7F6-B498-43B3-948B-1728B52AA6E4}">
                      <adec:decorative xmlns:adec="http://schemas.microsoft.com/office/drawing/2017/decorative" val="1"/>
                    </a:ext>
                  </a:extLst>
                </p:cNvPr>
                <p:cNvSpPr/>
                <p:nvPr/>
              </p:nvSpPr>
              <p:spPr>
                <a:xfrm>
                  <a:off x="7894416" y="3197241"/>
                  <a:ext cx="2043296" cy="163411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rPr>
                    <a:t> AWS Cloud</a:t>
                  </a:r>
                </a:p>
              </p:txBody>
            </p:sp>
            <p:pic>
              <p:nvPicPr>
                <p:cNvPr id="16" name="Graphic 21">
                  <a:extLst>
                    <a:ext uri="{FF2B5EF4-FFF2-40B4-BE49-F238E27FC236}">
                      <a16:creationId xmlns:a16="http://schemas.microsoft.com/office/drawing/2014/main" id="{8EBD5A43-9F65-4AC4-BA34-90822817385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94416" y="3197242"/>
                  <a:ext cx="457200" cy="457200"/>
                </a:xfrm>
                <a:prstGeom prst="rect">
                  <a:avLst/>
                </a:prstGeom>
              </p:spPr>
            </p:pic>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Unmanaged versus managed services</a:t>
            </a:r>
          </a:p>
        </p:txBody>
      </p:sp>
      <p:sp>
        <p:nvSpPr>
          <p:cNvPr id="10" name="Content Placeholder 2"/>
          <p:cNvSpPr txBox="1">
            <a:spLocks/>
          </p:cNvSpPr>
          <p:nvPr/>
        </p:nvSpPr>
        <p:spPr>
          <a:xfrm>
            <a:off x="519310" y="1295400"/>
            <a:ext cx="2441448" cy="612648"/>
          </a:xfrm>
          <a:prstGeom prst="rect">
            <a:avLst/>
          </a:prstGeom>
        </p:spPr>
        <p:txBody>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rgbClr val="504BAB"/>
                </a:solidFill>
                <a:effectLst/>
                <a:uLnTx/>
                <a:uFillTx/>
                <a:latin typeface="+mn-lt"/>
                <a:ea typeface="+mn-ea"/>
                <a:cs typeface="+mn-cs"/>
              </a:rPr>
              <a:t>Unmanaged</a:t>
            </a:r>
            <a:r>
              <a:rPr kumimoji="0" lang="en-US" sz="3200" b="0" i="0" u="none" strike="noStrike" kern="1200" cap="none" spc="0" normalizeH="0" baseline="0" noProof="0" dirty="0">
                <a:ln>
                  <a:noFill/>
                </a:ln>
                <a:solidFill>
                  <a:srgbClr val="0070C0"/>
                </a:solidFill>
                <a:effectLst/>
                <a:uLnTx/>
                <a:uFillTx/>
                <a:latin typeface="+mn-lt"/>
                <a:ea typeface="+mn-ea"/>
                <a:cs typeface="+mn-cs"/>
              </a:rPr>
              <a:t>:</a:t>
            </a:r>
          </a:p>
        </p:txBody>
      </p:sp>
      <p:sp>
        <p:nvSpPr>
          <p:cNvPr id="11" name="Content Placeholder 2"/>
          <p:cNvSpPr txBox="1">
            <a:spLocks/>
          </p:cNvSpPr>
          <p:nvPr/>
        </p:nvSpPr>
        <p:spPr>
          <a:xfrm>
            <a:off x="0" y="2146045"/>
            <a:ext cx="4014731" cy="138722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i="1" dirty="0">
                <a:latin typeface="Amazon Ember" panose="020B0603020204020204" pitchFamily="34" charset="0"/>
                <a:ea typeface="Amazon Ember" panose="020B0603020204020204" pitchFamily="34" charset="0"/>
                <a:cs typeface="Amazon Ember" panose="020B0603020204020204" pitchFamily="34" charset="0"/>
              </a:rPr>
              <a:t>Scaling, fault tolerance, and availability are managed by you.</a:t>
            </a:r>
          </a:p>
        </p:txBody>
      </p:sp>
      <p:pic>
        <p:nvPicPr>
          <p:cNvPr id="12" name="Picture 11" descr="Tools."/>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3673" y="3899529"/>
            <a:ext cx="2150198" cy="2046048"/>
          </a:xfrm>
          <a:prstGeom prst="rect">
            <a:avLst/>
          </a:prstGeom>
          <a:effectLst>
            <a:outerShdw blurRad="50800" dist="38100" dir="2700000" algn="tl" rotWithShape="0">
              <a:prstClr val="black">
                <a:alpha val="40000"/>
              </a:prstClr>
            </a:outerShdw>
          </a:effectLst>
        </p:spPr>
      </p:pic>
      <p:sp>
        <p:nvSpPr>
          <p:cNvPr id="13" name="Content Placeholder 2"/>
          <p:cNvSpPr txBox="1">
            <a:spLocks/>
          </p:cNvSpPr>
          <p:nvPr/>
        </p:nvSpPr>
        <p:spPr>
          <a:xfrm>
            <a:off x="5638800" y="1316540"/>
            <a:ext cx="2448985" cy="588460"/>
          </a:xfrm>
          <a:prstGeom prst="rect">
            <a:avLst/>
          </a:prstGeom>
        </p:spPr>
        <p:txBody>
          <a:bodyPr vert="horz" lIns="91440" tIns="45720" rIns="91440" bIns="45720" rtlCol="0">
            <a:normAutofit/>
          </a:bodyPr>
          <a:lstStyle>
            <a:lvl1pPr indent="0" algn="ctr">
              <a:lnSpc>
                <a:spcPct val="90000"/>
              </a:lnSpc>
              <a:spcBef>
                <a:spcPts val="1000"/>
              </a:spcBef>
              <a:buFontTx/>
              <a:buNone/>
              <a:defRPr sz="2800" b="0" i="0">
                <a:latin typeface="Amazon Ember Light" charset="0"/>
                <a:ea typeface="Amazon Ember Light" charset="0"/>
                <a:cs typeface="Amazon Ember Light" charset="0"/>
              </a:defRPr>
            </a:lvl1pPr>
            <a:lvl2pPr marL="685800" indent="-228600">
              <a:lnSpc>
                <a:spcPct val="90000"/>
              </a:lnSpc>
              <a:spcBef>
                <a:spcPts val="500"/>
              </a:spcBef>
              <a:buFontTx/>
              <a:buBlip>
                <a:blip r:embed="rId4"/>
              </a:buBlip>
              <a:defRPr sz="2400" b="0" i="0">
                <a:latin typeface="Amazon Ember Light" charset="0"/>
                <a:ea typeface="Amazon Ember Light" charset="0"/>
                <a:cs typeface="Amazon Ember Light" charset="0"/>
              </a:defRPr>
            </a:lvl2pPr>
            <a:lvl3pPr marL="1143000" indent="-228600">
              <a:lnSpc>
                <a:spcPct val="90000"/>
              </a:lnSpc>
              <a:spcBef>
                <a:spcPts val="500"/>
              </a:spcBef>
              <a:buFontTx/>
              <a:buBlip>
                <a:blip r:embed="rId4"/>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4"/>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4"/>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r>
              <a:rPr lang="en-US" b="1" dirty="0">
                <a:solidFill>
                  <a:srgbClr val="504BAB"/>
                </a:solidFill>
              </a:rPr>
              <a:t>Managed</a:t>
            </a:r>
            <a:r>
              <a:rPr lang="en-US" b="1" dirty="0">
                <a:solidFill>
                  <a:srgbClr val="0070C0"/>
                </a:solidFill>
              </a:rPr>
              <a:t>:</a:t>
            </a:r>
          </a:p>
        </p:txBody>
      </p:sp>
      <p:sp>
        <p:nvSpPr>
          <p:cNvPr id="14" name="Content Placeholder 2"/>
          <p:cNvSpPr txBox="1">
            <a:spLocks/>
          </p:cNvSpPr>
          <p:nvPr/>
        </p:nvSpPr>
        <p:spPr>
          <a:xfrm>
            <a:off x="4876800" y="2146045"/>
            <a:ext cx="3886201" cy="1387221"/>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667" b="1" i="1">
                <a:latin typeface="Amazon Ember" panose="020B0603020204020204" pitchFamily="34" charset="0"/>
                <a:ea typeface="Amazon Ember" panose="020B0603020204020204" pitchFamily="34" charset="0"/>
                <a:cs typeface="Amazon Ember" panose="020B0603020204020204" pitchFamily="34" charset="0"/>
              </a:defRPr>
            </a:lvl1pPr>
            <a:lvl2pPr marL="344488" indent="-341313" defTabSz="457200">
              <a:spcBef>
                <a:spcPct val="20000"/>
              </a:spcBef>
              <a:buClr>
                <a:schemeClr val="accent1"/>
              </a:buClr>
              <a:buSzPct val="125000"/>
              <a:buFontTx/>
              <a:buBlip>
                <a:blip r:embed="rId2"/>
              </a:buBlip>
              <a:defRPr sz="2200" b="0" i="0">
                <a:latin typeface="Arial"/>
                <a:cs typeface="Arial"/>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lgn="ctr"/>
            <a:r>
              <a:rPr lang="en-US" b="0" dirty="0"/>
              <a:t>Scaling, fault tolerance, and availability are typically built into the service.</a:t>
            </a:r>
          </a:p>
        </p:txBody>
      </p:sp>
      <p:pic>
        <p:nvPicPr>
          <p:cNvPr id="15" name="Picture 4" descr="Key."/>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791200" y="4236128"/>
            <a:ext cx="2913730" cy="145078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Challenges In Relational Databases</a:t>
            </a:r>
          </a:p>
        </p:txBody>
      </p:sp>
      <p:sp>
        <p:nvSpPr>
          <p:cNvPr id="3" name="Content Placeholder 2"/>
          <p:cNvSpPr>
            <a:spLocks noGrp="1"/>
          </p:cNvSpPr>
          <p:nvPr>
            <p:ph idx="1"/>
          </p:nvPr>
        </p:nvSpPr>
        <p:spPr/>
        <p:txBody>
          <a:bodyPr>
            <a:normAutofit/>
          </a:bodyPr>
          <a:lstStyle/>
          <a:p>
            <a:pPr marL="457200" indent="-457200" algn="just">
              <a:spcAft>
                <a:spcPts val="800"/>
              </a:spcAft>
            </a:pPr>
            <a:r>
              <a:rPr lang="en-US" dirty="0"/>
              <a:t>Server maintenance and energy footprint</a:t>
            </a:r>
          </a:p>
          <a:p>
            <a:pPr marL="457200" indent="-457200" algn="just">
              <a:spcAft>
                <a:spcPts val="800"/>
              </a:spcAft>
            </a:pPr>
            <a:r>
              <a:rPr lang="en-US" dirty="0"/>
              <a:t>Software installation and patches</a:t>
            </a:r>
          </a:p>
          <a:p>
            <a:pPr marL="457200" indent="-457200" algn="just">
              <a:spcAft>
                <a:spcPts val="800"/>
              </a:spcAft>
            </a:pPr>
            <a:r>
              <a:rPr lang="en-US" dirty="0"/>
              <a:t>Database backups and high availability</a:t>
            </a:r>
          </a:p>
          <a:p>
            <a:pPr marL="457200" indent="-457200" algn="just">
              <a:spcAft>
                <a:spcPts val="800"/>
              </a:spcAft>
            </a:pPr>
            <a:r>
              <a:rPr lang="en-US" dirty="0"/>
              <a:t>Limits on scalability</a:t>
            </a:r>
          </a:p>
          <a:p>
            <a:pPr marL="457200" indent="-457200" algn="just">
              <a:spcAft>
                <a:spcPts val="800"/>
              </a:spcAft>
            </a:pPr>
            <a:r>
              <a:rPr lang="en-US" dirty="0"/>
              <a:t>Data security</a:t>
            </a:r>
          </a:p>
          <a:p>
            <a:pPr marL="457200" indent="-457200" algn="just">
              <a:spcAft>
                <a:spcPts val="800"/>
              </a:spcAft>
            </a:pPr>
            <a:r>
              <a:rPr lang="en-US" dirty="0"/>
              <a:t>Operating system (OS) installation and patches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solidFill>
                  <a:srgbClr val="FF0000"/>
                </a:solidFill>
              </a:rPr>
              <a:t>On premise to RDS</a:t>
            </a:r>
          </a:p>
        </p:txBody>
      </p:sp>
      <p:sp>
        <p:nvSpPr>
          <p:cNvPr id="17" name="TextBox 16">
            <a:extLst>
              <a:ext uri="{FF2B5EF4-FFF2-40B4-BE49-F238E27FC236}">
                <a16:creationId xmlns:a16="http://schemas.microsoft.com/office/drawing/2014/main" id="{B6036A0F-C2FD-5C4F-A938-8AFCB5C1F050}"/>
              </a:ext>
            </a:extLst>
          </p:cNvPr>
          <p:cNvSpPr txBox="1"/>
          <p:nvPr/>
        </p:nvSpPr>
        <p:spPr>
          <a:xfrm>
            <a:off x="457200" y="1143000"/>
            <a:ext cx="1524000" cy="646331"/>
          </a:xfrm>
          <a:prstGeom prst="rect">
            <a:avLst/>
          </a:prstGeom>
          <a:noFill/>
        </p:spPr>
        <p:txBody>
          <a:bodyPr wrap="square" rtlCol="0">
            <a:spAutoFit/>
          </a:bodyPr>
          <a:lstStyle/>
          <a:p>
            <a:r>
              <a:rPr lang="en-US" dirty="0"/>
              <a:t>On-premises database</a:t>
            </a:r>
          </a:p>
        </p:txBody>
      </p:sp>
      <p:sp>
        <p:nvSpPr>
          <p:cNvPr id="18" name="Rectangle: Rounded Corners 5" descr="Compares services provided for on-premises databases with running a database on EC2 and Amazon RDS or Amazon Aurora.">
            <a:extLst>
              <a:ext uri="{FF2B5EF4-FFF2-40B4-BE49-F238E27FC236}">
                <a16:creationId xmlns:a16="http://schemas.microsoft.com/office/drawing/2014/main" id="{81235D6E-2D82-4819-831C-825FAB5EF2EE}"/>
              </a:ext>
              <a:ext uri="{C183D7F6-B498-43B3-948B-1728B52AA6E4}">
                <adec:decorative xmlns:adec="http://schemas.microsoft.com/office/drawing/2017/decorative" val="1"/>
              </a:ext>
            </a:extLst>
          </p:cNvPr>
          <p:cNvSpPr/>
          <p:nvPr/>
        </p:nvSpPr>
        <p:spPr>
          <a:xfrm>
            <a:off x="27866" y="1905906"/>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descr="compares services provided for on-premises databases with running a database on EC2 and Amazon RDS or Amazon Aurora.">
            <a:extLst>
              <a:ext uri="{FF2B5EF4-FFF2-40B4-BE49-F238E27FC236}">
                <a16:creationId xmlns:a16="http://schemas.microsoft.com/office/drawing/2014/main" id="{32414289-969B-40A9-BA47-A0F31822B01C}"/>
              </a:ext>
            </a:extLst>
          </p:cNvPr>
          <p:cNvSpPr txBox="1"/>
          <p:nvPr/>
        </p:nvSpPr>
        <p:spPr>
          <a:xfrm>
            <a:off x="10109" y="2326236"/>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20" name="Picture 19">
            <a:extLst>
              <a:ext uri="{FF2B5EF4-FFF2-40B4-BE49-F238E27FC236}">
                <a16:creationId xmlns:a16="http://schemas.microsoft.com/office/drawing/2014/main" id="{CDCD166F-1AE8-A546-8BE5-CF5BEA06E94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130150" y="1420204"/>
            <a:ext cx="917850" cy="325072"/>
          </a:xfrm>
          <a:prstGeom prst="rect">
            <a:avLst/>
          </a:prstGeom>
        </p:spPr>
      </p:pic>
      <p:sp>
        <p:nvSpPr>
          <p:cNvPr id="21" name="TextBox 20">
            <a:extLst>
              <a:ext uri="{FF2B5EF4-FFF2-40B4-BE49-F238E27FC236}">
                <a16:creationId xmlns:a16="http://schemas.microsoft.com/office/drawing/2014/main" id="{B6036A0F-C2FD-5C4F-A938-8AFCB5C1F050}"/>
              </a:ext>
            </a:extLst>
          </p:cNvPr>
          <p:cNvSpPr txBox="1"/>
          <p:nvPr/>
        </p:nvSpPr>
        <p:spPr>
          <a:xfrm>
            <a:off x="3046067" y="1106646"/>
            <a:ext cx="2821333" cy="923330"/>
          </a:xfrm>
          <a:prstGeom prst="rect">
            <a:avLst/>
          </a:prstGeom>
          <a:noFill/>
        </p:spPr>
        <p:txBody>
          <a:bodyPr wrap="square" rtlCol="0">
            <a:spAutoFit/>
          </a:bodyPr>
          <a:lstStyle/>
          <a:p>
            <a:pPr algn="ctr"/>
            <a:r>
              <a:rPr lang="en-US" dirty="0"/>
              <a:t>Database in Amazon Elastic Compute Cloud (Amazon EC2) </a:t>
            </a:r>
          </a:p>
        </p:txBody>
      </p:sp>
      <p:sp>
        <p:nvSpPr>
          <p:cNvPr id="22" name="Rectangle: Rounded Corners 15">
            <a:extLst>
              <a:ext uri="{FF2B5EF4-FFF2-40B4-BE49-F238E27FC236}">
                <a16:creationId xmlns:a16="http://schemas.microsoft.com/office/drawing/2014/main" id="{ED60E61A-2F24-4948-B18D-E53B00C572FD}"/>
              </a:ext>
              <a:ext uri="{C183D7F6-B498-43B3-948B-1728B52AA6E4}">
                <adec:decorative xmlns:adec="http://schemas.microsoft.com/office/drawing/2017/decorative" val="1"/>
              </a:ext>
            </a:extLst>
          </p:cNvPr>
          <p:cNvSpPr/>
          <p:nvPr/>
        </p:nvSpPr>
        <p:spPr>
          <a:xfrm>
            <a:off x="3380666" y="1913343"/>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descr="compares services provided for on-premises databases with running a database on EC2 and Amazon RDS or Amazon Aurora.">
            <a:extLst>
              <a:ext uri="{FF2B5EF4-FFF2-40B4-BE49-F238E27FC236}">
                <a16:creationId xmlns:a16="http://schemas.microsoft.com/office/drawing/2014/main" id="{8F8F047D-3287-4218-BC4C-4C0A5C99CE5B}"/>
              </a:ext>
            </a:extLst>
          </p:cNvPr>
          <p:cNvSpPr txBox="1"/>
          <p:nvPr/>
        </p:nvSpPr>
        <p:spPr>
          <a:xfrm>
            <a:off x="2667000" y="3810000"/>
            <a:ext cx="685800" cy="830997"/>
          </a:xfrm>
          <a:prstGeom prst="rect">
            <a:avLst/>
          </a:prstGeom>
          <a:noFill/>
        </p:spPr>
        <p:txBody>
          <a:bodyPr wrap="square" rtlCol="0">
            <a:spAutoFit/>
          </a:bodyPr>
          <a:lstStyle/>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24" name="Rectangle: Rounded Corners 7">
            <a:extLst>
              <a:ext uri="{FF2B5EF4-FFF2-40B4-BE49-F238E27FC236}">
                <a16:creationId xmlns:a16="http://schemas.microsoft.com/office/drawing/2014/main" id="{BBEAD904-7A00-417D-A4F4-ABF8C0F4EF8E}"/>
              </a:ext>
              <a:ext uri="{C183D7F6-B498-43B3-948B-1728B52AA6E4}">
                <adec:decorative xmlns:adec="http://schemas.microsoft.com/office/drawing/2017/decorative" val="1"/>
              </a:ext>
            </a:extLst>
          </p:cNvPr>
          <p:cNvSpPr/>
          <p:nvPr/>
        </p:nvSpPr>
        <p:spPr>
          <a:xfrm>
            <a:off x="3360222" y="4594302"/>
            <a:ext cx="2583378" cy="1025143"/>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descr="compares services provided for on-premises databases with running a database on EC2 and Amazon RDS or Amazon Aurora.">
            <a:extLst>
              <a:ext uri="{FF2B5EF4-FFF2-40B4-BE49-F238E27FC236}">
                <a16:creationId xmlns:a16="http://schemas.microsoft.com/office/drawing/2014/main" id="{C79D75DB-AAA9-46C6-A870-DDFBB1DFAF11}"/>
              </a:ext>
            </a:extLst>
          </p:cNvPr>
          <p:cNvSpPr txBox="1"/>
          <p:nvPr/>
        </p:nvSpPr>
        <p:spPr>
          <a:xfrm>
            <a:off x="3429000" y="2344824"/>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26" name="Picture 25">
            <a:extLst>
              <a:ext uri="{FF2B5EF4-FFF2-40B4-BE49-F238E27FC236}">
                <a16:creationId xmlns:a16="http://schemas.microsoft.com/office/drawing/2014/main" id="{FBE9623D-EF37-BB4D-9AB7-3B927610344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56412" y="1420204"/>
            <a:ext cx="917850" cy="325072"/>
          </a:xfrm>
          <a:prstGeom prst="rect">
            <a:avLst/>
          </a:prstGeom>
        </p:spPr>
      </p:pic>
      <p:sp>
        <p:nvSpPr>
          <p:cNvPr id="27" name="TextBox 26">
            <a:extLst>
              <a:ext uri="{FF2B5EF4-FFF2-40B4-BE49-F238E27FC236}">
                <a16:creationId xmlns:a16="http://schemas.microsoft.com/office/drawing/2014/main" id="{B6036A0F-C2FD-5C4F-A938-8AFCB5C1F050}"/>
              </a:ext>
            </a:extLst>
          </p:cNvPr>
          <p:cNvSpPr txBox="1"/>
          <p:nvPr/>
        </p:nvSpPr>
        <p:spPr>
          <a:xfrm>
            <a:off x="6714582" y="990600"/>
            <a:ext cx="2200818" cy="923330"/>
          </a:xfrm>
          <a:prstGeom prst="rect">
            <a:avLst/>
          </a:prstGeom>
          <a:noFill/>
        </p:spPr>
        <p:txBody>
          <a:bodyPr wrap="square" rtlCol="0">
            <a:spAutoFit/>
          </a:bodyPr>
          <a:lstStyle/>
          <a:p>
            <a:pPr algn="ctr"/>
            <a:r>
              <a:rPr lang="en-US" dirty="0"/>
              <a:t>Database in Amazon RDS or Amazon Aurora</a:t>
            </a:r>
          </a:p>
        </p:txBody>
      </p:sp>
      <p:sp>
        <p:nvSpPr>
          <p:cNvPr id="29" name="Rectangle: Rounded Corners 16">
            <a:extLst>
              <a:ext uri="{FF2B5EF4-FFF2-40B4-BE49-F238E27FC236}">
                <a16:creationId xmlns:a16="http://schemas.microsoft.com/office/drawing/2014/main" id="{7254ACC3-2FD3-472D-B9E0-6633E3E97631}"/>
              </a:ext>
              <a:ext uri="{C183D7F6-B498-43B3-948B-1728B52AA6E4}">
                <adec:decorative xmlns:adec="http://schemas.microsoft.com/office/drawing/2017/decorative" val="1"/>
              </a:ext>
            </a:extLst>
          </p:cNvPr>
          <p:cNvSpPr/>
          <p:nvPr/>
        </p:nvSpPr>
        <p:spPr>
          <a:xfrm>
            <a:off x="6681865" y="2048686"/>
            <a:ext cx="2462135"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2">
            <a:extLst>
              <a:ext uri="{FF2B5EF4-FFF2-40B4-BE49-F238E27FC236}">
                <a16:creationId xmlns:a16="http://schemas.microsoft.com/office/drawing/2014/main" id="{1E5F9D01-ED71-4FC5-9CEA-75E42C1DE44E}"/>
              </a:ext>
              <a:ext uri="{C183D7F6-B498-43B3-948B-1728B52AA6E4}">
                <adec:decorative xmlns:adec="http://schemas.microsoft.com/office/drawing/2017/decorative" val="1"/>
              </a:ext>
            </a:extLst>
          </p:cNvPr>
          <p:cNvSpPr/>
          <p:nvPr/>
        </p:nvSpPr>
        <p:spPr>
          <a:xfrm>
            <a:off x="6705600" y="2542478"/>
            <a:ext cx="2431503" cy="3055947"/>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descr="compares services provided for on-premises databases with running a database on EC2 and Amazon RDS or Amazon Aurora.">
            <a:extLst>
              <a:ext uri="{FF2B5EF4-FFF2-40B4-BE49-F238E27FC236}">
                <a16:creationId xmlns:a16="http://schemas.microsoft.com/office/drawing/2014/main" id="{0DB00234-7610-4C94-BE98-C5F07F79CFAE}"/>
              </a:ext>
            </a:extLst>
          </p:cNvPr>
          <p:cNvSpPr txBox="1"/>
          <p:nvPr/>
        </p:nvSpPr>
        <p:spPr>
          <a:xfrm>
            <a:off x="6816508" y="2300220"/>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sp>
        <p:nvSpPr>
          <p:cNvPr id="32" name="TextBox 31" descr="compares services provided for on-premises databases with running a database on EC2 and Amazon RDS or Amazon Aurora.">
            <a:extLst>
              <a:ext uri="{FF2B5EF4-FFF2-40B4-BE49-F238E27FC236}">
                <a16:creationId xmlns:a16="http://schemas.microsoft.com/office/drawing/2014/main" id="{8F8F047D-3287-4218-BC4C-4C0A5C99CE5B}"/>
              </a:ext>
            </a:extLst>
          </p:cNvPr>
          <p:cNvSpPr txBox="1"/>
          <p:nvPr/>
        </p:nvSpPr>
        <p:spPr>
          <a:xfrm>
            <a:off x="6019800" y="3962400"/>
            <a:ext cx="685800" cy="830997"/>
          </a:xfrm>
          <a:prstGeom prst="rect">
            <a:avLst/>
          </a:prstGeom>
          <a:noFill/>
        </p:spPr>
        <p:txBody>
          <a:bodyPr wrap="square" rtlCol="0">
            <a:spAutoFit/>
          </a:bodyPr>
          <a:lstStyle/>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Managed services responsibilities</a:t>
            </a:r>
          </a:p>
        </p:txBody>
      </p:sp>
      <p:sp>
        <p:nvSpPr>
          <p:cNvPr id="3" name="Content Placeholder 2"/>
          <p:cNvSpPr>
            <a:spLocks noGrp="1"/>
          </p:cNvSpPr>
          <p:nvPr>
            <p:ph idx="1"/>
          </p:nvPr>
        </p:nvSpPr>
        <p:spPr/>
        <p:txBody>
          <a:bodyPr>
            <a:normAutofit fontScale="77500" lnSpcReduction="20000"/>
          </a:bodyPr>
          <a:lstStyle/>
          <a:p>
            <a:pPr>
              <a:buNone/>
            </a:pPr>
            <a:r>
              <a:rPr lang="en-US" dirty="0">
                <a:solidFill>
                  <a:srgbClr val="FF0000"/>
                </a:solidFill>
              </a:rPr>
              <a:t>You manage:</a:t>
            </a:r>
            <a:r>
              <a:rPr lang="en-US" dirty="0"/>
              <a:t> </a:t>
            </a:r>
          </a:p>
          <a:p>
            <a:r>
              <a:rPr lang="en-US" dirty="0"/>
              <a:t>Application optimization</a:t>
            </a:r>
          </a:p>
          <a:p>
            <a:endParaRPr lang="en-US" dirty="0"/>
          </a:p>
          <a:p>
            <a:pPr>
              <a:buNone/>
            </a:pPr>
            <a:r>
              <a:rPr lang="en-US" dirty="0">
                <a:solidFill>
                  <a:srgbClr val="FF0000"/>
                </a:solidFill>
              </a:rPr>
              <a:t>AWS manages:</a:t>
            </a:r>
          </a:p>
          <a:p>
            <a:r>
              <a:rPr lang="en-US" dirty="0"/>
              <a:t>OS installation and patches</a:t>
            </a:r>
          </a:p>
          <a:p>
            <a:r>
              <a:rPr lang="en-US" dirty="0"/>
              <a:t>Database software installation and patches</a:t>
            </a:r>
          </a:p>
          <a:p>
            <a:r>
              <a:rPr lang="en-US" dirty="0"/>
              <a:t>Database backups</a:t>
            </a:r>
          </a:p>
          <a:p>
            <a:r>
              <a:rPr lang="en-US" dirty="0"/>
              <a:t>High availability</a:t>
            </a:r>
          </a:p>
          <a:p>
            <a:r>
              <a:rPr lang="en-US" dirty="0"/>
              <a:t>Scaling</a:t>
            </a:r>
          </a:p>
          <a:p>
            <a:r>
              <a:rPr lang="en-US" dirty="0"/>
              <a:t>Power and racking and stacking servers</a:t>
            </a:r>
          </a:p>
          <a:p>
            <a:r>
              <a:rPr lang="en-US" dirty="0"/>
              <a:t>Server maintenance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152400" y="533400"/>
            <a:ext cx="1638300" cy="369332"/>
          </a:xfrm>
          <a:prstGeom prst="rect">
            <a:avLst/>
          </a:prstGeom>
          <a:noFill/>
        </p:spPr>
        <p:txBody>
          <a:bodyPr wrap="square" rtlCol="0">
            <a:spAutoFit/>
          </a:bodyPr>
          <a:lstStyle/>
          <a:p>
            <a:pPr algn="ctr"/>
            <a:r>
              <a:rPr lang="en-US" dirty="0">
                <a:ea typeface="Amazon Ember" panose="02000000000000000000" pitchFamily="2" charset="0"/>
              </a:rPr>
              <a:t>Amazon RDS</a:t>
            </a:r>
          </a:p>
        </p:txBody>
      </p:sp>
      <p:pic>
        <p:nvPicPr>
          <p:cNvPr id="20" name="Graphic 23">
            <a:extLst>
              <a:ext uri="{FF2B5EF4-FFF2-40B4-BE49-F238E27FC236}">
                <a16:creationId xmlns:a16="http://schemas.microsoft.com/office/drawing/2014/main" id="{09CD6CF3-A9FE-42D5-9EBF-BCDAE5E80FD4}"/>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609600" y="914400"/>
            <a:ext cx="711200" cy="711200"/>
          </a:xfrm>
          <a:prstGeom prst="rect">
            <a:avLst/>
          </a:prstGeom>
        </p:spPr>
      </p:pic>
      <p:sp>
        <p:nvSpPr>
          <p:cNvPr id="21" name="TextBox 20">
            <a:extLst>
              <a:ext uri="{C183D7F6-B498-43B3-948B-1728B52AA6E4}">
                <adec:decorative xmlns:adec="http://schemas.microsoft.com/office/drawing/2017/decorative" val="1"/>
              </a:ext>
            </a:extLst>
          </p:cNvPr>
          <p:cNvSpPr txBox="1"/>
          <p:nvPr/>
        </p:nvSpPr>
        <p:spPr>
          <a:xfrm>
            <a:off x="533400" y="2514600"/>
            <a:ext cx="1012199" cy="929637"/>
          </a:xfrm>
          <a:prstGeom prst="rect">
            <a:avLst/>
          </a:prstGeom>
          <a:solidFill>
            <a:srgbClr val="3475B3"/>
          </a:solidFill>
        </p:spPr>
        <p:txBody>
          <a:bodyPr wrap="none" lIns="0" tIns="0" rIns="0" bIns="0" rtlCol="0" anchor="t" anchorCtr="1">
            <a:noAutofit/>
          </a:bodyPr>
          <a:lstStyle/>
          <a:p>
            <a:r>
              <a:rPr lang="en-US" sz="6600" b="1">
                <a:solidFill>
                  <a:schemeClr val="bg1"/>
                </a:solidFill>
                <a:ea typeface="Amazon Ember" panose="02000000000000000000" pitchFamily="2" charset="0"/>
              </a:rPr>
              <a:t>M</a:t>
            </a:r>
          </a:p>
        </p:txBody>
      </p:sp>
      <p:sp>
        <p:nvSpPr>
          <p:cNvPr id="22" name="TextBox 21"/>
          <p:cNvSpPr txBox="1"/>
          <p:nvPr/>
        </p:nvSpPr>
        <p:spPr>
          <a:xfrm>
            <a:off x="152400" y="3733800"/>
            <a:ext cx="1966518" cy="584775"/>
          </a:xfrm>
          <a:prstGeom prst="rect">
            <a:avLst/>
          </a:prstGeom>
          <a:noFill/>
        </p:spPr>
        <p:txBody>
          <a:bodyPr wrap="square" rtlCol="0">
            <a:spAutoFit/>
          </a:bodyPr>
          <a:lstStyle/>
          <a:p>
            <a:pPr algn="ctr"/>
            <a:r>
              <a:rPr lang="en-US" sz="1600" dirty="0">
                <a:ea typeface="Amazon Ember" panose="02000000000000000000" pitchFamily="2" charset="0"/>
              </a:rPr>
              <a:t>Amazon RDS DB main instance</a:t>
            </a:r>
          </a:p>
        </p:txBody>
      </p:sp>
      <p:sp>
        <p:nvSpPr>
          <p:cNvPr id="23" name="TextBox 22"/>
          <p:cNvSpPr txBox="1"/>
          <p:nvPr/>
        </p:nvSpPr>
        <p:spPr>
          <a:xfrm>
            <a:off x="2667000" y="2133600"/>
            <a:ext cx="3962400" cy="3416320"/>
          </a:xfrm>
          <a:prstGeom prst="rect">
            <a:avLst/>
          </a:prstGeom>
          <a:noFill/>
        </p:spPr>
        <p:txBody>
          <a:bodyPr wrap="square" rtlCol="0">
            <a:spAutoFit/>
          </a:bodyPr>
          <a:lstStyle/>
          <a:p>
            <a:r>
              <a:rPr lang="en-US" sz="2800" dirty="0">
                <a:solidFill>
                  <a:srgbClr val="504BAB"/>
                </a:solidFill>
                <a:ea typeface="Amazon Ember" panose="02000000000000000000" pitchFamily="2" charset="0"/>
              </a:rPr>
              <a:t>DB Instance Class</a:t>
            </a:r>
          </a:p>
          <a:p>
            <a:pPr marL="285750" indent="-285750">
              <a:buClr>
                <a:srgbClr val="3475B3"/>
              </a:buClr>
              <a:buFont typeface="Arial" panose="020B0604020202020204" pitchFamily="34" charset="0"/>
              <a:buChar char="•"/>
            </a:pPr>
            <a:r>
              <a:rPr lang="en-US" sz="2000" dirty="0">
                <a:ea typeface="Amazon Ember" panose="02000000000000000000" pitchFamily="2" charset="0"/>
              </a:rPr>
              <a:t>CPU</a:t>
            </a:r>
          </a:p>
          <a:p>
            <a:pPr marL="285750" indent="-285750">
              <a:buClr>
                <a:srgbClr val="3475B3"/>
              </a:buClr>
              <a:buFont typeface="Arial" panose="020B0604020202020204" pitchFamily="34" charset="0"/>
              <a:buChar char="•"/>
            </a:pPr>
            <a:r>
              <a:rPr lang="en-US" sz="2000" dirty="0">
                <a:ea typeface="Amazon Ember" panose="02000000000000000000" pitchFamily="2" charset="0"/>
              </a:rPr>
              <a:t>Memory</a:t>
            </a:r>
          </a:p>
          <a:p>
            <a:pPr marL="285750" indent="-285750">
              <a:buClr>
                <a:srgbClr val="3475B3"/>
              </a:buClr>
              <a:buFont typeface="Arial" panose="020B0604020202020204" pitchFamily="34" charset="0"/>
              <a:buChar char="•"/>
            </a:pPr>
            <a:r>
              <a:rPr lang="en-US" sz="2000" dirty="0">
                <a:ea typeface="Amazon Ember" panose="02000000000000000000" pitchFamily="2" charset="0"/>
              </a:rPr>
              <a:t>Network performance</a:t>
            </a:r>
          </a:p>
          <a:p>
            <a:endParaRPr lang="en-US" sz="2000" dirty="0">
              <a:ea typeface="Amazon Ember" panose="02000000000000000000" pitchFamily="2" charset="0"/>
            </a:endParaRPr>
          </a:p>
          <a:p>
            <a:r>
              <a:rPr lang="en-US" sz="2800" dirty="0">
                <a:solidFill>
                  <a:srgbClr val="504BAB"/>
                </a:solidFill>
                <a:ea typeface="Amazon Ember" panose="02000000000000000000" pitchFamily="2" charset="0"/>
              </a:rPr>
              <a:t>DB Instance Storage</a:t>
            </a:r>
          </a:p>
          <a:p>
            <a:pPr marL="285750" indent="-285750">
              <a:buClr>
                <a:srgbClr val="3475B3"/>
              </a:buClr>
              <a:buFont typeface="Arial" panose="020B0604020202020204" pitchFamily="34" charset="0"/>
              <a:buChar char="•"/>
            </a:pPr>
            <a:r>
              <a:rPr lang="en-US" sz="2000" dirty="0">
                <a:ea typeface="Amazon Ember" panose="02000000000000000000" pitchFamily="2" charset="0"/>
              </a:rPr>
              <a:t>Magnetic</a:t>
            </a:r>
          </a:p>
          <a:p>
            <a:pPr marL="285750" indent="-285750">
              <a:buClr>
                <a:srgbClr val="3475B3"/>
              </a:buClr>
              <a:buFont typeface="Arial" panose="020B0604020202020204" pitchFamily="34" charset="0"/>
              <a:buChar char="•"/>
            </a:pPr>
            <a:r>
              <a:rPr lang="en-US" sz="2000" dirty="0">
                <a:ea typeface="Amazon Ember" panose="02000000000000000000" pitchFamily="2" charset="0"/>
              </a:rPr>
              <a:t>General Purpose (solid state drive, or SSD)</a:t>
            </a:r>
          </a:p>
          <a:p>
            <a:pPr marL="285750" indent="-285750">
              <a:buClr>
                <a:srgbClr val="3475B3"/>
              </a:buClr>
              <a:buFont typeface="Arial" panose="020B0604020202020204" pitchFamily="34" charset="0"/>
              <a:buChar char="•"/>
            </a:pPr>
            <a:r>
              <a:rPr lang="en-US" sz="2000" dirty="0">
                <a:ea typeface="Amazon Ember" panose="02000000000000000000" pitchFamily="2" charset="0"/>
              </a:rPr>
              <a:t>Provisioned IOPS</a:t>
            </a:r>
          </a:p>
        </p:txBody>
      </p:sp>
      <p:sp>
        <p:nvSpPr>
          <p:cNvPr id="24" name="Rounded Rectangle 23" descr="The major components of an RDS installation are the DB Instance Class that specifies the type of CPU, amount of memory and network performance. You can select the type of storage the DB instance will use.">
            <a:extLst>
              <a:ext uri="{FF2B5EF4-FFF2-40B4-BE49-F238E27FC236}">
                <a16:creationId xmlns:a16="http://schemas.microsoft.com/office/drawing/2014/main" id="{D29E99A0-59A4-DD43-B628-6B4BE02FD510}"/>
              </a:ext>
            </a:extLst>
          </p:cNvPr>
          <p:cNvSpPr/>
          <p:nvPr/>
        </p:nvSpPr>
        <p:spPr>
          <a:xfrm>
            <a:off x="116137" y="1981200"/>
            <a:ext cx="6056063" cy="381398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25" name="Group 24" descr="Amazon RDS supported database engines including MySQL, Amazon Aurora, Microsoft SQL Server, PostgreSQL, MariaDB, and Oracle."/>
          <p:cNvGrpSpPr/>
          <p:nvPr/>
        </p:nvGrpSpPr>
        <p:grpSpPr>
          <a:xfrm>
            <a:off x="6477000" y="1638299"/>
            <a:ext cx="2362199" cy="4484032"/>
            <a:chOff x="8844533" y="1638299"/>
            <a:chExt cx="2820465" cy="4484032"/>
          </a:xfrm>
        </p:grpSpPr>
        <p:sp>
          <p:nvSpPr>
            <p:cNvPr id="26" name="Rectangle 25">
              <a:extLst>
                <a:ext uri="{FF2B5EF4-FFF2-40B4-BE49-F238E27FC236}">
                  <a16:creationId xmlns:a16="http://schemas.microsoft.com/office/drawing/2014/main" id="{CD792260-E20D-D048-9DB0-9B1D4017BF0D}"/>
                </a:ext>
              </a:extLst>
            </p:cNvPr>
            <p:cNvSpPr/>
            <p:nvPr/>
          </p:nvSpPr>
          <p:spPr>
            <a:xfrm>
              <a:off x="8844533" y="1638299"/>
              <a:ext cx="2820465" cy="404470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a:solidFill>
                    <a:schemeClr val="tx1"/>
                  </a:solidFill>
                </a:rPr>
                <a:t>=</a:t>
              </a:r>
            </a:p>
          </p:txBody>
        </p:sp>
        <p:sp>
          <p:nvSpPr>
            <p:cNvPr id="27" name="TextBox 26" descr="DB Engines"/>
            <p:cNvSpPr txBox="1"/>
            <p:nvPr/>
          </p:nvSpPr>
          <p:spPr>
            <a:xfrm>
              <a:off x="9577336" y="5752999"/>
              <a:ext cx="1354859" cy="369332"/>
            </a:xfrm>
            <a:prstGeom prst="rect">
              <a:avLst/>
            </a:prstGeom>
            <a:noFill/>
          </p:spPr>
          <p:txBody>
            <a:bodyPr wrap="none" rtlCol="0">
              <a:spAutoFit/>
            </a:bodyPr>
            <a:lstStyle/>
            <a:p>
              <a:pPr algn="ctr"/>
              <a:r>
                <a:rPr lang="en-US">
                  <a:latin typeface="Amazon Ember" panose="02000000000000000000" pitchFamily="2" charset="0"/>
                  <a:ea typeface="Amazon Ember" panose="02000000000000000000" pitchFamily="2" charset="0"/>
                </a:rPr>
                <a:t>DB engines</a:t>
              </a:r>
            </a:p>
          </p:txBody>
        </p:sp>
        <p:sp>
          <p:nvSpPr>
            <p:cNvPr id="28" name="TextBox 27"/>
            <p:cNvSpPr txBox="1"/>
            <p:nvPr/>
          </p:nvSpPr>
          <p:spPr>
            <a:xfrm>
              <a:off x="9759277" y="1789515"/>
              <a:ext cx="990977"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MySQL</a:t>
              </a:r>
            </a:p>
          </p:txBody>
        </p:sp>
        <p:sp>
          <p:nvSpPr>
            <p:cNvPr id="29" name="TextBox 28"/>
            <p:cNvSpPr txBox="1"/>
            <p:nvPr/>
          </p:nvSpPr>
          <p:spPr>
            <a:xfrm>
              <a:off x="9288796" y="2445611"/>
              <a:ext cx="1931939"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Amazon Aurora</a:t>
              </a:r>
            </a:p>
          </p:txBody>
        </p:sp>
        <p:sp>
          <p:nvSpPr>
            <p:cNvPr id="30" name="TextBox 29"/>
            <p:cNvSpPr txBox="1"/>
            <p:nvPr/>
          </p:nvSpPr>
          <p:spPr>
            <a:xfrm>
              <a:off x="8978614" y="3101707"/>
              <a:ext cx="2552302"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Microsoft SQL Server</a:t>
              </a:r>
            </a:p>
          </p:txBody>
        </p:sp>
        <p:sp>
          <p:nvSpPr>
            <p:cNvPr id="31" name="TextBox 30"/>
            <p:cNvSpPr txBox="1"/>
            <p:nvPr/>
          </p:nvSpPr>
          <p:spPr>
            <a:xfrm>
              <a:off x="9495583" y="3757803"/>
              <a:ext cx="1518364"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PostgreSQL</a:t>
              </a:r>
            </a:p>
          </p:txBody>
        </p:sp>
        <p:sp>
          <p:nvSpPr>
            <p:cNvPr id="32" name="TextBox 31"/>
            <p:cNvSpPr txBox="1"/>
            <p:nvPr/>
          </p:nvSpPr>
          <p:spPr>
            <a:xfrm>
              <a:off x="9692752" y="4413899"/>
              <a:ext cx="1124026"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MariaDB</a:t>
              </a:r>
            </a:p>
          </p:txBody>
        </p:sp>
        <p:sp>
          <p:nvSpPr>
            <p:cNvPr id="33" name="TextBox 32"/>
            <p:cNvSpPr txBox="1"/>
            <p:nvPr/>
          </p:nvSpPr>
          <p:spPr>
            <a:xfrm>
              <a:off x="9797749" y="5069994"/>
              <a:ext cx="914033"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Oracle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Amazon RDS in a virtual private cloud (VPC)</a:t>
            </a:r>
          </a:p>
        </p:txBody>
      </p:sp>
      <p:grpSp>
        <p:nvGrpSpPr>
          <p:cNvPr id="4" name="Group 3" descr="Users connecting to EC2 instance in a VPC public subnet through an internet gateway. Amazon RDS in a VPC private subnet.">
            <a:extLst>
              <a:ext uri="{FF2B5EF4-FFF2-40B4-BE49-F238E27FC236}">
                <a16:creationId xmlns:a16="http://schemas.microsoft.com/office/drawing/2014/main" id="{1AD871DF-C593-431C-A022-A528B4569FF4}"/>
              </a:ext>
            </a:extLst>
          </p:cNvPr>
          <p:cNvGrpSpPr/>
          <p:nvPr/>
        </p:nvGrpSpPr>
        <p:grpSpPr>
          <a:xfrm>
            <a:off x="156102" y="1632756"/>
            <a:ext cx="8606898" cy="4768044"/>
            <a:chOff x="1049683" y="1263105"/>
            <a:chExt cx="8606898" cy="4768044"/>
          </a:xfrm>
        </p:grpSpPr>
        <p:sp>
          <p:nvSpPr>
            <p:cNvPr id="5" name="Rectangle 4">
              <a:extLst>
                <a:ext uri="{FF2B5EF4-FFF2-40B4-BE49-F238E27FC236}">
                  <a16:creationId xmlns:a16="http://schemas.microsoft.com/office/drawing/2014/main" id="{784CE98B-EC4E-49DE-9B7F-D34689EF7A7A}"/>
                </a:ext>
                <a:ext uri="{C183D7F6-B498-43B3-948B-1728B52AA6E4}">
                  <adec:decorative xmlns:adec="http://schemas.microsoft.com/office/drawing/2017/decorative" val="1"/>
                </a:ext>
              </a:extLst>
            </p:cNvPr>
            <p:cNvSpPr/>
            <p:nvPr/>
          </p:nvSpPr>
          <p:spPr>
            <a:xfrm>
              <a:off x="5756337" y="2329492"/>
              <a:ext cx="2987004"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6" name="Rectangle 5">
              <a:extLst>
                <a:ext uri="{FF2B5EF4-FFF2-40B4-BE49-F238E27FC236}">
                  <a16:creationId xmlns:a16="http://schemas.microsoft.com/office/drawing/2014/main" id="{EB243E99-E3D7-45C2-BB63-9CFAF58A58CD}"/>
                </a:ext>
                <a:ext uri="{C183D7F6-B498-43B3-948B-1728B52AA6E4}">
                  <adec:decorative xmlns:adec="http://schemas.microsoft.com/office/drawing/2017/decorative" val="1"/>
                </a:ext>
              </a:extLst>
            </p:cNvPr>
            <p:cNvSpPr/>
            <p:nvPr/>
          </p:nvSpPr>
          <p:spPr>
            <a:xfrm>
              <a:off x="5756337" y="3894438"/>
              <a:ext cx="2987004" cy="146304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 name="TextBox 6">
              <a:extLst>
                <a:ext uri="{FF2B5EF4-FFF2-40B4-BE49-F238E27FC236}">
                  <a16:creationId xmlns:a16="http://schemas.microsoft.com/office/drawing/2014/main" id="{CB84A054-5BE1-4670-BBB5-C9A48ED5EF93}"/>
                </a:ext>
                <a:ext uri="{C183D7F6-B498-43B3-948B-1728B52AA6E4}">
                  <adec:decorative xmlns:adec="http://schemas.microsoft.com/office/drawing/2017/decorative" val="1"/>
                </a:ext>
              </a:extLst>
            </p:cNvPr>
            <p:cNvSpPr txBox="1"/>
            <p:nvPr/>
          </p:nvSpPr>
          <p:spPr>
            <a:xfrm>
              <a:off x="1049683" y="3308010"/>
              <a:ext cx="1072750" cy="338554"/>
            </a:xfrm>
            <a:prstGeom prst="rect">
              <a:avLst/>
            </a:prstGeom>
            <a:noFill/>
          </p:spPr>
          <p:txBody>
            <a:bodyPr wrap="square" rtlCol="0">
              <a:spAutoFit/>
            </a:bodyPr>
            <a:lstStyle/>
            <a:p>
              <a:pPr algn="ctr"/>
              <a:r>
                <a:rPr lang="en-US" sz="1600">
                  <a:solidFill>
                    <a:srgbClr val="232F3E"/>
                  </a:solidFill>
                </a:rPr>
                <a:t>Users</a:t>
              </a:r>
            </a:p>
          </p:txBody>
        </p:sp>
        <p:sp>
          <p:nvSpPr>
            <p:cNvPr id="8" name="TextBox 7">
              <a:extLst>
                <a:ext uri="{FF2B5EF4-FFF2-40B4-BE49-F238E27FC236}">
                  <a16:creationId xmlns:a16="http://schemas.microsoft.com/office/drawing/2014/main" id="{CE4687B7-6629-4561-83BC-A4E65403DAE9}"/>
                </a:ext>
                <a:ext uri="{C183D7F6-B498-43B3-948B-1728B52AA6E4}">
                  <adec:decorative xmlns:adec="http://schemas.microsoft.com/office/drawing/2017/decorative" val="1"/>
                </a:ext>
              </a:extLst>
            </p:cNvPr>
            <p:cNvSpPr txBox="1"/>
            <p:nvPr/>
          </p:nvSpPr>
          <p:spPr>
            <a:xfrm>
              <a:off x="3264921" y="3162841"/>
              <a:ext cx="1259655" cy="584775"/>
            </a:xfrm>
            <a:prstGeom prst="rect">
              <a:avLst/>
            </a:prstGeom>
            <a:noFill/>
          </p:spPr>
          <p:txBody>
            <a:bodyPr wrap="square" rtlCol="0">
              <a:spAutoFit/>
            </a:bodyPr>
            <a:lstStyle/>
            <a:p>
              <a:pPr algn="ctr"/>
              <a:r>
                <a:rPr lang="en-US" sz="1600"/>
                <a:t>Internet gateway</a:t>
              </a:r>
            </a:p>
          </p:txBody>
        </p:sp>
        <p:sp>
          <p:nvSpPr>
            <p:cNvPr id="9" name="Rectangle 8">
              <a:extLst>
                <a:ext uri="{FF2B5EF4-FFF2-40B4-BE49-F238E27FC236}">
                  <a16:creationId xmlns:a16="http://schemas.microsoft.com/office/drawing/2014/main" id="{76E135B5-1EEC-45C6-95D5-8D0A665A7E40}"/>
                </a:ext>
                <a:ext uri="{C183D7F6-B498-43B3-948B-1728B52AA6E4}">
                  <adec:decorative xmlns:adec="http://schemas.microsoft.com/office/drawing/2017/decorative" val="1"/>
                </a:ext>
              </a:extLst>
            </p:cNvPr>
            <p:cNvSpPr/>
            <p:nvPr/>
          </p:nvSpPr>
          <p:spPr>
            <a:xfrm>
              <a:off x="5022281" y="1500522"/>
              <a:ext cx="4003008" cy="4238797"/>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a:t>
              </a:r>
            </a:p>
          </p:txBody>
        </p:sp>
        <p:pic>
          <p:nvPicPr>
            <p:cNvPr id="10" name="Graphic 9">
              <a:extLst>
                <a:ext uri="{FF2B5EF4-FFF2-40B4-BE49-F238E27FC236}">
                  <a16:creationId xmlns:a16="http://schemas.microsoft.com/office/drawing/2014/main" id="{4F9CAB15-F4A0-4963-A61E-CC77DDF5FAEB}"/>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flipH="1">
              <a:off x="1344265" y="2833316"/>
              <a:ext cx="483586" cy="469900"/>
            </a:xfrm>
            <a:prstGeom prst="rect">
              <a:avLst/>
            </a:prstGeom>
          </p:spPr>
        </p:pic>
        <p:pic>
          <p:nvPicPr>
            <p:cNvPr id="11" name="Graphic 12">
              <a:extLst>
                <a:ext uri="{FF2B5EF4-FFF2-40B4-BE49-F238E27FC236}">
                  <a16:creationId xmlns:a16="http://schemas.microsoft.com/office/drawing/2014/main" id="{A4A87487-7DCB-457B-81C0-9988F38BA615}"/>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3659798" y="2794534"/>
              <a:ext cx="469900" cy="469900"/>
            </a:xfrm>
            <a:prstGeom prst="rect">
              <a:avLst/>
            </a:prstGeom>
          </p:spPr>
        </p:pic>
        <p:sp>
          <p:nvSpPr>
            <p:cNvPr id="12" name="TextBox 11">
              <a:extLst>
                <a:ext uri="{FF2B5EF4-FFF2-40B4-BE49-F238E27FC236}">
                  <a16:creationId xmlns:a16="http://schemas.microsoft.com/office/drawing/2014/main" id="{43790DAF-97A0-41A9-BB35-2AA73AC6423B}"/>
                </a:ext>
                <a:ext uri="{C183D7F6-B498-43B3-948B-1728B52AA6E4}">
                  <adec:decorative xmlns:adec="http://schemas.microsoft.com/office/drawing/2017/decorative" val="1"/>
                </a:ext>
              </a:extLst>
            </p:cNvPr>
            <p:cNvSpPr txBox="1"/>
            <p:nvPr/>
          </p:nvSpPr>
          <p:spPr>
            <a:xfrm>
              <a:off x="6723385" y="4975994"/>
              <a:ext cx="2301904" cy="338554"/>
            </a:xfrm>
            <a:prstGeom prst="rect">
              <a:avLst/>
            </a:prstGeom>
            <a:noFill/>
          </p:spPr>
          <p:txBody>
            <a:bodyPr wrap="square" rtlCol="0">
              <a:spAutoFit/>
            </a:bodyPr>
            <a:lstStyle/>
            <a:p>
              <a:pPr algn="ctr"/>
              <a:r>
                <a:rPr lang="en-US" sz="1600"/>
                <a:t>Amazon RDS</a:t>
              </a:r>
            </a:p>
          </p:txBody>
        </p:sp>
        <p:pic>
          <p:nvPicPr>
            <p:cNvPr id="13" name="Graphic 14">
              <a:extLst>
                <a:ext uri="{FF2B5EF4-FFF2-40B4-BE49-F238E27FC236}">
                  <a16:creationId xmlns:a16="http://schemas.microsoft.com/office/drawing/2014/main" id="{9D364D4C-F103-4C38-BA52-FDE8FFCEB1A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18737" y="4281109"/>
              <a:ext cx="711200" cy="711200"/>
            </a:xfrm>
            <a:prstGeom prst="rect">
              <a:avLst/>
            </a:prstGeom>
          </p:spPr>
        </p:pic>
        <p:sp>
          <p:nvSpPr>
            <p:cNvPr id="14" name="TextBox 13">
              <a:extLst>
                <a:ext uri="{FF2B5EF4-FFF2-40B4-BE49-F238E27FC236}">
                  <a16:creationId xmlns:a16="http://schemas.microsoft.com/office/drawing/2014/main" id="{9D6CC597-F1BB-4BB6-BA54-4974ADEC8AAB}"/>
                </a:ext>
                <a:ext uri="{C183D7F6-B498-43B3-948B-1728B52AA6E4}">
                  <adec:decorative xmlns:adec="http://schemas.microsoft.com/office/drawing/2017/decorative" val="1"/>
                </a:ext>
              </a:extLst>
            </p:cNvPr>
            <p:cNvSpPr txBox="1"/>
            <p:nvPr/>
          </p:nvSpPr>
          <p:spPr>
            <a:xfrm>
              <a:off x="7039951" y="3333203"/>
              <a:ext cx="1513305" cy="338554"/>
            </a:xfrm>
            <a:prstGeom prst="rect">
              <a:avLst/>
            </a:prstGeom>
            <a:noFill/>
          </p:spPr>
          <p:txBody>
            <a:bodyPr wrap="square" rtlCol="0">
              <a:spAutoFit/>
            </a:bodyPr>
            <a:lstStyle/>
            <a:p>
              <a:pPr algn="ctr"/>
              <a:r>
                <a:rPr lang="en-US" sz="1600"/>
                <a:t>Amazon EC2</a:t>
              </a:r>
            </a:p>
          </p:txBody>
        </p:sp>
        <p:pic>
          <p:nvPicPr>
            <p:cNvPr id="15" name="Graphic 16">
              <a:extLst>
                <a:ext uri="{FF2B5EF4-FFF2-40B4-BE49-F238E27FC236}">
                  <a16:creationId xmlns:a16="http://schemas.microsoft.com/office/drawing/2014/main" id="{BD85BFC9-F75B-4BB9-BB8D-0808D5E0DCE5}"/>
                </a:ext>
                <a:ext uri="{C183D7F6-B498-43B3-948B-1728B52AA6E4}">
                  <adec:decorative xmlns:adec="http://schemas.microsoft.com/office/drawing/2017/decorative" val="1"/>
                </a:ext>
              </a:extLst>
            </p:cNvPr>
            <p:cNvPicPr>
              <a:picLocks noChangeAspect="1"/>
            </p:cNvPicPr>
            <p:nvPr/>
          </p:nvPicPr>
          <p:blipFill>
            <a:blip r:embed="rId8" cstate="print">
              <a:extLst>
                <a:ext uri="{96DAC541-7B7A-43D3-8B79-37D633B846F1}">
                  <asvg:svgBlip xmlns:asvg="http://schemas.microsoft.com/office/drawing/2016/SVG/main" r:embed="rId9"/>
                </a:ext>
              </a:extLst>
            </a:blip>
            <a:stretch>
              <a:fillRect/>
            </a:stretch>
          </p:blipFill>
          <p:spPr>
            <a:xfrm>
              <a:off x="7497982" y="2628084"/>
              <a:ext cx="711200" cy="711200"/>
            </a:xfrm>
            <a:prstGeom prst="rect">
              <a:avLst/>
            </a:prstGeom>
          </p:spPr>
        </p:pic>
        <p:cxnSp>
          <p:nvCxnSpPr>
            <p:cNvPr id="16" name="Straight Arrow Connector 15">
              <a:extLst>
                <a:ext uri="{FF2B5EF4-FFF2-40B4-BE49-F238E27FC236}">
                  <a16:creationId xmlns:a16="http://schemas.microsoft.com/office/drawing/2014/main" id="{4AD8B2DB-CF4F-4F16-9354-07C63DC56C33}"/>
                </a:ext>
                <a:ext uri="{C183D7F6-B498-43B3-948B-1728B52AA6E4}">
                  <adec:decorative xmlns:adec="http://schemas.microsoft.com/office/drawing/2017/decorative" val="1"/>
                </a:ext>
              </a:extLst>
            </p:cNvPr>
            <p:cNvCxnSpPr>
              <a:cxnSpLocks/>
              <a:stCxn id="10" idx="1"/>
              <a:endCxn id="5" idx="1"/>
            </p:cNvCxnSpPr>
            <p:nvPr/>
          </p:nvCxnSpPr>
          <p:spPr>
            <a:xfrm flipV="1">
              <a:off x="1827851" y="3061012"/>
              <a:ext cx="3928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478E2C2-2ADD-4A6F-98BE-CC46C62ABC3F}"/>
                </a:ext>
                <a:ext uri="{C183D7F6-B498-43B3-948B-1728B52AA6E4}">
                  <adec:decorative xmlns:adec="http://schemas.microsoft.com/office/drawing/2017/decorative" val="1"/>
                </a:ext>
              </a:extLst>
            </p:cNvPr>
            <p:cNvSpPr/>
            <p:nvPr/>
          </p:nvSpPr>
          <p:spPr>
            <a:xfrm>
              <a:off x="3889239" y="2017109"/>
              <a:ext cx="5437762" cy="3547112"/>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endParaRPr kumimoji="0" lang="en-US" sz="1200" b="0" i="0" u="none" strike="noStrike" kern="0" cap="none" spc="0" normalizeH="0" baseline="0" noProof="0">
                <a:ln w="0"/>
                <a:solidFill>
                  <a:srgbClr val="1D8900"/>
                </a:solidFill>
                <a:effectLst/>
                <a:uLnTx/>
                <a:uFillTx/>
                <a:latin typeface="Arial" panose="020B0604020202020204"/>
                <a:ea typeface="+mn-ea"/>
                <a:cs typeface="+mn-cs"/>
              </a:endParaRPr>
            </a:p>
          </p:txBody>
        </p:sp>
        <p:pic>
          <p:nvPicPr>
            <p:cNvPr id="18" name="Graphic 22">
              <a:extLst>
                <a:ext uri="{FF2B5EF4-FFF2-40B4-BE49-F238E27FC236}">
                  <a16:creationId xmlns:a16="http://schemas.microsoft.com/office/drawing/2014/main" id="{365187D5-F35A-42DE-A031-78B32F82F27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89239" y="2017109"/>
              <a:ext cx="457200" cy="457200"/>
            </a:xfrm>
            <a:prstGeom prst="rect">
              <a:avLst/>
            </a:prstGeom>
          </p:spPr>
        </p:pic>
        <p:pic>
          <p:nvPicPr>
            <p:cNvPr id="19" name="Graphic 24">
              <a:extLst>
                <a:ext uri="{FF2B5EF4-FFF2-40B4-BE49-F238E27FC236}">
                  <a16:creationId xmlns:a16="http://schemas.microsoft.com/office/drawing/2014/main" id="{B6D96608-0E9C-4CD3-AEFA-2D603494727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56337" y="2327133"/>
              <a:ext cx="457200" cy="457200"/>
            </a:xfrm>
            <a:prstGeom prst="rect">
              <a:avLst/>
            </a:prstGeom>
          </p:spPr>
        </p:pic>
        <p:pic>
          <p:nvPicPr>
            <p:cNvPr id="20" name="Graphic 26">
              <a:extLst>
                <a:ext uri="{FF2B5EF4-FFF2-40B4-BE49-F238E27FC236}">
                  <a16:creationId xmlns:a16="http://schemas.microsoft.com/office/drawing/2014/main" id="{AF74714E-C73E-4151-B10D-A7A3F506B5B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56337" y="3892079"/>
              <a:ext cx="457200" cy="457200"/>
            </a:xfrm>
            <a:prstGeom prst="rect">
              <a:avLst/>
            </a:prstGeom>
          </p:spPr>
        </p:pic>
        <p:sp>
          <p:nvSpPr>
            <p:cNvPr id="21" name="Rectangle 20">
              <a:extLst>
                <a:ext uri="{FF2B5EF4-FFF2-40B4-BE49-F238E27FC236}">
                  <a16:creationId xmlns:a16="http://schemas.microsoft.com/office/drawing/2014/main" id="{22279CA6-02AE-48FD-9BAD-15D6DCB4EC90}"/>
                </a:ext>
                <a:ext uri="{C183D7F6-B498-43B3-948B-1728B52AA6E4}">
                  <adec:decorative xmlns:adec="http://schemas.microsoft.com/office/drawing/2017/decorative" val="1"/>
                </a:ext>
              </a:extLst>
            </p:cNvPr>
            <p:cNvSpPr/>
            <p:nvPr/>
          </p:nvSpPr>
          <p:spPr>
            <a:xfrm>
              <a:off x="2535419" y="1263105"/>
              <a:ext cx="7121162" cy="47680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22" name="Graphic 29">
              <a:extLst>
                <a:ext uri="{FF2B5EF4-FFF2-40B4-BE49-F238E27FC236}">
                  <a16:creationId xmlns:a16="http://schemas.microsoft.com/office/drawing/2014/main" id="{D28C2583-A2B4-4920-9E7E-A8ED67FCD980}"/>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535419" y="1263105"/>
              <a:ext cx="457200" cy="45720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dirty="0">
                <a:solidFill>
                  <a:srgbClr val="FF0000"/>
                </a:solidFill>
              </a:rPr>
              <a:t>High Availability :Multi A-Z Deployment      </a:t>
            </a:r>
          </a:p>
        </p:txBody>
      </p:sp>
      <p:grpSp>
        <p:nvGrpSpPr>
          <p:cNvPr id="4" name="Group 3" descr="A highly available Amazon RDS installation described in notes.">
            <a:extLst>
              <a:ext uri="{FF2B5EF4-FFF2-40B4-BE49-F238E27FC236}">
                <a16:creationId xmlns:a16="http://schemas.microsoft.com/office/drawing/2014/main" id="{5D4D9B87-9726-4481-94D6-E72B6068257F}"/>
              </a:ext>
            </a:extLst>
          </p:cNvPr>
          <p:cNvGrpSpPr/>
          <p:nvPr/>
        </p:nvGrpSpPr>
        <p:grpSpPr>
          <a:xfrm>
            <a:off x="304800" y="1666494"/>
            <a:ext cx="8450770" cy="4200906"/>
            <a:chOff x="481788" y="1285494"/>
            <a:chExt cx="10043539" cy="5029200"/>
          </a:xfrm>
        </p:grpSpPr>
        <p:sp>
          <p:nvSpPr>
            <p:cNvPr id="5" name="Rectangle 4">
              <a:extLst>
                <a:ext uri="{FF2B5EF4-FFF2-40B4-BE49-F238E27FC236}">
                  <a16:creationId xmlns:a16="http://schemas.microsoft.com/office/drawing/2014/main" id="{9455F131-57EC-4755-B3DF-3A7FC2512D34}"/>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6" name="Rectangle 5">
              <a:extLst>
                <a:ext uri="{FF2B5EF4-FFF2-40B4-BE49-F238E27FC236}">
                  <a16:creationId xmlns:a16="http://schemas.microsoft.com/office/drawing/2014/main" id="{13D1BB49-83FE-4F55-93EA-953CF26F7A53}"/>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 name="Rectangle 6">
              <a:extLst>
                <a:ext uri="{FF2B5EF4-FFF2-40B4-BE49-F238E27FC236}">
                  <a16:creationId xmlns:a16="http://schemas.microsoft.com/office/drawing/2014/main" id="{066D2D6A-9803-407D-9702-C746F7FAE4B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8" name="Rectangle 7">
              <a:extLst>
                <a:ext uri="{FF2B5EF4-FFF2-40B4-BE49-F238E27FC236}">
                  <a16:creationId xmlns:a16="http://schemas.microsoft.com/office/drawing/2014/main" id="{CB3BD354-6E27-439B-8FF6-9CF902DE9991}"/>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9" name="TextBox 8">
              <a:extLst>
                <a:ext uri="{FF2B5EF4-FFF2-40B4-BE49-F238E27FC236}">
                  <a16:creationId xmlns:a16="http://schemas.microsoft.com/office/drawing/2014/main" id="{7F509C97-4039-4E72-A2DB-943EA9C9E3D0}"/>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a:t>Amazon EC2</a:t>
              </a:r>
            </a:p>
          </p:txBody>
        </p:sp>
        <p:pic>
          <p:nvPicPr>
            <p:cNvPr id="10" name="Graphic 13">
              <a:extLst>
                <a:ext uri="{FF2B5EF4-FFF2-40B4-BE49-F238E27FC236}">
                  <a16:creationId xmlns:a16="http://schemas.microsoft.com/office/drawing/2014/main" id="{5EEDF96C-F99E-466A-8D6E-3A7CCEF6D90A}"/>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3858590" y="2794773"/>
              <a:ext cx="483546" cy="483546"/>
            </a:xfrm>
            <a:prstGeom prst="rect">
              <a:avLst/>
            </a:prstGeom>
          </p:spPr>
        </p:pic>
        <p:sp>
          <p:nvSpPr>
            <p:cNvPr id="11" name="Rectangle 10">
              <a:extLst>
                <a:ext uri="{FF2B5EF4-FFF2-40B4-BE49-F238E27FC236}">
                  <a16:creationId xmlns:a16="http://schemas.microsoft.com/office/drawing/2014/main" id="{2E957F3C-F1F2-413F-BBC7-0F5B00301EB1}"/>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sp>
          <p:nvSpPr>
            <p:cNvPr id="12" name="TextBox 11">
              <a:extLst>
                <a:ext uri="{FF2B5EF4-FFF2-40B4-BE49-F238E27FC236}">
                  <a16:creationId xmlns:a16="http://schemas.microsoft.com/office/drawing/2014/main" id="{2EFA3128-303E-4525-B238-4A89F29D1D90}"/>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a:t>Amazon RDS </a:t>
              </a:r>
            </a:p>
            <a:p>
              <a:pPr algn="ctr"/>
              <a:r>
                <a:rPr lang="en-US" sz="1600"/>
                <a:t>instance</a:t>
              </a:r>
            </a:p>
          </p:txBody>
        </p:sp>
        <p:pic>
          <p:nvPicPr>
            <p:cNvPr id="13" name="Graphic 18">
              <a:extLst>
                <a:ext uri="{FF2B5EF4-FFF2-40B4-BE49-F238E27FC236}">
                  <a16:creationId xmlns:a16="http://schemas.microsoft.com/office/drawing/2014/main" id="{D9934DEB-30C0-46E4-B3A1-69C2379BD26D}"/>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123114" y="4477337"/>
              <a:ext cx="537998" cy="537998"/>
            </a:xfrm>
            <a:prstGeom prst="rect">
              <a:avLst/>
            </a:prstGeom>
          </p:spPr>
        </p:pic>
        <p:pic>
          <p:nvPicPr>
            <p:cNvPr id="14" name="Graphic 20">
              <a:extLst>
                <a:ext uri="{FF2B5EF4-FFF2-40B4-BE49-F238E27FC236}">
                  <a16:creationId xmlns:a16="http://schemas.microsoft.com/office/drawing/2014/main" id="{00DAF2D9-0409-4462-8A57-BB082492FA53}"/>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8638924" y="4477337"/>
              <a:ext cx="537998" cy="537998"/>
            </a:xfrm>
            <a:prstGeom prst="rect">
              <a:avLst/>
            </a:prstGeom>
          </p:spPr>
        </p:pic>
        <p:sp>
          <p:nvSpPr>
            <p:cNvPr id="15" name="TextBox 14">
              <a:extLst>
                <a:ext uri="{FF2B5EF4-FFF2-40B4-BE49-F238E27FC236}">
                  <a16:creationId xmlns:a16="http://schemas.microsoft.com/office/drawing/2014/main" id="{44F34524-C9A9-4275-A8FF-EB18D52A4A5C}"/>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16" name="Arrow: Right 23">
              <a:extLst>
                <a:ext uri="{FF2B5EF4-FFF2-40B4-BE49-F238E27FC236}">
                  <a16:creationId xmlns:a16="http://schemas.microsoft.com/office/drawing/2014/main" id="{3DC49E07-9B0F-423E-B6BD-3CE0BEF4D03E}"/>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098B912-3263-44CA-83A3-7313F1005C65}"/>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18" name="Rectangle: Rounded Corners 26">
              <a:extLst>
                <a:ext uri="{FF2B5EF4-FFF2-40B4-BE49-F238E27FC236}">
                  <a16:creationId xmlns:a16="http://schemas.microsoft.com/office/drawing/2014/main" id="{E2C789F1-5B78-4F51-877D-228065DA0223}"/>
                </a:ext>
                <a:ext uri="{C183D7F6-B498-43B3-948B-1728B52AA6E4}">
                  <adec:decorative xmlns:adec="http://schemas.microsoft.com/office/drawing/2017/decorative" val="1"/>
                </a:ext>
              </a:extLst>
            </p:cNvPr>
            <p:cNvSpPr/>
            <p:nvPr/>
          </p:nvSpPr>
          <p:spPr>
            <a:xfrm>
              <a:off x="5163284" y="2781300"/>
              <a:ext cx="483546" cy="430116"/>
            </a:xfrm>
            <a:prstGeom prst="roundRect">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B1BE309-3F10-4D67-8B1D-ECD92FC4BF46}"/>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20" name="Straight Arrow Connector 19">
              <a:extLst>
                <a:ext uri="{FF2B5EF4-FFF2-40B4-BE49-F238E27FC236}">
                  <a16:creationId xmlns:a16="http://schemas.microsoft.com/office/drawing/2014/main" id="{D0870AC5-D921-482E-9E1D-6FAFCAE81492}"/>
                </a:ext>
                <a:ext uri="{C183D7F6-B498-43B3-948B-1728B52AA6E4}">
                  <adec:decorative xmlns:adec="http://schemas.microsoft.com/office/drawing/2017/decorative" val="1"/>
                </a:ext>
              </a:extLst>
            </p:cNvPr>
            <p:cNvCxnSpPr>
              <a:cxnSpLocks/>
            </p:cNvCxnSpPr>
            <p:nvPr/>
          </p:nvCxnSpPr>
          <p:spPr>
            <a:xfrm>
              <a:off x="5372806" y="3737088"/>
              <a:ext cx="0" cy="62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1" name="Group 10">
              <a:extLst>
                <a:ext uri="{FF2B5EF4-FFF2-40B4-BE49-F238E27FC236}">
                  <a16:creationId xmlns:a16="http://schemas.microsoft.com/office/drawing/2014/main" id="{20BBAAF5-4259-4917-B261-7458F6B6F55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32" name="Graphic 21">
                <a:extLst>
                  <a:ext uri="{FF2B5EF4-FFF2-40B4-BE49-F238E27FC236}">
                    <a16:creationId xmlns:a16="http://schemas.microsoft.com/office/drawing/2014/main" id="{6D5691E8-E7FB-4E5E-AA6C-2BAF3953EAE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73782" y="4434743"/>
                <a:ext cx="640080" cy="640080"/>
              </a:xfrm>
              <a:prstGeom prst="rect">
                <a:avLst/>
              </a:prstGeom>
            </p:spPr>
          </p:pic>
          <p:sp>
            <p:nvSpPr>
              <p:cNvPr id="33" name="TextBox 32">
                <a:extLst>
                  <a:ext uri="{FF2B5EF4-FFF2-40B4-BE49-F238E27FC236}">
                    <a16:creationId xmlns:a16="http://schemas.microsoft.com/office/drawing/2014/main" id="{926D40D9-716F-4C28-8B31-02F09D576A6B}"/>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22" name="Group 11">
              <a:extLst>
                <a:ext uri="{FF2B5EF4-FFF2-40B4-BE49-F238E27FC236}">
                  <a16:creationId xmlns:a16="http://schemas.microsoft.com/office/drawing/2014/main" id="{0F00EAFB-55F9-417C-82E1-A0F49531EED2}"/>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30" name="Graphic 22">
                <a:extLst>
                  <a:ext uri="{FF2B5EF4-FFF2-40B4-BE49-F238E27FC236}">
                    <a16:creationId xmlns:a16="http://schemas.microsoft.com/office/drawing/2014/main" id="{D3624129-F22A-4711-808A-4C7C7E9F0A5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08355" y="4443120"/>
                <a:ext cx="640080" cy="640080"/>
              </a:xfrm>
              <a:prstGeom prst="rect">
                <a:avLst/>
              </a:prstGeom>
            </p:spPr>
          </p:pic>
          <p:sp>
            <p:nvSpPr>
              <p:cNvPr id="31" name="TextBox 30">
                <a:extLst>
                  <a:ext uri="{FF2B5EF4-FFF2-40B4-BE49-F238E27FC236}">
                    <a16:creationId xmlns:a16="http://schemas.microsoft.com/office/drawing/2014/main" id="{7D273392-65A6-45CE-9111-70AEF1348102}"/>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23" name="Rectangle 22">
              <a:extLst>
                <a:ext uri="{FF2B5EF4-FFF2-40B4-BE49-F238E27FC236}">
                  <a16:creationId xmlns:a16="http://schemas.microsoft.com/office/drawing/2014/main" id="{89655387-E100-442B-AD13-CF28670E13FE}"/>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24" name="Graphic 34">
              <a:extLst>
                <a:ext uri="{FF2B5EF4-FFF2-40B4-BE49-F238E27FC236}">
                  <a16:creationId xmlns:a16="http://schemas.microsoft.com/office/drawing/2014/main" id="{17D7D8B7-8BEE-43FA-9AB1-7D5042ABD31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1789" y="1285494"/>
              <a:ext cx="457200" cy="457200"/>
            </a:xfrm>
            <a:prstGeom prst="rect">
              <a:avLst/>
            </a:prstGeom>
          </p:spPr>
        </p:pic>
        <p:pic>
          <p:nvPicPr>
            <p:cNvPr id="25" name="Graphic 35">
              <a:extLst>
                <a:ext uri="{FF2B5EF4-FFF2-40B4-BE49-F238E27FC236}">
                  <a16:creationId xmlns:a16="http://schemas.microsoft.com/office/drawing/2014/main" id="{185D30FF-3222-4893-8462-6AB6AE58225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99617" y="2026835"/>
              <a:ext cx="457200" cy="457200"/>
            </a:xfrm>
            <a:prstGeom prst="rect">
              <a:avLst/>
            </a:prstGeom>
          </p:spPr>
        </p:pic>
        <p:pic>
          <p:nvPicPr>
            <p:cNvPr id="26" name="Graphic 43">
              <a:extLst>
                <a:ext uri="{FF2B5EF4-FFF2-40B4-BE49-F238E27FC236}">
                  <a16:creationId xmlns:a16="http://schemas.microsoft.com/office/drawing/2014/main" id="{E019D1BE-2568-4D77-824C-AE7D19351FC2}"/>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173417" y="2232916"/>
              <a:ext cx="457200" cy="457200"/>
            </a:xfrm>
            <a:prstGeom prst="rect">
              <a:avLst/>
            </a:prstGeom>
          </p:spPr>
        </p:pic>
        <p:pic>
          <p:nvPicPr>
            <p:cNvPr id="27" name="Graphic 44">
              <a:extLst>
                <a:ext uri="{FF2B5EF4-FFF2-40B4-BE49-F238E27FC236}">
                  <a16:creationId xmlns:a16="http://schemas.microsoft.com/office/drawing/2014/main" id="{3887EBDD-B772-47E7-8B7F-AD34AB0E77B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90567" y="4087465"/>
              <a:ext cx="457200" cy="457200"/>
            </a:xfrm>
            <a:prstGeom prst="rect">
              <a:avLst/>
            </a:prstGeom>
          </p:spPr>
        </p:pic>
        <p:pic>
          <p:nvPicPr>
            <p:cNvPr id="28" name="Graphic 46">
              <a:extLst>
                <a:ext uri="{FF2B5EF4-FFF2-40B4-BE49-F238E27FC236}">
                  <a16:creationId xmlns:a16="http://schemas.microsoft.com/office/drawing/2014/main" id="{2E37ACA7-EDB7-4EE4-85B2-27347A464E2C}"/>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085626" y="4087465"/>
              <a:ext cx="457200" cy="457200"/>
            </a:xfrm>
            <a:prstGeom prst="rect">
              <a:avLst/>
            </a:prstGeom>
          </p:spPr>
        </p:pic>
        <p:sp>
          <p:nvSpPr>
            <p:cNvPr id="29" name="Rectangle 28">
              <a:extLst>
                <a:ext uri="{FF2B5EF4-FFF2-40B4-BE49-F238E27FC236}">
                  <a16:creationId xmlns:a16="http://schemas.microsoft.com/office/drawing/2014/main" id="{C500A324-16E2-4EC0-87BA-F36B0282DDEC}"/>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1143000"/>
          </a:xfrm>
        </p:spPr>
        <p:txBody>
          <a:bodyPr>
            <a:normAutofit fontScale="90000"/>
          </a:bodyPr>
          <a:lstStyle/>
          <a:p>
            <a:r>
              <a:rPr lang="en-US" dirty="0">
                <a:solidFill>
                  <a:srgbClr val="FF0000"/>
                </a:solidFill>
              </a:rPr>
              <a:t>High Availability :Multi A-Z Deployment </a:t>
            </a:r>
            <a:endParaRPr lang="en-US" dirty="0"/>
          </a:p>
        </p:txBody>
      </p:sp>
      <p:grpSp>
        <p:nvGrpSpPr>
          <p:cNvPr id="4" name="Group 3" descr="A highly available Amazon RDS installation with RDS standby instance added.">
            <a:extLst>
              <a:ext uri="{FF2B5EF4-FFF2-40B4-BE49-F238E27FC236}">
                <a16:creationId xmlns:a16="http://schemas.microsoft.com/office/drawing/2014/main" id="{7863E492-8404-4830-BABE-0F046F53C602}"/>
              </a:ext>
            </a:extLst>
          </p:cNvPr>
          <p:cNvGrpSpPr/>
          <p:nvPr/>
        </p:nvGrpSpPr>
        <p:grpSpPr>
          <a:xfrm>
            <a:off x="228600" y="2185826"/>
            <a:ext cx="8436702" cy="4214974"/>
            <a:chOff x="481788" y="1285494"/>
            <a:chExt cx="10043539" cy="5029200"/>
          </a:xfrm>
        </p:grpSpPr>
        <p:sp>
          <p:nvSpPr>
            <p:cNvPr id="5" name="Rectangle 4">
              <a:extLst>
                <a:ext uri="{FF2B5EF4-FFF2-40B4-BE49-F238E27FC236}">
                  <a16:creationId xmlns:a16="http://schemas.microsoft.com/office/drawing/2014/main" id="{FD391F98-7650-49C7-A14D-AA704B126158}"/>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6" name="Rectangle 5">
              <a:extLst>
                <a:ext uri="{FF2B5EF4-FFF2-40B4-BE49-F238E27FC236}">
                  <a16:creationId xmlns:a16="http://schemas.microsoft.com/office/drawing/2014/main" id="{405B6E94-3202-475D-B9AB-86FDE20C6010}"/>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 name="Rectangle 6">
              <a:extLst>
                <a:ext uri="{FF2B5EF4-FFF2-40B4-BE49-F238E27FC236}">
                  <a16:creationId xmlns:a16="http://schemas.microsoft.com/office/drawing/2014/main" id="{2DF796BB-1B1D-4FE1-BA0C-D5632B5DAE9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8" name="Rectangle 7">
              <a:extLst>
                <a:ext uri="{FF2B5EF4-FFF2-40B4-BE49-F238E27FC236}">
                  <a16:creationId xmlns:a16="http://schemas.microsoft.com/office/drawing/2014/main" id="{321203B5-6250-4B34-8734-07862D1AB425}"/>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9" name="TextBox 8">
              <a:extLst>
                <a:ext uri="{FF2B5EF4-FFF2-40B4-BE49-F238E27FC236}">
                  <a16:creationId xmlns:a16="http://schemas.microsoft.com/office/drawing/2014/main" id="{3F922F27-7505-4A2D-BE04-3A1C690FED9D}"/>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a:t>Amazon EC2</a:t>
              </a:r>
            </a:p>
          </p:txBody>
        </p:sp>
        <p:pic>
          <p:nvPicPr>
            <p:cNvPr id="10" name="Graphic 77">
              <a:extLst>
                <a:ext uri="{FF2B5EF4-FFF2-40B4-BE49-F238E27FC236}">
                  <a16:creationId xmlns:a16="http://schemas.microsoft.com/office/drawing/2014/main" id="{16C8FD5B-87F9-4933-B830-264D41B166F2}"/>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3858590" y="2794773"/>
              <a:ext cx="483546" cy="483546"/>
            </a:xfrm>
            <a:prstGeom prst="rect">
              <a:avLst/>
            </a:prstGeom>
          </p:spPr>
        </p:pic>
        <p:sp>
          <p:nvSpPr>
            <p:cNvPr id="11" name="Rectangle 10">
              <a:extLst>
                <a:ext uri="{FF2B5EF4-FFF2-40B4-BE49-F238E27FC236}">
                  <a16:creationId xmlns:a16="http://schemas.microsoft.com/office/drawing/2014/main" id="{F35E07FA-66AB-41ED-8CF5-4807288AA2CE}"/>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sp>
          <p:nvSpPr>
            <p:cNvPr id="12" name="TextBox 11">
              <a:extLst>
                <a:ext uri="{FF2B5EF4-FFF2-40B4-BE49-F238E27FC236}">
                  <a16:creationId xmlns:a16="http://schemas.microsoft.com/office/drawing/2014/main" id="{E0567F96-BD1A-45C4-9BC6-91EA8B3C45F2}"/>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a:t>Amazon RDS </a:t>
              </a:r>
            </a:p>
            <a:p>
              <a:pPr algn="ctr"/>
              <a:r>
                <a:rPr lang="en-US" sz="1600"/>
                <a:t>instance</a:t>
              </a:r>
            </a:p>
          </p:txBody>
        </p:sp>
        <p:pic>
          <p:nvPicPr>
            <p:cNvPr id="13" name="Graphic 80">
              <a:extLst>
                <a:ext uri="{FF2B5EF4-FFF2-40B4-BE49-F238E27FC236}">
                  <a16:creationId xmlns:a16="http://schemas.microsoft.com/office/drawing/2014/main" id="{FD25E9E2-5EBA-4FCF-B722-B243EAF12E6C}"/>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123114" y="4477337"/>
              <a:ext cx="537998" cy="537998"/>
            </a:xfrm>
            <a:prstGeom prst="rect">
              <a:avLst/>
            </a:prstGeom>
          </p:spPr>
        </p:pic>
        <p:pic>
          <p:nvPicPr>
            <p:cNvPr id="14" name="Graphic 81">
              <a:extLst>
                <a:ext uri="{FF2B5EF4-FFF2-40B4-BE49-F238E27FC236}">
                  <a16:creationId xmlns:a16="http://schemas.microsoft.com/office/drawing/2014/main" id="{DEBCD08C-26B9-4520-A018-F5142D5BA1CE}"/>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8638924" y="4477337"/>
              <a:ext cx="537998" cy="537998"/>
            </a:xfrm>
            <a:prstGeom prst="rect">
              <a:avLst/>
            </a:prstGeom>
          </p:spPr>
        </p:pic>
        <p:sp>
          <p:nvSpPr>
            <p:cNvPr id="15" name="TextBox 14">
              <a:extLst>
                <a:ext uri="{FF2B5EF4-FFF2-40B4-BE49-F238E27FC236}">
                  <a16:creationId xmlns:a16="http://schemas.microsoft.com/office/drawing/2014/main" id="{CB2FC539-AF48-45C4-A078-EC1235CC6007}"/>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16" name="Arrow: Right 83">
              <a:extLst>
                <a:ext uri="{FF2B5EF4-FFF2-40B4-BE49-F238E27FC236}">
                  <a16:creationId xmlns:a16="http://schemas.microsoft.com/office/drawing/2014/main" id="{52042024-63B8-478D-AFA9-88335DA7D720}"/>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6AC5C8-EC03-4198-9A4E-D0C215C89FCD}"/>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18" name="Rectangle: Rounded Corners 85">
              <a:extLst>
                <a:ext uri="{FF2B5EF4-FFF2-40B4-BE49-F238E27FC236}">
                  <a16:creationId xmlns:a16="http://schemas.microsoft.com/office/drawing/2014/main" id="{83225A90-D51E-45A5-BB1C-4A8AD6D8A580}"/>
                </a:ext>
                <a:ext uri="{C183D7F6-B498-43B3-948B-1728B52AA6E4}">
                  <adec:decorative xmlns:adec="http://schemas.microsoft.com/office/drawing/2017/decorative" val="1"/>
                </a:ext>
              </a:extLst>
            </p:cNvPr>
            <p:cNvSpPr/>
            <p:nvPr/>
          </p:nvSpPr>
          <p:spPr>
            <a:xfrm>
              <a:off x="5163284" y="2781300"/>
              <a:ext cx="483546" cy="430116"/>
            </a:xfrm>
            <a:prstGeom prst="roundRect">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5E66610-0243-4FAC-99CB-CA5CF2035B8E}"/>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grpSp>
          <p:nvGrpSpPr>
            <p:cNvPr id="20" name="Group 88">
              <a:extLst>
                <a:ext uri="{FF2B5EF4-FFF2-40B4-BE49-F238E27FC236}">
                  <a16:creationId xmlns:a16="http://schemas.microsoft.com/office/drawing/2014/main" id="{2A1EC45C-80E6-4DAB-87C3-1EC7A74DA83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31" name="Graphic 99">
                <a:extLst>
                  <a:ext uri="{FF2B5EF4-FFF2-40B4-BE49-F238E27FC236}">
                    <a16:creationId xmlns:a16="http://schemas.microsoft.com/office/drawing/2014/main" id="{1BEF4BBF-5B49-4193-9EB1-B4D744F9C2C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73782" y="4434743"/>
                <a:ext cx="640080" cy="640080"/>
              </a:xfrm>
              <a:prstGeom prst="rect">
                <a:avLst/>
              </a:prstGeom>
            </p:spPr>
          </p:pic>
          <p:sp>
            <p:nvSpPr>
              <p:cNvPr id="32" name="TextBox 31">
                <a:extLst>
                  <a:ext uri="{FF2B5EF4-FFF2-40B4-BE49-F238E27FC236}">
                    <a16:creationId xmlns:a16="http://schemas.microsoft.com/office/drawing/2014/main" id="{935D8027-30BF-487C-AA87-AF73E7227F59}"/>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21" name="Group 89">
              <a:extLst>
                <a:ext uri="{FF2B5EF4-FFF2-40B4-BE49-F238E27FC236}">
                  <a16:creationId xmlns:a16="http://schemas.microsoft.com/office/drawing/2014/main" id="{4DF481B5-5089-4B8A-B670-86E4273B4FB7}"/>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29" name="Graphic 97">
                <a:extLst>
                  <a:ext uri="{FF2B5EF4-FFF2-40B4-BE49-F238E27FC236}">
                    <a16:creationId xmlns:a16="http://schemas.microsoft.com/office/drawing/2014/main" id="{63A876FF-6593-443D-AE3E-6F589F3605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08355" y="4443120"/>
                <a:ext cx="640080" cy="640080"/>
              </a:xfrm>
              <a:prstGeom prst="rect">
                <a:avLst/>
              </a:prstGeom>
            </p:spPr>
          </p:pic>
          <p:sp>
            <p:nvSpPr>
              <p:cNvPr id="30" name="TextBox 29">
                <a:extLst>
                  <a:ext uri="{FF2B5EF4-FFF2-40B4-BE49-F238E27FC236}">
                    <a16:creationId xmlns:a16="http://schemas.microsoft.com/office/drawing/2014/main" id="{86B610C7-4B5C-49DB-8473-ADEF80AD6C0D}"/>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22" name="Rectangle 21">
              <a:extLst>
                <a:ext uri="{FF2B5EF4-FFF2-40B4-BE49-F238E27FC236}">
                  <a16:creationId xmlns:a16="http://schemas.microsoft.com/office/drawing/2014/main" id="{C1CD1D85-BD0B-48DC-B30F-371A7AAA732C}"/>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23" name="Graphic 91">
              <a:extLst>
                <a:ext uri="{FF2B5EF4-FFF2-40B4-BE49-F238E27FC236}">
                  <a16:creationId xmlns:a16="http://schemas.microsoft.com/office/drawing/2014/main" id="{9AF9FB04-BA5E-49A6-8061-E428F129CB0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1789" y="1285494"/>
              <a:ext cx="457200" cy="457200"/>
            </a:xfrm>
            <a:prstGeom prst="rect">
              <a:avLst/>
            </a:prstGeom>
          </p:spPr>
        </p:pic>
        <p:pic>
          <p:nvPicPr>
            <p:cNvPr id="24" name="Graphic 92">
              <a:extLst>
                <a:ext uri="{FF2B5EF4-FFF2-40B4-BE49-F238E27FC236}">
                  <a16:creationId xmlns:a16="http://schemas.microsoft.com/office/drawing/2014/main" id="{D7EC72BC-3CF5-44F8-A28E-6C871B08B439}"/>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99617" y="2026835"/>
              <a:ext cx="457200" cy="457200"/>
            </a:xfrm>
            <a:prstGeom prst="rect">
              <a:avLst/>
            </a:prstGeom>
          </p:spPr>
        </p:pic>
        <p:pic>
          <p:nvPicPr>
            <p:cNvPr id="25" name="Graphic 93">
              <a:extLst>
                <a:ext uri="{FF2B5EF4-FFF2-40B4-BE49-F238E27FC236}">
                  <a16:creationId xmlns:a16="http://schemas.microsoft.com/office/drawing/2014/main" id="{77DA19CB-5499-420B-8431-5DB628CEAE6C}"/>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173417" y="2232916"/>
              <a:ext cx="457200" cy="457200"/>
            </a:xfrm>
            <a:prstGeom prst="rect">
              <a:avLst/>
            </a:prstGeom>
          </p:spPr>
        </p:pic>
        <p:pic>
          <p:nvPicPr>
            <p:cNvPr id="26" name="Graphic 94">
              <a:extLst>
                <a:ext uri="{FF2B5EF4-FFF2-40B4-BE49-F238E27FC236}">
                  <a16:creationId xmlns:a16="http://schemas.microsoft.com/office/drawing/2014/main" id="{03DB0D71-EE19-48A3-9CAB-99FD3B770AA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90567" y="4087465"/>
              <a:ext cx="457200" cy="457200"/>
            </a:xfrm>
            <a:prstGeom prst="rect">
              <a:avLst/>
            </a:prstGeom>
          </p:spPr>
        </p:pic>
        <p:pic>
          <p:nvPicPr>
            <p:cNvPr id="27" name="Graphic 95">
              <a:extLst>
                <a:ext uri="{FF2B5EF4-FFF2-40B4-BE49-F238E27FC236}">
                  <a16:creationId xmlns:a16="http://schemas.microsoft.com/office/drawing/2014/main" id="{39808C51-C401-426E-8DBA-E3CB74B3768F}"/>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085626" y="4087465"/>
              <a:ext cx="457200" cy="457200"/>
            </a:xfrm>
            <a:prstGeom prst="rect">
              <a:avLst/>
            </a:prstGeom>
          </p:spPr>
        </p:pic>
        <p:sp>
          <p:nvSpPr>
            <p:cNvPr id="28" name="Rectangle 27">
              <a:extLst>
                <a:ext uri="{FF2B5EF4-FFF2-40B4-BE49-F238E27FC236}">
                  <a16:creationId xmlns:a16="http://schemas.microsoft.com/office/drawing/2014/main" id="{368E34BC-0016-478D-ACAA-D4CD50491A90}"/>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descr="Amazon RDS Multi-AZ deployment How It Work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64" y="1915755"/>
            <a:ext cx="8329736" cy="38754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d1.awsstatic.com/product-marketing/RDS/multi-az-hiw/product-page-diagram_TAZ_HIW%402x.6f3eb10806556325bec1ac3348693d8ee58a99b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47" y="1928760"/>
            <a:ext cx="9204519" cy="4243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RDS read replicas</a:t>
            </a:r>
          </a:p>
        </p:txBody>
      </p:sp>
      <p:sp>
        <p:nvSpPr>
          <p:cNvPr id="3" name="Content Placeholder 2"/>
          <p:cNvSpPr>
            <a:spLocks noGrp="1"/>
          </p:cNvSpPr>
          <p:nvPr>
            <p:ph idx="1"/>
          </p:nvPr>
        </p:nvSpPr>
        <p:spPr>
          <a:xfrm>
            <a:off x="457200" y="1600200"/>
            <a:ext cx="3352800" cy="4525963"/>
          </a:xfrm>
        </p:spPr>
        <p:txBody>
          <a:bodyPr>
            <a:normAutofit fontScale="77500" lnSpcReduction="20000"/>
          </a:bodyPr>
          <a:lstStyle/>
          <a:p>
            <a:pPr marL="0" indent="0">
              <a:buNone/>
            </a:pPr>
            <a:r>
              <a:rPr lang="en-US" b="1" dirty="0"/>
              <a:t>Features</a:t>
            </a:r>
          </a:p>
          <a:p>
            <a:r>
              <a:rPr lang="en-US" dirty="0"/>
              <a:t>Offers asynchronous replication </a:t>
            </a:r>
          </a:p>
          <a:p>
            <a:r>
              <a:rPr lang="en-US" dirty="0"/>
              <a:t>Can be promoted to primary if needed</a:t>
            </a:r>
          </a:p>
          <a:p>
            <a:pPr marL="0" indent="0">
              <a:buNone/>
            </a:pPr>
            <a:endParaRPr lang="en-US" dirty="0"/>
          </a:p>
          <a:p>
            <a:pPr marL="0" indent="0">
              <a:buNone/>
            </a:pPr>
            <a:r>
              <a:rPr lang="en-US" b="1" dirty="0"/>
              <a:t>Functionality</a:t>
            </a:r>
          </a:p>
          <a:p>
            <a:r>
              <a:rPr lang="en-US" dirty="0"/>
              <a:t>Use for read-heavy database workloads</a:t>
            </a:r>
          </a:p>
          <a:p>
            <a:r>
              <a:rPr lang="en-US" dirty="0"/>
              <a:t>Offload read queries</a:t>
            </a:r>
          </a:p>
          <a:p>
            <a:endParaRPr lang="en-US" dirty="0"/>
          </a:p>
        </p:txBody>
      </p:sp>
      <p:grpSp>
        <p:nvGrpSpPr>
          <p:cNvPr id="4" name="Group 3" descr="Amazon RDS instance with read replica in VPC private subnet.">
            <a:extLst>
              <a:ext uri="{FF2B5EF4-FFF2-40B4-BE49-F238E27FC236}">
                <a16:creationId xmlns:a16="http://schemas.microsoft.com/office/drawing/2014/main" id="{DAB7EDA7-FAAE-41ED-9DCD-EE5F3D5811F6}"/>
              </a:ext>
            </a:extLst>
          </p:cNvPr>
          <p:cNvGrpSpPr/>
          <p:nvPr/>
        </p:nvGrpSpPr>
        <p:grpSpPr>
          <a:xfrm>
            <a:off x="3810000" y="1981200"/>
            <a:ext cx="5181600" cy="4247572"/>
            <a:chOff x="5899867" y="1285494"/>
            <a:chExt cx="5930383" cy="4943278"/>
          </a:xfrm>
        </p:grpSpPr>
        <p:sp>
          <p:nvSpPr>
            <p:cNvPr id="5" name="Rectangle 4">
              <a:extLst>
                <a:ext uri="{FF2B5EF4-FFF2-40B4-BE49-F238E27FC236}">
                  <a16:creationId xmlns:a16="http://schemas.microsoft.com/office/drawing/2014/main" id="{9883898F-CE37-4DDA-A5CF-C46C16214581}"/>
                </a:ext>
                <a:ext uri="{C183D7F6-B498-43B3-948B-1728B52AA6E4}">
                  <adec:decorative xmlns:adec="http://schemas.microsoft.com/office/drawing/2017/decorative" val="1"/>
                </a:ext>
              </a:extLst>
            </p:cNvPr>
            <p:cNvSpPr/>
            <p:nvPr/>
          </p:nvSpPr>
          <p:spPr>
            <a:xfrm>
              <a:off x="7426379" y="4012079"/>
              <a:ext cx="3657600" cy="172095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6" name="Rectangle 5">
              <a:extLst>
                <a:ext uri="{FF2B5EF4-FFF2-40B4-BE49-F238E27FC236}">
                  <a16:creationId xmlns:a16="http://schemas.microsoft.com/office/drawing/2014/main" id="{C2DCD6A6-7E5F-47E6-B1D0-4402E826C980}"/>
                </a:ext>
                <a:ext uri="{C183D7F6-B498-43B3-948B-1728B52AA6E4}">
                  <adec:decorative xmlns:adec="http://schemas.microsoft.com/office/drawing/2017/decorative" val="1"/>
                </a:ext>
              </a:extLst>
            </p:cNvPr>
            <p:cNvSpPr/>
            <p:nvPr/>
          </p:nvSpPr>
          <p:spPr>
            <a:xfrm>
              <a:off x="7426378" y="2310870"/>
              <a:ext cx="36576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7" name="Rectangle 6">
              <a:extLst>
                <a:ext uri="{FF2B5EF4-FFF2-40B4-BE49-F238E27FC236}">
                  <a16:creationId xmlns:a16="http://schemas.microsoft.com/office/drawing/2014/main" id="{B23C1165-98D8-43BC-8444-1D1E06F5C4F4}"/>
                </a:ext>
                <a:ext uri="{C183D7F6-B498-43B3-948B-1728B52AA6E4}">
                  <adec:decorative xmlns:adec="http://schemas.microsoft.com/office/drawing/2017/decorative" val="1"/>
                </a:ext>
              </a:extLst>
            </p:cNvPr>
            <p:cNvSpPr/>
            <p:nvPr/>
          </p:nvSpPr>
          <p:spPr>
            <a:xfrm>
              <a:off x="7184979" y="1626946"/>
              <a:ext cx="4106797" cy="436427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3"/>
                  </a:solidFill>
                </a:rPr>
                <a:t>Availability Zone </a:t>
              </a:r>
            </a:p>
          </p:txBody>
        </p:sp>
        <p:sp>
          <p:nvSpPr>
            <p:cNvPr id="8" name="TextBox 7">
              <a:extLst>
                <a:ext uri="{FF2B5EF4-FFF2-40B4-BE49-F238E27FC236}">
                  <a16:creationId xmlns:a16="http://schemas.microsoft.com/office/drawing/2014/main" id="{6B1D92ED-4F16-4EEC-B3C2-60646E4EAD79}"/>
                </a:ext>
                <a:ext uri="{C183D7F6-B498-43B3-948B-1728B52AA6E4}">
                  <adec:decorative xmlns:adec="http://schemas.microsoft.com/office/drawing/2017/decorative" val="1"/>
                </a:ext>
              </a:extLst>
            </p:cNvPr>
            <p:cNvSpPr txBox="1"/>
            <p:nvPr/>
          </p:nvSpPr>
          <p:spPr>
            <a:xfrm>
              <a:off x="7507637" y="3255197"/>
              <a:ext cx="1513305" cy="338554"/>
            </a:xfrm>
            <a:prstGeom prst="rect">
              <a:avLst/>
            </a:prstGeom>
            <a:noFill/>
          </p:spPr>
          <p:txBody>
            <a:bodyPr wrap="square" rtlCol="0">
              <a:spAutoFit/>
            </a:bodyPr>
            <a:lstStyle/>
            <a:p>
              <a:pPr algn="ctr"/>
              <a:r>
                <a:rPr lang="en-US" sz="1600"/>
                <a:t>Amazon EC2</a:t>
              </a:r>
            </a:p>
          </p:txBody>
        </p:sp>
        <p:pic>
          <p:nvPicPr>
            <p:cNvPr id="9" name="Graphic 37">
              <a:extLst>
                <a:ext uri="{FF2B5EF4-FFF2-40B4-BE49-F238E27FC236}">
                  <a16:creationId xmlns:a16="http://schemas.microsoft.com/office/drawing/2014/main" id="{3DBC4927-EF3A-4716-BDD2-74A159FE9666}"/>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8079495" y="2752243"/>
              <a:ext cx="483546" cy="483546"/>
            </a:xfrm>
            <a:prstGeom prst="rect">
              <a:avLst/>
            </a:prstGeom>
          </p:spPr>
        </p:pic>
        <p:sp>
          <p:nvSpPr>
            <p:cNvPr id="10" name="Rectangle: Rounded Corners 38">
              <a:extLst>
                <a:ext uri="{FF2B5EF4-FFF2-40B4-BE49-F238E27FC236}">
                  <a16:creationId xmlns:a16="http://schemas.microsoft.com/office/drawing/2014/main" id="{6616C4CA-1643-46EC-BF32-AAC7A67DB322}"/>
                </a:ext>
                <a:ext uri="{C183D7F6-B498-43B3-948B-1728B52AA6E4}">
                  <adec:decorative xmlns:adec="http://schemas.microsoft.com/office/drawing/2017/decorative" val="1"/>
                </a:ext>
              </a:extLst>
            </p:cNvPr>
            <p:cNvSpPr/>
            <p:nvPr/>
          </p:nvSpPr>
          <p:spPr>
            <a:xfrm>
              <a:off x="9799237"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A318780-AE9A-4373-BC36-CA0E8BFFDE76}"/>
                </a:ext>
                <a:ext uri="{C183D7F6-B498-43B3-948B-1728B52AA6E4}">
                  <adec:decorative xmlns:adec="http://schemas.microsoft.com/office/drawing/2017/decorative" val="1"/>
                </a:ext>
              </a:extLst>
            </p:cNvPr>
            <p:cNvSpPr txBox="1"/>
            <p:nvPr/>
          </p:nvSpPr>
          <p:spPr>
            <a:xfrm>
              <a:off x="9444533" y="3255197"/>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sp>
          <p:nvSpPr>
            <p:cNvPr id="12" name="TextBox 11">
              <a:extLst>
                <a:ext uri="{FF2B5EF4-FFF2-40B4-BE49-F238E27FC236}">
                  <a16:creationId xmlns:a16="http://schemas.microsoft.com/office/drawing/2014/main" id="{8BDA0F46-6893-4C2F-9419-E683F32404DF}"/>
                </a:ext>
                <a:ext uri="{C183D7F6-B498-43B3-948B-1728B52AA6E4}">
                  <adec:decorative xmlns:adec="http://schemas.microsoft.com/office/drawing/2017/decorative" val="1"/>
                </a:ext>
              </a:extLst>
            </p:cNvPr>
            <p:cNvSpPr txBox="1"/>
            <p:nvPr/>
          </p:nvSpPr>
          <p:spPr>
            <a:xfrm>
              <a:off x="7756222" y="5138482"/>
              <a:ext cx="1741310" cy="584775"/>
            </a:xfrm>
            <a:prstGeom prst="rect">
              <a:avLst/>
            </a:prstGeom>
            <a:noFill/>
          </p:spPr>
          <p:txBody>
            <a:bodyPr wrap="square" rtlCol="0">
              <a:spAutoFit/>
            </a:bodyPr>
            <a:lstStyle/>
            <a:p>
              <a:pPr algn="ctr"/>
              <a:r>
                <a:rPr lang="en-US" sz="1600"/>
                <a:t>Amazon RDS </a:t>
              </a:r>
            </a:p>
            <a:p>
              <a:pPr algn="ctr"/>
              <a:r>
                <a:rPr lang="en-US" sz="1600"/>
                <a:t>primary instance</a:t>
              </a:r>
            </a:p>
          </p:txBody>
        </p:sp>
        <p:pic>
          <p:nvPicPr>
            <p:cNvPr id="13" name="Graphic 44">
              <a:extLst>
                <a:ext uri="{FF2B5EF4-FFF2-40B4-BE49-F238E27FC236}">
                  <a16:creationId xmlns:a16="http://schemas.microsoft.com/office/drawing/2014/main" id="{856DFFEE-4FFC-4A8C-9F0F-8CD49E494C2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06837" y="4499988"/>
              <a:ext cx="640080" cy="640080"/>
            </a:xfrm>
            <a:prstGeom prst="rect">
              <a:avLst/>
            </a:prstGeom>
          </p:spPr>
        </p:pic>
        <p:sp>
          <p:nvSpPr>
            <p:cNvPr id="14" name="TextBox 13">
              <a:extLst>
                <a:ext uri="{FF2B5EF4-FFF2-40B4-BE49-F238E27FC236}">
                  <a16:creationId xmlns:a16="http://schemas.microsoft.com/office/drawing/2014/main" id="{D93409AD-3DC1-4DB5-AB02-6A1621007926}"/>
                </a:ext>
                <a:ext uri="{C183D7F6-B498-43B3-948B-1728B52AA6E4}">
                  <adec:decorative xmlns:adec="http://schemas.microsoft.com/office/drawing/2017/decorative" val="1"/>
                </a:ext>
              </a:extLst>
            </p:cNvPr>
            <p:cNvSpPr txBox="1"/>
            <p:nvPr/>
          </p:nvSpPr>
          <p:spPr>
            <a:xfrm>
              <a:off x="8488665" y="4627783"/>
              <a:ext cx="261509" cy="523220"/>
            </a:xfrm>
            <a:prstGeom prst="rect">
              <a:avLst/>
            </a:prstGeom>
            <a:noFill/>
          </p:spPr>
          <p:txBody>
            <a:bodyPr wrap="squar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P</a:t>
              </a:r>
            </a:p>
          </p:txBody>
        </p:sp>
        <p:sp>
          <p:nvSpPr>
            <p:cNvPr id="15" name="Arrow: Right 16">
              <a:extLst>
                <a:ext uri="{FF2B5EF4-FFF2-40B4-BE49-F238E27FC236}">
                  <a16:creationId xmlns:a16="http://schemas.microsoft.com/office/drawing/2014/main" id="{37329C6F-081A-48EC-8568-8B51B2D45782}"/>
                </a:ext>
                <a:ext uri="{C183D7F6-B498-43B3-948B-1728B52AA6E4}">
                  <adec:decorative xmlns:adec="http://schemas.microsoft.com/office/drawing/2017/decorative" val="1"/>
                </a:ext>
              </a:extLst>
            </p:cNvPr>
            <p:cNvSpPr/>
            <p:nvPr/>
          </p:nvSpPr>
          <p:spPr>
            <a:xfrm>
              <a:off x="8971489" y="4573013"/>
              <a:ext cx="842684" cy="325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45">
              <a:extLst>
                <a:ext uri="{FF2B5EF4-FFF2-40B4-BE49-F238E27FC236}">
                  <a16:creationId xmlns:a16="http://schemas.microsoft.com/office/drawing/2014/main" id="{F8318976-D6DD-44DA-960E-FA758D05E35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05412" y="4490463"/>
              <a:ext cx="640080" cy="640080"/>
            </a:xfrm>
            <a:prstGeom prst="rect">
              <a:avLst/>
            </a:prstGeom>
          </p:spPr>
        </p:pic>
        <p:sp>
          <p:nvSpPr>
            <p:cNvPr id="17" name="TextBox 16">
              <a:extLst>
                <a:ext uri="{FF2B5EF4-FFF2-40B4-BE49-F238E27FC236}">
                  <a16:creationId xmlns:a16="http://schemas.microsoft.com/office/drawing/2014/main" id="{0E157497-D4D7-4516-8609-AED7A9E10952}"/>
                </a:ext>
                <a:ext uri="{C183D7F6-B498-43B3-948B-1728B52AA6E4}">
                  <adec:decorative xmlns:adec="http://schemas.microsoft.com/office/drawing/2017/decorative" val="1"/>
                </a:ext>
              </a:extLst>
            </p:cNvPr>
            <p:cNvSpPr txBox="1"/>
            <p:nvPr/>
          </p:nvSpPr>
          <p:spPr>
            <a:xfrm>
              <a:off x="9927321" y="4593917"/>
              <a:ext cx="396262"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R</a:t>
              </a:r>
            </a:p>
          </p:txBody>
        </p:sp>
        <p:sp>
          <p:nvSpPr>
            <p:cNvPr id="18" name="TextBox 17">
              <a:extLst>
                <a:ext uri="{FF2B5EF4-FFF2-40B4-BE49-F238E27FC236}">
                  <a16:creationId xmlns:a16="http://schemas.microsoft.com/office/drawing/2014/main" id="{44D1DB83-234E-46CD-B618-79B6D53D70E4}"/>
                </a:ext>
                <a:ext uri="{C183D7F6-B498-43B3-948B-1728B52AA6E4}">
                  <adec:decorative xmlns:adec="http://schemas.microsoft.com/office/drawing/2017/decorative" val="1"/>
                </a:ext>
              </a:extLst>
            </p:cNvPr>
            <p:cNvSpPr txBox="1"/>
            <p:nvPr/>
          </p:nvSpPr>
          <p:spPr>
            <a:xfrm>
              <a:off x="9254797" y="5154399"/>
              <a:ext cx="1741310" cy="584775"/>
            </a:xfrm>
            <a:prstGeom prst="rect">
              <a:avLst/>
            </a:prstGeom>
            <a:noFill/>
          </p:spPr>
          <p:txBody>
            <a:bodyPr wrap="square" rtlCol="0">
              <a:spAutoFit/>
            </a:bodyPr>
            <a:lstStyle/>
            <a:p>
              <a:pPr algn="ctr"/>
              <a:r>
                <a:rPr lang="en-US" sz="1600"/>
                <a:t> Read replica </a:t>
              </a:r>
            </a:p>
            <a:p>
              <a:pPr algn="ctr"/>
              <a:r>
                <a:rPr lang="en-US" sz="1600"/>
                <a:t>instance</a:t>
              </a:r>
            </a:p>
          </p:txBody>
        </p:sp>
        <p:cxnSp>
          <p:nvCxnSpPr>
            <p:cNvPr id="19" name="Straight Arrow Connector 18">
              <a:extLst>
                <a:ext uri="{FF2B5EF4-FFF2-40B4-BE49-F238E27FC236}">
                  <a16:creationId xmlns:a16="http://schemas.microsoft.com/office/drawing/2014/main" id="{FD47DE30-5372-41DC-965F-2F61FE26FEAA}"/>
                </a:ext>
                <a:ext uri="{C183D7F6-B498-43B3-948B-1728B52AA6E4}">
                  <adec:decorative xmlns:adec="http://schemas.microsoft.com/office/drawing/2017/decorative" val="1"/>
                </a:ext>
              </a:extLst>
            </p:cNvPr>
            <p:cNvCxnSpPr>
              <a:cxnSpLocks/>
              <a:endCxn id="16" idx="0"/>
            </p:cNvCxnSpPr>
            <p:nvPr/>
          </p:nvCxnSpPr>
          <p:spPr>
            <a:xfrm>
              <a:off x="10125452" y="3593751"/>
              <a:ext cx="0" cy="896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26A96DB-D251-43C9-B1FD-E2AF8297945E}"/>
                </a:ext>
                <a:ext uri="{C183D7F6-B498-43B3-948B-1728B52AA6E4}">
                  <adec:decorative xmlns:adec="http://schemas.microsoft.com/office/drawing/2017/decorative" val="1"/>
                </a:ext>
              </a:extLst>
            </p:cNvPr>
            <p:cNvSpPr/>
            <p:nvPr/>
          </p:nvSpPr>
          <p:spPr>
            <a:xfrm>
              <a:off x="5899867" y="1285494"/>
              <a:ext cx="5930383" cy="494327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21" name="Graphic 33">
              <a:extLst>
                <a:ext uri="{FF2B5EF4-FFF2-40B4-BE49-F238E27FC236}">
                  <a16:creationId xmlns:a16="http://schemas.microsoft.com/office/drawing/2014/main" id="{26ED7F5A-FC0B-49C7-AB80-0CC09F14632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99868" y="1285494"/>
              <a:ext cx="457200" cy="457200"/>
            </a:xfrm>
            <a:prstGeom prst="rect">
              <a:avLst/>
            </a:prstGeom>
          </p:spPr>
        </p:pic>
        <p:sp>
          <p:nvSpPr>
            <p:cNvPr id="22" name="Rectangle 21">
              <a:extLst>
                <a:ext uri="{FF2B5EF4-FFF2-40B4-BE49-F238E27FC236}">
                  <a16:creationId xmlns:a16="http://schemas.microsoft.com/office/drawing/2014/main" id="{24F6D194-6A18-4725-B874-95CE93F70725}"/>
                </a:ext>
                <a:ext uri="{C183D7F6-B498-43B3-948B-1728B52AA6E4}">
                  <adec:decorative xmlns:adec="http://schemas.microsoft.com/office/drawing/2017/decorative" val="1"/>
                </a:ext>
              </a:extLst>
            </p:cNvPr>
            <p:cNvSpPr/>
            <p:nvPr/>
          </p:nvSpPr>
          <p:spPr>
            <a:xfrm>
              <a:off x="6456682" y="1999932"/>
              <a:ext cx="5090275" cy="3784179"/>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pic>
          <p:nvPicPr>
            <p:cNvPr id="23" name="Graphic 43">
              <a:extLst>
                <a:ext uri="{FF2B5EF4-FFF2-40B4-BE49-F238E27FC236}">
                  <a16:creationId xmlns:a16="http://schemas.microsoft.com/office/drawing/2014/main" id="{67C8948D-6E8A-4072-B69A-DA5A2E9AE5D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56683" y="1999933"/>
              <a:ext cx="457200" cy="457200"/>
            </a:xfrm>
            <a:prstGeom prst="rect">
              <a:avLst/>
            </a:prstGeom>
          </p:spPr>
        </p:pic>
        <p:pic>
          <p:nvPicPr>
            <p:cNvPr id="24" name="Graphic 50">
              <a:extLst>
                <a:ext uri="{FF2B5EF4-FFF2-40B4-BE49-F238E27FC236}">
                  <a16:creationId xmlns:a16="http://schemas.microsoft.com/office/drawing/2014/main" id="{023C3154-C2DF-4028-8A78-6F60860483E9}"/>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26379" y="2308511"/>
              <a:ext cx="457200" cy="457200"/>
            </a:xfrm>
            <a:prstGeom prst="rect">
              <a:avLst/>
            </a:prstGeom>
          </p:spPr>
        </p:pic>
        <p:pic>
          <p:nvPicPr>
            <p:cNvPr id="25" name="Graphic 52">
              <a:extLst>
                <a:ext uri="{FF2B5EF4-FFF2-40B4-BE49-F238E27FC236}">
                  <a16:creationId xmlns:a16="http://schemas.microsoft.com/office/drawing/2014/main" id="{75B4558D-2DCE-40FF-80DB-91CD868767B2}"/>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6379" y="4009720"/>
              <a:ext cx="457200" cy="45720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Usecase</a:t>
            </a:r>
            <a:endParaRPr lang="en-US" dirty="0">
              <a:solidFill>
                <a:srgbClr val="FF0000"/>
              </a:solidFill>
            </a:endParaRPr>
          </a:p>
        </p:txBody>
      </p:sp>
      <p:graphicFrame>
        <p:nvGraphicFramePr>
          <p:cNvPr id="4" name="Table 3" descr="Chart showing three different use cases for RDS: Web and mobile applications, E-commerce applications, and Mobile and online games."/>
          <p:cNvGraphicFramePr>
            <a:graphicFrameLocks noGrp="1"/>
          </p:cNvGraphicFramePr>
          <p:nvPr>
            <p:extLst>
              <p:ext uri="{D42A27DB-BD31-4B8C-83A1-F6EECF244321}">
                <p14:modId xmlns:p14="http://schemas.microsoft.com/office/powerpoint/2010/main" val="4218016576"/>
              </p:ext>
            </p:extLst>
          </p:nvPr>
        </p:nvGraphicFramePr>
        <p:xfrm>
          <a:off x="76200" y="2011680"/>
          <a:ext cx="8915400" cy="4114800"/>
        </p:xfrm>
        <a:graphic>
          <a:graphicData uri="http://schemas.openxmlformats.org/drawingml/2006/table">
            <a:tbl>
              <a:tblPr firstRow="1" bandRow="1">
                <a:tableStyleId>{22838BEF-8BB2-4498-84A7-C5851F593DF1}</a:tableStyleId>
              </a:tblPr>
              <a:tblGrid>
                <a:gridCol w="4457700">
                  <a:extLst>
                    <a:ext uri="{9D8B030D-6E8A-4147-A177-3AD203B41FA5}">
                      <a16:colId xmlns:a16="http://schemas.microsoft.com/office/drawing/2014/main" val="865783742"/>
                    </a:ext>
                  </a:extLst>
                </a:gridCol>
                <a:gridCol w="4457700">
                  <a:extLst>
                    <a:ext uri="{9D8B030D-6E8A-4147-A177-3AD203B41FA5}">
                      <a16:colId xmlns:a16="http://schemas.microsoft.com/office/drawing/2014/main" val="3410874839"/>
                    </a:ext>
                  </a:extLst>
                </a:gridCol>
              </a:tblGrid>
              <a:tr h="1304877">
                <a:tc>
                  <a:txBody>
                    <a:bodyPr/>
                    <a:lstStyle/>
                    <a:p>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Web and mobile applications</a:t>
                      </a:r>
                    </a:p>
                  </a:txBody>
                  <a:tcPr anchor="ctr"/>
                </a:tc>
                <a:tc>
                  <a:txBody>
                    <a:bodyPr/>
                    <a:lstStyle/>
                    <a:p>
                      <a:pPr marL="285750" indent="-285750">
                        <a:buFont typeface="Wingdings" panose="05000000000000000000" pitchFamily="2" charset="2"/>
                        <a:buChar char="ü"/>
                      </a:pPr>
                      <a:r>
                        <a:rPr lang="en-US" sz="2800" b="0">
                          <a:latin typeface="Amazon Ember Light" panose="020B0403020204020204" pitchFamily="34" charset="0"/>
                          <a:ea typeface="Amazon Ember Light" panose="020B0403020204020204" pitchFamily="34" charset="0"/>
                          <a:cs typeface="Amazon Ember Light" panose="020B0403020204020204" pitchFamily="34" charset="0"/>
                        </a:rPr>
                        <a:t> High</a:t>
                      </a: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throughput</a:t>
                      </a:r>
                    </a:p>
                    <a:p>
                      <a:pPr marL="285750" indent="-285750">
                        <a:buFont typeface="Wingdings" panose="05000000000000000000" pitchFamily="2" charset="2"/>
                        <a:buChar char="ü"/>
                      </a:pP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Massive storage scalability</a:t>
                      </a:r>
                    </a:p>
                    <a:p>
                      <a:pPr marL="285750" indent="-285750">
                        <a:buFont typeface="Wingdings" panose="05000000000000000000" pitchFamily="2" charset="2"/>
                        <a:buChar char="ü"/>
                      </a:pP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High availability</a:t>
                      </a:r>
                      <a:endParaRPr lang="en-US" sz="2800" b="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1282757818"/>
                  </a:ext>
                </a:extLst>
              </a:tr>
              <a:tr h="1304877">
                <a:tc>
                  <a:txBody>
                    <a:bodyPr/>
                    <a:lstStyle/>
                    <a:p>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Ecommerce applications</a:t>
                      </a:r>
                    </a:p>
                  </a:txBody>
                  <a:tcPr anchor="ctr"/>
                </a:tc>
                <a:tc>
                  <a:txBody>
                    <a:bodyPr/>
                    <a:lstStyle/>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Low-cost database</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Data security</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Fully managed solution</a:t>
                      </a:r>
                    </a:p>
                  </a:txBody>
                  <a:tcPr anchor="ctr"/>
                </a:tc>
                <a:extLst>
                  <a:ext uri="{0D108BD9-81ED-4DB2-BD59-A6C34878D82A}">
                    <a16:rowId xmlns:a16="http://schemas.microsoft.com/office/drawing/2014/main" val="612607100"/>
                  </a:ext>
                </a:extLst>
              </a:tr>
              <a:tr h="1304877">
                <a:tc>
                  <a:txBody>
                    <a:bodyPr/>
                    <a:lstStyle/>
                    <a:p>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Mobile and online games</a:t>
                      </a:r>
                    </a:p>
                  </a:txBody>
                  <a:tcPr anchor="ctr"/>
                </a:tc>
                <a:tc>
                  <a:txBody>
                    <a:bodyPr/>
                    <a:lstStyle/>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Rapidly grow capacity</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Automatic scaling</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Database monitoring</a:t>
                      </a:r>
                    </a:p>
                  </a:txBody>
                  <a:tcPr anchor="ctr"/>
                </a:tc>
                <a:extLst>
                  <a:ext uri="{0D108BD9-81ED-4DB2-BD59-A6C34878D82A}">
                    <a16:rowId xmlns:a16="http://schemas.microsoft.com/office/drawing/2014/main" val="119288356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When to Use Amazon RDS</a:t>
            </a:r>
          </a:p>
        </p:txBody>
      </p:sp>
      <p:sp>
        <p:nvSpPr>
          <p:cNvPr id="3" name="Content Placeholder 2"/>
          <p:cNvSpPr>
            <a:spLocks noGrp="1"/>
          </p:cNvSpPr>
          <p:nvPr>
            <p:ph idx="1"/>
          </p:nvPr>
        </p:nvSpPr>
        <p:spPr>
          <a:xfrm>
            <a:off x="152400" y="1600200"/>
            <a:ext cx="4038600" cy="4525963"/>
          </a:xfrm>
        </p:spPr>
        <p:txBody>
          <a:bodyPr>
            <a:normAutofit fontScale="77500" lnSpcReduction="20000"/>
          </a:bodyPr>
          <a:lstStyle/>
          <a:p>
            <a:pPr>
              <a:buNone/>
            </a:pP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a:t>
            </a:r>
            <a:r>
              <a:rPr lang="en-US" b="1" dirty="0">
                <a:latin typeface="Amazon Ember" panose="020B0603020204020204" pitchFamily="34" charset="0"/>
                <a:ea typeface="Amazon Ember" panose="020B0603020204020204" pitchFamily="34" charset="0"/>
                <a:cs typeface="Amazon Ember" panose="020B0603020204020204" pitchFamily="34" charset="0"/>
              </a:rPr>
              <a:t> Amazon RDS when your application requires:</a:t>
            </a:r>
          </a:p>
          <a:p>
            <a:pPr marL="457200" indent="-457200">
              <a:spcBef>
                <a:spcPts val="1200"/>
              </a:spcBef>
              <a:spcAft>
                <a:spcPts val="800"/>
              </a:spcAft>
            </a:pPr>
            <a:r>
              <a:rPr lang="en-US" dirty="0"/>
              <a:t>Complex transactions or complex queries</a:t>
            </a:r>
          </a:p>
          <a:p>
            <a:pPr marL="457200" indent="-457200">
              <a:spcBef>
                <a:spcPts val="1200"/>
              </a:spcBef>
              <a:spcAft>
                <a:spcPts val="800"/>
              </a:spcAft>
            </a:pPr>
            <a:r>
              <a:rPr lang="en-US" dirty="0"/>
              <a:t>A medium to high query or write rate – Up to 30,000 IOPS (15,000 reads + 15,000 writes)</a:t>
            </a:r>
          </a:p>
          <a:p>
            <a:pPr marL="457200" indent="-457200">
              <a:spcBef>
                <a:spcPts val="1200"/>
              </a:spcBef>
              <a:spcAft>
                <a:spcPts val="800"/>
              </a:spcAft>
            </a:pPr>
            <a:r>
              <a:rPr lang="en-US" dirty="0"/>
              <a:t>No more than a single worker node or shard</a:t>
            </a:r>
          </a:p>
          <a:p>
            <a:pPr marL="457200" indent="-457200">
              <a:spcBef>
                <a:spcPts val="1200"/>
              </a:spcBef>
              <a:spcAft>
                <a:spcPts val="800"/>
              </a:spcAft>
            </a:pPr>
            <a:r>
              <a:rPr lang="en-US" dirty="0"/>
              <a:t>High durability</a:t>
            </a:r>
          </a:p>
        </p:txBody>
      </p:sp>
      <p:sp>
        <p:nvSpPr>
          <p:cNvPr id="4" name="Content Placeholder 2"/>
          <p:cNvSpPr txBox="1">
            <a:spLocks/>
          </p:cNvSpPr>
          <p:nvPr/>
        </p:nvSpPr>
        <p:spPr>
          <a:xfrm>
            <a:off x="4191000" y="1600200"/>
            <a:ext cx="4648200" cy="4724400"/>
          </a:xfrm>
          <a:prstGeom prst="rect">
            <a:avLst/>
          </a:prstGeom>
        </p:spPr>
        <p:txBody>
          <a:bodyPr vert="horz" lIns="91440" tIns="45720" rIns="91440" bIns="45720" rtlCol="0">
            <a:normAutofit fontScale="70000" lnSpcReduction="20000"/>
          </a:bodyPr>
          <a:lstStyle/>
          <a:p>
            <a:r>
              <a:rPr lang="en-US" sz="3200" b="1" dirty="0">
                <a:solidFill>
                  <a:schemeClr val="accent6"/>
                </a:solidFill>
              </a:rPr>
              <a:t>Do not use </a:t>
            </a:r>
            <a:r>
              <a:rPr lang="en-US" sz="3200" b="1" dirty="0"/>
              <a:t>Amazon RDS when your application requires:</a:t>
            </a:r>
          </a:p>
          <a:p>
            <a:pPr marL="457200" indent="-457200">
              <a:spcBef>
                <a:spcPts val="1200"/>
              </a:spcBef>
              <a:spcAft>
                <a:spcPts val="800"/>
              </a:spcAft>
            </a:pPr>
            <a:r>
              <a:rPr lang="en-US" sz="3200" dirty="0"/>
              <a:t>Massive read/write rates (for example, 150,000 write/second)</a:t>
            </a:r>
          </a:p>
          <a:p>
            <a:pPr marL="457200" indent="-457200">
              <a:spcBef>
                <a:spcPts val="1200"/>
              </a:spcBef>
              <a:spcAft>
                <a:spcPts val="800"/>
              </a:spcAft>
            </a:pPr>
            <a:r>
              <a:rPr lang="en-US" sz="3200" dirty="0" err="1"/>
              <a:t>Sharding</a:t>
            </a:r>
            <a:r>
              <a:rPr lang="en-US" sz="3200" dirty="0"/>
              <a:t> due to high data size or throughput demands </a:t>
            </a:r>
          </a:p>
          <a:p>
            <a:pPr marL="457200" indent="-457200">
              <a:spcBef>
                <a:spcPts val="1200"/>
              </a:spcBef>
              <a:spcAft>
                <a:spcPts val="800"/>
              </a:spcAft>
            </a:pPr>
            <a:r>
              <a:rPr lang="en-US" sz="3200" dirty="0"/>
              <a:t>Simple GET or PUT requests and queries that a </a:t>
            </a:r>
            <a:r>
              <a:rPr lang="en-US" sz="3200" dirty="0" err="1"/>
              <a:t>NoSQL</a:t>
            </a:r>
            <a:r>
              <a:rPr lang="en-US" sz="3200" dirty="0"/>
              <a:t> database can handle</a:t>
            </a:r>
          </a:p>
          <a:p>
            <a:pPr marL="457200" indent="-457200">
              <a:spcBef>
                <a:spcPts val="1200"/>
              </a:spcBef>
              <a:spcAft>
                <a:spcPts val="800"/>
              </a:spcAft>
            </a:pPr>
            <a:r>
              <a:rPr lang="en-US" sz="3200" dirty="0"/>
              <a:t>Relational database management system (RDBMS) customization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Amazon RDS: Clock-hour billing and database characteristics </a:t>
            </a:r>
          </a:p>
        </p:txBody>
      </p:sp>
      <p:sp>
        <p:nvSpPr>
          <p:cNvPr id="3" name="Content Placeholder 2"/>
          <p:cNvSpPr>
            <a:spLocks noGrp="1"/>
          </p:cNvSpPr>
          <p:nvPr>
            <p:ph idx="1"/>
          </p:nvPr>
        </p:nvSpPr>
        <p:spPr/>
        <p:txBody>
          <a:bodyPr/>
          <a:lstStyle/>
          <a:p>
            <a:pPr marL="0" indent="0">
              <a:buNone/>
            </a:pPr>
            <a:r>
              <a:rPr lang="en-US" b="1" dirty="0"/>
              <a:t>Clock-hour billing – </a:t>
            </a:r>
          </a:p>
          <a:p>
            <a:pPr marL="922338" lvl="1" indent="-465138"/>
            <a:r>
              <a:rPr lang="en-US" dirty="0"/>
              <a:t>Resources incur charges when running</a:t>
            </a:r>
          </a:p>
          <a:p>
            <a:pPr marL="0" indent="0">
              <a:buNone/>
            </a:pPr>
            <a:endParaRPr lang="en-US" dirty="0"/>
          </a:p>
          <a:p>
            <a:pPr marL="0" indent="0">
              <a:buNone/>
            </a:pPr>
            <a:r>
              <a:rPr lang="en-US" b="1" dirty="0"/>
              <a:t>Database characteristics – </a:t>
            </a:r>
          </a:p>
          <a:p>
            <a:pPr marL="922338" lvl="1" indent="-465138"/>
            <a:r>
              <a:rPr lang="en-US" dirty="0"/>
              <a:t>Physical capacity of database:</a:t>
            </a:r>
          </a:p>
          <a:p>
            <a:pPr marL="1443038" lvl="2" indent="-528638"/>
            <a:r>
              <a:rPr lang="en-US" dirty="0"/>
              <a:t>Engine</a:t>
            </a:r>
          </a:p>
          <a:p>
            <a:pPr marL="1443038" lvl="2" indent="-528638"/>
            <a:r>
              <a:rPr lang="en-US" dirty="0"/>
              <a:t>Size</a:t>
            </a:r>
          </a:p>
          <a:p>
            <a:pPr marL="1443038" lvl="2" indent="-528638"/>
            <a:r>
              <a:rPr lang="en-US" dirty="0"/>
              <a:t>Memory class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Amazon RDS: DB purchase type and multiple DB instances</a:t>
            </a:r>
          </a:p>
        </p:txBody>
      </p:sp>
      <p:sp>
        <p:nvSpPr>
          <p:cNvPr id="3" name="Content Placeholder 2"/>
          <p:cNvSpPr>
            <a:spLocks noGrp="1"/>
          </p:cNvSpPr>
          <p:nvPr>
            <p:ph idx="1"/>
          </p:nvPr>
        </p:nvSpPr>
        <p:spPr/>
        <p:txBody>
          <a:bodyPr>
            <a:normAutofit fontScale="92500"/>
          </a:bodyPr>
          <a:lstStyle/>
          <a:p>
            <a:pPr marL="0" indent="0">
              <a:buNone/>
            </a:pPr>
            <a:r>
              <a:rPr lang="en-US" b="1" dirty="0"/>
              <a:t>DB purchase type – </a:t>
            </a:r>
          </a:p>
          <a:p>
            <a:pPr marL="922338" lvl="1" indent="-465138"/>
            <a:r>
              <a:rPr lang="en-US" dirty="0"/>
              <a:t>On-Demand Instances</a:t>
            </a:r>
          </a:p>
          <a:p>
            <a:pPr marL="1384300" lvl="2" indent="-469900"/>
            <a:r>
              <a:rPr lang="en-US" dirty="0"/>
              <a:t>Compute capacity by the hour</a:t>
            </a:r>
          </a:p>
          <a:p>
            <a:pPr marL="922338" lvl="1" indent="-465138"/>
            <a:r>
              <a:rPr lang="en-US" dirty="0"/>
              <a:t>Reserved Instances</a:t>
            </a:r>
          </a:p>
          <a:p>
            <a:pPr marL="1384300" lvl="2" indent="-469900"/>
            <a:r>
              <a:rPr lang="en-US" dirty="0"/>
              <a:t>Low, one-time, upfront payment for database instances that are reserved with a 1-year or 3-year term</a:t>
            </a:r>
          </a:p>
          <a:p>
            <a:pPr marL="227012" lvl="1" indent="0">
              <a:buNone/>
            </a:pPr>
            <a:endParaRPr lang="en-US" dirty="0"/>
          </a:p>
          <a:p>
            <a:pPr marL="0" indent="0">
              <a:buNone/>
            </a:pPr>
            <a:r>
              <a:rPr lang="en-US" b="1" dirty="0"/>
              <a:t>Number of DB instances – </a:t>
            </a:r>
          </a:p>
          <a:p>
            <a:pPr marL="865188" lvl="1" indent="-407988"/>
            <a:r>
              <a:rPr lang="en-US" dirty="0"/>
              <a:t>Provision multiple DB instances to handle peak loads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RDS: Storage</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Provisioned storage – </a:t>
            </a:r>
          </a:p>
          <a:p>
            <a:pPr marL="865188" lvl="1" indent="-407988"/>
            <a:r>
              <a:rPr lang="en-US" dirty="0"/>
              <a:t>No charge</a:t>
            </a:r>
          </a:p>
          <a:p>
            <a:pPr marL="1384300" lvl="2" indent="-469900"/>
            <a:r>
              <a:rPr lang="en-US" dirty="0"/>
              <a:t>Backup storage of up to 100 percent of database storage for an active database</a:t>
            </a:r>
          </a:p>
          <a:p>
            <a:pPr marL="922338" lvl="1" indent="-465138"/>
            <a:r>
              <a:rPr lang="en-US" dirty="0"/>
              <a:t>Charge (</a:t>
            </a:r>
            <a:r>
              <a:rPr lang="en-US" i="1" dirty="0"/>
              <a:t>GB/month</a:t>
            </a:r>
            <a:r>
              <a:rPr lang="en-US" dirty="0"/>
              <a:t>)</a:t>
            </a:r>
          </a:p>
          <a:p>
            <a:pPr marL="1384300" lvl="2" indent="-469900"/>
            <a:r>
              <a:rPr lang="en-US" dirty="0"/>
              <a:t>Backup storage for terminated DB instances</a:t>
            </a:r>
          </a:p>
          <a:p>
            <a:pPr marL="0" indent="0">
              <a:buNone/>
            </a:pPr>
            <a:endParaRPr lang="en-US" b="1" dirty="0"/>
          </a:p>
          <a:p>
            <a:pPr marL="0" indent="0">
              <a:buNone/>
            </a:pPr>
            <a:r>
              <a:rPr lang="en-US" b="1" dirty="0"/>
              <a:t>Additional storage – </a:t>
            </a:r>
          </a:p>
          <a:p>
            <a:pPr marL="922338" lvl="1" indent="-465138"/>
            <a:r>
              <a:rPr lang="en-US" dirty="0"/>
              <a:t>Charge (</a:t>
            </a:r>
            <a:r>
              <a:rPr lang="en-US" i="1" dirty="0"/>
              <a:t>GB/month</a:t>
            </a:r>
            <a:r>
              <a:rPr lang="en-US" dirty="0"/>
              <a:t>)</a:t>
            </a:r>
          </a:p>
          <a:p>
            <a:pPr marL="1384300" lvl="2" indent="-469900"/>
            <a:r>
              <a:rPr lang="en-US" dirty="0"/>
              <a:t>Backup storage in addition to provisioned storage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Amazon RDS: Deployment type and data transfer</a:t>
            </a:r>
          </a:p>
        </p:txBody>
      </p:sp>
      <p:sp>
        <p:nvSpPr>
          <p:cNvPr id="3" name="Content Placeholder 2"/>
          <p:cNvSpPr>
            <a:spLocks noGrp="1"/>
          </p:cNvSpPr>
          <p:nvPr>
            <p:ph idx="1"/>
          </p:nvPr>
        </p:nvSpPr>
        <p:spPr/>
        <p:txBody>
          <a:bodyPr>
            <a:normAutofit fontScale="70000" lnSpcReduction="20000"/>
          </a:bodyPr>
          <a:lstStyle/>
          <a:p>
            <a:pPr marL="0" indent="0">
              <a:lnSpc>
                <a:spcPct val="110000"/>
              </a:lnSpc>
              <a:buNone/>
            </a:pPr>
            <a:r>
              <a:rPr lang="en-US" sz="3000" b="1" dirty="0"/>
              <a:t>Requests – </a:t>
            </a:r>
          </a:p>
          <a:p>
            <a:pPr marL="865188" lvl="1" indent="-407988">
              <a:lnSpc>
                <a:spcPct val="100000"/>
              </a:lnSpc>
            </a:pPr>
            <a:r>
              <a:rPr lang="en-US" sz="3300" dirty="0"/>
              <a:t>The number of input and output requests that are made to the database</a:t>
            </a:r>
          </a:p>
          <a:p>
            <a:pPr marL="0" indent="0">
              <a:buNone/>
            </a:pPr>
            <a:endParaRPr lang="en-US" b="1" dirty="0"/>
          </a:p>
          <a:p>
            <a:pPr marL="0" indent="0">
              <a:lnSpc>
                <a:spcPct val="110000"/>
              </a:lnSpc>
              <a:buNone/>
            </a:pPr>
            <a:r>
              <a:rPr lang="en-US" sz="3000" b="1" dirty="0"/>
              <a:t>Deployment type—Storage and I/0 charges vary, depending on whether you deploy to – </a:t>
            </a:r>
          </a:p>
          <a:p>
            <a:pPr marL="865188" lvl="1" indent="-407988">
              <a:lnSpc>
                <a:spcPct val="100000"/>
              </a:lnSpc>
            </a:pPr>
            <a:r>
              <a:rPr lang="en-US" sz="3300" dirty="0"/>
              <a:t>Single Availability Zone</a:t>
            </a:r>
          </a:p>
          <a:p>
            <a:pPr marL="865188" lvl="1" indent="-407988">
              <a:lnSpc>
                <a:spcPct val="100000"/>
              </a:lnSpc>
            </a:pPr>
            <a:r>
              <a:rPr lang="en-US" sz="3300" dirty="0"/>
              <a:t>Multiple Availability Zones</a:t>
            </a:r>
          </a:p>
          <a:p>
            <a:pPr marL="0" indent="0">
              <a:buNone/>
            </a:pPr>
            <a:endParaRPr lang="en-US" dirty="0"/>
          </a:p>
          <a:p>
            <a:pPr marL="0" indent="0">
              <a:lnSpc>
                <a:spcPct val="110000"/>
              </a:lnSpc>
              <a:buNone/>
            </a:pPr>
            <a:r>
              <a:rPr lang="en-US" sz="3000" b="1" dirty="0"/>
              <a:t>Data transfer –</a:t>
            </a:r>
          </a:p>
          <a:p>
            <a:pPr marL="865188" lvl="1" indent="-407988">
              <a:lnSpc>
                <a:spcPct val="100000"/>
              </a:lnSpc>
            </a:pPr>
            <a:r>
              <a:rPr lang="en-US" sz="3400" dirty="0"/>
              <a:t>No charge for inbound data transfer </a:t>
            </a:r>
          </a:p>
          <a:p>
            <a:pPr marL="865188" lvl="1" indent="-407988">
              <a:lnSpc>
                <a:spcPct val="100000"/>
              </a:lnSpc>
            </a:pPr>
            <a:r>
              <a:rPr lang="en-US" sz="3400" dirty="0"/>
              <a:t>Tiered charges for outbound data transfer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19400"/>
            <a:ext cx="8229600" cy="1143000"/>
          </a:xfrm>
        </p:spPr>
        <p:txBody>
          <a:bodyPr/>
          <a:lstStyle/>
          <a:p>
            <a:r>
              <a:rPr lang="en-US" dirty="0" err="1">
                <a:solidFill>
                  <a:srgbClr val="FF0000"/>
                </a:solidFill>
              </a:rPr>
              <a:t>DynamoDB</a:t>
            </a:r>
            <a:endParaRPr lang="en-US"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1143000"/>
          </a:xfrm>
        </p:spPr>
        <p:txBody>
          <a:bodyPr>
            <a:normAutofit fontScale="90000"/>
          </a:bodyPr>
          <a:lstStyle/>
          <a:p>
            <a:r>
              <a:rPr lang="en-US" dirty="0">
                <a:solidFill>
                  <a:srgbClr val="FF0000"/>
                </a:solidFill>
              </a:rPr>
              <a:t>Relational versus non-relational databases</a:t>
            </a:r>
          </a:p>
        </p:txBody>
      </p:sp>
      <p:graphicFrame>
        <p:nvGraphicFramePr>
          <p:cNvPr id="4" name="Content Placeholder 3">
            <a:extLst>
              <a:ext uri="{FF2B5EF4-FFF2-40B4-BE49-F238E27FC236}">
                <a16:creationId xmlns:a16="http://schemas.microsoft.com/office/drawing/2014/main" id="{49FB6F71-8935-41CA-AEA1-A0C657DDF9F7}"/>
              </a:ext>
            </a:extLst>
          </p:cNvPr>
          <p:cNvGraphicFramePr>
            <a:graphicFrameLocks/>
          </p:cNvGraphicFramePr>
          <p:nvPr>
            <p:extLst>
              <p:ext uri="{D42A27DB-BD31-4B8C-83A1-F6EECF244321}">
                <p14:modId xmlns:p14="http://schemas.microsoft.com/office/powerpoint/2010/main" val="3317501061"/>
              </p:ext>
            </p:extLst>
          </p:nvPr>
        </p:nvGraphicFramePr>
        <p:xfrm>
          <a:off x="152401" y="1066799"/>
          <a:ext cx="8610599" cy="5650092"/>
        </p:xfrm>
        <a:graphic>
          <a:graphicData uri="http://schemas.openxmlformats.org/drawingml/2006/table">
            <a:tbl>
              <a:tblPr firstRow="1" bandRow="1">
                <a:tableStyleId>{21E4AEA4-8DFA-4A89-87EB-49C32662AFE0}</a:tableStyleId>
              </a:tblPr>
              <a:tblGrid>
                <a:gridCol w="1338861">
                  <a:extLst>
                    <a:ext uri="{9D8B030D-6E8A-4147-A177-3AD203B41FA5}">
                      <a16:colId xmlns:a16="http://schemas.microsoft.com/office/drawing/2014/main" val="20000"/>
                    </a:ext>
                  </a:extLst>
                </a:gridCol>
                <a:gridCol w="4336663">
                  <a:extLst>
                    <a:ext uri="{9D8B030D-6E8A-4147-A177-3AD203B41FA5}">
                      <a16:colId xmlns:a16="http://schemas.microsoft.com/office/drawing/2014/main" val="20001"/>
                    </a:ext>
                  </a:extLst>
                </a:gridCol>
                <a:gridCol w="2935075">
                  <a:extLst>
                    <a:ext uri="{9D8B030D-6E8A-4147-A177-3AD203B41FA5}">
                      <a16:colId xmlns:a16="http://schemas.microsoft.com/office/drawing/2014/main" val="20002"/>
                    </a:ext>
                  </a:extLst>
                </a:gridCol>
              </a:tblGrid>
              <a:tr h="608516">
                <a:tc>
                  <a:txBody>
                    <a:bodyPr/>
                    <a:lstStyle/>
                    <a:p>
                      <a:endParaRPr lang="en-US" sz="1800" b="1" dirty="0">
                        <a:latin typeface="+mj-lt"/>
                        <a:ea typeface="Amazon Ember" panose="020B0603020204020204" pitchFamily="34" charset="0"/>
                        <a:cs typeface="Amazon Ember" panose="020B0603020204020204" pitchFamily="34" charset="0"/>
                      </a:endParaRPr>
                    </a:p>
                  </a:txBody>
                  <a:tcPr marL="110975" marR="110975" marT="60960" marB="60960" anchor="ctr"/>
                </a:tc>
                <a:tc>
                  <a:txBody>
                    <a:bodyPr/>
                    <a:lstStyle/>
                    <a:p>
                      <a:pPr algn="ctr"/>
                      <a:r>
                        <a:rPr lang="en-US" sz="2400" b="0" u="none" dirty="0">
                          <a:solidFill>
                            <a:schemeClr val="tx1"/>
                          </a:solidFill>
                        </a:rPr>
                        <a:t>Relational</a:t>
                      </a:r>
                      <a:r>
                        <a:rPr lang="en-US" sz="2400" b="0" baseline="0" dirty="0">
                          <a:solidFill>
                            <a:schemeClr val="tx1"/>
                          </a:solidFill>
                        </a:rPr>
                        <a:t> (</a:t>
                      </a:r>
                      <a:r>
                        <a:rPr lang="en-US" sz="2400" b="0" u="none" dirty="0">
                          <a:solidFill>
                            <a:schemeClr val="tx1"/>
                          </a:solidFill>
                        </a:rPr>
                        <a:t>SQL</a:t>
                      </a:r>
                      <a:r>
                        <a:rPr lang="en-US" sz="2400" b="0" dirty="0">
                          <a:solidFill>
                            <a:schemeClr val="tx1"/>
                          </a:solidFill>
                        </a:rPr>
                        <a:t>)</a:t>
                      </a:r>
                      <a:endParaRPr lang="en-US" sz="2400" b="0" dirty="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10975" marR="110975" marT="60960" marB="60960" anchor="ctr"/>
                </a:tc>
                <a:tc>
                  <a:txBody>
                    <a:bodyPr/>
                    <a:lstStyle/>
                    <a:p>
                      <a:pPr algn="ctr"/>
                      <a:r>
                        <a:rPr lang="en-US" sz="2400" b="0" u="none">
                          <a:solidFill>
                            <a:schemeClr val="tx1"/>
                          </a:solidFill>
                        </a:rPr>
                        <a:t>Non-Relational</a:t>
                      </a:r>
                      <a:endParaRPr lang="en-US" sz="2400" b="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10975" marR="110975" marT="60960" marB="60960" anchor="ctr"/>
                </a:tc>
                <a:extLst>
                  <a:ext uri="{0D108BD9-81ED-4DB2-BD59-A6C34878D82A}">
                    <a16:rowId xmlns:a16="http://schemas.microsoft.com/office/drawing/2014/main" val="10000"/>
                  </a:ext>
                </a:extLst>
              </a:tr>
              <a:tr h="762186">
                <a:tc>
                  <a:txBody>
                    <a:bodyPr/>
                    <a:lstStyle/>
                    <a:p>
                      <a:pPr marL="0" algn="l" defTabSz="457200" rtl="0" eaLnBrk="1" latinLnBrk="0" hangingPunct="1"/>
                      <a:r>
                        <a:rPr lang="en-US" sz="2000" b="0" u="none" kern="1200">
                          <a:solidFill>
                            <a:schemeClr val="tx1"/>
                          </a:solidFill>
                        </a:rPr>
                        <a:t>Data Storage</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Rows</a:t>
                      </a:r>
                      <a:r>
                        <a:rPr lang="en-US" sz="2000" b="0" baseline="0"/>
                        <a:t> and </a:t>
                      </a:r>
                      <a:r>
                        <a:rPr lang="en-US" sz="2000" b="0" u="none" baseline="0">
                          <a:solidFill>
                            <a:srgbClr val="000000"/>
                          </a:solidFill>
                        </a:rPr>
                        <a:t>columns</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Key-value</a:t>
                      </a:r>
                      <a:r>
                        <a:rPr lang="en-US" sz="2000" b="0"/>
                        <a:t>, document, </a:t>
                      </a:r>
                      <a:r>
                        <a:rPr lang="en-US" sz="2000" b="0" u="none">
                          <a:solidFill>
                            <a:srgbClr val="000000"/>
                          </a:solidFill>
                        </a:rPr>
                        <a:t>graph</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1"/>
                  </a:ext>
                </a:extLst>
              </a:tr>
              <a:tr h="444608">
                <a:tc>
                  <a:txBody>
                    <a:bodyPr/>
                    <a:lstStyle/>
                    <a:p>
                      <a:pPr marL="0" algn="l" defTabSz="457200" rtl="0" eaLnBrk="1" latinLnBrk="0" hangingPunct="1"/>
                      <a:r>
                        <a:rPr lang="en-US" sz="2000" b="0" u="none" kern="1200">
                          <a:solidFill>
                            <a:schemeClr val="tx1"/>
                          </a:solidFill>
                        </a:rPr>
                        <a:t>Schemas</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Fixed</a:t>
                      </a:r>
                      <a:r>
                        <a:rPr lang="en-US" sz="2000" b="0"/>
                        <a:t> </a:t>
                      </a:r>
                      <a:endParaRPr lang="en-US" sz="2000" b="0" i="0">
                        <a:latin typeface="+mn-lt"/>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Dynamic</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2"/>
                  </a:ext>
                </a:extLst>
              </a:tr>
              <a:tr h="762186">
                <a:tc>
                  <a:txBody>
                    <a:bodyPr/>
                    <a:lstStyle/>
                    <a:p>
                      <a:pPr marL="0" algn="l" defTabSz="457200" rtl="0" eaLnBrk="1" latinLnBrk="0" hangingPunct="1"/>
                      <a:r>
                        <a:rPr lang="en-US" sz="2000" b="0" u="none" kern="1200">
                          <a:solidFill>
                            <a:schemeClr val="tx1"/>
                          </a:solidFill>
                        </a:rPr>
                        <a:t>Querying</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dirty="0">
                          <a:solidFill>
                            <a:srgbClr val="000000"/>
                          </a:solidFill>
                        </a:rPr>
                        <a:t>Uses</a:t>
                      </a:r>
                      <a:r>
                        <a:rPr lang="en-US" sz="2000" b="0" u="none" baseline="0" dirty="0">
                          <a:solidFill>
                            <a:srgbClr val="000000"/>
                          </a:solidFill>
                        </a:rPr>
                        <a:t> SQL</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a:t>Focuses on collection of documents</a:t>
                      </a:r>
                      <a:endParaRPr lang="en-US" sz="2000" b="0" i="0">
                        <a:latin typeface="+mn-lt"/>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3"/>
                  </a:ext>
                </a:extLst>
              </a:tr>
              <a:tr h="444608">
                <a:tc>
                  <a:txBody>
                    <a:bodyPr/>
                    <a:lstStyle/>
                    <a:p>
                      <a:pPr marL="0" algn="l" defTabSz="457200" rtl="0" eaLnBrk="1" latinLnBrk="0" hangingPunct="1"/>
                      <a:r>
                        <a:rPr lang="en-US" sz="2000" b="0" u="none" kern="1200">
                          <a:solidFill>
                            <a:schemeClr val="tx1"/>
                          </a:solidFill>
                        </a:rPr>
                        <a:t>Scalability</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Vertical</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Horizontal</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4"/>
                  </a:ext>
                </a:extLst>
              </a:tr>
              <a:tr h="2627988">
                <a:tc>
                  <a:txBody>
                    <a:bodyPr/>
                    <a:lstStyle/>
                    <a:p>
                      <a:pPr marL="0" algn="l" defTabSz="457200" rtl="0" eaLnBrk="1" latinLnBrk="0" hangingPunct="1"/>
                      <a:r>
                        <a:rPr lang="en-US" sz="2000" b="0" u="none" kern="1200">
                          <a:solidFill>
                            <a:schemeClr val="tx1"/>
                          </a:solidFill>
                        </a:rPr>
                        <a:t>Example</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endParaRPr lang="en-US" sz="1800" b="0" i="0">
                        <a:latin typeface="+mj-lt"/>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endParaRPr lang="en-US" sz="1800" b="0" dirty="0"/>
                    </a:p>
                    <a:p>
                      <a:endParaRPr lang="en-US" sz="1800" b="0" dirty="0"/>
                    </a:p>
                    <a:p>
                      <a:endParaRPr lang="en-US" sz="1800" b="0" dirty="0"/>
                    </a:p>
                    <a:p>
                      <a:endParaRPr lang="en-US" sz="1800" b="0" dirty="0"/>
                    </a:p>
                    <a:p>
                      <a:endParaRPr lang="en-US" sz="1800" b="0" dirty="0"/>
                    </a:p>
                    <a:p>
                      <a:endParaRPr lang="en-US" sz="1800" b="0" dirty="0"/>
                    </a:p>
                    <a:p>
                      <a:endParaRPr lang="en-US" sz="1800" b="0" i="0" dirty="0">
                        <a:latin typeface="+mj-lt"/>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366436263"/>
                  </a:ext>
                </a:extLst>
              </a:tr>
            </a:tbl>
          </a:graphicData>
        </a:graphic>
      </p:graphicFrame>
      <p:graphicFrame>
        <p:nvGraphicFramePr>
          <p:cNvPr id="5" name="Table 4" descr="A data set showing two ISBNs, titles, authors, and formats.">
            <a:extLst>
              <a:ext uri="{FF2B5EF4-FFF2-40B4-BE49-F238E27FC236}">
                <a16:creationId xmlns:a16="http://schemas.microsoft.com/office/drawing/2014/main" id="{632ED4FA-7FC4-4738-908A-7F473C406274}"/>
              </a:ext>
            </a:extLst>
          </p:cNvPr>
          <p:cNvGraphicFramePr>
            <a:graphicFrameLocks noGrp="1"/>
          </p:cNvGraphicFramePr>
          <p:nvPr>
            <p:extLst>
              <p:ext uri="{D42A27DB-BD31-4B8C-83A1-F6EECF244321}">
                <p14:modId xmlns:p14="http://schemas.microsoft.com/office/powerpoint/2010/main" val="1119160957"/>
              </p:ext>
            </p:extLst>
          </p:nvPr>
        </p:nvGraphicFramePr>
        <p:xfrm>
          <a:off x="1524000" y="4303587"/>
          <a:ext cx="4201817" cy="2173413"/>
        </p:xfrm>
        <a:graphic>
          <a:graphicData uri="http://schemas.openxmlformats.org/drawingml/2006/table">
            <a:tbl>
              <a:tblPr firstRow="1" bandRow="1">
                <a:tableStyleId>{F5AB1C69-6EDB-4FF4-983F-18BD219EF322}</a:tableStyleId>
              </a:tblPr>
              <a:tblGrid>
                <a:gridCol w="1432577">
                  <a:extLst>
                    <a:ext uri="{9D8B030D-6E8A-4147-A177-3AD203B41FA5}">
                      <a16:colId xmlns:a16="http://schemas.microsoft.com/office/drawing/2014/main" val="20000"/>
                    </a:ext>
                  </a:extLst>
                </a:gridCol>
                <a:gridCol w="934476">
                  <a:extLst>
                    <a:ext uri="{9D8B030D-6E8A-4147-A177-3AD203B41FA5}">
                      <a16:colId xmlns:a16="http://schemas.microsoft.com/office/drawing/2014/main" val="20001"/>
                    </a:ext>
                  </a:extLst>
                </a:gridCol>
                <a:gridCol w="797723">
                  <a:extLst>
                    <a:ext uri="{9D8B030D-6E8A-4147-A177-3AD203B41FA5}">
                      <a16:colId xmlns:a16="http://schemas.microsoft.com/office/drawing/2014/main" val="20002"/>
                    </a:ext>
                  </a:extLst>
                </a:gridCol>
                <a:gridCol w="1037041">
                  <a:extLst>
                    <a:ext uri="{9D8B030D-6E8A-4147-A177-3AD203B41FA5}">
                      <a16:colId xmlns:a16="http://schemas.microsoft.com/office/drawing/2014/main" val="20003"/>
                    </a:ext>
                  </a:extLst>
                </a:gridCol>
              </a:tblGrid>
              <a:tr h="649737">
                <a:tc>
                  <a:txBody>
                    <a:bodyPr/>
                    <a:lstStyle/>
                    <a:p>
                      <a:pPr algn="ctr"/>
                      <a:r>
                        <a:rPr lang="en-US" sz="1600" u="none" dirty="0">
                          <a:solidFill>
                            <a:schemeClr val="tx1"/>
                          </a:solidFill>
                        </a:rPr>
                        <a:t>ISBN</a:t>
                      </a:r>
                      <a:endParaRPr lang="en-US" sz="16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Title</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Author</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Format</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extLst>
                  <a:ext uri="{0D108BD9-81ED-4DB2-BD59-A6C34878D82A}">
                    <a16:rowId xmlns:a16="http://schemas.microsoft.com/office/drawing/2014/main" val="10000"/>
                  </a:ext>
                </a:extLst>
              </a:tr>
              <a:tr h="670236">
                <a:tc>
                  <a:txBody>
                    <a:bodyPr/>
                    <a:lstStyle/>
                    <a:p>
                      <a:pPr marL="0" algn="l" defTabSz="457200" rtl="0" eaLnBrk="1" latinLnBrk="0" hangingPunct="1"/>
                      <a:r>
                        <a:rPr lang="en-US" sz="1600" b="0" u="none" kern="1200">
                          <a:solidFill>
                            <a:srgbClr val="000000"/>
                          </a:solidFill>
                        </a:rPr>
                        <a:t>3111111223439</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dirty="0">
                          <a:solidFill>
                            <a:srgbClr val="000000"/>
                          </a:solidFill>
                        </a:rPr>
                        <a:t>Withering</a:t>
                      </a:r>
                      <a:r>
                        <a:rPr lang="en-US" sz="1600" b="0" u="none" baseline="0" dirty="0">
                          <a:solidFill>
                            <a:srgbClr val="000000"/>
                          </a:solidFill>
                        </a:rPr>
                        <a:t> Depths</a:t>
                      </a:r>
                      <a:endParaRPr lang="en-US" sz="16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a:solidFill>
                            <a:srgbClr val="000000"/>
                          </a:solidFill>
                        </a:rPr>
                        <a:t>Jackson, Mateo</a:t>
                      </a:r>
                      <a:endParaRPr lang="en-US" sz="16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a:solidFill>
                            <a:srgbClr val="000000"/>
                          </a:solidFill>
                        </a:rPr>
                        <a:t>Paperback</a:t>
                      </a:r>
                      <a:endParaRPr lang="en-US" sz="16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extLst>
                  <a:ext uri="{0D108BD9-81ED-4DB2-BD59-A6C34878D82A}">
                    <a16:rowId xmlns:a16="http://schemas.microsoft.com/office/drawing/2014/main" val="10001"/>
                  </a:ext>
                </a:extLst>
              </a:tr>
              <a:tr h="670236">
                <a:tc>
                  <a:txBody>
                    <a:bodyPr/>
                    <a:lstStyle/>
                    <a:p>
                      <a:pPr marL="0" algn="l" defTabSz="457200" rtl="0" eaLnBrk="1" latinLnBrk="0" hangingPunct="1"/>
                      <a:r>
                        <a:rPr lang="en-US" sz="1600" b="0" u="none" kern="1200">
                          <a:solidFill>
                            <a:srgbClr val="000000"/>
                          </a:solidFill>
                        </a:rPr>
                        <a:t>3122222223439</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a:solidFill>
                            <a:srgbClr val="000000"/>
                          </a:solidFill>
                        </a:rPr>
                        <a:t>Wily</a:t>
                      </a:r>
                      <a:r>
                        <a:rPr lang="en-US" sz="1600" b="0" u="none" kern="1200" baseline="0">
                          <a:solidFill>
                            <a:srgbClr val="000000"/>
                          </a:solidFill>
                        </a:rPr>
                        <a:t> Willy</a:t>
                      </a:r>
                      <a:r>
                        <a:rPr lang="en-US" sz="1600" b="0" kern="1200" baseline="0">
                          <a:solidFill>
                            <a:schemeClr val="dk1"/>
                          </a:solidFill>
                        </a:rPr>
                        <a:t> </a:t>
                      </a:r>
                      <a:endParaRPr lang="en-US" sz="1600" b="0" i="0" kern="1200">
                        <a:solidFill>
                          <a:schemeClr val="dk1"/>
                        </a:solidFill>
                        <a:latin typeface="+mj-lt"/>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a:solidFill>
                            <a:srgbClr val="000000"/>
                          </a:solidFill>
                        </a:rPr>
                        <a:t>Wang,</a:t>
                      </a:r>
                      <a:r>
                        <a:rPr lang="en-US" sz="1600" b="0" u="none" kern="1200" baseline="0">
                          <a:solidFill>
                            <a:srgbClr val="000000"/>
                          </a:solidFill>
                        </a:rPr>
                        <a:t> Xiulan</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dirty="0" err="1">
                          <a:solidFill>
                            <a:srgbClr val="000000"/>
                          </a:solidFill>
                        </a:rPr>
                        <a:t>Ebook</a:t>
                      </a:r>
                      <a:endParaRPr lang="en-US" sz="16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extLst>
                  <a:ext uri="{0D108BD9-81ED-4DB2-BD59-A6C34878D82A}">
                    <a16:rowId xmlns:a16="http://schemas.microsoft.com/office/drawing/2014/main" val="10002"/>
                  </a:ext>
                </a:extLst>
              </a:tr>
            </a:tbl>
          </a:graphicData>
        </a:graphic>
      </p:graphicFrame>
      <p:sp>
        <p:nvSpPr>
          <p:cNvPr id="6" name="TextBox 5" descr="A non-relational database showing a listed ISBN, title, author, and format.">
            <a:extLst>
              <a:ext uri="{FF2B5EF4-FFF2-40B4-BE49-F238E27FC236}">
                <a16:creationId xmlns:a16="http://schemas.microsoft.com/office/drawing/2014/main" id="{DE2C3E03-A760-4554-9D52-65F95F31F2A9}"/>
              </a:ext>
            </a:extLst>
          </p:cNvPr>
          <p:cNvSpPr txBox="1"/>
          <p:nvPr/>
        </p:nvSpPr>
        <p:spPr>
          <a:xfrm>
            <a:off x="5791200" y="4570274"/>
            <a:ext cx="2940228" cy="1754326"/>
          </a:xfrm>
          <a:prstGeom prst="rect">
            <a:avLst/>
          </a:prstGeom>
          <a:solidFill>
            <a:schemeClr val="bg1"/>
          </a:solidFill>
          <a:ln w="19050">
            <a:solidFill>
              <a:schemeClr val="tx1"/>
            </a:solidFill>
          </a:ln>
        </p:spPr>
        <p:txBody>
          <a:bodyPr wrap="non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t>
            </a:r>
          </a:p>
          <a:p>
            <a:r>
              <a:rPr lang="en-US" dirty="0">
                <a:latin typeface="Amazon Ember" panose="020B0603020204020204" pitchFamily="34" charset="0"/>
                <a:ea typeface="Amazon Ember" panose="020B0603020204020204" pitchFamily="34" charset="0"/>
                <a:cs typeface="Amazon Ember" panose="020B0603020204020204" pitchFamily="34" charset="0"/>
              </a:rPr>
              <a:t> ISBN: 3111111223439,</a:t>
            </a:r>
          </a:p>
          <a:p>
            <a:r>
              <a:rPr lang="en-US" dirty="0">
                <a:latin typeface="Amazon Ember" panose="020B0603020204020204" pitchFamily="34" charset="0"/>
                <a:ea typeface="Amazon Ember" panose="020B0603020204020204" pitchFamily="34" charset="0"/>
                <a:cs typeface="Amazon Ember" panose="020B0603020204020204" pitchFamily="34" charset="0"/>
              </a:rPr>
              <a:t> Title: “Withering Depths”,</a:t>
            </a:r>
            <a:endParaRPr lang="en-US" dirty="0">
              <a:latin typeface="Amazon Ember" panose="020B0603020204020204"/>
              <a:ea typeface="Amazon Ember" panose="020B0603020204020204" pitchFamily="34" charset="0"/>
              <a:cs typeface="Amazon Ember" panose="020B0603020204020204" pitchFamily="34" charset="0"/>
            </a:endParaRPr>
          </a:p>
          <a:p>
            <a:r>
              <a:rPr lang="en-US" dirty="0">
                <a:latin typeface="Amazon Ember" panose="020B0603020204020204" pitchFamily="34" charset="0"/>
                <a:ea typeface="Amazon Ember" panose="020B0603020204020204" pitchFamily="34" charset="0"/>
                <a:cs typeface="Amazon Ember" panose="020B0603020204020204" pitchFamily="34" charset="0"/>
              </a:rPr>
              <a:t> Author: ”Jackson, Mateo”,</a:t>
            </a:r>
            <a:endParaRPr lang="en-US" dirty="0">
              <a:latin typeface="Amazon Ember" panose="020B0603020204020204"/>
              <a:ea typeface="Amazon Ember" panose="020B0603020204020204" pitchFamily="34" charset="0"/>
              <a:cs typeface="Amazon Ember" panose="020B0603020204020204" pitchFamily="34" charset="0"/>
            </a:endParaRPr>
          </a:p>
          <a:p>
            <a:r>
              <a:rPr lang="en-US" dirty="0">
                <a:latin typeface="Amazon Ember" panose="020B0603020204020204" pitchFamily="34" charset="0"/>
                <a:ea typeface="Amazon Ember" panose="020B0603020204020204" pitchFamily="34" charset="0"/>
                <a:cs typeface="Amazon Ember" panose="020B0603020204020204" pitchFamily="34" charset="0"/>
              </a:rPr>
              <a:t> Format: “Paperback”</a:t>
            </a:r>
          </a:p>
          <a:p>
            <a:r>
              <a:rPr lang="en-US" dirty="0">
                <a:latin typeface="Amazon Ember" panose="020B0603020204020204" pitchFamily="34" charset="0"/>
                <a:ea typeface="Amazon Ember" panose="020B0603020204020204" pitchFamily="34" charset="0"/>
                <a:cs typeface="Amazon Ember" panose="020B0603020204020204" pitchFamily="34"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is Amazon </a:t>
            </a:r>
            <a:r>
              <a:rPr lang="en-US" dirty="0" err="1">
                <a:solidFill>
                  <a:srgbClr val="FF0000"/>
                </a:solidFill>
              </a:rPr>
              <a:t>DynamoDB</a:t>
            </a:r>
            <a:r>
              <a:rPr lang="en-US" dirty="0">
                <a:solidFill>
                  <a:srgbClr val="FF0000"/>
                </a:solidFill>
              </a:rPr>
              <a:t>? </a:t>
            </a:r>
          </a:p>
        </p:txBody>
      </p:sp>
      <p:sp>
        <p:nvSpPr>
          <p:cNvPr id="3" name="Content Placeholder 2"/>
          <p:cNvSpPr>
            <a:spLocks noGrp="1"/>
          </p:cNvSpPr>
          <p:nvPr>
            <p:ph idx="1"/>
          </p:nvPr>
        </p:nvSpPr>
        <p:spPr/>
        <p:txBody>
          <a:bodyPr>
            <a:normAutofit fontScale="92500" lnSpcReduction="10000"/>
          </a:bodyPr>
          <a:lstStyle/>
          <a:p>
            <a:r>
              <a:rPr lang="en-US" dirty="0"/>
              <a:t>Fast and flexible </a:t>
            </a:r>
            <a:r>
              <a:rPr lang="en-US" dirty="0" err="1"/>
              <a:t>NoSQL</a:t>
            </a:r>
            <a:r>
              <a:rPr lang="en-US" dirty="0"/>
              <a:t> database service for any scale</a:t>
            </a:r>
          </a:p>
          <a:p>
            <a:pPr marL="274320" defTabSz="932472" fontAlgn="base">
              <a:lnSpc>
                <a:spcPct val="150000"/>
              </a:lnSpc>
              <a:spcBef>
                <a:spcPct val="0"/>
              </a:spcBef>
              <a:spcAft>
                <a:spcPts val="600"/>
              </a:spcAft>
            </a:pPr>
            <a:r>
              <a:rPr lang="en-US" dirty="0" err="1">
                <a:ea typeface="Segoe UI" pitchFamily="34" charset="0"/>
                <a:cs typeface="Segoe UI" pitchFamily="34" charset="0"/>
              </a:rPr>
              <a:t>NoSQL</a:t>
            </a:r>
            <a:r>
              <a:rPr lang="en-US" dirty="0">
                <a:ea typeface="Segoe UI" pitchFamily="34" charset="0"/>
                <a:cs typeface="Segoe UI" pitchFamily="34" charset="0"/>
              </a:rPr>
              <a:t> database tables</a:t>
            </a:r>
          </a:p>
          <a:p>
            <a:pPr marL="274320" defTabSz="932472" fontAlgn="base">
              <a:lnSpc>
                <a:spcPct val="150000"/>
              </a:lnSpc>
              <a:spcBef>
                <a:spcPct val="0"/>
              </a:spcBef>
              <a:spcAft>
                <a:spcPts val="600"/>
              </a:spcAft>
            </a:pPr>
            <a:r>
              <a:rPr lang="en-US" dirty="0">
                <a:ea typeface="Segoe UI" pitchFamily="34" charset="0"/>
                <a:cs typeface="Segoe UI" pitchFamily="34" charset="0"/>
              </a:rPr>
              <a:t>Virtually unlimited storage</a:t>
            </a:r>
          </a:p>
          <a:p>
            <a:pPr marL="274320" defTabSz="932472" fontAlgn="base">
              <a:lnSpc>
                <a:spcPct val="150000"/>
              </a:lnSpc>
              <a:spcBef>
                <a:spcPct val="0"/>
              </a:spcBef>
              <a:spcAft>
                <a:spcPts val="600"/>
              </a:spcAft>
            </a:pPr>
            <a:r>
              <a:rPr lang="en-US" dirty="0">
                <a:ea typeface="Segoe UI" pitchFamily="34" charset="0"/>
                <a:cs typeface="Segoe UI" pitchFamily="34" charset="0"/>
              </a:rPr>
              <a:t>Items can have differing attributes</a:t>
            </a:r>
          </a:p>
          <a:p>
            <a:pPr marL="274320" defTabSz="932472" fontAlgn="base">
              <a:lnSpc>
                <a:spcPct val="150000"/>
              </a:lnSpc>
              <a:spcBef>
                <a:spcPct val="0"/>
              </a:spcBef>
              <a:spcAft>
                <a:spcPts val="600"/>
              </a:spcAft>
            </a:pPr>
            <a:r>
              <a:rPr lang="en-US" dirty="0">
                <a:ea typeface="Segoe UI" pitchFamily="34" charset="0"/>
                <a:cs typeface="Segoe UI" pitchFamily="34" charset="0"/>
              </a:rPr>
              <a:t>Low-latency queries</a:t>
            </a:r>
          </a:p>
          <a:p>
            <a:pPr marL="274320" defTabSz="932472" fontAlgn="base">
              <a:lnSpc>
                <a:spcPct val="150000"/>
              </a:lnSpc>
              <a:spcBef>
                <a:spcPct val="0"/>
              </a:spcBef>
              <a:spcAft>
                <a:spcPts val="600"/>
              </a:spcAft>
            </a:pPr>
            <a:r>
              <a:rPr lang="en-US" dirty="0">
                <a:ea typeface="Segoe UI" pitchFamily="34" charset="0"/>
                <a:cs typeface="Segoe UI" pitchFamily="34" charset="0"/>
              </a:rPr>
              <a:t>Scalable read/write throughput</a:t>
            </a:r>
          </a:p>
          <a:p>
            <a:endParaRPr lang="en-US" dirty="0"/>
          </a:p>
        </p:txBody>
      </p:sp>
      <p:pic>
        <p:nvPicPr>
          <p:cNvPr id="4" name="Graphic 43">
            <a:extLst>
              <a:ext uri="{FF2B5EF4-FFF2-40B4-BE49-F238E27FC236}">
                <a16:creationId xmlns:a16="http://schemas.microsoft.com/office/drawing/2014/main" id="{90F65388-7121-4EF8-A938-BC65F858FF0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63761" y="2514600"/>
            <a:ext cx="1863379" cy="2149469"/>
          </a:xfrm>
          <a:prstGeom prst="rect">
            <a:avLst/>
          </a:prstGeom>
        </p:spPr>
      </p:pic>
      <p:sp>
        <p:nvSpPr>
          <p:cNvPr id="5" name="TextBox 4">
            <a:extLst>
              <a:ext uri="{FF2B5EF4-FFF2-40B4-BE49-F238E27FC236}">
                <a16:creationId xmlns:a16="http://schemas.microsoft.com/office/drawing/2014/main" id="{C1DDD660-4DF0-4E6C-AF7A-45E500DF7758}"/>
              </a:ext>
            </a:extLst>
          </p:cNvPr>
          <p:cNvSpPr txBox="1"/>
          <p:nvPr/>
        </p:nvSpPr>
        <p:spPr>
          <a:xfrm>
            <a:off x="6019800" y="4813261"/>
            <a:ext cx="3048000" cy="861774"/>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Amazon </a:t>
            </a:r>
            <a:r>
              <a:rPr lang="en-US" sz="2800" b="1" dirty="0" err="1">
                <a:latin typeface="Amazon Ember" panose="020B0603020204020204" pitchFamily="34" charset="0"/>
                <a:ea typeface="Amazon Ember" panose="020B0603020204020204" pitchFamily="34" charset="0"/>
                <a:cs typeface="Amazon Ember" panose="020B0603020204020204" pitchFamily="34" charset="0"/>
              </a:rPr>
              <a:t>DynamoDB</a:t>
            </a:r>
            <a:endParaRPr lang="en-US" sz="6000" b="1" dirty="0">
              <a:latin typeface="Amazon Ember" panose="020B0603020204020204" pitchFamily="34" charset="0"/>
              <a:ea typeface="Amazon Ember" panose="020B0603020204020204" pitchFamily="34" charset="0"/>
              <a:cs typeface="Amazon Ember" panose="020B0603020204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Properties</a:t>
            </a:r>
          </a:p>
        </p:txBody>
      </p:sp>
      <p:sp>
        <p:nvSpPr>
          <p:cNvPr id="3" name="Content Placeholder 2"/>
          <p:cNvSpPr>
            <a:spLocks noGrp="1"/>
          </p:cNvSpPr>
          <p:nvPr>
            <p:ph idx="1"/>
          </p:nvPr>
        </p:nvSpPr>
        <p:spPr>
          <a:xfrm>
            <a:off x="457200" y="1600200"/>
            <a:ext cx="8305800" cy="4876800"/>
          </a:xfrm>
        </p:spPr>
        <p:txBody>
          <a:bodyPr>
            <a:normAutofit fontScale="77500" lnSpcReduction="20000"/>
          </a:bodyPr>
          <a:lstStyle/>
          <a:p>
            <a:r>
              <a:rPr lang="en-US" dirty="0"/>
              <a:t>Fully managed, highly available with replication across multiple AZs</a:t>
            </a:r>
          </a:p>
          <a:p>
            <a:r>
              <a:rPr lang="en-US" dirty="0"/>
              <a:t> </a:t>
            </a:r>
            <a:r>
              <a:rPr lang="en-US" dirty="0" err="1"/>
              <a:t>NoSQL</a:t>
            </a:r>
            <a:r>
              <a:rPr lang="en-US" dirty="0"/>
              <a:t> database - not a relational database - with transaction support</a:t>
            </a:r>
          </a:p>
          <a:p>
            <a:r>
              <a:rPr lang="en-US" dirty="0"/>
              <a:t>Scales to massive workloads, distributed database</a:t>
            </a:r>
          </a:p>
          <a:p>
            <a:r>
              <a:rPr lang="en-US" dirty="0"/>
              <a:t>Millions of requests per seconds, trillions of row, 100s of TB of storage</a:t>
            </a:r>
          </a:p>
          <a:p>
            <a:r>
              <a:rPr lang="en-US" dirty="0"/>
              <a:t>Fast and consistent in performance (single-digit millisecond)</a:t>
            </a:r>
          </a:p>
          <a:p>
            <a:r>
              <a:rPr lang="en-US" dirty="0"/>
              <a:t>Integrated with IAM for security, authorization and administration</a:t>
            </a:r>
          </a:p>
          <a:p>
            <a:r>
              <a:rPr lang="en-US" dirty="0"/>
              <a:t>Low cost and auto-scaling capabilities</a:t>
            </a:r>
          </a:p>
          <a:p>
            <a:r>
              <a:rPr lang="en-US" dirty="0"/>
              <a:t>No maintenance or patching, always available</a:t>
            </a:r>
          </a:p>
          <a:p>
            <a:r>
              <a:rPr lang="en-US" dirty="0"/>
              <a:t>Standard &amp; Infrequent Access (IA) Table Class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Basics</a:t>
            </a:r>
          </a:p>
        </p:txBody>
      </p:sp>
      <p:sp>
        <p:nvSpPr>
          <p:cNvPr id="3" name="Content Placeholder 2"/>
          <p:cNvSpPr>
            <a:spLocks noGrp="1"/>
          </p:cNvSpPr>
          <p:nvPr>
            <p:ph idx="1"/>
          </p:nvPr>
        </p:nvSpPr>
        <p:spPr/>
        <p:txBody>
          <a:bodyPr>
            <a:normAutofit fontScale="77500" lnSpcReduction="20000"/>
          </a:bodyPr>
          <a:lstStyle/>
          <a:p>
            <a:r>
              <a:rPr lang="en-US" dirty="0" err="1"/>
              <a:t>DynamoDB</a:t>
            </a:r>
            <a:r>
              <a:rPr lang="en-US" dirty="0"/>
              <a:t> is made of Tables</a:t>
            </a:r>
          </a:p>
          <a:p>
            <a:r>
              <a:rPr lang="en-US" dirty="0"/>
              <a:t>Each table has a Primary Key (must be decided at creation time)</a:t>
            </a:r>
          </a:p>
          <a:p>
            <a:r>
              <a:rPr lang="en-US" dirty="0"/>
              <a:t>Each table can have an infinite number of items (= rows)</a:t>
            </a:r>
          </a:p>
          <a:p>
            <a:r>
              <a:rPr lang="en-US" dirty="0"/>
              <a:t>Each item has attributes (can be added over time – can be null)</a:t>
            </a:r>
          </a:p>
          <a:p>
            <a:r>
              <a:rPr lang="en-US" dirty="0"/>
              <a:t>Maximum size of an item is 400KB</a:t>
            </a:r>
          </a:p>
          <a:p>
            <a:r>
              <a:rPr lang="en-US" dirty="0"/>
              <a:t>Data types supported are:</a:t>
            </a:r>
          </a:p>
          <a:p>
            <a:pPr lvl="1"/>
            <a:r>
              <a:rPr lang="en-US" dirty="0"/>
              <a:t> Scalar Types – String, Number, Binary, Boolean, Null</a:t>
            </a:r>
          </a:p>
          <a:p>
            <a:pPr lvl="1"/>
            <a:r>
              <a:rPr lang="en-US" dirty="0"/>
              <a:t> Document Types – List, Map</a:t>
            </a:r>
          </a:p>
          <a:p>
            <a:pPr lvl="1"/>
            <a:r>
              <a:rPr lang="en-US" dirty="0"/>
              <a:t> Set Types – String Set, Number Set, Binary Set</a:t>
            </a:r>
          </a:p>
          <a:p>
            <a:r>
              <a:rPr lang="en-US" dirty="0"/>
              <a:t> </a:t>
            </a:r>
            <a:r>
              <a:rPr lang="en-US" b="1" dirty="0"/>
              <a:t>Therefore, in </a:t>
            </a:r>
            <a:r>
              <a:rPr lang="en-US" b="1" dirty="0" err="1"/>
              <a:t>DynamoDB</a:t>
            </a:r>
            <a:r>
              <a:rPr lang="en-US" b="1" dirty="0"/>
              <a:t> you can rapidly evolve schemas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Example</a:t>
            </a:r>
          </a:p>
        </p:txBody>
      </p:sp>
      <p:pic>
        <p:nvPicPr>
          <p:cNvPr id="1026" name="Picture 2"/>
          <p:cNvPicPr>
            <a:picLocks noChangeAspect="1" noChangeArrowheads="1"/>
          </p:cNvPicPr>
          <p:nvPr/>
        </p:nvPicPr>
        <p:blipFill>
          <a:blip r:embed="rId2"/>
          <a:srcRect/>
          <a:stretch>
            <a:fillRect/>
          </a:stretch>
        </p:blipFill>
        <p:spPr bwMode="auto">
          <a:xfrm>
            <a:off x="450396" y="2228850"/>
            <a:ext cx="7550604" cy="340995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DynamoDB</a:t>
            </a:r>
            <a:r>
              <a:rPr lang="en-US" dirty="0">
                <a:solidFill>
                  <a:srgbClr val="FF0000"/>
                </a:solidFill>
              </a:rPr>
              <a:t> – Read/Write Capacity Modes</a:t>
            </a:r>
          </a:p>
        </p:txBody>
      </p:sp>
      <p:sp>
        <p:nvSpPr>
          <p:cNvPr id="3" name="Content Placeholder 2"/>
          <p:cNvSpPr>
            <a:spLocks noGrp="1"/>
          </p:cNvSpPr>
          <p:nvPr>
            <p:ph idx="1"/>
          </p:nvPr>
        </p:nvSpPr>
        <p:spPr/>
        <p:txBody>
          <a:bodyPr>
            <a:normAutofit fontScale="85000" lnSpcReduction="10000"/>
          </a:bodyPr>
          <a:lstStyle/>
          <a:p>
            <a:r>
              <a:rPr lang="en-US" dirty="0"/>
              <a:t>Provisioned Mode (default)</a:t>
            </a:r>
          </a:p>
          <a:p>
            <a:pPr lvl="1"/>
            <a:r>
              <a:rPr lang="en-US" dirty="0"/>
              <a:t>Owner can specify the number of reads/writes per second</a:t>
            </a:r>
          </a:p>
          <a:p>
            <a:pPr lvl="1"/>
            <a:r>
              <a:rPr lang="en-US" dirty="0"/>
              <a:t>Need to plan capacity beforehand</a:t>
            </a:r>
          </a:p>
          <a:p>
            <a:pPr lvl="1"/>
            <a:r>
              <a:rPr lang="en-US" dirty="0"/>
              <a:t>Pay for provisioned Read Capacity Units (RCU) &amp; Write Capacity Units (WCU)</a:t>
            </a:r>
          </a:p>
          <a:p>
            <a:pPr lvl="1"/>
            <a:r>
              <a:rPr lang="en-US" dirty="0"/>
              <a:t>Possibility to add auto-scaling mode for RCU &amp; WCU</a:t>
            </a:r>
          </a:p>
          <a:p>
            <a:r>
              <a:rPr lang="en-US" dirty="0"/>
              <a:t>On-Demand Mode</a:t>
            </a:r>
          </a:p>
          <a:p>
            <a:pPr lvl="1"/>
            <a:r>
              <a:rPr lang="en-US" dirty="0"/>
              <a:t>Read/writes automatically scale up/down with workloads</a:t>
            </a:r>
          </a:p>
          <a:p>
            <a:pPr lvl="1"/>
            <a:r>
              <a:rPr lang="en-US" dirty="0"/>
              <a:t>No capacity planning needed</a:t>
            </a:r>
          </a:p>
          <a:p>
            <a:pPr lvl="1"/>
            <a:r>
              <a:rPr lang="en-US" dirty="0"/>
              <a:t>Pay as per use, more expensive ($$$)</a:t>
            </a:r>
          </a:p>
          <a:p>
            <a:pPr lvl="1"/>
            <a:r>
              <a:rPr lang="en-US" dirty="0"/>
              <a:t>Great for unpredictable workloads, steep sudden spikes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Components</a:t>
            </a:r>
          </a:p>
        </p:txBody>
      </p:sp>
      <p:sp>
        <p:nvSpPr>
          <p:cNvPr id="3" name="Content Placeholder 2"/>
          <p:cNvSpPr>
            <a:spLocks noGrp="1"/>
          </p:cNvSpPr>
          <p:nvPr>
            <p:ph idx="1"/>
          </p:nvPr>
        </p:nvSpPr>
        <p:spPr/>
        <p:txBody>
          <a:bodyPr/>
          <a:lstStyle/>
          <a:p>
            <a:r>
              <a:rPr lang="en-US" dirty="0"/>
              <a:t>Tables, items, and attributes are the core </a:t>
            </a:r>
            <a:r>
              <a:rPr lang="en-US" dirty="0" err="1"/>
              <a:t>DynamoDB</a:t>
            </a:r>
            <a:r>
              <a:rPr lang="en-US" dirty="0"/>
              <a:t> components</a:t>
            </a:r>
          </a:p>
          <a:p>
            <a:pPr marL="0" indent="0">
              <a:buNone/>
            </a:pPr>
            <a:endParaRPr lang="en-US" dirty="0"/>
          </a:p>
          <a:p>
            <a:r>
              <a:rPr lang="en-US" dirty="0" err="1"/>
              <a:t>DynamoDB</a:t>
            </a:r>
            <a:r>
              <a:rPr lang="en-US" dirty="0"/>
              <a:t> supports two different kinds of primary keys: Partition key and partition and sort key</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Partitioning</a:t>
            </a:r>
          </a:p>
        </p:txBody>
      </p:sp>
      <p:pic>
        <p:nvPicPr>
          <p:cNvPr id="4" name="Content Placeholder 5" descr="Partitioning as data grows. See description in slide notes.">
            <a:extLst>
              <a:ext uri="{FF2B5EF4-FFF2-40B4-BE49-F238E27FC236}">
                <a16:creationId xmlns:a16="http://schemas.microsoft.com/office/drawing/2014/main" id="{E6804B00-B0D1-8945-B49D-4B5BEADA9F3D}"/>
              </a:ext>
            </a:extLst>
          </p:cNvPr>
          <p:cNvPicPr>
            <a:picLocks noChangeAspect="1"/>
          </p:cNvPicPr>
          <p:nvPr/>
        </p:nvPicPr>
        <p:blipFill rotWithShape="1">
          <a:blip r:embed="rId2">
            <a:extLst>
              <a:ext uri="{28A0092B-C50C-407E-A947-70E740481C1C}">
                <a14:useLocalDpi xmlns:a14="http://schemas.microsoft.com/office/drawing/2010/main" val="0"/>
              </a:ext>
            </a:extLst>
          </a:blip>
          <a:srcRect r="308" b="5689"/>
          <a:stretch/>
        </p:blipFill>
        <p:spPr>
          <a:xfrm>
            <a:off x="-19026" y="1775881"/>
            <a:ext cx="9163026" cy="41677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Items in a table must have a key</a:t>
            </a:r>
          </a:p>
        </p:txBody>
      </p:sp>
      <p:pic>
        <p:nvPicPr>
          <p:cNvPr id="4" name="Content Placeholder 3" descr="Single key and compond key. See description in the slide notes.">
            <a:extLst>
              <a:ext uri="{FF2B5EF4-FFF2-40B4-BE49-F238E27FC236}">
                <a16:creationId xmlns:a16="http://schemas.microsoft.com/office/drawing/2014/main" id="{38DCA5EB-4A6C-704A-B5FD-38BD3C3E7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1" y="1796300"/>
            <a:ext cx="8534400" cy="45637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DynamoDB</a:t>
            </a:r>
            <a:r>
              <a:rPr lang="en-US" dirty="0">
                <a:solidFill>
                  <a:srgbClr val="FF0000"/>
                </a:solidFill>
              </a:rPr>
              <a:t> Accelerator (DAX)</a:t>
            </a:r>
          </a:p>
        </p:txBody>
      </p:sp>
      <p:sp>
        <p:nvSpPr>
          <p:cNvPr id="3" name="Content Placeholder 2"/>
          <p:cNvSpPr>
            <a:spLocks noGrp="1"/>
          </p:cNvSpPr>
          <p:nvPr>
            <p:ph idx="1"/>
          </p:nvPr>
        </p:nvSpPr>
        <p:spPr>
          <a:xfrm>
            <a:off x="457200" y="1600200"/>
            <a:ext cx="4572000" cy="4525963"/>
          </a:xfrm>
        </p:spPr>
        <p:txBody>
          <a:bodyPr>
            <a:normAutofit fontScale="77500" lnSpcReduction="20000"/>
          </a:bodyPr>
          <a:lstStyle/>
          <a:p>
            <a:pPr>
              <a:buNone/>
            </a:pPr>
            <a:r>
              <a:rPr lang="en-US" dirty="0"/>
              <a:t>Fully-managed, highly available, seamless </a:t>
            </a:r>
            <a:r>
              <a:rPr lang="en-US" dirty="0" err="1"/>
              <a:t>inmemory</a:t>
            </a:r>
            <a:endParaRPr lang="en-US" dirty="0"/>
          </a:p>
          <a:p>
            <a:r>
              <a:rPr lang="en-US" dirty="0"/>
              <a:t>cache for </a:t>
            </a:r>
            <a:r>
              <a:rPr lang="en-US" dirty="0" err="1"/>
              <a:t>DynamoDB</a:t>
            </a:r>
            <a:endParaRPr lang="en-US" dirty="0"/>
          </a:p>
          <a:p>
            <a:r>
              <a:rPr lang="en-US" dirty="0"/>
              <a:t>Help solve read congestion by caching</a:t>
            </a:r>
          </a:p>
          <a:p>
            <a:r>
              <a:rPr lang="en-US" dirty="0"/>
              <a:t>Microseconds latency for cached data</a:t>
            </a:r>
          </a:p>
          <a:p>
            <a:r>
              <a:rPr lang="en-US" dirty="0"/>
              <a:t>Doesn’t require application logic modification</a:t>
            </a:r>
          </a:p>
          <a:p>
            <a:r>
              <a:rPr lang="en-US" dirty="0"/>
              <a:t>(compatible with existing </a:t>
            </a:r>
            <a:r>
              <a:rPr lang="en-US" dirty="0" err="1"/>
              <a:t>DynamoDB</a:t>
            </a:r>
            <a:r>
              <a:rPr lang="en-US" dirty="0"/>
              <a:t> APIs)</a:t>
            </a:r>
          </a:p>
          <a:p>
            <a:r>
              <a:rPr lang="en-US" dirty="0"/>
              <a:t>5 minutes TTL for cache (default)</a:t>
            </a:r>
          </a:p>
          <a:p>
            <a:pPr>
              <a:buNone/>
            </a:pPr>
            <a:endParaRPr lang="en-US" dirty="0"/>
          </a:p>
        </p:txBody>
      </p:sp>
      <p:pic>
        <p:nvPicPr>
          <p:cNvPr id="2050" name="Picture 2"/>
          <p:cNvPicPr>
            <a:picLocks noChangeAspect="1" noChangeArrowheads="1"/>
          </p:cNvPicPr>
          <p:nvPr/>
        </p:nvPicPr>
        <p:blipFill>
          <a:blip r:embed="rId2"/>
          <a:srcRect/>
          <a:stretch>
            <a:fillRect/>
          </a:stretch>
        </p:blipFill>
        <p:spPr bwMode="auto">
          <a:xfrm>
            <a:off x="5114925" y="1295400"/>
            <a:ext cx="3267075" cy="5234346"/>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DynamoDB</a:t>
            </a:r>
            <a:r>
              <a:rPr lang="en-US" dirty="0">
                <a:solidFill>
                  <a:srgbClr val="FF0000"/>
                </a:solidFill>
              </a:rPr>
              <a:t> – Stream Processing</a:t>
            </a:r>
          </a:p>
        </p:txBody>
      </p:sp>
      <p:sp>
        <p:nvSpPr>
          <p:cNvPr id="3" name="Content Placeholder 2"/>
          <p:cNvSpPr>
            <a:spLocks noGrp="1"/>
          </p:cNvSpPr>
          <p:nvPr>
            <p:ph idx="1"/>
          </p:nvPr>
        </p:nvSpPr>
        <p:spPr/>
        <p:txBody>
          <a:bodyPr>
            <a:normAutofit fontScale="92500" lnSpcReduction="20000"/>
          </a:bodyPr>
          <a:lstStyle/>
          <a:p>
            <a:r>
              <a:rPr lang="en-US" dirty="0"/>
              <a:t>Ordered stream of item-level modifications (create/update/delete) in a table</a:t>
            </a:r>
          </a:p>
          <a:p>
            <a:pPr>
              <a:buNone/>
            </a:pPr>
            <a:r>
              <a:rPr lang="en-US" dirty="0"/>
              <a:t>Use cases:</a:t>
            </a:r>
          </a:p>
          <a:p>
            <a:r>
              <a:rPr lang="en-US" dirty="0"/>
              <a:t>React to changes in real-time (welcome email to users)</a:t>
            </a:r>
          </a:p>
          <a:p>
            <a:r>
              <a:rPr lang="en-US" dirty="0"/>
              <a:t>Real-time usage analytics</a:t>
            </a:r>
          </a:p>
          <a:p>
            <a:r>
              <a:rPr lang="en-US" dirty="0"/>
              <a:t>Insert into derivative tables</a:t>
            </a:r>
          </a:p>
          <a:p>
            <a:r>
              <a:rPr lang="en-US" dirty="0"/>
              <a:t>Implement cross-region replication</a:t>
            </a:r>
          </a:p>
          <a:p>
            <a:r>
              <a:rPr lang="en-US" dirty="0"/>
              <a:t>Invoke AWS Lambda on changes to your </a:t>
            </a:r>
            <a:r>
              <a:rPr lang="en-US" dirty="0" err="1"/>
              <a:t>DynamoDB</a:t>
            </a:r>
            <a:r>
              <a:rPr lang="en-US" dirty="0"/>
              <a:t> table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Options</a:t>
            </a:r>
          </a:p>
        </p:txBody>
      </p:sp>
      <p:sp>
        <p:nvSpPr>
          <p:cNvPr id="4" name="Rectangle 3"/>
          <p:cNvSpPr/>
          <p:nvPr/>
        </p:nvSpPr>
        <p:spPr>
          <a:xfrm>
            <a:off x="0" y="2568476"/>
            <a:ext cx="4572000" cy="2308324"/>
          </a:xfrm>
          <a:prstGeom prst="rect">
            <a:avLst/>
          </a:prstGeom>
        </p:spPr>
        <p:txBody>
          <a:bodyPr wrap="square">
            <a:spAutoFit/>
          </a:bodyPr>
          <a:lstStyle/>
          <a:p>
            <a:r>
              <a:rPr lang="en-US" sz="2400" dirty="0" err="1"/>
              <a:t>DynamoDB</a:t>
            </a:r>
            <a:r>
              <a:rPr lang="en-US" sz="2400" dirty="0"/>
              <a:t> Streams</a:t>
            </a:r>
          </a:p>
          <a:p>
            <a:r>
              <a:rPr lang="en-US" sz="2400" dirty="0"/>
              <a:t>• 24 hours retention</a:t>
            </a:r>
          </a:p>
          <a:p>
            <a:r>
              <a:rPr lang="en-US" sz="2400" dirty="0"/>
              <a:t>• Limited # of consumers</a:t>
            </a:r>
          </a:p>
          <a:p>
            <a:r>
              <a:rPr lang="en-US" sz="2400" dirty="0"/>
              <a:t>• Process using AWS Lambda Triggers, or</a:t>
            </a:r>
          </a:p>
          <a:p>
            <a:r>
              <a:rPr lang="en-US" sz="2400" dirty="0" err="1"/>
              <a:t>DynamoDB</a:t>
            </a:r>
            <a:r>
              <a:rPr lang="en-US" sz="2400" dirty="0"/>
              <a:t> Stream Kinesis adapter</a:t>
            </a:r>
          </a:p>
        </p:txBody>
      </p:sp>
      <p:sp>
        <p:nvSpPr>
          <p:cNvPr id="5" name="Rectangle 4"/>
          <p:cNvSpPr/>
          <p:nvPr/>
        </p:nvSpPr>
        <p:spPr>
          <a:xfrm>
            <a:off x="4572000" y="2551837"/>
            <a:ext cx="4572000" cy="3046988"/>
          </a:xfrm>
          <a:prstGeom prst="rect">
            <a:avLst/>
          </a:prstGeom>
        </p:spPr>
        <p:txBody>
          <a:bodyPr>
            <a:spAutoFit/>
          </a:bodyPr>
          <a:lstStyle/>
          <a:p>
            <a:r>
              <a:rPr lang="en-US" sz="2400" dirty="0"/>
              <a:t>Kinesis Data Streams (newer)</a:t>
            </a:r>
          </a:p>
          <a:p>
            <a:r>
              <a:rPr lang="en-US" sz="2400" dirty="0"/>
              <a:t>• 1 year retention</a:t>
            </a:r>
          </a:p>
          <a:p>
            <a:r>
              <a:rPr lang="en-US" sz="2400" dirty="0"/>
              <a:t>• High # of consumers</a:t>
            </a:r>
          </a:p>
          <a:p>
            <a:r>
              <a:rPr lang="en-US" sz="2400" dirty="0"/>
              <a:t>• Process using AWS Lambda, Kinesis Data</a:t>
            </a:r>
          </a:p>
          <a:p>
            <a:r>
              <a:rPr lang="en-US" sz="2400" dirty="0"/>
              <a:t>Analytics, </a:t>
            </a:r>
            <a:r>
              <a:rPr lang="en-US" sz="2400" dirty="0" err="1"/>
              <a:t>Kineis</a:t>
            </a:r>
            <a:r>
              <a:rPr lang="en-US" sz="2400" dirty="0"/>
              <a:t> Data </a:t>
            </a:r>
            <a:r>
              <a:rPr lang="en-US" sz="2400" dirty="0" err="1"/>
              <a:t>Firehose</a:t>
            </a:r>
            <a:r>
              <a:rPr lang="en-US" sz="2400" dirty="0"/>
              <a:t>, AWS Glue</a:t>
            </a:r>
          </a:p>
          <a:p>
            <a:r>
              <a:rPr lang="en-US" sz="2400" dirty="0"/>
              <a:t>Streaming ETL…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Dynamo DB </a:t>
            </a:r>
            <a:r>
              <a:rPr lang="en-US" dirty="0" err="1">
                <a:solidFill>
                  <a:srgbClr val="FF0000"/>
                </a:solidFill>
              </a:rPr>
              <a:t>straems</a:t>
            </a:r>
            <a:endParaRPr lang="en-US" dirty="0">
              <a:solidFill>
                <a:srgbClr val="FF0000"/>
              </a:solidFill>
            </a:endParaRPr>
          </a:p>
        </p:txBody>
      </p:sp>
      <p:pic>
        <p:nvPicPr>
          <p:cNvPr id="3074" name="Picture 2"/>
          <p:cNvPicPr>
            <a:picLocks noChangeAspect="1" noChangeArrowheads="1"/>
          </p:cNvPicPr>
          <p:nvPr/>
        </p:nvPicPr>
        <p:blipFill>
          <a:blip r:embed="rId2"/>
          <a:srcRect/>
          <a:stretch>
            <a:fillRect/>
          </a:stretch>
        </p:blipFill>
        <p:spPr bwMode="auto">
          <a:xfrm>
            <a:off x="0" y="1800225"/>
            <a:ext cx="8991600" cy="421957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DynamoDB</a:t>
            </a:r>
            <a:r>
              <a:rPr lang="en-US" dirty="0">
                <a:solidFill>
                  <a:srgbClr val="FF0000"/>
                </a:solidFill>
              </a:rPr>
              <a:t> Global Tables</a:t>
            </a:r>
          </a:p>
        </p:txBody>
      </p:sp>
      <p:sp>
        <p:nvSpPr>
          <p:cNvPr id="3" name="Content Placeholder 2"/>
          <p:cNvSpPr>
            <a:spLocks noGrp="1"/>
          </p:cNvSpPr>
          <p:nvPr>
            <p:ph idx="1"/>
          </p:nvPr>
        </p:nvSpPr>
        <p:spPr>
          <a:xfrm>
            <a:off x="457200" y="1600201"/>
            <a:ext cx="8305800" cy="2895600"/>
          </a:xfrm>
        </p:spPr>
        <p:txBody>
          <a:bodyPr>
            <a:normAutofit lnSpcReduction="10000"/>
          </a:bodyPr>
          <a:lstStyle/>
          <a:p>
            <a:r>
              <a:rPr lang="en-US" sz="2800" dirty="0"/>
              <a:t>Make a </a:t>
            </a:r>
            <a:r>
              <a:rPr lang="en-US" sz="2800" dirty="0" err="1"/>
              <a:t>DynamoDB</a:t>
            </a:r>
            <a:r>
              <a:rPr lang="en-US" sz="2800" dirty="0"/>
              <a:t> table accessible with low latency in multiple-regions</a:t>
            </a:r>
          </a:p>
          <a:p>
            <a:r>
              <a:rPr lang="en-US" sz="2800" dirty="0"/>
              <a:t>• Active-Active replication</a:t>
            </a:r>
          </a:p>
          <a:p>
            <a:r>
              <a:rPr lang="en-US" sz="2800" dirty="0"/>
              <a:t>• Applications can READ and WRITE to the table in any region</a:t>
            </a:r>
          </a:p>
          <a:p>
            <a:r>
              <a:rPr lang="en-US" sz="2800" dirty="0"/>
              <a:t>• Must enable </a:t>
            </a:r>
            <a:r>
              <a:rPr lang="en-US" sz="2800" dirty="0" err="1"/>
              <a:t>DynamoDB</a:t>
            </a:r>
            <a:r>
              <a:rPr lang="en-US" sz="2800" dirty="0"/>
              <a:t> Streams as a pre-requisite</a:t>
            </a:r>
          </a:p>
        </p:txBody>
      </p:sp>
      <p:pic>
        <p:nvPicPr>
          <p:cNvPr id="4098" name="Picture 2"/>
          <p:cNvPicPr>
            <a:picLocks noChangeAspect="1" noChangeArrowheads="1"/>
          </p:cNvPicPr>
          <p:nvPr/>
        </p:nvPicPr>
        <p:blipFill>
          <a:blip r:embed="rId2"/>
          <a:srcRect/>
          <a:stretch>
            <a:fillRect/>
          </a:stretch>
        </p:blipFill>
        <p:spPr bwMode="auto">
          <a:xfrm>
            <a:off x="2057400" y="4312016"/>
            <a:ext cx="5210175" cy="2241184"/>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DynamoDB</a:t>
            </a:r>
            <a:r>
              <a:rPr lang="en-US" dirty="0">
                <a:solidFill>
                  <a:srgbClr val="FF0000"/>
                </a:solidFill>
              </a:rPr>
              <a:t> – Time To Live</a:t>
            </a:r>
          </a:p>
        </p:txBody>
      </p:sp>
      <p:sp>
        <p:nvSpPr>
          <p:cNvPr id="3" name="Content Placeholder 2"/>
          <p:cNvSpPr>
            <a:spLocks noGrp="1"/>
          </p:cNvSpPr>
          <p:nvPr>
            <p:ph idx="1"/>
          </p:nvPr>
        </p:nvSpPr>
        <p:spPr>
          <a:xfrm>
            <a:off x="457200" y="1600200"/>
            <a:ext cx="4114800" cy="4525963"/>
          </a:xfrm>
        </p:spPr>
        <p:txBody>
          <a:bodyPr>
            <a:normAutofit fontScale="92500"/>
          </a:bodyPr>
          <a:lstStyle/>
          <a:p>
            <a:r>
              <a:rPr lang="en-US" dirty="0"/>
              <a:t>Automatically delete items after an expiry timestamp</a:t>
            </a:r>
          </a:p>
          <a:p>
            <a:r>
              <a:rPr lang="en-US" dirty="0"/>
              <a:t>Use cases: reduce stored data by keeping only current items, adhere to regulatory obligations, web session handling</a:t>
            </a:r>
          </a:p>
        </p:txBody>
      </p:sp>
      <p:pic>
        <p:nvPicPr>
          <p:cNvPr id="5122" name="Picture 2"/>
          <p:cNvPicPr>
            <a:picLocks noChangeAspect="1" noChangeArrowheads="1"/>
          </p:cNvPicPr>
          <p:nvPr/>
        </p:nvPicPr>
        <p:blipFill>
          <a:blip r:embed="rId2"/>
          <a:srcRect/>
          <a:stretch>
            <a:fillRect/>
          </a:stretch>
        </p:blipFill>
        <p:spPr bwMode="auto">
          <a:xfrm>
            <a:off x="4405313" y="1371600"/>
            <a:ext cx="4738687" cy="5352714"/>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DynamoDB</a:t>
            </a:r>
            <a:r>
              <a:rPr lang="en-US" dirty="0">
                <a:solidFill>
                  <a:srgbClr val="FF0000"/>
                </a:solidFill>
              </a:rPr>
              <a:t> – Backups for disaster recovery</a:t>
            </a:r>
          </a:p>
        </p:txBody>
      </p:sp>
      <p:sp>
        <p:nvSpPr>
          <p:cNvPr id="3" name="Content Placeholder 2"/>
          <p:cNvSpPr>
            <a:spLocks noGrp="1"/>
          </p:cNvSpPr>
          <p:nvPr>
            <p:ph idx="1"/>
          </p:nvPr>
        </p:nvSpPr>
        <p:spPr/>
        <p:txBody>
          <a:bodyPr>
            <a:normAutofit fontScale="85000" lnSpcReduction="20000"/>
          </a:bodyPr>
          <a:lstStyle/>
          <a:p>
            <a:r>
              <a:rPr lang="en-US" dirty="0"/>
              <a:t>Continuous backups using point-in-time recovery (PITR)</a:t>
            </a:r>
          </a:p>
          <a:p>
            <a:pPr lvl="1"/>
            <a:r>
              <a:rPr lang="en-US" dirty="0"/>
              <a:t>Optionally enabled for the last 35 days</a:t>
            </a:r>
          </a:p>
          <a:p>
            <a:pPr lvl="1"/>
            <a:r>
              <a:rPr lang="en-US" dirty="0"/>
              <a:t>Point-in-time recovery to any time within the backup window</a:t>
            </a:r>
          </a:p>
          <a:p>
            <a:pPr lvl="1"/>
            <a:r>
              <a:rPr lang="en-US" dirty="0"/>
              <a:t>The recovery process creates a new table</a:t>
            </a:r>
          </a:p>
          <a:p>
            <a:r>
              <a:rPr lang="en-US" dirty="0"/>
              <a:t>On-demand backups</a:t>
            </a:r>
          </a:p>
          <a:p>
            <a:pPr lvl="1"/>
            <a:r>
              <a:rPr lang="en-US" dirty="0"/>
              <a:t>Full backups for long-term retention, until </a:t>
            </a:r>
            <a:r>
              <a:rPr lang="en-US" dirty="0" err="1"/>
              <a:t>explicitely</a:t>
            </a:r>
            <a:r>
              <a:rPr lang="en-US" dirty="0"/>
              <a:t> deleted</a:t>
            </a:r>
          </a:p>
          <a:p>
            <a:pPr lvl="1"/>
            <a:r>
              <a:rPr lang="en-US" dirty="0"/>
              <a:t>Doesn’t affect performance or latency</a:t>
            </a:r>
          </a:p>
          <a:p>
            <a:pPr lvl="1"/>
            <a:r>
              <a:rPr lang="en-US" dirty="0"/>
              <a:t>Can be configured and managed in AWS Backup (enables cross-region copy)</a:t>
            </a:r>
          </a:p>
          <a:p>
            <a:pPr lvl="1"/>
            <a:r>
              <a:rPr lang="en-US" dirty="0"/>
              <a:t>The recovery process creates a new table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DynamoDB</a:t>
            </a:r>
            <a:r>
              <a:rPr lang="en-US" dirty="0">
                <a:solidFill>
                  <a:srgbClr val="FF0000"/>
                </a:solidFill>
              </a:rPr>
              <a:t> – Integration with Amazon S3</a:t>
            </a:r>
          </a:p>
        </p:txBody>
      </p:sp>
      <p:sp>
        <p:nvSpPr>
          <p:cNvPr id="3" name="Content Placeholder 2"/>
          <p:cNvSpPr>
            <a:spLocks noGrp="1"/>
          </p:cNvSpPr>
          <p:nvPr>
            <p:ph idx="1"/>
          </p:nvPr>
        </p:nvSpPr>
        <p:spPr>
          <a:xfrm>
            <a:off x="457200" y="1600200"/>
            <a:ext cx="8153400" cy="3352799"/>
          </a:xfrm>
        </p:spPr>
        <p:txBody>
          <a:bodyPr>
            <a:normAutofit fontScale="85000" lnSpcReduction="20000"/>
          </a:bodyPr>
          <a:lstStyle/>
          <a:p>
            <a:r>
              <a:rPr lang="en-US" dirty="0"/>
              <a:t>Export to S3 (must enable PITR)</a:t>
            </a:r>
          </a:p>
          <a:p>
            <a:r>
              <a:rPr lang="en-US" dirty="0"/>
              <a:t>Works for any point of time in the last 35 days</a:t>
            </a:r>
          </a:p>
          <a:p>
            <a:r>
              <a:rPr lang="en-US" dirty="0"/>
              <a:t>Doesn’t affect the read capacity of your table</a:t>
            </a:r>
          </a:p>
          <a:p>
            <a:r>
              <a:rPr lang="en-US" dirty="0"/>
              <a:t>Perform data analysis on top of </a:t>
            </a:r>
            <a:r>
              <a:rPr lang="en-US" dirty="0" err="1"/>
              <a:t>DynamoDB</a:t>
            </a:r>
            <a:endParaRPr lang="en-US" dirty="0"/>
          </a:p>
          <a:p>
            <a:r>
              <a:rPr lang="en-US" dirty="0"/>
              <a:t>Retain snapshots for auditing</a:t>
            </a:r>
          </a:p>
          <a:p>
            <a:r>
              <a:rPr lang="en-US" dirty="0"/>
              <a:t>ETL on top of S3 data before importing back into </a:t>
            </a:r>
            <a:r>
              <a:rPr lang="en-US" dirty="0" err="1"/>
              <a:t>DynamoDB</a:t>
            </a:r>
            <a:endParaRPr lang="en-US" dirty="0"/>
          </a:p>
          <a:p>
            <a:r>
              <a:rPr lang="en-US" dirty="0"/>
              <a:t>Export in </a:t>
            </a:r>
            <a:r>
              <a:rPr lang="en-US" dirty="0" err="1"/>
              <a:t>DynamoDB</a:t>
            </a:r>
            <a:r>
              <a:rPr lang="en-US" dirty="0"/>
              <a:t> JSON or ION format</a:t>
            </a:r>
          </a:p>
        </p:txBody>
      </p:sp>
      <p:pic>
        <p:nvPicPr>
          <p:cNvPr id="6146" name="Picture 2"/>
          <p:cNvPicPr>
            <a:picLocks noChangeAspect="1" noChangeArrowheads="1"/>
          </p:cNvPicPr>
          <p:nvPr/>
        </p:nvPicPr>
        <p:blipFill>
          <a:blip r:embed="rId2"/>
          <a:srcRect/>
          <a:stretch>
            <a:fillRect/>
          </a:stretch>
        </p:blipFill>
        <p:spPr bwMode="auto">
          <a:xfrm>
            <a:off x="1457325" y="4800600"/>
            <a:ext cx="5095875" cy="172784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FF0000"/>
                </a:solidFill>
              </a:rPr>
              <a:t>DynamoDB</a:t>
            </a:r>
            <a:r>
              <a:rPr lang="en-US" dirty="0">
                <a:solidFill>
                  <a:srgbClr val="FF0000"/>
                </a:solidFill>
              </a:rPr>
              <a:t> – Integration with Amazon S3 (2)</a:t>
            </a:r>
            <a:endParaRPr lang="en-US" dirty="0"/>
          </a:p>
        </p:txBody>
      </p:sp>
      <p:sp>
        <p:nvSpPr>
          <p:cNvPr id="3" name="Content Placeholder 2"/>
          <p:cNvSpPr>
            <a:spLocks noGrp="1"/>
          </p:cNvSpPr>
          <p:nvPr>
            <p:ph idx="1"/>
          </p:nvPr>
        </p:nvSpPr>
        <p:spPr>
          <a:xfrm>
            <a:off x="457200" y="1600201"/>
            <a:ext cx="8229600" cy="2819400"/>
          </a:xfrm>
        </p:spPr>
        <p:txBody>
          <a:bodyPr>
            <a:normAutofit lnSpcReduction="10000"/>
          </a:bodyPr>
          <a:lstStyle/>
          <a:p>
            <a:pPr>
              <a:buNone/>
            </a:pPr>
            <a:r>
              <a:rPr lang="en-US" dirty="0"/>
              <a:t>Import from S3</a:t>
            </a:r>
          </a:p>
          <a:p>
            <a:r>
              <a:rPr lang="en-US" dirty="0"/>
              <a:t>Import CSV, </a:t>
            </a:r>
            <a:r>
              <a:rPr lang="en-US" dirty="0" err="1"/>
              <a:t>DynamoDB</a:t>
            </a:r>
            <a:r>
              <a:rPr lang="en-US" dirty="0"/>
              <a:t> JSON or ION format</a:t>
            </a:r>
          </a:p>
          <a:p>
            <a:r>
              <a:rPr lang="en-US" dirty="0"/>
              <a:t>Doesn’t consume any write capacity</a:t>
            </a:r>
          </a:p>
          <a:p>
            <a:r>
              <a:rPr lang="en-US" dirty="0"/>
              <a:t>Creates a new table</a:t>
            </a:r>
          </a:p>
          <a:p>
            <a:r>
              <a:rPr lang="en-US" dirty="0"/>
              <a:t>Import errors are logged in </a:t>
            </a:r>
            <a:r>
              <a:rPr lang="en-US" dirty="0" err="1"/>
              <a:t>CloudWatch</a:t>
            </a:r>
            <a:r>
              <a:rPr lang="en-US" dirty="0"/>
              <a:t> Logs</a:t>
            </a:r>
          </a:p>
        </p:txBody>
      </p:sp>
      <p:pic>
        <p:nvPicPr>
          <p:cNvPr id="7170" name="Picture 2"/>
          <p:cNvPicPr>
            <a:picLocks noChangeAspect="1" noChangeArrowheads="1"/>
          </p:cNvPicPr>
          <p:nvPr/>
        </p:nvPicPr>
        <p:blipFill>
          <a:blip r:embed="rId2"/>
          <a:srcRect/>
          <a:stretch>
            <a:fillRect/>
          </a:stretch>
        </p:blipFill>
        <p:spPr bwMode="auto">
          <a:xfrm>
            <a:off x="1447800" y="4667250"/>
            <a:ext cx="4929188" cy="219075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C7D9-1AFE-DD87-D47E-DF48A63F8C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F354D7-AD3D-F257-C4BF-F02B8DDF423E}"/>
              </a:ext>
            </a:extLst>
          </p:cNvPr>
          <p:cNvSpPr>
            <a:spLocks noGrp="1"/>
          </p:cNvSpPr>
          <p:nvPr>
            <p:ph idx="1"/>
          </p:nvPr>
        </p:nvSpPr>
        <p:spPr/>
        <p:txBody>
          <a:bodyPr>
            <a:normAutofit fontScale="85000" lnSpcReduction="10000"/>
          </a:bodyPr>
          <a:lstStyle/>
          <a:p>
            <a:r>
              <a:rPr lang="en-US" dirty="0"/>
              <a:t>A retail company uses an Amazon DB service instance for its e-commerce application’s database. Suddenly, during a seasonal sale, the application experiences high read traffic, leading to increased latency and customer complaints about slow page loads. The management wants to ensure high availability, minimal downtime, and optimal performance, especially during peak hours. The company also has strict requirements for automated backups and disaster recovery.</a:t>
            </a:r>
          </a:p>
          <a:p>
            <a:r>
              <a:rPr lang="en-US" dirty="0"/>
              <a:t>Which DB service is relevant? What are the features you expect?</a:t>
            </a:r>
            <a:endParaRPr lang="en-IN" dirty="0"/>
          </a:p>
        </p:txBody>
      </p:sp>
    </p:spTree>
    <p:extLst>
      <p:ext uri="{BB962C8B-B14F-4D97-AF65-F5344CB8AC3E}">
        <p14:creationId xmlns:p14="http://schemas.microsoft.com/office/powerpoint/2010/main" val="1990082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95600"/>
            <a:ext cx="8229600" cy="1143000"/>
          </a:xfrm>
        </p:spPr>
        <p:txBody>
          <a:bodyPr/>
          <a:lstStyle/>
          <a:p>
            <a:r>
              <a:rPr lang="en-US" dirty="0">
                <a:solidFill>
                  <a:srgbClr val="FF0000"/>
                </a:solidFill>
              </a:rPr>
              <a:t>AWS Aurora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Aurora</a:t>
            </a:r>
          </a:p>
        </p:txBody>
      </p:sp>
      <p:sp>
        <p:nvSpPr>
          <p:cNvPr id="3" name="Content Placeholder 2"/>
          <p:cNvSpPr>
            <a:spLocks noGrp="1"/>
          </p:cNvSpPr>
          <p:nvPr>
            <p:ph idx="1"/>
          </p:nvPr>
        </p:nvSpPr>
        <p:spPr>
          <a:xfrm>
            <a:off x="457200" y="1600201"/>
            <a:ext cx="8229600" cy="3429000"/>
          </a:xfrm>
        </p:spPr>
        <p:txBody>
          <a:bodyPr>
            <a:normAutofit fontScale="85000" lnSpcReduction="10000"/>
          </a:bodyPr>
          <a:lstStyle/>
          <a:p>
            <a:pPr>
              <a:lnSpc>
                <a:spcPct val="150000"/>
              </a:lnSpc>
              <a:spcBef>
                <a:spcPts val="0"/>
              </a:spcBef>
              <a:spcAft>
                <a:spcPts val="1200"/>
              </a:spcAft>
            </a:pP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dirty="0">
                <a:latin typeface="Amazon Ember Light" panose="020B0403020204020204" pitchFamily="34" charset="0"/>
                <a:ea typeface="Amazon Ember Light" panose="020B0403020204020204" pitchFamily="34" charset="0"/>
                <a:cs typeface="Amazon Ember Light" panose="020B0403020204020204" pitchFamily="34" charset="0"/>
              </a:rPr>
              <a:t> relational </a:t>
            </a: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database</a:t>
            </a:r>
          </a:p>
          <a:p>
            <a:pPr>
              <a:lnSpc>
                <a:spcPct val="150000"/>
              </a:lnSpc>
              <a:spcBef>
                <a:spcPts val="0"/>
              </a:spcBef>
              <a:spcAft>
                <a:spcPts val="1200"/>
              </a:spcAft>
            </a:pPr>
            <a:r>
              <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Compatible with </a:t>
            </a:r>
            <a:r>
              <a:rPr lang="en-US" dirty="0" err="1">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MySQL</a:t>
            </a:r>
            <a:r>
              <a:rPr lang="en-US" dirty="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dirty="0" err="1">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PostgreSQL</a:t>
            </a:r>
            <a:endParaRPr lang="en-US"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a:lnSpc>
                <a:spcPct val="150000"/>
              </a:lnSpc>
              <a:spcBef>
                <a:spcPts val="0"/>
              </a:spcBef>
              <a:spcAft>
                <a:spcPts val="1200"/>
              </a:spcAft>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Automate time-consuming tasks (such as provisioning, patching, backup, recovery, failure detection, and repair).</a:t>
            </a:r>
          </a:p>
          <a:p>
            <a:endParaRPr lang="en-US" dirty="0"/>
          </a:p>
        </p:txBody>
      </p:sp>
      <p:pic>
        <p:nvPicPr>
          <p:cNvPr id="4" name="Graphic 4">
            <a:extLst>
              <a:ext uri="{FF2B5EF4-FFF2-40B4-BE49-F238E27FC236}">
                <a16:creationId xmlns:a16="http://schemas.microsoft.com/office/drawing/2014/main" id="{ACA6E15D-9579-4614-99CB-F2BE48A3926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56909" y="4267200"/>
            <a:ext cx="1262217" cy="1364706"/>
          </a:xfrm>
          <a:prstGeom prst="rect">
            <a:avLst/>
          </a:prstGeom>
        </p:spPr>
      </p:pic>
      <p:sp>
        <p:nvSpPr>
          <p:cNvPr id="5" name="TextBox 4"/>
          <p:cNvSpPr txBox="1"/>
          <p:nvPr/>
        </p:nvSpPr>
        <p:spPr>
          <a:xfrm>
            <a:off x="5164658" y="6214753"/>
            <a:ext cx="3522142" cy="430887"/>
          </a:xfrm>
          <a:prstGeom prst="rect">
            <a:avLst/>
          </a:prstGeom>
          <a:noFill/>
        </p:spPr>
        <p:txBody>
          <a:bodyPr wrap="square" lIns="0" tIns="0" rIns="0" bIns="0" rtlCol="0" anchor="ctr">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Amazon Aurora</a:t>
            </a:r>
            <a:endParaRPr lang="en-US" sz="6000">
              <a:latin typeface="Amazon Ember" panose="020B0603020204020204" pitchFamily="34" charset="0"/>
              <a:ea typeface="Amazon Ember" panose="020B0603020204020204" pitchFamily="34" charset="0"/>
              <a:cs typeface="Amazon Ember" panose="020B0603020204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Basics</a:t>
            </a:r>
          </a:p>
        </p:txBody>
      </p:sp>
      <p:sp>
        <p:nvSpPr>
          <p:cNvPr id="3" name="Content Placeholder 2"/>
          <p:cNvSpPr>
            <a:spLocks noGrp="1"/>
          </p:cNvSpPr>
          <p:nvPr>
            <p:ph idx="1"/>
          </p:nvPr>
        </p:nvSpPr>
        <p:spPr/>
        <p:txBody>
          <a:bodyPr>
            <a:normAutofit fontScale="70000" lnSpcReduction="20000"/>
          </a:bodyPr>
          <a:lstStyle/>
          <a:p>
            <a:r>
              <a:rPr lang="en-US" dirty="0"/>
              <a:t>Aurora is a proprietary technology from AWS (not open sourced)</a:t>
            </a:r>
          </a:p>
          <a:p>
            <a:r>
              <a:rPr lang="en-US" dirty="0"/>
              <a:t> </a:t>
            </a:r>
            <a:r>
              <a:rPr lang="en-US" dirty="0" err="1"/>
              <a:t>Postgres</a:t>
            </a:r>
            <a:r>
              <a:rPr lang="en-US" dirty="0"/>
              <a:t> and </a:t>
            </a:r>
            <a:r>
              <a:rPr lang="en-US" dirty="0" err="1"/>
              <a:t>MySQL</a:t>
            </a:r>
            <a:r>
              <a:rPr lang="en-US" dirty="0"/>
              <a:t> are both supported as Aurora DB (that means your drivers will work as if Aurora was a </a:t>
            </a:r>
            <a:r>
              <a:rPr lang="en-US" dirty="0" err="1"/>
              <a:t>Postgres</a:t>
            </a:r>
            <a:r>
              <a:rPr lang="en-US" dirty="0"/>
              <a:t> or </a:t>
            </a:r>
            <a:r>
              <a:rPr lang="en-US" dirty="0" err="1"/>
              <a:t>MySQL</a:t>
            </a:r>
            <a:r>
              <a:rPr lang="en-US" dirty="0"/>
              <a:t> database)</a:t>
            </a:r>
          </a:p>
          <a:p>
            <a:r>
              <a:rPr lang="en-US" dirty="0"/>
              <a:t> Aurora is “AWS cloud optimized” and claims 5x performance improvement over </a:t>
            </a:r>
            <a:r>
              <a:rPr lang="en-US" dirty="0" err="1"/>
              <a:t>MySQL</a:t>
            </a:r>
            <a:r>
              <a:rPr lang="en-US" dirty="0"/>
              <a:t> on RDS, over 3x the performance of </a:t>
            </a:r>
            <a:r>
              <a:rPr lang="en-US" dirty="0" err="1"/>
              <a:t>Postgres</a:t>
            </a:r>
            <a:r>
              <a:rPr lang="en-US" dirty="0"/>
              <a:t> on RDS</a:t>
            </a:r>
          </a:p>
          <a:p>
            <a:r>
              <a:rPr lang="en-US" dirty="0"/>
              <a:t>Aurora storage automatically grows in increments of 10GB, up to 128 TB.</a:t>
            </a:r>
          </a:p>
          <a:p>
            <a:r>
              <a:rPr lang="en-US" dirty="0"/>
              <a:t>Aurora can have up to 15 replicas and the replication process is faster than</a:t>
            </a:r>
          </a:p>
          <a:p>
            <a:r>
              <a:rPr lang="en-US" dirty="0" err="1"/>
              <a:t>MySQL</a:t>
            </a:r>
            <a:r>
              <a:rPr lang="en-US" dirty="0"/>
              <a:t> (sub 10 ms replica lag)</a:t>
            </a:r>
          </a:p>
          <a:p>
            <a:r>
              <a:rPr lang="en-US" dirty="0"/>
              <a:t>Failover in Aurora is instantaneous. It’s HA (High Availability) native.</a:t>
            </a:r>
          </a:p>
          <a:p>
            <a:r>
              <a:rPr lang="en-US" dirty="0"/>
              <a:t>Aurora costs more than RDS (20% more) – but is more efficient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Benefits</a:t>
            </a:r>
          </a:p>
        </p:txBody>
      </p:sp>
      <p:pic>
        <p:nvPicPr>
          <p:cNvPr id="4" name="Picture 3" descr="Amazon Aurora benefits: fast and available, simple, compatible, pay-as-you-go, managed service.">
            <a:extLst>
              <a:ext uri="{FF2B5EF4-FFF2-40B4-BE49-F238E27FC236}">
                <a16:creationId xmlns:a16="http://schemas.microsoft.com/office/drawing/2014/main" id="{7EE46A1F-7D39-40AF-809B-0B70D9DABFD3}"/>
              </a:ext>
            </a:extLst>
          </p:cNvPr>
          <p:cNvPicPr>
            <a:picLocks noChangeAspect="1"/>
          </p:cNvPicPr>
          <p:nvPr/>
        </p:nvPicPr>
        <p:blipFill>
          <a:blip r:embed="rId2"/>
          <a:stretch>
            <a:fillRect/>
          </a:stretch>
        </p:blipFill>
        <p:spPr>
          <a:xfrm>
            <a:off x="457200" y="1443492"/>
            <a:ext cx="8120537" cy="526210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High Availability</a:t>
            </a:r>
          </a:p>
        </p:txBody>
      </p:sp>
      <p:pic>
        <p:nvPicPr>
          <p:cNvPr id="4" name="Picture 3" descr="Amazon Aurora is replicated across three Availability Zones with backups to Amazon S3.">
            <a:extLst>
              <a:ext uri="{FF2B5EF4-FFF2-40B4-BE49-F238E27FC236}">
                <a16:creationId xmlns:a16="http://schemas.microsoft.com/office/drawing/2014/main" id="{BDF766E0-009F-4BB8-9BCA-23BCFCBA1968}"/>
              </a:ext>
            </a:extLst>
          </p:cNvPr>
          <p:cNvPicPr>
            <a:picLocks noChangeAspect="1"/>
          </p:cNvPicPr>
          <p:nvPr/>
        </p:nvPicPr>
        <p:blipFill>
          <a:blip r:embed="rId2"/>
          <a:stretch>
            <a:fillRect/>
          </a:stretch>
        </p:blipFill>
        <p:spPr>
          <a:xfrm>
            <a:off x="838200" y="1442971"/>
            <a:ext cx="7834927" cy="481469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Aurora High Availability and Read Scaling</a:t>
            </a:r>
          </a:p>
        </p:txBody>
      </p:sp>
      <p:sp>
        <p:nvSpPr>
          <p:cNvPr id="3" name="Content Placeholder 2"/>
          <p:cNvSpPr>
            <a:spLocks noGrp="1"/>
          </p:cNvSpPr>
          <p:nvPr>
            <p:ph idx="1"/>
          </p:nvPr>
        </p:nvSpPr>
        <p:spPr>
          <a:xfrm>
            <a:off x="152400" y="1524000"/>
            <a:ext cx="5257800" cy="5257800"/>
          </a:xfrm>
        </p:spPr>
        <p:txBody>
          <a:bodyPr>
            <a:normAutofit fontScale="77500" lnSpcReduction="20000"/>
          </a:bodyPr>
          <a:lstStyle/>
          <a:p>
            <a:pPr>
              <a:buNone/>
            </a:pPr>
            <a:r>
              <a:rPr lang="en-US" dirty="0"/>
              <a:t>copies of your data across 3 AZ:</a:t>
            </a:r>
          </a:p>
          <a:p>
            <a:r>
              <a:rPr lang="en-US" dirty="0"/>
              <a:t>4 copies out of 6 needed for writes</a:t>
            </a:r>
          </a:p>
          <a:p>
            <a:r>
              <a:rPr lang="en-US" dirty="0"/>
              <a:t>3 copies out of 6 need for reads</a:t>
            </a:r>
          </a:p>
          <a:p>
            <a:r>
              <a:rPr lang="en-US" dirty="0"/>
              <a:t>Self healing with peer-to-peer replication</a:t>
            </a:r>
          </a:p>
          <a:p>
            <a:r>
              <a:rPr lang="en-US" dirty="0"/>
              <a:t>Storage is striped across 100s of volumes</a:t>
            </a:r>
          </a:p>
          <a:p>
            <a:r>
              <a:rPr lang="en-US" dirty="0"/>
              <a:t>One Aurora Instance takes writes (master)</a:t>
            </a:r>
          </a:p>
          <a:p>
            <a:r>
              <a:rPr lang="en-US" dirty="0"/>
              <a:t>Automated failover for master in less than 30 seconds</a:t>
            </a:r>
          </a:p>
          <a:p>
            <a:r>
              <a:rPr lang="en-US" dirty="0"/>
              <a:t>Master + up to 15 Aurora Read Replicas serve reads</a:t>
            </a:r>
          </a:p>
          <a:p>
            <a:r>
              <a:rPr lang="en-US" dirty="0"/>
              <a:t>Support for Cross Region Replication</a:t>
            </a:r>
          </a:p>
        </p:txBody>
      </p:sp>
      <p:pic>
        <p:nvPicPr>
          <p:cNvPr id="1026" name="Picture 2"/>
          <p:cNvPicPr>
            <a:picLocks noChangeAspect="1" noChangeArrowheads="1"/>
          </p:cNvPicPr>
          <p:nvPr/>
        </p:nvPicPr>
        <p:blipFill>
          <a:blip r:embed="rId2"/>
          <a:srcRect/>
          <a:stretch>
            <a:fillRect/>
          </a:stretch>
        </p:blipFill>
        <p:spPr bwMode="auto">
          <a:xfrm>
            <a:off x="5105400" y="2400300"/>
            <a:ext cx="3867150" cy="33147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DB Cluster</a:t>
            </a:r>
          </a:p>
        </p:txBody>
      </p:sp>
      <p:pic>
        <p:nvPicPr>
          <p:cNvPr id="2050" name="Picture 2"/>
          <p:cNvPicPr>
            <a:picLocks noChangeAspect="1" noChangeArrowheads="1"/>
          </p:cNvPicPr>
          <p:nvPr/>
        </p:nvPicPr>
        <p:blipFill>
          <a:blip r:embed="rId2"/>
          <a:srcRect/>
          <a:stretch>
            <a:fillRect/>
          </a:stretch>
        </p:blipFill>
        <p:spPr bwMode="auto">
          <a:xfrm>
            <a:off x="125263" y="1562100"/>
            <a:ext cx="8866337" cy="43815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Features</a:t>
            </a:r>
          </a:p>
        </p:txBody>
      </p:sp>
      <p:sp>
        <p:nvSpPr>
          <p:cNvPr id="3" name="Content Placeholder 2"/>
          <p:cNvSpPr>
            <a:spLocks noGrp="1"/>
          </p:cNvSpPr>
          <p:nvPr>
            <p:ph idx="1"/>
          </p:nvPr>
        </p:nvSpPr>
        <p:spPr/>
        <p:txBody>
          <a:bodyPr>
            <a:normAutofit fontScale="92500" lnSpcReduction="20000"/>
          </a:bodyPr>
          <a:lstStyle/>
          <a:p>
            <a:r>
              <a:rPr lang="en-US" dirty="0"/>
              <a:t>Automatic fail-over</a:t>
            </a:r>
          </a:p>
          <a:p>
            <a:r>
              <a:rPr lang="en-US" dirty="0"/>
              <a:t>Backup and Recovery</a:t>
            </a:r>
          </a:p>
          <a:p>
            <a:r>
              <a:rPr lang="en-US" dirty="0"/>
              <a:t>Isolation and security</a:t>
            </a:r>
          </a:p>
          <a:p>
            <a:r>
              <a:rPr lang="en-US" dirty="0"/>
              <a:t>Industry compliance</a:t>
            </a:r>
          </a:p>
          <a:p>
            <a:r>
              <a:rPr lang="en-US" dirty="0"/>
              <a:t>Push-button scaling</a:t>
            </a:r>
          </a:p>
          <a:p>
            <a:r>
              <a:rPr lang="en-US" dirty="0"/>
              <a:t>Automated Patching with Zero Downtime</a:t>
            </a:r>
          </a:p>
          <a:p>
            <a:r>
              <a:rPr lang="en-US" dirty="0"/>
              <a:t>Advanced Monitoring</a:t>
            </a:r>
          </a:p>
          <a:p>
            <a:r>
              <a:rPr lang="en-US" dirty="0"/>
              <a:t>Routine Maintenance</a:t>
            </a:r>
          </a:p>
          <a:p>
            <a:r>
              <a:rPr lang="en-US" dirty="0"/>
              <a:t>Backtrack: restore data at any point of time without using backups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Replicas Auto-scaling</a:t>
            </a:r>
          </a:p>
        </p:txBody>
      </p:sp>
      <p:pic>
        <p:nvPicPr>
          <p:cNvPr id="3074" name="Picture 2"/>
          <p:cNvPicPr>
            <a:picLocks noChangeAspect="1" noChangeArrowheads="1"/>
          </p:cNvPicPr>
          <p:nvPr/>
        </p:nvPicPr>
        <p:blipFill>
          <a:blip r:embed="rId2"/>
          <a:srcRect/>
          <a:stretch>
            <a:fillRect/>
          </a:stretch>
        </p:blipFill>
        <p:spPr bwMode="auto">
          <a:xfrm>
            <a:off x="321142" y="1638300"/>
            <a:ext cx="8365658" cy="43815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Custom Endpoints</a:t>
            </a:r>
          </a:p>
        </p:txBody>
      </p:sp>
      <p:sp>
        <p:nvSpPr>
          <p:cNvPr id="3" name="Content Placeholder 2"/>
          <p:cNvSpPr>
            <a:spLocks noGrp="1"/>
          </p:cNvSpPr>
          <p:nvPr>
            <p:ph idx="1"/>
          </p:nvPr>
        </p:nvSpPr>
        <p:spPr>
          <a:xfrm>
            <a:off x="457200" y="1600201"/>
            <a:ext cx="8153400" cy="1905000"/>
          </a:xfrm>
        </p:spPr>
        <p:txBody>
          <a:bodyPr>
            <a:normAutofit fontScale="77500" lnSpcReduction="20000"/>
          </a:bodyPr>
          <a:lstStyle/>
          <a:p>
            <a:r>
              <a:rPr lang="en-US" dirty="0"/>
              <a:t>Define a subset of Aurora Instances as a Custom Endpoint</a:t>
            </a:r>
          </a:p>
          <a:p>
            <a:r>
              <a:rPr lang="en-US" dirty="0"/>
              <a:t>Example: Run analytical queries on specific replicas</a:t>
            </a:r>
          </a:p>
          <a:p>
            <a:r>
              <a:rPr lang="en-US" dirty="0"/>
              <a:t>The Reader Endpoint is generally not used after defining Custom Endpoints</a:t>
            </a:r>
          </a:p>
        </p:txBody>
      </p:sp>
      <p:pic>
        <p:nvPicPr>
          <p:cNvPr id="4098" name="Picture 2"/>
          <p:cNvPicPr>
            <a:picLocks noChangeAspect="1" noChangeArrowheads="1"/>
          </p:cNvPicPr>
          <p:nvPr/>
        </p:nvPicPr>
        <p:blipFill>
          <a:blip r:embed="rId2"/>
          <a:srcRect/>
          <a:stretch>
            <a:fillRect/>
          </a:stretch>
        </p:blipFill>
        <p:spPr bwMode="auto">
          <a:xfrm>
            <a:off x="133350" y="3581400"/>
            <a:ext cx="8858250" cy="314325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a:t>
            </a:r>
            <a:r>
              <a:rPr lang="en-US" dirty="0" err="1">
                <a:solidFill>
                  <a:srgbClr val="FF0000"/>
                </a:solidFill>
              </a:rPr>
              <a:t>Serverless</a:t>
            </a:r>
            <a:endParaRPr lang="en-US" dirty="0">
              <a:solidFill>
                <a:srgbClr val="FF0000"/>
              </a:solidFill>
            </a:endParaRPr>
          </a:p>
        </p:txBody>
      </p:sp>
      <p:sp>
        <p:nvSpPr>
          <p:cNvPr id="3" name="Content Placeholder 2"/>
          <p:cNvSpPr>
            <a:spLocks noGrp="1"/>
          </p:cNvSpPr>
          <p:nvPr>
            <p:ph idx="1"/>
          </p:nvPr>
        </p:nvSpPr>
        <p:spPr>
          <a:xfrm>
            <a:off x="76200" y="1600200"/>
            <a:ext cx="4343400" cy="5029200"/>
          </a:xfrm>
        </p:spPr>
        <p:txBody>
          <a:bodyPr>
            <a:normAutofit fontScale="92500" lnSpcReduction="20000"/>
          </a:bodyPr>
          <a:lstStyle/>
          <a:p>
            <a:r>
              <a:rPr lang="en-US" dirty="0"/>
              <a:t>Automated database instantiation and </a:t>
            </a:r>
            <a:r>
              <a:rPr lang="en-US" dirty="0" err="1"/>
              <a:t>autoscaling</a:t>
            </a:r>
            <a:r>
              <a:rPr lang="en-US" dirty="0"/>
              <a:t> based on actual usage</a:t>
            </a:r>
          </a:p>
          <a:p>
            <a:r>
              <a:rPr lang="en-US" dirty="0"/>
              <a:t>Good for infrequent, intermittent or unpredictable workloads</a:t>
            </a:r>
          </a:p>
          <a:p>
            <a:r>
              <a:rPr lang="en-US" dirty="0"/>
              <a:t>No capacity planning needed</a:t>
            </a:r>
          </a:p>
          <a:p>
            <a:r>
              <a:rPr lang="en-US" dirty="0"/>
              <a:t>Pay per second, can be more cost-effective</a:t>
            </a:r>
          </a:p>
        </p:txBody>
      </p:sp>
      <p:pic>
        <p:nvPicPr>
          <p:cNvPr id="5122" name="Picture 2"/>
          <p:cNvPicPr>
            <a:picLocks noChangeAspect="1" noChangeArrowheads="1"/>
          </p:cNvPicPr>
          <p:nvPr/>
        </p:nvPicPr>
        <p:blipFill>
          <a:blip r:embed="rId2"/>
          <a:srcRect/>
          <a:stretch>
            <a:fillRect/>
          </a:stretch>
        </p:blipFill>
        <p:spPr bwMode="auto">
          <a:xfrm>
            <a:off x="4114800" y="1726226"/>
            <a:ext cx="5029200" cy="4522174"/>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Resilient design</a:t>
            </a:r>
          </a:p>
        </p:txBody>
      </p:sp>
      <p:pic>
        <p:nvPicPr>
          <p:cNvPr id="5" name="Picture 4" descr="Amazon Aurora design reduces recovery time by moving the redo log files out of the database process.">
            <a:extLst>
              <a:ext uri="{FF2B5EF4-FFF2-40B4-BE49-F238E27FC236}">
                <a16:creationId xmlns:a16="http://schemas.microsoft.com/office/drawing/2014/main" id="{D6DD6977-83EA-C843-8D81-0BA93F174909}"/>
              </a:ext>
            </a:extLst>
          </p:cNvPr>
          <p:cNvPicPr>
            <a:picLocks noChangeAspect="1"/>
          </p:cNvPicPr>
          <p:nvPr/>
        </p:nvPicPr>
        <p:blipFill>
          <a:blip r:embed="rId2"/>
          <a:stretch>
            <a:fillRect/>
          </a:stretch>
        </p:blipFill>
        <p:spPr>
          <a:xfrm>
            <a:off x="228600" y="1910079"/>
            <a:ext cx="8629650" cy="430029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Global Aurora</a:t>
            </a:r>
          </a:p>
        </p:txBody>
      </p:sp>
      <p:sp>
        <p:nvSpPr>
          <p:cNvPr id="3" name="Content Placeholder 2"/>
          <p:cNvSpPr>
            <a:spLocks noGrp="1"/>
          </p:cNvSpPr>
          <p:nvPr>
            <p:ph idx="1"/>
          </p:nvPr>
        </p:nvSpPr>
        <p:spPr>
          <a:xfrm>
            <a:off x="457200" y="1600200"/>
            <a:ext cx="5410200" cy="4525963"/>
          </a:xfrm>
        </p:spPr>
        <p:txBody>
          <a:bodyPr>
            <a:normAutofit fontScale="70000" lnSpcReduction="20000"/>
          </a:bodyPr>
          <a:lstStyle/>
          <a:p>
            <a:r>
              <a:rPr lang="en-US" dirty="0"/>
              <a:t>Aurora Cross Region Read Replicas:</a:t>
            </a:r>
          </a:p>
          <a:p>
            <a:pPr lvl="1"/>
            <a:r>
              <a:rPr lang="en-US" dirty="0"/>
              <a:t>Useful for disaster recovery</a:t>
            </a:r>
          </a:p>
          <a:p>
            <a:pPr lvl="1"/>
            <a:r>
              <a:rPr lang="en-US" dirty="0"/>
              <a:t>Simple to put in place</a:t>
            </a:r>
          </a:p>
          <a:p>
            <a:r>
              <a:rPr lang="en-US" dirty="0"/>
              <a:t>Aurora Global Database (recommended):</a:t>
            </a:r>
          </a:p>
          <a:p>
            <a:pPr lvl="1"/>
            <a:r>
              <a:rPr lang="en-US" dirty="0"/>
              <a:t>1 Primary Region (read / write)</a:t>
            </a:r>
          </a:p>
          <a:p>
            <a:pPr lvl="1"/>
            <a:r>
              <a:rPr lang="en-US" dirty="0"/>
              <a:t>Up to 5 secondary (read-only) regions, replication lag is less than 1 second</a:t>
            </a:r>
          </a:p>
          <a:p>
            <a:pPr lvl="1"/>
            <a:r>
              <a:rPr lang="en-US" dirty="0"/>
              <a:t>Up to 16 Read Replicas per secondary region</a:t>
            </a:r>
          </a:p>
          <a:p>
            <a:pPr lvl="1"/>
            <a:r>
              <a:rPr lang="en-US" dirty="0"/>
              <a:t>Helps for decreasing latency</a:t>
            </a:r>
          </a:p>
          <a:p>
            <a:pPr lvl="1"/>
            <a:r>
              <a:rPr lang="en-US" dirty="0"/>
              <a:t>Promoting another region (for disaster recovery) has an RTO of &lt; 1 minute</a:t>
            </a:r>
          </a:p>
          <a:p>
            <a:pPr lvl="1"/>
            <a:r>
              <a:rPr lang="en-US" dirty="0"/>
              <a:t>Typical cross-region replication takes less than 1 second</a:t>
            </a:r>
          </a:p>
        </p:txBody>
      </p:sp>
      <p:pic>
        <p:nvPicPr>
          <p:cNvPr id="6146" name="Picture 2"/>
          <p:cNvPicPr>
            <a:picLocks noChangeAspect="1" noChangeArrowheads="1"/>
          </p:cNvPicPr>
          <p:nvPr/>
        </p:nvPicPr>
        <p:blipFill>
          <a:blip r:embed="rId2"/>
          <a:srcRect/>
          <a:stretch>
            <a:fillRect/>
          </a:stretch>
        </p:blipFill>
        <p:spPr bwMode="auto">
          <a:xfrm>
            <a:off x="5819775" y="1295400"/>
            <a:ext cx="3095625" cy="5481581"/>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Machine Learning</a:t>
            </a:r>
          </a:p>
        </p:txBody>
      </p:sp>
      <p:sp>
        <p:nvSpPr>
          <p:cNvPr id="3" name="Content Placeholder 2"/>
          <p:cNvSpPr>
            <a:spLocks noGrp="1"/>
          </p:cNvSpPr>
          <p:nvPr>
            <p:ph idx="1"/>
          </p:nvPr>
        </p:nvSpPr>
        <p:spPr>
          <a:xfrm>
            <a:off x="76200" y="1447800"/>
            <a:ext cx="4800600" cy="5334000"/>
          </a:xfrm>
        </p:spPr>
        <p:txBody>
          <a:bodyPr>
            <a:normAutofit fontScale="77500" lnSpcReduction="20000"/>
          </a:bodyPr>
          <a:lstStyle/>
          <a:p>
            <a:r>
              <a:rPr lang="en-US" dirty="0"/>
              <a:t>Enables you to add ML-based predictions to your applications via SQL</a:t>
            </a:r>
          </a:p>
          <a:p>
            <a:r>
              <a:rPr lang="en-US" dirty="0"/>
              <a:t>Simple, optimized, and secure integration between Aurora and AWS ML services</a:t>
            </a:r>
          </a:p>
          <a:p>
            <a:r>
              <a:rPr lang="en-US" dirty="0"/>
              <a:t>Supported services</a:t>
            </a:r>
          </a:p>
          <a:p>
            <a:pPr lvl="1"/>
            <a:r>
              <a:rPr lang="en-US" dirty="0"/>
              <a:t>Amazon </a:t>
            </a:r>
            <a:r>
              <a:rPr lang="en-US" dirty="0" err="1"/>
              <a:t>SageMaker</a:t>
            </a:r>
            <a:r>
              <a:rPr lang="en-US" dirty="0"/>
              <a:t> (use with any ML model)</a:t>
            </a:r>
          </a:p>
          <a:p>
            <a:pPr lvl="1"/>
            <a:r>
              <a:rPr lang="en-US" dirty="0"/>
              <a:t>Amazon Comprehend (for sentiment analysis)</a:t>
            </a:r>
          </a:p>
          <a:p>
            <a:r>
              <a:rPr lang="en-US" dirty="0"/>
              <a:t>You don’t need to have ML experience</a:t>
            </a:r>
          </a:p>
          <a:p>
            <a:r>
              <a:rPr lang="en-US" dirty="0"/>
              <a:t>Use cases: fraud detection, ads targeting, sentiment analysis, product recommendations</a:t>
            </a:r>
          </a:p>
        </p:txBody>
      </p:sp>
      <p:pic>
        <p:nvPicPr>
          <p:cNvPr id="7170" name="Picture 2"/>
          <p:cNvPicPr>
            <a:picLocks noChangeAspect="1" noChangeArrowheads="1"/>
          </p:cNvPicPr>
          <p:nvPr/>
        </p:nvPicPr>
        <p:blipFill>
          <a:blip r:embed="rId2"/>
          <a:srcRect/>
          <a:stretch>
            <a:fillRect/>
          </a:stretch>
        </p:blipFill>
        <p:spPr bwMode="auto">
          <a:xfrm>
            <a:off x="4747832" y="1628775"/>
            <a:ext cx="4319968" cy="4848225"/>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Placeholder 9"/>
          <p:cNvGraphicFramePr>
            <a:graphicFrameLocks/>
          </p:cNvGraphicFramePr>
          <p:nvPr>
            <p:extLst>
              <p:ext uri="{D42A27DB-BD31-4B8C-83A1-F6EECF244321}">
                <p14:modId xmlns:p14="http://schemas.microsoft.com/office/powerpoint/2010/main" val="1545071285"/>
              </p:ext>
            </p:extLst>
          </p:nvPr>
        </p:nvGraphicFramePr>
        <p:xfrm>
          <a:off x="270933" y="152400"/>
          <a:ext cx="8644467" cy="6568486"/>
        </p:xfrm>
        <a:graphic>
          <a:graphicData uri="http://schemas.openxmlformats.org/drawingml/2006/table">
            <a:tbl>
              <a:tblPr firstRow="1" bandRow="1"/>
              <a:tblGrid>
                <a:gridCol w="6206067">
                  <a:extLst>
                    <a:ext uri="{9D8B030D-6E8A-4147-A177-3AD203B41FA5}">
                      <a16:colId xmlns:a16="http://schemas.microsoft.com/office/drawing/2014/main" val="2682298461"/>
                    </a:ext>
                  </a:extLst>
                </a:gridCol>
                <a:gridCol w="2438400">
                  <a:extLst>
                    <a:ext uri="{9D8B030D-6E8A-4147-A177-3AD203B41FA5}">
                      <a16:colId xmlns:a16="http://schemas.microsoft.com/office/drawing/2014/main" val="3536715396"/>
                    </a:ext>
                  </a:extLst>
                </a:gridCol>
              </a:tblGrid>
              <a:tr h="846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What are my requirements?</a:t>
                      </a:r>
                    </a:p>
                  </a:txBody>
                  <a:tcPr marL="18288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2800"/>
                    </a:p>
                  </a:txBody>
                  <a:tcPr marL="18288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7459075"/>
                  </a:ext>
                </a:extLst>
              </a:tr>
              <a:tr h="1251597">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u="none">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 relational database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RDS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95251801"/>
                  </a:ext>
                </a:extLst>
              </a:tr>
              <a:tr h="1251597">
                <a:tc>
                  <a:txBody>
                    <a:body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Fast and flexible NoSQL database service for any scale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DynamoDB</a:t>
                      </a:r>
                      <a:endParaRPr kumimoji="0" lang="en-US" sz="2800" b="0" i="0" u="none" strike="noStrike" kern="1200" cap="none" spc="0" normalizeH="0" baseline="0" noProof="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02388674"/>
                  </a:ext>
                </a:extLst>
              </a:tr>
              <a:tr h="142062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Operating system access</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application</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features that are not supported by AWS database </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services</a:t>
                      </a:r>
                      <a:endParaRPr lang="en-US" sz="24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Databases on Amazon EC2</a:t>
                      </a:r>
                      <a:endParaRPr kumimoji="0" lang="en-US" sz="2800" b="0" i="0" u="none" strike="noStrike" kern="1200" cap="none" spc="0" normalizeH="0" baseline="0" noProof="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03396462"/>
                  </a:ext>
                </a:extLst>
              </a:tr>
              <a:tr h="1639179">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Specific case-driven requirements (machine</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learning, data warehouse, graphs</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24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purpose-built database services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74808152"/>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95600"/>
            <a:ext cx="8229600" cy="1143000"/>
          </a:xfrm>
        </p:spPr>
        <p:txBody>
          <a:bodyPr/>
          <a:lstStyle/>
          <a:p>
            <a:r>
              <a:rPr lang="en-US" dirty="0">
                <a:solidFill>
                  <a:srgbClr val="FF0000"/>
                </a:solidFill>
              </a:rPr>
              <a:t>Database backups and Security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RDS Backups</a:t>
            </a:r>
          </a:p>
        </p:txBody>
      </p:sp>
      <p:sp>
        <p:nvSpPr>
          <p:cNvPr id="3" name="Content Placeholder 2"/>
          <p:cNvSpPr>
            <a:spLocks noGrp="1"/>
          </p:cNvSpPr>
          <p:nvPr>
            <p:ph idx="1"/>
          </p:nvPr>
        </p:nvSpPr>
        <p:spPr>
          <a:xfrm>
            <a:off x="304800" y="1600200"/>
            <a:ext cx="8382000" cy="4800600"/>
          </a:xfrm>
        </p:spPr>
        <p:txBody>
          <a:bodyPr>
            <a:normAutofit fontScale="77500" lnSpcReduction="20000"/>
          </a:bodyPr>
          <a:lstStyle/>
          <a:p>
            <a:r>
              <a:rPr lang="en-US" dirty="0"/>
              <a:t>Automated backups:</a:t>
            </a:r>
          </a:p>
          <a:p>
            <a:pPr lvl="1"/>
            <a:r>
              <a:rPr lang="en-US" dirty="0"/>
              <a:t>• Daily full backup of the database (during the backup window)</a:t>
            </a:r>
          </a:p>
          <a:p>
            <a:pPr lvl="1"/>
            <a:r>
              <a:rPr lang="en-US" dirty="0"/>
              <a:t>Transaction logs are backed-up by RDS every 5 minutes</a:t>
            </a:r>
          </a:p>
          <a:p>
            <a:pPr lvl="1"/>
            <a:r>
              <a:rPr lang="en-US" dirty="0"/>
              <a:t>=&gt; ability to restore to any point in time (from oldest backup to 5 minutes ago)</a:t>
            </a:r>
          </a:p>
          <a:p>
            <a:pPr lvl="1"/>
            <a:r>
              <a:rPr lang="en-US" dirty="0"/>
              <a:t>1 to 35 days of retention, set 0 to disable automated backups</a:t>
            </a:r>
          </a:p>
          <a:p>
            <a:r>
              <a:rPr lang="en-US" dirty="0"/>
              <a:t>Manual DB Snapshots</a:t>
            </a:r>
          </a:p>
          <a:p>
            <a:pPr lvl="1"/>
            <a:r>
              <a:rPr lang="en-US" dirty="0"/>
              <a:t>Manually triggered by the user</a:t>
            </a:r>
          </a:p>
          <a:p>
            <a:pPr lvl="1"/>
            <a:r>
              <a:rPr lang="en-US" dirty="0"/>
              <a:t>Retention of backup for as long as you want</a:t>
            </a:r>
          </a:p>
          <a:p>
            <a:pPr lvl="1">
              <a:buNone/>
            </a:pPr>
            <a:endParaRPr lang="en-US" dirty="0"/>
          </a:p>
          <a:p>
            <a:pPr lvl="1">
              <a:buNone/>
            </a:pPr>
            <a:endParaRPr lang="en-US" dirty="0"/>
          </a:p>
          <a:p>
            <a:pPr>
              <a:buNone/>
            </a:pPr>
            <a:r>
              <a:rPr lang="en-US" dirty="0">
                <a:solidFill>
                  <a:srgbClr val="FF0000"/>
                </a:solidFill>
              </a:rPr>
              <a:t>Trick:</a:t>
            </a:r>
            <a:r>
              <a:rPr lang="en-US" u="sng" dirty="0"/>
              <a:t> in a stopped RDS database, you will still pay for storage. If you plan on stopping it for a long time, you should snapshot &amp; restore instead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Backups</a:t>
            </a:r>
          </a:p>
        </p:txBody>
      </p:sp>
      <p:sp>
        <p:nvSpPr>
          <p:cNvPr id="3" name="Content Placeholder 2"/>
          <p:cNvSpPr>
            <a:spLocks noGrp="1"/>
          </p:cNvSpPr>
          <p:nvPr>
            <p:ph idx="1"/>
          </p:nvPr>
        </p:nvSpPr>
        <p:spPr/>
        <p:txBody>
          <a:bodyPr/>
          <a:lstStyle/>
          <a:p>
            <a:r>
              <a:rPr lang="en-US" dirty="0"/>
              <a:t>Automated backups</a:t>
            </a:r>
          </a:p>
          <a:p>
            <a:pPr lvl="1"/>
            <a:r>
              <a:rPr lang="en-US" dirty="0"/>
              <a:t>1 to 35 days (cannot be disabled)</a:t>
            </a:r>
          </a:p>
          <a:p>
            <a:pPr lvl="1"/>
            <a:r>
              <a:rPr lang="en-US" dirty="0"/>
              <a:t>point-in-time recovery in that timeframe</a:t>
            </a:r>
          </a:p>
          <a:p>
            <a:r>
              <a:rPr lang="en-US" dirty="0"/>
              <a:t>Manual DB Snapshots</a:t>
            </a:r>
          </a:p>
          <a:p>
            <a:pPr lvl="1"/>
            <a:r>
              <a:rPr lang="en-US" dirty="0"/>
              <a:t>Manually triggered by the user</a:t>
            </a:r>
          </a:p>
          <a:p>
            <a:pPr lvl="1"/>
            <a:r>
              <a:rPr lang="en-US" dirty="0"/>
              <a:t>Retention of backup for as long as you want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RDS &amp; Aurora Restore options</a:t>
            </a:r>
          </a:p>
        </p:txBody>
      </p:sp>
      <p:sp>
        <p:nvSpPr>
          <p:cNvPr id="3" name="Content Placeholder 2"/>
          <p:cNvSpPr>
            <a:spLocks noGrp="1"/>
          </p:cNvSpPr>
          <p:nvPr>
            <p:ph idx="1"/>
          </p:nvPr>
        </p:nvSpPr>
        <p:spPr/>
        <p:txBody>
          <a:bodyPr>
            <a:normAutofit fontScale="77500" lnSpcReduction="20000"/>
          </a:bodyPr>
          <a:lstStyle/>
          <a:p>
            <a:r>
              <a:rPr lang="en-US" dirty="0"/>
              <a:t>Restoring a RDS / Aurora backup or a snapshot creates a new database</a:t>
            </a:r>
          </a:p>
          <a:p>
            <a:r>
              <a:rPr lang="en-US" dirty="0"/>
              <a:t>Restoring </a:t>
            </a:r>
            <a:r>
              <a:rPr lang="en-US" dirty="0" err="1"/>
              <a:t>MySQL</a:t>
            </a:r>
            <a:r>
              <a:rPr lang="en-US" dirty="0"/>
              <a:t> RDS database from S3</a:t>
            </a:r>
          </a:p>
          <a:p>
            <a:pPr lvl="1"/>
            <a:r>
              <a:rPr lang="en-US" dirty="0"/>
              <a:t>Create a backup of your on-premises database</a:t>
            </a:r>
          </a:p>
          <a:p>
            <a:pPr lvl="1"/>
            <a:r>
              <a:rPr lang="en-US" dirty="0"/>
              <a:t>Store it on Amazon S3 (object storage)</a:t>
            </a:r>
          </a:p>
          <a:p>
            <a:pPr lvl="1"/>
            <a:r>
              <a:rPr lang="en-US" dirty="0"/>
              <a:t>Restore the backup file onto a new RDS instance running </a:t>
            </a:r>
            <a:r>
              <a:rPr lang="en-US" dirty="0" err="1"/>
              <a:t>MySQL</a:t>
            </a:r>
            <a:endParaRPr lang="en-US" dirty="0"/>
          </a:p>
          <a:p>
            <a:r>
              <a:rPr lang="en-US" dirty="0"/>
              <a:t>Restoring </a:t>
            </a:r>
            <a:r>
              <a:rPr lang="en-US" dirty="0" err="1"/>
              <a:t>MySQL</a:t>
            </a:r>
            <a:r>
              <a:rPr lang="en-US" dirty="0"/>
              <a:t> Aurora cluster from S3</a:t>
            </a:r>
          </a:p>
          <a:p>
            <a:pPr lvl="1"/>
            <a:r>
              <a:rPr lang="en-US" dirty="0"/>
              <a:t>Create a backup of your on-premises database using </a:t>
            </a:r>
            <a:r>
              <a:rPr lang="en-US" dirty="0" err="1"/>
              <a:t>Percona</a:t>
            </a:r>
            <a:r>
              <a:rPr lang="en-US" dirty="0"/>
              <a:t> </a:t>
            </a:r>
            <a:r>
              <a:rPr lang="en-US" dirty="0" err="1"/>
              <a:t>XtraBackup</a:t>
            </a:r>
            <a:endParaRPr lang="en-US" dirty="0"/>
          </a:p>
          <a:p>
            <a:pPr lvl="1"/>
            <a:r>
              <a:rPr lang="en-US" dirty="0"/>
              <a:t>Store the backup file on Amazon S3</a:t>
            </a:r>
          </a:p>
          <a:p>
            <a:pPr lvl="1"/>
            <a:r>
              <a:rPr lang="en-US" dirty="0"/>
              <a:t>Restore the backup file onto a new Aurora cluster running </a:t>
            </a:r>
            <a:r>
              <a:rPr lang="en-US" dirty="0" err="1"/>
              <a:t>MySQL</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Aurora Database Cloning</a:t>
            </a:r>
          </a:p>
        </p:txBody>
      </p:sp>
      <p:sp>
        <p:nvSpPr>
          <p:cNvPr id="3" name="Content Placeholder 2"/>
          <p:cNvSpPr>
            <a:spLocks noGrp="1"/>
          </p:cNvSpPr>
          <p:nvPr>
            <p:ph idx="1"/>
          </p:nvPr>
        </p:nvSpPr>
        <p:spPr>
          <a:xfrm>
            <a:off x="152400" y="1295400"/>
            <a:ext cx="8686800" cy="3733800"/>
          </a:xfrm>
        </p:spPr>
        <p:txBody>
          <a:bodyPr>
            <a:normAutofit fontScale="77500" lnSpcReduction="20000"/>
          </a:bodyPr>
          <a:lstStyle/>
          <a:p>
            <a:r>
              <a:rPr lang="en-US" dirty="0"/>
              <a:t>Create a new Aurora DB Cluster from an existing one</a:t>
            </a:r>
          </a:p>
          <a:p>
            <a:r>
              <a:rPr lang="en-US" dirty="0"/>
              <a:t>Faster than snapshot &amp; restore</a:t>
            </a:r>
          </a:p>
          <a:p>
            <a:r>
              <a:rPr lang="en-US" dirty="0"/>
              <a:t>Uses </a:t>
            </a:r>
            <a:r>
              <a:rPr lang="en-US" i="1" dirty="0"/>
              <a:t>copy-on-write protocol</a:t>
            </a:r>
          </a:p>
          <a:p>
            <a:pPr lvl="1"/>
            <a:r>
              <a:rPr lang="en-US" dirty="0"/>
              <a:t>Initially, the new DB cluster uses the same data volume as the original DB cluster (fast and efficient no copying is needed)</a:t>
            </a:r>
          </a:p>
          <a:p>
            <a:pPr lvl="1"/>
            <a:r>
              <a:rPr lang="en-US" dirty="0"/>
              <a:t>When updates are made to the new DB cluster data, then additional storage is allocated and data is copied to be separated</a:t>
            </a:r>
          </a:p>
          <a:p>
            <a:r>
              <a:rPr lang="en-US" dirty="0"/>
              <a:t>Very fast &amp; cost-effective</a:t>
            </a:r>
          </a:p>
          <a:p>
            <a:r>
              <a:rPr lang="en-US" dirty="0"/>
              <a:t>Useful to create a “staging” database from a “production” database without impacting the production database</a:t>
            </a:r>
          </a:p>
        </p:txBody>
      </p:sp>
      <p:pic>
        <p:nvPicPr>
          <p:cNvPr id="8194" name="Picture 2"/>
          <p:cNvPicPr>
            <a:picLocks noChangeAspect="1" noChangeArrowheads="1"/>
          </p:cNvPicPr>
          <p:nvPr/>
        </p:nvPicPr>
        <p:blipFill>
          <a:blip r:embed="rId2"/>
          <a:srcRect/>
          <a:stretch>
            <a:fillRect/>
          </a:stretch>
        </p:blipFill>
        <p:spPr bwMode="auto">
          <a:xfrm>
            <a:off x="2743200" y="4953000"/>
            <a:ext cx="3667125" cy="148590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RDS &amp; Aurora Security</a:t>
            </a:r>
          </a:p>
        </p:txBody>
      </p:sp>
      <p:sp>
        <p:nvSpPr>
          <p:cNvPr id="3" name="Content Placeholder 2"/>
          <p:cNvSpPr>
            <a:spLocks noGrp="1"/>
          </p:cNvSpPr>
          <p:nvPr>
            <p:ph idx="1"/>
          </p:nvPr>
        </p:nvSpPr>
        <p:spPr/>
        <p:txBody>
          <a:bodyPr>
            <a:normAutofit fontScale="70000" lnSpcReduction="20000"/>
          </a:bodyPr>
          <a:lstStyle/>
          <a:p>
            <a:r>
              <a:rPr lang="en-US" dirty="0"/>
              <a:t>At-rest encryption:</a:t>
            </a:r>
          </a:p>
          <a:p>
            <a:pPr lvl="1"/>
            <a:r>
              <a:rPr lang="en-US" dirty="0"/>
              <a:t>Database master &amp; replicas encryption using AWS KMS – must be defined as launch time</a:t>
            </a:r>
          </a:p>
          <a:p>
            <a:pPr lvl="1"/>
            <a:r>
              <a:rPr lang="en-US" dirty="0"/>
              <a:t>If the master is not encrypted, the read replicas cannot be encrypted</a:t>
            </a:r>
          </a:p>
          <a:p>
            <a:pPr lvl="1"/>
            <a:r>
              <a:rPr lang="en-US" dirty="0"/>
              <a:t>To encrypt an un-encrypted database, go through a DB snapshot &amp; restore as encrypted</a:t>
            </a:r>
          </a:p>
          <a:p>
            <a:r>
              <a:rPr lang="en-US" dirty="0"/>
              <a:t>In-flight encryption: TLS-ready by default, use the AWS TLS root certificates client-side</a:t>
            </a:r>
          </a:p>
          <a:p>
            <a:r>
              <a:rPr lang="en-US" dirty="0"/>
              <a:t>IAM Authentication: IAM roles to connect to your database (instead of username/pw)</a:t>
            </a:r>
          </a:p>
          <a:p>
            <a:r>
              <a:rPr lang="en-US" dirty="0"/>
              <a:t>Security Groups: Control Network access to your RDS / Aurora DB</a:t>
            </a:r>
          </a:p>
          <a:p>
            <a:r>
              <a:rPr lang="en-US" dirty="0"/>
              <a:t>No SSH available except on RDS Custom</a:t>
            </a:r>
          </a:p>
          <a:p>
            <a:r>
              <a:rPr lang="en-US" dirty="0"/>
              <a:t>Audit Logs can be enabled and sent to </a:t>
            </a:r>
            <a:r>
              <a:rPr lang="en-US" dirty="0" err="1"/>
              <a:t>CloudWatch</a:t>
            </a:r>
            <a:r>
              <a:rPr lang="en-US" dirty="0"/>
              <a:t> Logs for longer retention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Amazon RDS Proxy</a:t>
            </a:r>
          </a:p>
        </p:txBody>
      </p:sp>
      <p:sp>
        <p:nvSpPr>
          <p:cNvPr id="3" name="Content Placeholder 2"/>
          <p:cNvSpPr>
            <a:spLocks noGrp="1"/>
          </p:cNvSpPr>
          <p:nvPr>
            <p:ph idx="1"/>
          </p:nvPr>
        </p:nvSpPr>
        <p:spPr>
          <a:xfrm>
            <a:off x="0" y="1371600"/>
            <a:ext cx="5257800" cy="5486400"/>
          </a:xfrm>
        </p:spPr>
        <p:txBody>
          <a:bodyPr>
            <a:normAutofit fontScale="62500" lnSpcReduction="20000"/>
          </a:bodyPr>
          <a:lstStyle/>
          <a:p>
            <a:r>
              <a:rPr lang="en-US" dirty="0"/>
              <a:t>Fully managed database proxy for RDS</a:t>
            </a:r>
          </a:p>
          <a:p>
            <a:r>
              <a:rPr lang="en-US" dirty="0"/>
              <a:t>Allows apps to pool and share DB connections established with the database</a:t>
            </a:r>
          </a:p>
          <a:p>
            <a:r>
              <a:rPr lang="en-US" dirty="0"/>
              <a:t>Improving database efficiency by reducing the stress on database resources (e.g., CPU, RAM) and minimize open connections (and timeouts)</a:t>
            </a:r>
          </a:p>
          <a:p>
            <a:r>
              <a:rPr lang="en-US" dirty="0" err="1"/>
              <a:t>Serverless</a:t>
            </a:r>
            <a:r>
              <a:rPr lang="en-US" dirty="0"/>
              <a:t>, </a:t>
            </a:r>
            <a:r>
              <a:rPr lang="en-US" dirty="0" err="1"/>
              <a:t>autoscaling</a:t>
            </a:r>
            <a:r>
              <a:rPr lang="en-US" dirty="0"/>
              <a:t>, highly available (multi-AZ)</a:t>
            </a:r>
          </a:p>
          <a:p>
            <a:r>
              <a:rPr lang="en-US" dirty="0"/>
              <a:t>Reduced RDS &amp; Aurora failover time by up 66%</a:t>
            </a:r>
          </a:p>
          <a:p>
            <a:r>
              <a:rPr lang="en-US" dirty="0"/>
              <a:t>Supports RDS (</a:t>
            </a:r>
            <a:r>
              <a:rPr lang="en-US" dirty="0" err="1"/>
              <a:t>MySQL</a:t>
            </a:r>
            <a:r>
              <a:rPr lang="en-US" dirty="0"/>
              <a:t>, </a:t>
            </a:r>
            <a:r>
              <a:rPr lang="en-US" dirty="0" err="1"/>
              <a:t>PostgreSQL</a:t>
            </a:r>
            <a:r>
              <a:rPr lang="en-US" dirty="0"/>
              <a:t>, </a:t>
            </a:r>
            <a:r>
              <a:rPr lang="en-US" dirty="0" err="1"/>
              <a:t>MariaDB</a:t>
            </a:r>
            <a:r>
              <a:rPr lang="en-US" dirty="0"/>
              <a:t>, MS SQL Server) and Aurora (</a:t>
            </a:r>
            <a:r>
              <a:rPr lang="en-US" dirty="0" err="1"/>
              <a:t>MySQL</a:t>
            </a:r>
            <a:r>
              <a:rPr lang="en-US" dirty="0"/>
              <a:t>, </a:t>
            </a:r>
            <a:r>
              <a:rPr lang="en-US" dirty="0" err="1"/>
              <a:t>PostgreSQL</a:t>
            </a:r>
            <a:r>
              <a:rPr lang="en-US" dirty="0"/>
              <a:t>)</a:t>
            </a:r>
          </a:p>
          <a:p>
            <a:r>
              <a:rPr lang="en-US" dirty="0"/>
              <a:t>No code changes required for most apps</a:t>
            </a:r>
          </a:p>
          <a:p>
            <a:r>
              <a:rPr lang="en-US" dirty="0"/>
              <a:t>Enforce IAM Authentication for DB, and securely store credentials in AWS Secrets Manager</a:t>
            </a:r>
          </a:p>
          <a:p>
            <a:r>
              <a:rPr lang="en-US" dirty="0"/>
              <a:t>RDS Proxy is never publicly accessible (must be accessed from VPC)</a:t>
            </a:r>
          </a:p>
        </p:txBody>
      </p:sp>
      <p:pic>
        <p:nvPicPr>
          <p:cNvPr id="9218" name="Picture 2"/>
          <p:cNvPicPr>
            <a:picLocks noChangeAspect="1" noChangeArrowheads="1"/>
          </p:cNvPicPr>
          <p:nvPr/>
        </p:nvPicPr>
        <p:blipFill>
          <a:blip r:embed="rId2"/>
          <a:srcRect/>
          <a:stretch>
            <a:fillRect/>
          </a:stretch>
        </p:blipFill>
        <p:spPr bwMode="auto">
          <a:xfrm>
            <a:off x="4953000" y="1428750"/>
            <a:ext cx="4107593" cy="5200650"/>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Database Activity 1</a:t>
            </a:r>
          </a:p>
        </p:txBody>
      </p:sp>
      <p:sp>
        <p:nvSpPr>
          <p:cNvPr id="3" name="Content Placeholder 2"/>
          <p:cNvSpPr>
            <a:spLocks noGrp="1"/>
          </p:cNvSpPr>
          <p:nvPr>
            <p:ph idx="1"/>
          </p:nvPr>
        </p:nvSpPr>
        <p:spPr>
          <a:xfrm>
            <a:off x="457200" y="1600200"/>
            <a:ext cx="8382000" cy="4525963"/>
          </a:xfrm>
        </p:spPr>
        <p:txBody>
          <a:bodyPr>
            <a:normAutofit fontScale="92500" lnSpcReduction="20000"/>
          </a:bodyPr>
          <a:lstStyle/>
          <a:p>
            <a:r>
              <a:rPr lang="en-US" dirty="0"/>
              <a:t>A data protection and management company that provides services to enterprises. They must provide database services for over 55 </a:t>
            </a:r>
            <a:r>
              <a:rPr lang="en-US" dirty="0" err="1"/>
              <a:t>petabytes</a:t>
            </a:r>
            <a:r>
              <a:rPr lang="en-US" dirty="0"/>
              <a:t> of data. They have two types of data that require a database solution. First, they need a relational database store for configuration data. Second, they need a store for unstructured metadata to support a de-duplication service. After the data is de-duplicated, it is stored in Amazon S3 for quick retrieval, and eventually moved to Amazon S3 Glacier for long-term storage. The following diagram illustrates their architecture.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Solve</a:t>
            </a:r>
          </a:p>
        </p:txBody>
      </p:sp>
      <p:grpSp>
        <p:nvGrpSpPr>
          <p:cNvPr id="4" name="Group 3" descr="Starting diagram.">
            <a:extLst>
              <a:ext uri="{FF2B5EF4-FFF2-40B4-BE49-F238E27FC236}">
                <a16:creationId xmlns:a16="http://schemas.microsoft.com/office/drawing/2014/main" id="{FF42B2C0-3163-4372-B3A0-88B0807C902F}"/>
              </a:ext>
            </a:extLst>
          </p:cNvPr>
          <p:cNvGrpSpPr/>
          <p:nvPr/>
        </p:nvGrpSpPr>
        <p:grpSpPr>
          <a:xfrm>
            <a:off x="152400" y="1671637"/>
            <a:ext cx="8915400" cy="4119563"/>
            <a:chOff x="216140" y="2967415"/>
            <a:chExt cx="9710587" cy="3209548"/>
          </a:xfrm>
        </p:grpSpPr>
        <p:pic>
          <p:nvPicPr>
            <p:cNvPr id="5" name="Graphic 5">
              <a:extLst>
                <a:ext uri="{FF2B5EF4-FFF2-40B4-BE49-F238E27FC236}">
                  <a16:creationId xmlns:a16="http://schemas.microsoft.com/office/drawing/2014/main" id="{3CECA108-8B3B-44D3-BC23-EA5B38E67121}"/>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601821" y="3899316"/>
              <a:ext cx="469900" cy="469900"/>
            </a:xfrm>
            <a:prstGeom prst="rect">
              <a:avLst/>
            </a:prstGeom>
          </p:spPr>
        </p:pic>
        <p:sp>
          <p:nvSpPr>
            <p:cNvPr id="6" name="TextBox 5">
              <a:extLst>
                <a:ext uri="{FF2B5EF4-FFF2-40B4-BE49-F238E27FC236}">
                  <a16:creationId xmlns:a16="http://schemas.microsoft.com/office/drawing/2014/main" id="{6D1008A5-132D-4046-AE55-A6835E120942}"/>
                </a:ext>
                <a:ext uri="{C183D7F6-B498-43B3-948B-1728B52AA6E4}">
                  <adec:decorative xmlns:adec="http://schemas.microsoft.com/office/drawing/2017/decorative" val="1"/>
                </a:ext>
              </a:extLst>
            </p:cNvPr>
            <p:cNvSpPr txBox="1"/>
            <p:nvPr/>
          </p:nvSpPr>
          <p:spPr>
            <a:xfrm>
              <a:off x="216140" y="4427792"/>
              <a:ext cx="1222539" cy="584775"/>
            </a:xfrm>
            <a:prstGeom prst="rect">
              <a:avLst/>
            </a:prstGeom>
            <a:noFill/>
          </p:spPr>
          <p:txBody>
            <a:bodyPr wrap="square" rtlCol="0">
              <a:spAutoFit/>
            </a:bodyPr>
            <a:lstStyle/>
            <a:p>
              <a:pPr algn="ctr"/>
              <a:r>
                <a:rPr lang="en-US" sz="1600">
                  <a:solidFill>
                    <a:srgbClr val="232F3E"/>
                  </a:solidFill>
                </a:rPr>
                <a:t>Corporate data center</a:t>
              </a:r>
            </a:p>
          </p:txBody>
        </p:sp>
        <p:sp>
          <p:nvSpPr>
            <p:cNvPr id="7" name="Rectangle 6">
              <a:extLst>
                <a:ext uri="{FF2B5EF4-FFF2-40B4-BE49-F238E27FC236}">
                  <a16:creationId xmlns:a16="http://schemas.microsoft.com/office/drawing/2014/main" id="{90173DAE-22FA-49D8-98E3-F14F682BF261}"/>
                </a:ext>
                <a:ext uri="{C183D7F6-B498-43B3-948B-1728B52AA6E4}">
                  <adec:decorative xmlns:adec="http://schemas.microsoft.com/office/drawing/2017/decorative" val="1"/>
                </a:ext>
              </a:extLst>
            </p:cNvPr>
            <p:cNvSpPr/>
            <p:nvPr/>
          </p:nvSpPr>
          <p:spPr>
            <a:xfrm>
              <a:off x="1805638" y="3331193"/>
              <a:ext cx="1683278" cy="250806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Configuration</a:t>
              </a:r>
            </a:p>
            <a:p>
              <a:pPr algn="ctr"/>
              <a:r>
                <a:rPr lang="en-US" dirty="0">
                  <a:solidFill>
                    <a:schemeClr val="tx1"/>
                  </a:solidFill>
                </a:rPr>
                <a:t>database</a:t>
              </a:r>
            </a:p>
          </p:txBody>
        </p:sp>
        <p:sp>
          <p:nvSpPr>
            <p:cNvPr id="8" name="TextBox 7">
              <a:extLst>
                <a:ext uri="{FF2B5EF4-FFF2-40B4-BE49-F238E27FC236}">
                  <a16:creationId xmlns:a16="http://schemas.microsoft.com/office/drawing/2014/main" id="{BE56A261-2880-4057-BC97-50A86EEAB915}"/>
                </a:ext>
                <a:ext uri="{C183D7F6-B498-43B3-948B-1728B52AA6E4}">
                  <adec:decorative xmlns:adec="http://schemas.microsoft.com/office/drawing/2017/decorative" val="1"/>
                </a:ext>
              </a:extLst>
            </p:cNvPr>
            <p:cNvSpPr txBox="1"/>
            <p:nvPr/>
          </p:nvSpPr>
          <p:spPr>
            <a:xfrm>
              <a:off x="2183806" y="3568426"/>
              <a:ext cx="926942" cy="523220"/>
            </a:xfrm>
            <a:prstGeom prst="rect">
              <a:avLst/>
            </a:prstGeom>
            <a:noFill/>
            <a:ln>
              <a:solidFill>
                <a:schemeClr val="tx1"/>
              </a:solidFill>
            </a:ln>
          </p:spPr>
          <p:txBody>
            <a:bodyPr wrap="squar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9" name="TextBox 8">
              <a:extLst>
                <a:ext uri="{FF2B5EF4-FFF2-40B4-BE49-F238E27FC236}">
                  <a16:creationId xmlns:a16="http://schemas.microsoft.com/office/drawing/2014/main" id="{6C71CBE8-57F2-4821-B652-6EE3DD945B15}"/>
                </a:ext>
                <a:ext uri="{C183D7F6-B498-43B3-948B-1728B52AA6E4}">
                  <adec:decorative xmlns:adec="http://schemas.microsoft.com/office/drawing/2017/decorative" val="1"/>
                </a:ext>
              </a:extLst>
            </p:cNvPr>
            <p:cNvSpPr txBox="1"/>
            <p:nvPr/>
          </p:nvSpPr>
          <p:spPr>
            <a:xfrm>
              <a:off x="3981231" y="5165873"/>
              <a:ext cx="1513305" cy="338554"/>
            </a:xfrm>
            <a:prstGeom prst="rect">
              <a:avLst/>
            </a:prstGeom>
            <a:noFill/>
          </p:spPr>
          <p:txBody>
            <a:bodyPr wrap="square" rtlCol="0">
              <a:spAutoFit/>
            </a:bodyPr>
            <a:lstStyle/>
            <a:p>
              <a:pPr algn="ctr"/>
              <a:r>
                <a:rPr lang="en-US" sz="1600"/>
                <a:t>Amazon EC2</a:t>
              </a:r>
            </a:p>
          </p:txBody>
        </p:sp>
        <p:pic>
          <p:nvPicPr>
            <p:cNvPr id="10" name="Graphic 12">
              <a:extLst>
                <a:ext uri="{FF2B5EF4-FFF2-40B4-BE49-F238E27FC236}">
                  <a16:creationId xmlns:a16="http://schemas.microsoft.com/office/drawing/2014/main" id="{7646D37A-9A08-4D42-B8A7-C35A4B67F5C2}"/>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382283" y="4369037"/>
              <a:ext cx="711200" cy="711200"/>
            </a:xfrm>
            <a:prstGeom prst="rect">
              <a:avLst/>
            </a:prstGeom>
          </p:spPr>
        </p:pic>
        <p:pic>
          <p:nvPicPr>
            <p:cNvPr id="11" name="Graphic 13">
              <a:extLst>
                <a:ext uri="{FF2B5EF4-FFF2-40B4-BE49-F238E27FC236}">
                  <a16:creationId xmlns:a16="http://schemas.microsoft.com/office/drawing/2014/main" id="{C459E0A7-A15C-407A-8852-0FD748F80A29}"/>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6408592" y="4371844"/>
              <a:ext cx="711200" cy="711200"/>
            </a:xfrm>
            <a:prstGeom prst="rect">
              <a:avLst/>
            </a:prstGeom>
          </p:spPr>
        </p:pic>
        <p:sp>
          <p:nvSpPr>
            <p:cNvPr id="12" name="TextBox 11">
              <a:extLst>
                <a:ext uri="{FF2B5EF4-FFF2-40B4-BE49-F238E27FC236}">
                  <a16:creationId xmlns:a16="http://schemas.microsoft.com/office/drawing/2014/main" id="{5F7C6F9A-AA31-4BEC-9552-F2E130C58C05}"/>
                </a:ext>
                <a:ext uri="{C183D7F6-B498-43B3-948B-1728B52AA6E4}">
                  <adec:decorative xmlns:adec="http://schemas.microsoft.com/office/drawing/2017/decorative" val="1"/>
                </a:ext>
              </a:extLst>
            </p:cNvPr>
            <p:cNvSpPr txBox="1"/>
            <p:nvPr/>
          </p:nvSpPr>
          <p:spPr>
            <a:xfrm>
              <a:off x="5613240" y="5083044"/>
              <a:ext cx="2301904" cy="830997"/>
            </a:xfrm>
            <a:prstGeom prst="rect">
              <a:avLst/>
            </a:prstGeom>
            <a:noFill/>
          </p:spPr>
          <p:txBody>
            <a:bodyPr wrap="square" rtlCol="0">
              <a:spAutoFit/>
            </a:bodyPr>
            <a:lstStyle/>
            <a:p>
              <a:pPr algn="ctr"/>
              <a:r>
                <a:rPr lang="en-US" sz="1600"/>
                <a:t>Amazon Simple Storage Service (Amazon S3)</a:t>
              </a:r>
            </a:p>
          </p:txBody>
        </p:sp>
        <p:pic>
          <p:nvPicPr>
            <p:cNvPr id="13" name="Graphic 15">
              <a:extLst>
                <a:ext uri="{FF2B5EF4-FFF2-40B4-BE49-F238E27FC236}">
                  <a16:creationId xmlns:a16="http://schemas.microsoft.com/office/drawing/2014/main" id="{6BAA73B3-78CA-480B-9F2A-2BD743D1E671}"/>
                </a:ext>
                <a:ext uri="{C183D7F6-B498-43B3-948B-1728B52AA6E4}">
                  <adec:decorative xmlns:adec="http://schemas.microsoft.com/office/drawing/2017/decorative" val="1"/>
                </a:ext>
              </a:extLst>
            </p:cNvPr>
            <p:cNvPicPr>
              <a:picLocks noChangeAspect="1"/>
            </p:cNvPicPr>
            <p:nvPr/>
          </p:nvPicPr>
          <p:blipFill>
            <a:blip r:embed="rId8" cstate="print">
              <a:extLst>
                <a:ext uri="{96DAC541-7B7A-43D3-8B79-37D633B846F1}">
                  <asvg:svgBlip xmlns:asvg="http://schemas.microsoft.com/office/drawing/2016/SVG/main" r:embed="rId9"/>
                </a:ext>
              </a:extLst>
            </a:blip>
            <a:stretch>
              <a:fillRect/>
            </a:stretch>
          </p:blipFill>
          <p:spPr>
            <a:xfrm>
              <a:off x="8420175" y="4384907"/>
              <a:ext cx="711200" cy="711200"/>
            </a:xfrm>
            <a:prstGeom prst="rect">
              <a:avLst/>
            </a:prstGeom>
          </p:spPr>
        </p:pic>
        <p:sp>
          <p:nvSpPr>
            <p:cNvPr id="14" name="TextBox 13">
              <a:extLst>
                <a:ext uri="{FF2B5EF4-FFF2-40B4-BE49-F238E27FC236}">
                  <a16:creationId xmlns:a16="http://schemas.microsoft.com/office/drawing/2014/main" id="{CD4DF796-C798-4A91-A8A4-5E89E3CCA9B2}"/>
                </a:ext>
                <a:ext uri="{C183D7F6-B498-43B3-948B-1728B52AA6E4}">
                  <adec:decorative xmlns:adec="http://schemas.microsoft.com/office/drawing/2017/decorative" val="1"/>
                </a:ext>
              </a:extLst>
            </p:cNvPr>
            <p:cNvSpPr txBox="1"/>
            <p:nvPr/>
          </p:nvSpPr>
          <p:spPr>
            <a:xfrm>
              <a:off x="7624823" y="5096107"/>
              <a:ext cx="2301904" cy="584775"/>
            </a:xfrm>
            <a:prstGeom prst="rect">
              <a:avLst/>
            </a:prstGeom>
            <a:noFill/>
          </p:spPr>
          <p:txBody>
            <a:bodyPr wrap="square" rtlCol="0">
              <a:spAutoFit/>
            </a:bodyPr>
            <a:lstStyle/>
            <a:p>
              <a:pPr algn="ctr"/>
              <a:r>
                <a:rPr lang="en-US" sz="1600"/>
                <a:t>Amazon Simple Storage Service Glacier</a:t>
              </a:r>
            </a:p>
          </p:txBody>
        </p:sp>
        <p:sp>
          <p:nvSpPr>
            <p:cNvPr id="15" name="TextBox 14">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6586410" y="3273717"/>
              <a:ext cx="926942" cy="523220"/>
            </a:xfrm>
            <a:prstGeom prst="rect">
              <a:avLst/>
            </a:prstGeom>
            <a:noFill/>
            <a:ln>
              <a:solidFill>
                <a:schemeClr val="tx1"/>
              </a:solidFill>
            </a:ln>
          </p:spPr>
          <p:txBody>
            <a:bodyPr wrap="squar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6" name="TextBox 15">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7532365" y="3306829"/>
              <a:ext cx="2184376" cy="369332"/>
            </a:xfrm>
            <a:prstGeom prst="rect">
              <a:avLst/>
            </a:prstGeom>
            <a:noFill/>
          </p:spPr>
          <p:txBody>
            <a:bodyPr wrap="squar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Metadata database</a:t>
              </a:r>
            </a:p>
          </p:txBody>
        </p:sp>
        <p:cxnSp>
          <p:nvCxnSpPr>
            <p:cNvPr id="17" name="Straight Arrow Connector 16">
              <a:extLst>
                <a:ext uri="{FF2B5EF4-FFF2-40B4-BE49-F238E27FC236}">
                  <a16:creationId xmlns:a16="http://schemas.microsoft.com/office/drawing/2014/main" id="{608D80C0-7A02-4AB8-9D25-2D67F013607A}"/>
                </a:ext>
                <a:ext uri="{C183D7F6-B498-43B3-948B-1728B52AA6E4}">
                  <adec:decorative xmlns:adec="http://schemas.microsoft.com/office/drawing/2017/decorative" val="1"/>
                </a:ext>
              </a:extLst>
            </p:cNvPr>
            <p:cNvCxnSpPr/>
            <p:nvPr/>
          </p:nvCxnSpPr>
          <p:spPr>
            <a:xfrm>
              <a:off x="1188720" y="4195821"/>
              <a:ext cx="515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8EB213D-4E54-49C5-9131-0C4196F3096C}"/>
                </a:ext>
                <a:ext uri="{C183D7F6-B498-43B3-948B-1728B52AA6E4}">
                  <adec:decorative xmlns:adec="http://schemas.microsoft.com/office/drawing/2017/decorative" val="1"/>
                </a:ext>
              </a:extLst>
            </p:cNvPr>
            <p:cNvCxnSpPr/>
            <p:nvPr/>
          </p:nvCxnSpPr>
          <p:spPr>
            <a:xfrm>
              <a:off x="3488916" y="4724637"/>
              <a:ext cx="4987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26EA07C-653D-45A3-B2E6-156213783F15}"/>
                </a:ext>
                <a:ext uri="{C183D7F6-B498-43B3-948B-1728B52AA6E4}">
                  <adec:decorative xmlns:adec="http://schemas.microsoft.com/office/drawing/2017/decorative" val="1"/>
                </a:ext>
              </a:extLst>
            </p:cNvPr>
            <p:cNvSpPr/>
            <p:nvPr/>
          </p:nvSpPr>
          <p:spPr>
            <a:xfrm>
              <a:off x="4000244" y="2967415"/>
              <a:ext cx="5926483" cy="3209548"/>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tx1"/>
                  </a:solidFill>
                </a:rPr>
                <a:t>AWS Cloud</a:t>
              </a:r>
            </a:p>
          </p:txBody>
        </p:sp>
        <p:cxnSp>
          <p:nvCxnSpPr>
            <p:cNvPr id="20" name="Straight Arrow Connector 19">
              <a:extLst>
                <a:ext uri="{FF2B5EF4-FFF2-40B4-BE49-F238E27FC236}">
                  <a16:creationId xmlns:a16="http://schemas.microsoft.com/office/drawing/2014/main" id="{8EE2F7AA-FE85-44EC-88B0-37BF035B748B}"/>
                </a:ext>
                <a:ext uri="{C183D7F6-B498-43B3-948B-1728B52AA6E4}">
                  <adec:decorative xmlns:adec="http://schemas.microsoft.com/office/drawing/2017/decorative" val="1"/>
                </a:ext>
              </a:extLst>
            </p:cNvPr>
            <p:cNvCxnSpPr>
              <a:cxnSpLocks/>
            </p:cNvCxnSpPr>
            <p:nvPr/>
          </p:nvCxnSpPr>
          <p:spPr>
            <a:xfrm>
              <a:off x="7128493" y="4792177"/>
              <a:ext cx="11513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E32557-62B5-41A0-BFE2-0A1A3E241F47}"/>
                </a:ext>
                <a:ext uri="{C183D7F6-B498-43B3-948B-1728B52AA6E4}">
                  <adec:decorative xmlns:adec="http://schemas.microsoft.com/office/drawing/2017/decorative" val="1"/>
                </a:ext>
              </a:extLst>
            </p:cNvPr>
            <p:cNvCxnSpPr>
              <a:cxnSpLocks/>
              <a:endCxn id="11" idx="0"/>
            </p:cNvCxnSpPr>
            <p:nvPr/>
          </p:nvCxnSpPr>
          <p:spPr>
            <a:xfrm>
              <a:off x="6764192" y="3796937"/>
              <a:ext cx="0" cy="574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00244" y="2967415"/>
              <a:ext cx="330200" cy="330200"/>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Database Activity 2</a:t>
            </a:r>
          </a:p>
        </p:txBody>
      </p:sp>
      <p:sp>
        <p:nvSpPr>
          <p:cNvPr id="3" name="Content Placeholder 2"/>
          <p:cNvSpPr>
            <a:spLocks noGrp="1"/>
          </p:cNvSpPr>
          <p:nvPr>
            <p:ph idx="1"/>
          </p:nvPr>
        </p:nvSpPr>
        <p:spPr/>
        <p:txBody>
          <a:bodyPr>
            <a:normAutofit lnSpcReduction="10000"/>
          </a:bodyPr>
          <a:lstStyle/>
          <a:p>
            <a:r>
              <a:rPr lang="en-US" dirty="0"/>
              <a:t>A commercial shipping company that uses an on-premises legacy data management system. They must migrate to a </a:t>
            </a:r>
            <a:r>
              <a:rPr lang="en-US" dirty="0" err="1"/>
              <a:t>serverless</a:t>
            </a:r>
            <a:r>
              <a:rPr lang="en-US" dirty="0"/>
              <a:t> ecosystem while they continue to use their existing database system, which is based on Oracle. They are also in the process of decomposing their highly structured relational data into </a:t>
            </a:r>
            <a:r>
              <a:rPr lang="en-US" dirty="0" err="1"/>
              <a:t>semistructured</a:t>
            </a:r>
            <a:r>
              <a:rPr lang="en-US" dirty="0"/>
              <a:t> data. The following diagram illustrates their architecture</a:t>
            </a:r>
            <a:r>
              <a:rPr lang="en-US" sz="3600" dirty="0"/>
              <a:t>.</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Solve</a:t>
            </a:r>
          </a:p>
        </p:txBody>
      </p:sp>
      <p:grpSp>
        <p:nvGrpSpPr>
          <p:cNvPr id="4" name="Group 3" descr="Final diagram.">
            <a:extLst>
              <a:ext uri="{FF2B5EF4-FFF2-40B4-BE49-F238E27FC236}">
                <a16:creationId xmlns:a16="http://schemas.microsoft.com/office/drawing/2014/main" id="{502D9844-E083-4E9E-966B-5F5D07121A2D}"/>
              </a:ext>
            </a:extLst>
          </p:cNvPr>
          <p:cNvGrpSpPr/>
          <p:nvPr/>
        </p:nvGrpSpPr>
        <p:grpSpPr>
          <a:xfrm>
            <a:off x="287156" y="1600200"/>
            <a:ext cx="8475844" cy="4458835"/>
            <a:chOff x="1383452" y="2815632"/>
            <a:chExt cx="9225992" cy="3243403"/>
          </a:xfrm>
        </p:grpSpPr>
        <p:sp>
          <p:nvSpPr>
            <p:cNvPr id="5" name="TextBox 4">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7457259" y="3378732"/>
              <a:ext cx="926942" cy="523220"/>
            </a:xfrm>
            <a:prstGeom prst="rect">
              <a:avLst/>
            </a:prstGeom>
            <a:noFill/>
            <a:ln>
              <a:solidFill>
                <a:schemeClr val="tx1"/>
              </a:solidFill>
            </a:ln>
          </p:spPr>
          <p:txBody>
            <a:bodyPr wrap="squar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6" name="TextBox 5">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7306750" y="2815632"/>
              <a:ext cx="1848394" cy="400110"/>
            </a:xfrm>
            <a:prstGeom prst="rect">
              <a:avLst/>
            </a:prstGeom>
            <a:noFill/>
          </p:spPr>
          <p:txBody>
            <a:bodyPr wrap="squar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Database</a:t>
              </a:r>
            </a:p>
          </p:txBody>
        </p:sp>
        <p:sp>
          <p:nvSpPr>
            <p:cNvPr id="7" name="TextBox 6">
              <a:extLst>
                <a:ext uri="{FF2B5EF4-FFF2-40B4-BE49-F238E27FC236}">
                  <a16:creationId xmlns:a16="http://schemas.microsoft.com/office/drawing/2014/main" id="{08B38A7A-0863-4770-9E74-AC7460541174}"/>
                </a:ext>
                <a:ext uri="{C183D7F6-B498-43B3-948B-1728B52AA6E4}">
                  <adec:decorative xmlns:adec="http://schemas.microsoft.com/office/drawing/2017/decorative" val="1"/>
                </a:ext>
              </a:extLst>
            </p:cNvPr>
            <p:cNvSpPr txBox="1"/>
            <p:nvPr/>
          </p:nvSpPr>
          <p:spPr>
            <a:xfrm>
              <a:off x="3361978" y="3901952"/>
              <a:ext cx="2217871" cy="338554"/>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AWS AppSync</a:t>
              </a:r>
            </a:p>
          </p:txBody>
        </p:sp>
        <p:pic>
          <p:nvPicPr>
            <p:cNvPr id="8" name="Graphic 23">
              <a:extLst>
                <a:ext uri="{FF2B5EF4-FFF2-40B4-BE49-F238E27FC236}">
                  <a16:creationId xmlns:a16="http://schemas.microsoft.com/office/drawing/2014/main" id="{7AB93F05-6080-4018-BAFB-98DB3DC6BDEA}"/>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024112" y="3206983"/>
              <a:ext cx="711200" cy="711200"/>
            </a:xfrm>
            <a:prstGeom prst="rect">
              <a:avLst/>
            </a:prstGeom>
          </p:spPr>
        </p:pic>
        <p:sp>
          <p:nvSpPr>
            <p:cNvPr id="9" name="TextBox 8">
              <a:extLst>
                <a:ext uri="{FF2B5EF4-FFF2-40B4-BE49-F238E27FC236}">
                  <a16:creationId xmlns:a16="http://schemas.microsoft.com/office/drawing/2014/main" id="{5044F4AB-7151-42A1-9F33-0D816E348362}"/>
                </a:ext>
                <a:ext uri="{C183D7F6-B498-43B3-948B-1728B52AA6E4}">
                  <adec:decorative xmlns:adec="http://schemas.microsoft.com/office/drawing/2017/decorative" val="1"/>
                </a:ext>
              </a:extLst>
            </p:cNvPr>
            <p:cNvSpPr txBox="1"/>
            <p:nvPr/>
          </p:nvSpPr>
          <p:spPr>
            <a:xfrm>
              <a:off x="3191577" y="5120915"/>
              <a:ext cx="2301904" cy="338554"/>
            </a:xfrm>
            <a:prstGeom prst="rect">
              <a:avLst/>
            </a:prstGeom>
            <a:noFill/>
          </p:spPr>
          <p:txBody>
            <a:bodyPr wrap="square" rtlCol="0">
              <a:spAutoFit/>
            </a:bodyPr>
            <a:lstStyle/>
            <a:p>
              <a:pPr algn="ctr"/>
              <a:r>
                <a:rPr lang="en-US" sz="1600"/>
                <a:t>AWS Lambda</a:t>
              </a:r>
            </a:p>
          </p:txBody>
        </p:sp>
        <p:pic>
          <p:nvPicPr>
            <p:cNvPr id="10" name="Graphic 26">
              <a:extLst>
                <a:ext uri="{FF2B5EF4-FFF2-40B4-BE49-F238E27FC236}">
                  <a16:creationId xmlns:a16="http://schemas.microsoft.com/office/drawing/2014/main" id="{1337B24E-53DE-4BDA-905B-BBD5EBBFD7FC}"/>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3986929" y="4409715"/>
              <a:ext cx="711200" cy="711200"/>
            </a:xfrm>
            <a:prstGeom prst="rect">
              <a:avLst/>
            </a:prstGeom>
          </p:spPr>
        </p:pic>
        <p:pic>
          <p:nvPicPr>
            <p:cNvPr id="11" name="Graphic 27">
              <a:extLst>
                <a:ext uri="{FF2B5EF4-FFF2-40B4-BE49-F238E27FC236}">
                  <a16:creationId xmlns:a16="http://schemas.microsoft.com/office/drawing/2014/main" id="{DAD42740-9D97-4F4B-8AF6-B48129E50CA1}"/>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1883833" y="4424384"/>
              <a:ext cx="469900" cy="469900"/>
            </a:xfrm>
            <a:prstGeom prst="rect">
              <a:avLst/>
            </a:prstGeom>
          </p:spPr>
        </p:pic>
        <p:sp>
          <p:nvSpPr>
            <p:cNvPr id="12" name="TextBox 11">
              <a:extLst>
                <a:ext uri="{FF2B5EF4-FFF2-40B4-BE49-F238E27FC236}">
                  <a16:creationId xmlns:a16="http://schemas.microsoft.com/office/drawing/2014/main" id="{F37632E9-5B4C-4D7C-BA63-03C2AFF7F487}"/>
                </a:ext>
                <a:ext uri="{C183D7F6-B498-43B3-948B-1728B52AA6E4}">
                  <adec:decorative xmlns:adec="http://schemas.microsoft.com/office/drawing/2017/decorative" val="1"/>
                </a:ext>
              </a:extLst>
            </p:cNvPr>
            <p:cNvSpPr txBox="1"/>
            <p:nvPr/>
          </p:nvSpPr>
          <p:spPr>
            <a:xfrm>
              <a:off x="1383452" y="5059215"/>
              <a:ext cx="1271854" cy="584775"/>
            </a:xfrm>
            <a:prstGeom prst="rect">
              <a:avLst/>
            </a:prstGeom>
            <a:noFill/>
          </p:spPr>
          <p:txBody>
            <a:bodyPr wrap="square" rtlCol="0">
              <a:spAutoFit/>
            </a:bodyPr>
            <a:lstStyle/>
            <a:p>
              <a:pPr algn="ctr"/>
              <a:r>
                <a:rPr lang="en-US" sz="1600">
                  <a:solidFill>
                    <a:srgbClr val="232F3E"/>
                  </a:solidFill>
                </a:rPr>
                <a:t>Corporate data center</a:t>
              </a:r>
            </a:p>
          </p:txBody>
        </p:sp>
        <p:sp>
          <p:nvSpPr>
            <p:cNvPr id="13" name="TextBox 12">
              <a:extLst>
                <a:ext uri="{FF2B5EF4-FFF2-40B4-BE49-F238E27FC236}">
                  <a16:creationId xmlns:a16="http://schemas.microsoft.com/office/drawing/2014/main" id="{D9EB17E5-E4DD-4C01-8D2F-CB5433216F05}"/>
                </a:ext>
                <a:ext uri="{C183D7F6-B498-43B3-948B-1728B52AA6E4}">
                  <adec:decorative xmlns:adec="http://schemas.microsoft.com/office/drawing/2017/decorative" val="1"/>
                </a:ext>
              </a:extLst>
            </p:cNvPr>
            <p:cNvSpPr txBox="1"/>
            <p:nvPr/>
          </p:nvSpPr>
          <p:spPr>
            <a:xfrm>
              <a:off x="5347561" y="4063622"/>
              <a:ext cx="2301904" cy="338554"/>
            </a:xfrm>
            <a:prstGeom prst="rect">
              <a:avLst/>
            </a:prstGeom>
            <a:noFill/>
          </p:spPr>
          <p:txBody>
            <a:bodyPr wrap="square" rtlCol="0">
              <a:spAutoFit/>
            </a:bodyPr>
            <a:lstStyle/>
            <a:p>
              <a:pPr algn="ctr"/>
              <a:r>
                <a:rPr lang="en-US" sz="1600"/>
                <a:t>AWS Lambda</a:t>
              </a:r>
            </a:p>
          </p:txBody>
        </p:sp>
        <p:pic>
          <p:nvPicPr>
            <p:cNvPr id="14" name="Graphic 30">
              <a:extLst>
                <a:ext uri="{FF2B5EF4-FFF2-40B4-BE49-F238E27FC236}">
                  <a16:creationId xmlns:a16="http://schemas.microsoft.com/office/drawing/2014/main" id="{2D930BE0-E7EA-4B9B-8B28-199ABCD16178}"/>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6142913" y="3352422"/>
              <a:ext cx="711200" cy="711200"/>
            </a:xfrm>
            <a:prstGeom prst="rect">
              <a:avLst/>
            </a:prstGeom>
          </p:spPr>
        </p:pic>
        <p:sp>
          <p:nvSpPr>
            <p:cNvPr id="15" name="TextBox 14">
              <a:extLst>
                <a:ext uri="{FF2B5EF4-FFF2-40B4-BE49-F238E27FC236}">
                  <a16:creationId xmlns:a16="http://schemas.microsoft.com/office/drawing/2014/main" id="{F60D42A6-08ED-48DC-A64A-A6AD61F20D0F}"/>
                </a:ext>
                <a:ext uri="{C183D7F6-B498-43B3-948B-1728B52AA6E4}">
                  <adec:decorative xmlns:adec="http://schemas.microsoft.com/office/drawing/2017/decorative" val="1"/>
                </a:ext>
              </a:extLst>
            </p:cNvPr>
            <p:cNvSpPr txBox="1"/>
            <p:nvPr/>
          </p:nvSpPr>
          <p:spPr>
            <a:xfrm>
              <a:off x="8307540" y="4066387"/>
              <a:ext cx="2301904" cy="338554"/>
            </a:xfrm>
            <a:prstGeom prst="rect">
              <a:avLst/>
            </a:prstGeom>
            <a:noFill/>
          </p:spPr>
          <p:txBody>
            <a:bodyPr wrap="square" rtlCol="0">
              <a:spAutoFit/>
            </a:bodyPr>
            <a:lstStyle/>
            <a:p>
              <a:pPr algn="ctr"/>
              <a:r>
                <a:rPr lang="en-US" sz="1600"/>
                <a:t>AWS Lambda</a:t>
              </a:r>
            </a:p>
          </p:txBody>
        </p:sp>
        <p:pic>
          <p:nvPicPr>
            <p:cNvPr id="16" name="Graphic 32">
              <a:extLst>
                <a:ext uri="{FF2B5EF4-FFF2-40B4-BE49-F238E27FC236}">
                  <a16:creationId xmlns:a16="http://schemas.microsoft.com/office/drawing/2014/main" id="{CCCC5F7A-F994-4488-BC8A-EB1EB93219DE}"/>
                </a:ext>
                <a:ext uri="{C183D7F6-B498-43B3-948B-1728B52AA6E4}">
                  <adec:decorative xmlns:adec="http://schemas.microsoft.com/office/drawing/2017/decorative" val="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9102892" y="3355187"/>
              <a:ext cx="711200" cy="711200"/>
            </a:xfrm>
            <a:prstGeom prst="rect">
              <a:avLst/>
            </a:prstGeom>
          </p:spPr>
        </p:pic>
        <p:sp>
          <p:nvSpPr>
            <p:cNvPr id="17" name="TextBox 16">
              <a:extLst>
                <a:ext uri="{FF2B5EF4-FFF2-40B4-BE49-F238E27FC236}">
                  <a16:creationId xmlns:a16="http://schemas.microsoft.com/office/drawing/2014/main" id="{CB4B52E6-0D6E-4C60-BC7E-CBD4D0B0F3B6}"/>
                </a:ext>
                <a:ext uri="{C183D7F6-B498-43B3-948B-1728B52AA6E4}">
                  <adec:decorative xmlns:adec="http://schemas.microsoft.com/office/drawing/2017/decorative" val="1"/>
                </a:ext>
              </a:extLst>
            </p:cNvPr>
            <p:cNvSpPr txBox="1"/>
            <p:nvPr/>
          </p:nvSpPr>
          <p:spPr>
            <a:xfrm>
              <a:off x="5337100" y="5228038"/>
              <a:ext cx="2217871" cy="830997"/>
            </a:xfrm>
            <a:prstGeom prst="rect">
              <a:avLst/>
            </a:prstGeom>
            <a:noFill/>
          </p:spPr>
          <p:txBody>
            <a:bodyPr wrap="square" rtlCol="0">
              <a:spAutoFit/>
            </a:bodyPr>
            <a:lstStyle/>
            <a:p>
              <a:pPr algn="ctr"/>
              <a:r>
                <a:rPr lang="en-US" sz="1600">
                  <a:ea typeface="Amazon Ember" panose="020B0603020204020204" pitchFamily="34" charset="0"/>
                  <a:cs typeface="Amazon Ember" panose="020B0603020204020204" pitchFamily="34" charset="0"/>
                </a:rPr>
                <a:t>Amazon Simple Notification Service (Amazon SNS)</a:t>
              </a:r>
            </a:p>
          </p:txBody>
        </p:sp>
        <p:pic>
          <p:nvPicPr>
            <p:cNvPr id="18" name="Graphic 34">
              <a:extLst>
                <a:ext uri="{FF2B5EF4-FFF2-40B4-BE49-F238E27FC236}">
                  <a16:creationId xmlns:a16="http://schemas.microsoft.com/office/drawing/2014/main" id="{8F039B76-824E-4374-B6B4-1612626DBB41}"/>
                </a:ext>
                <a:ext uri="{C183D7F6-B498-43B3-948B-1728B52AA6E4}">
                  <adec:decorative xmlns:adec="http://schemas.microsoft.com/office/drawing/2017/decorative" val="1"/>
                </a:ext>
              </a:extLst>
            </p:cNvPr>
            <p:cNvPicPr>
              <a:picLocks noChangeAspect="1"/>
            </p:cNvPicPr>
            <p:nvPr/>
          </p:nvPicPr>
          <p:blipFill>
            <a:blip r:embed="rId8" cstate="print">
              <a:extLst>
                <a:ext uri="{96DAC541-7B7A-43D3-8B79-37D633B846F1}">
                  <asvg:svgBlip xmlns:asvg="http://schemas.microsoft.com/office/drawing/2016/SVG/main" r:embed="rId9"/>
                </a:ext>
              </a:extLst>
            </a:blip>
            <a:stretch>
              <a:fillRect/>
            </a:stretch>
          </p:blipFill>
          <p:spPr>
            <a:xfrm>
              <a:off x="6096627" y="4533069"/>
              <a:ext cx="711200" cy="711200"/>
            </a:xfrm>
            <a:prstGeom prst="rect">
              <a:avLst/>
            </a:prstGeom>
          </p:spPr>
        </p:pic>
        <p:pic>
          <p:nvPicPr>
            <p:cNvPr id="19" name="Graphic 35">
              <a:extLst>
                <a:ext uri="{FF2B5EF4-FFF2-40B4-BE49-F238E27FC236}">
                  <a16:creationId xmlns:a16="http://schemas.microsoft.com/office/drawing/2014/main" id="{95236D42-CE57-4D84-82BA-6966AE2D8C5F}"/>
                </a:ext>
                <a:ext uri="{C183D7F6-B498-43B3-948B-1728B52AA6E4}">
                  <adec:decorative xmlns:adec="http://schemas.microsoft.com/office/drawing/2017/decorative" val="1"/>
                </a:ext>
              </a:extLst>
            </p:cNvPr>
            <p:cNvPicPr>
              <a:picLocks noChangeAspect="1"/>
            </p:cNvPicPr>
            <p:nvPr/>
          </p:nvPicPr>
          <p:blipFill>
            <a:blip r:embed="rId10" cstate="print">
              <a:extLst>
                <a:ext uri="{96DAC541-7B7A-43D3-8B79-37D633B846F1}">
                  <asvg:svgBlip xmlns:asvg="http://schemas.microsoft.com/office/drawing/2016/SVG/main" r:embed="rId11"/>
                </a:ext>
              </a:extLst>
            </a:blip>
            <a:stretch>
              <a:fillRect/>
            </a:stretch>
          </p:blipFill>
          <p:spPr>
            <a:xfrm>
              <a:off x="2913883" y="4428760"/>
              <a:ext cx="469900" cy="469900"/>
            </a:xfrm>
            <a:prstGeom prst="rect">
              <a:avLst/>
            </a:prstGeom>
          </p:spPr>
        </p:pic>
        <p:sp>
          <p:nvSpPr>
            <p:cNvPr id="20" name="TextBox 19">
              <a:extLst>
                <a:ext uri="{FF2B5EF4-FFF2-40B4-BE49-F238E27FC236}">
                  <a16:creationId xmlns:a16="http://schemas.microsoft.com/office/drawing/2014/main" id="{1B736BD8-4FD8-432F-A863-E271D93A16C9}"/>
                </a:ext>
                <a:ext uri="{C183D7F6-B498-43B3-948B-1728B52AA6E4}">
                  <adec:decorative xmlns:adec="http://schemas.microsoft.com/office/drawing/2017/decorative" val="1"/>
                </a:ext>
              </a:extLst>
            </p:cNvPr>
            <p:cNvSpPr txBox="1"/>
            <p:nvPr/>
          </p:nvSpPr>
          <p:spPr>
            <a:xfrm>
              <a:off x="2612606" y="5063591"/>
              <a:ext cx="1072750" cy="584775"/>
            </a:xfrm>
            <a:prstGeom prst="rect">
              <a:avLst/>
            </a:prstGeom>
            <a:noFill/>
          </p:spPr>
          <p:txBody>
            <a:bodyPr wrap="square" rtlCol="0">
              <a:spAutoFit/>
            </a:bodyPr>
            <a:lstStyle/>
            <a:p>
              <a:pPr algn="ctr"/>
              <a:r>
                <a:rPr lang="en-US" sz="1600">
                  <a:solidFill>
                    <a:srgbClr val="232F3E"/>
                  </a:solidFill>
                </a:rPr>
                <a:t>Oracle database</a:t>
              </a:r>
            </a:p>
          </p:txBody>
        </p:sp>
        <p:cxnSp>
          <p:nvCxnSpPr>
            <p:cNvPr id="21" name="Straight Arrow Connector 20">
              <a:extLst>
                <a:ext uri="{FF2B5EF4-FFF2-40B4-BE49-F238E27FC236}">
                  <a16:creationId xmlns:a16="http://schemas.microsoft.com/office/drawing/2014/main" id="{7F3C0351-85FB-4C7A-AE4F-01534ACC0354}"/>
                </a:ext>
                <a:ext uri="{C183D7F6-B498-43B3-948B-1728B52AA6E4}">
                  <adec:decorative xmlns:adec="http://schemas.microsoft.com/office/drawing/2017/decorative" val="1"/>
                </a:ext>
              </a:extLst>
            </p:cNvPr>
            <p:cNvCxnSpPr/>
            <p:nvPr/>
          </p:nvCxnSpPr>
          <p:spPr>
            <a:xfrm>
              <a:off x="3383783" y="4894284"/>
              <a:ext cx="424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D8444CB-F4F3-4D32-ACFE-A7CA1B28F4AB}"/>
                </a:ext>
                <a:ext uri="{C183D7F6-B498-43B3-948B-1728B52AA6E4}">
                  <adec:decorative xmlns:adec="http://schemas.microsoft.com/office/drawing/2017/decorative" val="1"/>
                </a:ext>
              </a:extLst>
            </p:cNvPr>
            <p:cNvCxnSpPr>
              <a:cxnSpLocks/>
            </p:cNvCxnSpPr>
            <p:nvPr/>
          </p:nvCxnSpPr>
          <p:spPr>
            <a:xfrm>
              <a:off x="4826573" y="4866924"/>
              <a:ext cx="11374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9DB9973-2F4A-47D4-BFB0-F86CEB0DCD54}"/>
                </a:ext>
                <a:ext uri="{C183D7F6-B498-43B3-948B-1728B52AA6E4}">
                  <adec:decorative xmlns:adec="http://schemas.microsoft.com/office/drawing/2017/decorative" val="1"/>
                </a:ext>
              </a:extLst>
            </p:cNvPr>
            <p:cNvCxnSpPr>
              <a:cxnSpLocks/>
            </p:cNvCxnSpPr>
            <p:nvPr/>
          </p:nvCxnSpPr>
          <p:spPr>
            <a:xfrm>
              <a:off x="4826573" y="3579221"/>
              <a:ext cx="11374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9475718-C789-4A84-A310-BFA7FDAB3E43}"/>
                </a:ext>
                <a:ext uri="{C183D7F6-B498-43B3-948B-1728B52AA6E4}">
                  <adec:decorative xmlns:adec="http://schemas.microsoft.com/office/drawing/2017/decorative" val="1"/>
                </a:ext>
              </a:extLst>
            </p:cNvPr>
            <p:cNvCxnSpPr>
              <a:cxnSpLocks/>
            </p:cNvCxnSpPr>
            <p:nvPr/>
          </p:nvCxnSpPr>
          <p:spPr>
            <a:xfrm>
              <a:off x="6854113" y="3680434"/>
              <a:ext cx="508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CD4B3C1-F289-4F0D-8624-5D3F37EF2486}"/>
                </a:ext>
                <a:ext uri="{C183D7F6-B498-43B3-948B-1728B52AA6E4}">
                  <adec:decorative xmlns:adec="http://schemas.microsoft.com/office/drawing/2017/decorative" val="1"/>
                </a:ext>
              </a:extLst>
            </p:cNvPr>
            <p:cNvCxnSpPr/>
            <p:nvPr/>
          </p:nvCxnSpPr>
          <p:spPr>
            <a:xfrm flipH="1">
              <a:off x="8498234" y="3640342"/>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Database Activity 3</a:t>
            </a:r>
          </a:p>
        </p:txBody>
      </p:sp>
      <p:sp>
        <p:nvSpPr>
          <p:cNvPr id="3" name="Content Placeholder 2"/>
          <p:cNvSpPr>
            <a:spLocks noGrp="1"/>
          </p:cNvSpPr>
          <p:nvPr>
            <p:ph idx="1"/>
          </p:nvPr>
        </p:nvSpPr>
        <p:spPr/>
        <p:txBody>
          <a:bodyPr>
            <a:normAutofit fontScale="92500" lnSpcReduction="20000"/>
          </a:bodyPr>
          <a:lstStyle/>
          <a:p>
            <a:r>
              <a:rPr lang="en-US" dirty="0"/>
              <a:t>An online payment processing company that processes over1 million transactions per day. They must provide services to ecommerce customers who offer flash sales (sales that offer greatly reduced prices for a limited time), where demand can increase by 30 times in a short time period. They use IAM and AWS KMS to authenticate transactions with financial institutions. They need high throughput for these peak loads. The following diagram illustrates their architecture.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Solve</a:t>
            </a:r>
          </a:p>
        </p:txBody>
      </p:sp>
      <p:grpSp>
        <p:nvGrpSpPr>
          <p:cNvPr id="37" name="Group 36" descr="Final diagram.">
            <a:extLst>
              <a:ext uri="{FF2B5EF4-FFF2-40B4-BE49-F238E27FC236}">
                <a16:creationId xmlns:a16="http://schemas.microsoft.com/office/drawing/2014/main" id="{AD0512FA-7CD4-9768-E650-2B51323C6D6F}"/>
              </a:ext>
            </a:extLst>
          </p:cNvPr>
          <p:cNvGrpSpPr/>
          <p:nvPr/>
        </p:nvGrpSpPr>
        <p:grpSpPr>
          <a:xfrm>
            <a:off x="152400" y="2057400"/>
            <a:ext cx="8839200" cy="3714118"/>
            <a:chOff x="738591" y="2921000"/>
            <a:chExt cx="10714818" cy="3383918"/>
          </a:xfrm>
        </p:grpSpPr>
        <p:grpSp>
          <p:nvGrpSpPr>
            <p:cNvPr id="38" name="Group 5" descr="Database case study activity 3.">
              <a:extLst>
                <a:ext uri="{FF2B5EF4-FFF2-40B4-BE49-F238E27FC236}">
                  <a16:creationId xmlns:a16="http://schemas.microsoft.com/office/drawing/2014/main" id="{144AF8AF-D7D2-40FD-B507-21C922F671CC}"/>
                </a:ext>
              </a:extLst>
            </p:cNvPr>
            <p:cNvGrpSpPr/>
            <p:nvPr/>
          </p:nvGrpSpPr>
          <p:grpSpPr>
            <a:xfrm>
              <a:off x="738591" y="2921000"/>
              <a:ext cx="10714818" cy="3383918"/>
              <a:chOff x="399744" y="2921000"/>
              <a:chExt cx="10714818" cy="3383918"/>
            </a:xfrm>
          </p:grpSpPr>
          <p:sp>
            <p:nvSpPr>
              <p:cNvPr id="43" name="TextBox 42">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5463779" y="3784182"/>
                <a:ext cx="926942" cy="523220"/>
              </a:xfrm>
              <a:prstGeom prst="rect">
                <a:avLst/>
              </a:prstGeom>
              <a:noFill/>
              <a:ln>
                <a:solidFill>
                  <a:schemeClr val="tx1"/>
                </a:solidFill>
              </a:ln>
            </p:spPr>
            <p:txBody>
              <a:bodyPr wrap="squar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44" name="TextBox 43">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5310622" y="3418883"/>
                <a:ext cx="1848394" cy="400110"/>
              </a:xfrm>
              <a:prstGeom prst="rect">
                <a:avLst/>
              </a:prstGeom>
              <a:noFill/>
            </p:spPr>
            <p:txBody>
              <a:bodyPr wrap="squar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Database</a:t>
                </a:r>
              </a:p>
            </p:txBody>
          </p:sp>
          <p:sp>
            <p:nvSpPr>
              <p:cNvPr id="45" name="TextBox 44">
                <a:extLst>
                  <a:ext uri="{FF2B5EF4-FFF2-40B4-BE49-F238E27FC236}">
                    <a16:creationId xmlns:a16="http://schemas.microsoft.com/office/drawing/2014/main" id="{D67B1C5F-F501-4D57-82C6-FB8BF79355FB}"/>
                  </a:ext>
                  <a:ext uri="{C183D7F6-B498-43B3-948B-1728B52AA6E4}">
                    <adec:decorative xmlns:adec="http://schemas.microsoft.com/office/drawing/2017/decorative" val="1"/>
                  </a:ext>
                </a:extLst>
              </p:cNvPr>
              <p:cNvSpPr txBox="1"/>
              <p:nvPr/>
            </p:nvSpPr>
            <p:spPr>
              <a:xfrm>
                <a:off x="2340880" y="4363561"/>
                <a:ext cx="2031786" cy="584775"/>
              </a:xfrm>
              <a:prstGeom prst="rect">
                <a:avLst/>
              </a:prstGeom>
              <a:noFill/>
            </p:spPr>
            <p:txBody>
              <a:bodyPr wrap="square" rtlCol="0">
                <a:spAutoFit/>
              </a:bodyPr>
              <a:lstStyle/>
              <a:p>
                <a:pPr algn="ctr"/>
                <a:r>
                  <a:rPr lang="en-US" sz="1600"/>
                  <a:t>Elastic Load Balancing</a:t>
                </a:r>
              </a:p>
            </p:txBody>
          </p:sp>
          <p:pic>
            <p:nvPicPr>
              <p:cNvPr id="46" name="Graphic 40">
                <a:extLst>
                  <a:ext uri="{FF2B5EF4-FFF2-40B4-BE49-F238E27FC236}">
                    <a16:creationId xmlns:a16="http://schemas.microsoft.com/office/drawing/2014/main" id="{B0B0799C-101B-46A5-BACD-ABE0D522ECA9}"/>
                  </a:ext>
                  <a:ext uri="{C183D7F6-B498-43B3-948B-1728B52AA6E4}">
                    <adec:decorative xmlns:adec="http://schemas.microsoft.com/office/drawing/2017/decorative" val="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3053681" y="3613865"/>
                <a:ext cx="711200" cy="711200"/>
              </a:xfrm>
              <a:prstGeom prst="rect">
                <a:avLst/>
              </a:prstGeom>
            </p:spPr>
          </p:pic>
          <p:pic>
            <p:nvPicPr>
              <p:cNvPr id="47" name="Graphic 42">
                <a:extLst>
                  <a:ext uri="{FF2B5EF4-FFF2-40B4-BE49-F238E27FC236}">
                    <a16:creationId xmlns:a16="http://schemas.microsoft.com/office/drawing/2014/main" id="{3D033743-64AC-486D-AF9F-EF221E8D550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0519" y="3950912"/>
                <a:ext cx="711200" cy="711200"/>
              </a:xfrm>
              <a:prstGeom prst="rect">
                <a:avLst/>
              </a:prstGeom>
            </p:spPr>
          </p:pic>
          <p:sp>
            <p:nvSpPr>
              <p:cNvPr id="48" name="TextBox 47">
                <a:extLst>
                  <a:ext uri="{FF2B5EF4-FFF2-40B4-BE49-F238E27FC236}">
                    <a16:creationId xmlns:a16="http://schemas.microsoft.com/office/drawing/2014/main" id="{CC3436E7-6DA7-4BF8-B5C3-09D5B1F60009}"/>
                  </a:ext>
                  <a:ext uri="{C183D7F6-B498-43B3-948B-1728B52AA6E4}">
                    <adec:decorative xmlns:adec="http://schemas.microsoft.com/office/drawing/2017/decorative" val="1"/>
                  </a:ext>
                </a:extLst>
              </p:cNvPr>
              <p:cNvSpPr txBox="1"/>
              <p:nvPr/>
            </p:nvSpPr>
            <p:spPr>
              <a:xfrm>
                <a:off x="399744" y="4538086"/>
                <a:ext cx="1072750" cy="338554"/>
              </a:xfrm>
              <a:prstGeom prst="rect">
                <a:avLst/>
              </a:prstGeom>
              <a:noFill/>
            </p:spPr>
            <p:txBody>
              <a:bodyPr wrap="square" rtlCol="0">
                <a:spAutoFit/>
              </a:bodyPr>
              <a:lstStyle/>
              <a:p>
                <a:pPr algn="ctr"/>
                <a:r>
                  <a:rPr lang="en-US" sz="1600">
                    <a:solidFill>
                      <a:srgbClr val="232F3E"/>
                    </a:solidFill>
                  </a:rPr>
                  <a:t>Internet</a:t>
                </a:r>
              </a:p>
            </p:txBody>
          </p:sp>
          <p:pic>
            <p:nvPicPr>
              <p:cNvPr id="49" name="Graphic 46">
                <a:extLst>
                  <a:ext uri="{FF2B5EF4-FFF2-40B4-BE49-F238E27FC236}">
                    <a16:creationId xmlns:a16="http://schemas.microsoft.com/office/drawing/2014/main" id="{8CEE7B8B-BD51-4B81-A0F0-5894A799F247}"/>
                  </a:ext>
                  <a:ext uri="{C183D7F6-B498-43B3-948B-1728B52AA6E4}">
                    <adec:decorative xmlns:adec="http://schemas.microsoft.com/office/drawing/2017/decorative" val="1"/>
                  </a:ext>
                </a:extLst>
              </p:cNvPr>
              <p:cNvPicPr>
                <a:picLocks noChangeAspect="1"/>
              </p:cNvPicPr>
              <p:nvPr/>
            </p:nvPicPr>
            <p:blipFill>
              <a:blip r:embed="rId6" cstate="print">
                <a:extLst>
                  <a:ext uri="{96DAC541-7B7A-43D3-8B79-37D633B846F1}">
                    <asvg:svgBlip xmlns:asvg="http://schemas.microsoft.com/office/drawing/2016/SVG/main" r:embed="rId7"/>
                  </a:ext>
                </a:extLst>
              </a:blip>
              <a:stretch>
                <a:fillRect/>
              </a:stretch>
            </p:blipFill>
            <p:spPr>
              <a:xfrm>
                <a:off x="4476359" y="4524606"/>
                <a:ext cx="469900" cy="469900"/>
              </a:xfrm>
              <a:prstGeom prst="rect">
                <a:avLst/>
              </a:prstGeom>
            </p:spPr>
          </p:pic>
          <p:pic>
            <p:nvPicPr>
              <p:cNvPr id="50" name="Graphic 6">
                <a:extLst>
                  <a:ext uri="{FF2B5EF4-FFF2-40B4-BE49-F238E27FC236}">
                    <a16:creationId xmlns:a16="http://schemas.microsoft.com/office/drawing/2014/main" id="{0FA186CB-F69F-4B9D-8DAC-4039FB746123}"/>
                  </a:ext>
                  <a:ext uri="{C183D7F6-B498-43B3-948B-1728B52AA6E4}">
                    <adec:decorative xmlns:adec="http://schemas.microsoft.com/office/drawing/2017/decorative" val="1"/>
                  </a:ext>
                </a:extLst>
              </p:cNvPr>
              <p:cNvPicPr>
                <a:picLocks noChangeAspect="1"/>
              </p:cNvPicPr>
              <p:nvPr/>
            </p:nvPicPr>
            <p:blipFill>
              <a:blip r:embed="rId8" cstate="print">
                <a:extLst>
                  <a:ext uri="{96DAC541-7B7A-43D3-8B79-37D633B846F1}">
                    <asvg:svgBlip xmlns:asvg="http://schemas.microsoft.com/office/drawing/2016/SVG/main" r:embed="rId9"/>
                  </a:ext>
                </a:extLst>
              </a:blip>
              <a:stretch>
                <a:fillRect/>
              </a:stretch>
            </p:blipFill>
            <p:spPr>
              <a:xfrm>
                <a:off x="10200162" y="3849312"/>
                <a:ext cx="914400" cy="914400"/>
              </a:xfrm>
              <a:prstGeom prst="rect">
                <a:avLst/>
              </a:prstGeom>
            </p:spPr>
          </p:pic>
          <p:sp>
            <p:nvSpPr>
              <p:cNvPr id="51" name="TextBox 50">
                <a:extLst>
                  <a:ext uri="{FF2B5EF4-FFF2-40B4-BE49-F238E27FC236}">
                    <a16:creationId xmlns:a16="http://schemas.microsoft.com/office/drawing/2014/main" id="{B024AC2F-424B-4E27-86E8-526BB2641991}"/>
                  </a:ext>
                  <a:ext uri="{C183D7F6-B498-43B3-948B-1728B52AA6E4}">
                    <adec:decorative xmlns:adec="http://schemas.microsoft.com/office/drawing/2017/decorative" val="1"/>
                  </a:ext>
                </a:extLst>
              </p:cNvPr>
              <p:cNvSpPr txBox="1"/>
              <p:nvPr/>
            </p:nvSpPr>
            <p:spPr>
              <a:xfrm>
                <a:off x="6816205" y="3815634"/>
                <a:ext cx="2301904" cy="830997"/>
              </a:xfrm>
              <a:prstGeom prst="rect">
                <a:avLst/>
              </a:prstGeom>
              <a:noFill/>
            </p:spPr>
            <p:txBody>
              <a:bodyPr wrap="square" rtlCol="0">
                <a:spAutoFit/>
              </a:bodyPr>
              <a:lstStyle/>
              <a:p>
                <a:pPr algn="ctr"/>
                <a:r>
                  <a:rPr lang="en-US" sz="1600"/>
                  <a:t>AWS Identity and Access Management (IAM)</a:t>
                </a:r>
              </a:p>
            </p:txBody>
          </p:sp>
          <p:pic>
            <p:nvPicPr>
              <p:cNvPr id="52" name="Graphic 52">
                <a:extLst>
                  <a:ext uri="{FF2B5EF4-FFF2-40B4-BE49-F238E27FC236}">
                    <a16:creationId xmlns:a16="http://schemas.microsoft.com/office/drawing/2014/main" id="{10C9B60C-CA38-442E-BD3F-44256DA518D7}"/>
                  </a:ext>
                  <a:ext uri="{C183D7F6-B498-43B3-948B-1728B52AA6E4}">
                    <adec:decorative xmlns:adec="http://schemas.microsoft.com/office/drawing/2017/decorative" val="1"/>
                  </a:ext>
                </a:extLst>
              </p:cNvPr>
              <p:cNvPicPr>
                <a:picLocks noChangeAspect="1"/>
              </p:cNvPicPr>
              <p:nvPr/>
            </p:nvPicPr>
            <p:blipFill>
              <a:blip r:embed="rId10" cstate="print">
                <a:extLst>
                  <a:ext uri="{96DAC541-7B7A-43D3-8B79-37D633B846F1}">
                    <asvg:svgBlip xmlns:asvg="http://schemas.microsoft.com/office/drawing/2016/SVG/main" r:embed="rId11"/>
                  </a:ext>
                </a:extLst>
              </a:blip>
              <a:stretch>
                <a:fillRect/>
              </a:stretch>
            </p:blipFill>
            <p:spPr>
              <a:xfrm>
                <a:off x="7585497" y="3147818"/>
                <a:ext cx="711200" cy="711200"/>
              </a:xfrm>
              <a:prstGeom prst="rect">
                <a:avLst/>
              </a:prstGeom>
            </p:spPr>
          </p:pic>
          <p:sp>
            <p:nvSpPr>
              <p:cNvPr id="53" name="TextBox 52">
                <a:extLst>
                  <a:ext uri="{FF2B5EF4-FFF2-40B4-BE49-F238E27FC236}">
                    <a16:creationId xmlns:a16="http://schemas.microsoft.com/office/drawing/2014/main" id="{744B6FED-F69F-410E-AFB4-11B79F6FF051}"/>
                  </a:ext>
                  <a:ext uri="{C183D7F6-B498-43B3-948B-1728B52AA6E4}">
                    <adec:decorative xmlns:adec="http://schemas.microsoft.com/office/drawing/2017/decorative" val="1"/>
                  </a:ext>
                </a:extLst>
              </p:cNvPr>
              <p:cNvSpPr txBox="1"/>
              <p:nvPr/>
            </p:nvSpPr>
            <p:spPr>
              <a:xfrm>
                <a:off x="6769150" y="5351107"/>
                <a:ext cx="2301904" cy="584775"/>
              </a:xfrm>
              <a:prstGeom prst="rect">
                <a:avLst/>
              </a:prstGeom>
              <a:noFill/>
            </p:spPr>
            <p:txBody>
              <a:bodyPr wrap="square" rtlCol="0">
                <a:spAutoFit/>
              </a:bodyPr>
              <a:lstStyle/>
              <a:p>
                <a:pPr algn="ctr"/>
                <a:r>
                  <a:rPr lang="en-US" sz="1600"/>
                  <a:t>AWS Key Management Service (AWS KMS)</a:t>
                </a:r>
              </a:p>
            </p:txBody>
          </p:sp>
          <p:pic>
            <p:nvPicPr>
              <p:cNvPr id="54" name="Graphic 54">
                <a:extLst>
                  <a:ext uri="{FF2B5EF4-FFF2-40B4-BE49-F238E27FC236}">
                    <a16:creationId xmlns:a16="http://schemas.microsoft.com/office/drawing/2014/main" id="{09FF8537-6358-4E9A-955E-837B1A75086A}"/>
                  </a:ext>
                  <a:ext uri="{C183D7F6-B498-43B3-948B-1728B52AA6E4}">
                    <adec:decorative xmlns:adec="http://schemas.microsoft.com/office/drawing/2017/decorative" val="1"/>
                  </a:ext>
                </a:extLst>
              </p:cNvPr>
              <p:cNvPicPr>
                <a:picLocks noChangeAspect="1"/>
              </p:cNvPicPr>
              <p:nvPr/>
            </p:nvPicPr>
            <p:blipFill>
              <a:blip r:embed="rId12" cstate="print">
                <a:extLst>
                  <a:ext uri="{96DAC541-7B7A-43D3-8B79-37D633B846F1}">
                    <asvg:svgBlip xmlns:asvg="http://schemas.microsoft.com/office/drawing/2016/SVG/main" r:embed="rId13"/>
                  </a:ext>
                </a:extLst>
              </a:blip>
              <a:stretch>
                <a:fillRect/>
              </a:stretch>
            </p:blipFill>
            <p:spPr>
              <a:xfrm>
                <a:off x="7564502" y="4684645"/>
                <a:ext cx="711200" cy="711200"/>
              </a:xfrm>
              <a:prstGeom prst="rect">
                <a:avLst/>
              </a:prstGeom>
            </p:spPr>
          </p:pic>
          <p:sp>
            <p:nvSpPr>
              <p:cNvPr id="55" name="TextBox 54">
                <a:extLst>
                  <a:ext uri="{FF2B5EF4-FFF2-40B4-BE49-F238E27FC236}">
                    <a16:creationId xmlns:a16="http://schemas.microsoft.com/office/drawing/2014/main" id="{84F791FB-DD10-4DBF-BB07-E4EE904F23BD}"/>
                  </a:ext>
                  <a:ext uri="{C183D7F6-B498-43B3-948B-1728B52AA6E4}">
                    <adec:decorative xmlns:adec="http://schemas.microsoft.com/office/drawing/2017/decorative" val="1"/>
                  </a:ext>
                </a:extLst>
              </p:cNvPr>
              <p:cNvSpPr txBox="1"/>
              <p:nvPr/>
            </p:nvSpPr>
            <p:spPr>
              <a:xfrm>
                <a:off x="10271061" y="4709903"/>
                <a:ext cx="843501"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Banks</a:t>
                </a:r>
              </a:p>
            </p:txBody>
          </p:sp>
          <p:cxnSp>
            <p:nvCxnSpPr>
              <p:cNvPr id="56" name="Straight Arrow Connector 55">
                <a:extLst>
                  <a:ext uri="{FF2B5EF4-FFF2-40B4-BE49-F238E27FC236}">
                    <a16:creationId xmlns:a16="http://schemas.microsoft.com/office/drawing/2014/main" id="{319440AC-A6DD-4091-9A89-0978513BEC56}"/>
                  </a:ext>
                  <a:ext uri="{C183D7F6-B498-43B3-948B-1728B52AA6E4}">
                    <adec:decorative xmlns:adec="http://schemas.microsoft.com/office/drawing/2017/decorative" val="1"/>
                  </a:ext>
                </a:extLst>
              </p:cNvPr>
              <p:cNvCxnSpPr/>
              <p:nvPr/>
            </p:nvCxnSpPr>
            <p:spPr>
              <a:xfrm flipH="1" flipV="1">
                <a:off x="9334009" y="4303972"/>
                <a:ext cx="866153" cy="5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8439741-40B0-41A3-B61F-A5ECC322FF62}"/>
                  </a:ext>
                  <a:ext uri="{C183D7F6-B498-43B3-948B-1728B52AA6E4}">
                    <adec:decorative xmlns:adec="http://schemas.microsoft.com/office/drawing/2017/decorative" val="1"/>
                  </a:ext>
                </a:extLst>
              </p:cNvPr>
              <p:cNvSpPr txBox="1"/>
              <p:nvPr/>
            </p:nvSpPr>
            <p:spPr>
              <a:xfrm>
                <a:off x="2603747" y="5720143"/>
                <a:ext cx="1513305" cy="584775"/>
              </a:xfrm>
              <a:prstGeom prst="rect">
                <a:avLst/>
              </a:prstGeom>
              <a:noFill/>
            </p:spPr>
            <p:txBody>
              <a:bodyPr wrap="square" rtlCol="0">
                <a:spAutoFit/>
              </a:bodyPr>
              <a:lstStyle/>
              <a:p>
                <a:pPr algn="ctr"/>
                <a:r>
                  <a:rPr lang="en-US" sz="1600"/>
                  <a:t>Amazon EC2 instances</a:t>
                </a:r>
              </a:p>
            </p:txBody>
          </p:sp>
          <p:pic>
            <p:nvPicPr>
              <p:cNvPr id="58" name="Graphic 56">
                <a:extLst>
                  <a:ext uri="{FF2B5EF4-FFF2-40B4-BE49-F238E27FC236}">
                    <a16:creationId xmlns:a16="http://schemas.microsoft.com/office/drawing/2014/main" id="{AB324D81-A51F-484F-B47B-5ACFDC4B9012}"/>
                  </a:ext>
                  <a:ext uri="{C183D7F6-B498-43B3-948B-1728B52AA6E4}">
                    <adec:decorative xmlns:adec="http://schemas.microsoft.com/office/drawing/2017/decorative" val="1"/>
                  </a:ext>
                </a:extLst>
              </p:cNvPr>
              <p:cNvPicPr>
                <a:picLocks noChangeAspect="1"/>
              </p:cNvPicPr>
              <p:nvPr/>
            </p:nvPicPr>
            <p:blipFill>
              <a:blip r:embed="rId14" cstate="print">
                <a:extLst>
                  <a:ext uri="{96DAC541-7B7A-43D3-8B79-37D633B846F1}">
                    <asvg:svgBlip xmlns:asvg="http://schemas.microsoft.com/office/drawing/2016/SVG/main" r:embed="rId15"/>
                  </a:ext>
                </a:extLst>
              </a:blip>
              <a:stretch>
                <a:fillRect/>
              </a:stretch>
            </p:blipFill>
            <p:spPr>
              <a:xfrm>
                <a:off x="3053681" y="5015024"/>
                <a:ext cx="711200" cy="711200"/>
              </a:xfrm>
              <a:prstGeom prst="rect">
                <a:avLst/>
              </a:prstGeom>
            </p:spPr>
          </p:pic>
          <p:pic>
            <p:nvPicPr>
              <p:cNvPr id="59" name="Graphic 57">
                <a:extLst>
                  <a:ext uri="{FF2B5EF4-FFF2-40B4-BE49-F238E27FC236}">
                    <a16:creationId xmlns:a16="http://schemas.microsoft.com/office/drawing/2014/main" id="{F81434A3-2E01-49AB-8FA5-B3694717A668}"/>
                  </a:ext>
                  <a:ext uri="{C183D7F6-B498-43B3-948B-1728B52AA6E4}">
                    <adec:decorative xmlns:adec="http://schemas.microsoft.com/office/drawing/2017/decorative" val="1"/>
                  </a:ext>
                </a:extLst>
              </p:cNvPr>
              <p:cNvPicPr>
                <a:picLocks noChangeAspect="1"/>
              </p:cNvPicPr>
              <p:nvPr/>
            </p:nvPicPr>
            <p:blipFill>
              <a:blip r:embed="rId16" cstate="print">
                <a:extLst>
                  <a:ext uri="{96DAC541-7B7A-43D3-8B79-37D633B846F1}">
                    <asvg:svgBlip xmlns:asvg="http://schemas.microsoft.com/office/drawing/2016/SVG/main" r:embed="rId17"/>
                  </a:ext>
                </a:extLst>
              </a:blip>
              <a:stretch>
                <a:fillRect/>
              </a:stretch>
            </p:blipFill>
            <p:spPr>
              <a:xfrm>
                <a:off x="3887977" y="5212713"/>
                <a:ext cx="469900" cy="469900"/>
              </a:xfrm>
              <a:prstGeom prst="rect">
                <a:avLst/>
              </a:prstGeom>
            </p:spPr>
          </p:pic>
          <p:cxnSp>
            <p:nvCxnSpPr>
              <p:cNvPr id="60" name="Straight Arrow Connector 59">
                <a:extLst>
                  <a:ext uri="{FF2B5EF4-FFF2-40B4-BE49-F238E27FC236}">
                    <a16:creationId xmlns:a16="http://schemas.microsoft.com/office/drawing/2014/main" id="{C53DDA5F-A904-4A2D-9586-2A57A6F0B924}"/>
                  </a:ext>
                  <a:ext uri="{C183D7F6-B498-43B3-948B-1728B52AA6E4}">
                    <adec:decorative xmlns:adec="http://schemas.microsoft.com/office/drawing/2017/decorative" val="1"/>
                  </a:ext>
                </a:extLst>
              </p:cNvPr>
              <p:cNvCxnSpPr/>
              <p:nvPr/>
            </p:nvCxnSpPr>
            <p:spPr>
              <a:xfrm>
                <a:off x="1372416" y="4306512"/>
                <a:ext cx="877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F139FEF9-AA3C-44F9-A2B3-FD6332EF88C8}"/>
                  </a:ext>
                  <a:ext uri="{C183D7F6-B498-43B3-948B-1728B52AA6E4}">
                    <adec:decorative xmlns:adec="http://schemas.microsoft.com/office/drawing/2017/decorative" val="1"/>
                  </a:ext>
                </a:extLst>
              </p:cNvPr>
              <p:cNvPicPr>
                <a:picLocks noChangeAspect="1"/>
              </p:cNvPicPr>
              <p:nvPr/>
            </p:nvPicPr>
            <p:blipFill>
              <a:blip r:embed="rId18" cstate="print">
                <a:extLst>
                  <a:ext uri="{96DAC541-7B7A-43D3-8B79-37D633B846F1}">
                    <asvg:svgBlip xmlns:asvg="http://schemas.microsoft.com/office/drawing/2016/SVG/main" r:embed="rId19"/>
                  </a:ext>
                </a:extLst>
              </a:blip>
              <a:stretch>
                <a:fillRect/>
              </a:stretch>
            </p:blipFill>
            <p:spPr>
              <a:xfrm>
                <a:off x="5293963" y="5107898"/>
                <a:ext cx="469900" cy="469900"/>
              </a:xfrm>
              <a:prstGeom prst="rect">
                <a:avLst/>
              </a:prstGeom>
            </p:spPr>
          </p:pic>
          <p:pic>
            <p:nvPicPr>
              <p:cNvPr id="62" name="Graphic 61">
                <a:extLst>
                  <a:ext uri="{FF2B5EF4-FFF2-40B4-BE49-F238E27FC236}">
                    <a16:creationId xmlns:a16="http://schemas.microsoft.com/office/drawing/2014/main" id="{3CF70BDC-BFE5-4873-8318-F227FCF500EC}"/>
                  </a:ext>
                  <a:ext uri="{C183D7F6-B498-43B3-948B-1728B52AA6E4}">
                    <adec:decorative xmlns:adec="http://schemas.microsoft.com/office/drawing/2017/decorative" val="1"/>
                  </a:ext>
                </a:extLst>
              </p:cNvPr>
              <p:cNvPicPr>
                <a:picLocks noChangeAspect="1"/>
              </p:cNvPicPr>
              <p:nvPr/>
            </p:nvPicPr>
            <p:blipFill>
              <a:blip r:embed="rId18" cstate="print">
                <a:extLst>
                  <a:ext uri="{96DAC541-7B7A-43D3-8B79-37D633B846F1}">
                    <asvg:svgBlip xmlns:asvg="http://schemas.microsoft.com/office/drawing/2016/SVG/main" r:embed="rId19"/>
                  </a:ext>
                </a:extLst>
              </a:blip>
              <a:stretch>
                <a:fillRect/>
              </a:stretch>
            </p:blipFill>
            <p:spPr>
              <a:xfrm>
                <a:off x="6020062" y="5135674"/>
                <a:ext cx="469900" cy="469900"/>
              </a:xfrm>
              <a:prstGeom prst="rect">
                <a:avLst/>
              </a:prstGeom>
            </p:spPr>
          </p:pic>
          <p:sp>
            <p:nvSpPr>
              <p:cNvPr id="63" name="TextBox 62">
                <a:extLst>
                  <a:ext uri="{FF2B5EF4-FFF2-40B4-BE49-F238E27FC236}">
                    <a16:creationId xmlns:a16="http://schemas.microsoft.com/office/drawing/2014/main" id="{34DCBBDD-502D-43CE-961B-28D82596D468}"/>
                  </a:ext>
                  <a:ext uri="{C183D7F6-B498-43B3-948B-1728B52AA6E4}">
                    <adec:decorative xmlns:adec="http://schemas.microsoft.com/office/drawing/2017/decorative" val="1"/>
                  </a:ext>
                </a:extLst>
              </p:cNvPr>
              <p:cNvSpPr txBox="1"/>
              <p:nvPr/>
            </p:nvSpPr>
            <p:spPr>
              <a:xfrm>
                <a:off x="5151342" y="5638107"/>
                <a:ext cx="1654620"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Read replicas</a:t>
                </a:r>
              </a:p>
            </p:txBody>
          </p:sp>
          <p:cxnSp>
            <p:nvCxnSpPr>
              <p:cNvPr id="64" name="Straight Arrow Connector 63">
                <a:extLst>
                  <a:ext uri="{FF2B5EF4-FFF2-40B4-BE49-F238E27FC236}">
                    <a16:creationId xmlns:a16="http://schemas.microsoft.com/office/drawing/2014/main" id="{76A5EA5E-503F-444B-827D-452EC3F4D1AD}"/>
                  </a:ext>
                  <a:ext uri="{C183D7F6-B498-43B3-948B-1728B52AA6E4}">
                    <adec:decorative xmlns:adec="http://schemas.microsoft.com/office/drawing/2017/decorative" val="1"/>
                  </a:ext>
                </a:extLst>
              </p:cNvPr>
              <p:cNvCxnSpPr>
                <a:cxnSpLocks/>
              </p:cNvCxnSpPr>
              <p:nvPr/>
            </p:nvCxnSpPr>
            <p:spPr>
              <a:xfrm>
                <a:off x="5577881" y="4363561"/>
                <a:ext cx="0" cy="676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D62A820-C434-48BE-BEB9-2C68D76EDCB3}"/>
                  </a:ext>
                  <a:ext uri="{C183D7F6-B498-43B3-948B-1728B52AA6E4}">
                    <adec:decorative xmlns:adec="http://schemas.microsoft.com/office/drawing/2017/decorative" val="1"/>
                  </a:ext>
                </a:extLst>
              </p:cNvPr>
              <p:cNvCxnSpPr>
                <a:cxnSpLocks/>
              </p:cNvCxnSpPr>
              <p:nvPr/>
            </p:nvCxnSpPr>
            <p:spPr>
              <a:xfrm>
                <a:off x="6179989" y="4363561"/>
                <a:ext cx="0" cy="676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2B69ED02-7900-410D-A1B9-6C830EBEDD24}"/>
                  </a:ext>
                  <a:ext uri="{C183D7F6-B498-43B3-948B-1728B52AA6E4}">
                    <adec:decorative xmlns:adec="http://schemas.microsoft.com/office/drawing/2017/decorative" val="1"/>
                  </a:ext>
                </a:extLst>
              </p:cNvPr>
              <p:cNvSpPr/>
              <p:nvPr/>
            </p:nvSpPr>
            <p:spPr>
              <a:xfrm>
                <a:off x="2330930" y="2921000"/>
                <a:ext cx="6876570" cy="3368949"/>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tx1"/>
                    </a:solidFill>
                  </a:rPr>
                  <a:t>AWS Cloud</a:t>
                </a:r>
              </a:p>
            </p:txBody>
          </p:sp>
          <p:cxnSp>
            <p:nvCxnSpPr>
              <p:cNvPr id="67" name="Straight Arrow Connector 66">
                <a:extLst>
                  <a:ext uri="{FF2B5EF4-FFF2-40B4-BE49-F238E27FC236}">
                    <a16:creationId xmlns:a16="http://schemas.microsoft.com/office/drawing/2014/main" id="{FA619386-51BA-4523-AB00-68EEFC506661}"/>
                  </a:ext>
                  <a:ext uri="{C183D7F6-B498-43B3-948B-1728B52AA6E4}">
                    <adec:decorative xmlns:adec="http://schemas.microsoft.com/office/drawing/2017/decorative" val="1"/>
                  </a:ext>
                </a:extLst>
              </p:cNvPr>
              <p:cNvCxnSpPr>
                <a:stCxn id="46" idx="2"/>
                <a:endCxn id="58" idx="0"/>
              </p:cNvCxnSpPr>
              <p:nvPr/>
            </p:nvCxnSpPr>
            <p:spPr>
              <a:xfrm>
                <a:off x="3409281" y="4325065"/>
                <a:ext cx="0" cy="689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C3F9FA4-AFD7-4D14-89B6-DE73BDD2D524}"/>
                  </a:ext>
                  <a:ext uri="{C183D7F6-B498-43B3-948B-1728B52AA6E4}">
                    <adec:decorative xmlns:adec="http://schemas.microsoft.com/office/drawing/2017/decorative" val="1"/>
                  </a:ext>
                </a:extLst>
              </p:cNvPr>
              <p:cNvSpPr txBox="1"/>
              <p:nvPr/>
            </p:nvSpPr>
            <p:spPr>
              <a:xfrm>
                <a:off x="4186421" y="5060179"/>
                <a:ext cx="1035861"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 SDK</a:t>
                </a:r>
              </a:p>
            </p:txBody>
          </p:sp>
          <p:pic>
            <p:nvPicPr>
              <p:cNvPr id="69"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20" cstate="print">
                <a:extLst>
                  <a:ext uri="{96DAC541-7B7A-43D3-8B79-37D633B846F1}">
                    <asvg:svgBlip xmlns:asvg="http://schemas.microsoft.com/office/drawing/2016/SVG/main" r:embed="rId21"/>
                  </a:ext>
                </a:extLst>
              </a:blip>
              <a:stretch>
                <a:fillRect/>
              </a:stretch>
            </p:blipFill>
            <p:spPr>
              <a:xfrm>
                <a:off x="2349747" y="2926810"/>
                <a:ext cx="330200" cy="330200"/>
              </a:xfrm>
              <a:prstGeom prst="rect">
                <a:avLst/>
              </a:prstGeom>
            </p:spPr>
          </p:pic>
        </p:grpSp>
        <p:cxnSp>
          <p:nvCxnSpPr>
            <p:cNvPr id="39" name="Elbow Connector 14">
              <a:extLst>
                <a:ext uri="{FF2B5EF4-FFF2-40B4-BE49-F238E27FC236}">
                  <a16:creationId xmlns:a16="http://schemas.microsoft.com/office/drawing/2014/main" id="{F5114EB3-3408-A6B4-551C-D745B9872C54}"/>
                </a:ext>
              </a:extLst>
            </p:cNvPr>
            <p:cNvCxnSpPr>
              <a:stCxn id="49" idx="0"/>
              <a:endCxn id="43" idx="1"/>
            </p:cNvCxnSpPr>
            <p:nvPr/>
          </p:nvCxnSpPr>
          <p:spPr>
            <a:xfrm rot="5400000" flipH="1" flipV="1">
              <a:off x="5186984" y="3908964"/>
              <a:ext cx="478814" cy="7524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5C4D0F9D-D2E8-1488-39CF-8FAC244462CF}"/>
                </a:ext>
              </a:extLst>
            </p:cNvPr>
            <p:cNvCxnSpPr>
              <a:endCxn id="49" idx="1"/>
            </p:cNvCxnSpPr>
            <p:nvPr/>
          </p:nvCxnSpPr>
          <p:spPr>
            <a:xfrm flipV="1">
              <a:off x="4103728" y="4759556"/>
              <a:ext cx="711478" cy="28068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B7B94BD4-860B-2B9A-9530-429A62C5EA36}"/>
                </a:ext>
              </a:extLst>
            </p:cNvPr>
            <p:cNvCxnSpPr>
              <a:stCxn id="52" idx="1"/>
              <a:endCxn id="43" idx="3"/>
            </p:cNvCxnSpPr>
            <p:nvPr/>
          </p:nvCxnSpPr>
          <p:spPr>
            <a:xfrm rot="10800000" flipV="1">
              <a:off x="6729568" y="3503418"/>
              <a:ext cx="1194776" cy="5423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21DAA5A-D496-671D-7222-605EC6950DF5}"/>
                </a:ext>
              </a:extLst>
            </p:cNvPr>
            <p:cNvCxnSpPr>
              <a:cxnSpLocks/>
              <a:stCxn id="54" idx="1"/>
            </p:cNvCxnSpPr>
            <p:nvPr/>
          </p:nvCxnSpPr>
          <p:spPr>
            <a:xfrm rot="10800000">
              <a:off x="6729567" y="4303973"/>
              <a:ext cx="1173782" cy="736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TotalTime>
  <Words>3187</Words>
  <Application>Microsoft Office PowerPoint</Application>
  <PresentationFormat>On-screen Show (4:3)</PresentationFormat>
  <Paragraphs>565</Paragraphs>
  <Slides>69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Amazon Ember</vt:lpstr>
      <vt:lpstr>Amazon Ember Light</vt:lpstr>
      <vt:lpstr>Arial</vt:lpstr>
      <vt:lpstr>Calibri</vt:lpstr>
      <vt:lpstr>Segoe UI</vt:lpstr>
      <vt:lpstr>Wingdings</vt:lpstr>
      <vt:lpstr>Office Theme</vt:lpstr>
      <vt:lpstr>AWS</vt:lpstr>
      <vt:lpstr>Details</vt:lpstr>
      <vt:lpstr>AWS Database Services</vt:lpstr>
      <vt:lpstr>Amazon RDS</vt:lpstr>
      <vt:lpstr>Unmanaged versus managed services</vt:lpstr>
      <vt:lpstr>Challenges In Relational Databases</vt:lpstr>
      <vt:lpstr>On premise to RDS</vt:lpstr>
      <vt:lpstr>Managed services responsibilities</vt:lpstr>
      <vt:lpstr>PowerPoint Presentation</vt:lpstr>
      <vt:lpstr>Amazon RDS in a virtual private cloud (VPC)</vt:lpstr>
      <vt:lpstr>High Availability :Multi A-Z Deployment      </vt:lpstr>
      <vt:lpstr>High Availability :Multi A-Z Deployment </vt:lpstr>
      <vt:lpstr>PowerPoint Presentation</vt:lpstr>
      <vt:lpstr>PowerPoint Presentation</vt:lpstr>
      <vt:lpstr>Amazon RDS read replicas</vt:lpstr>
      <vt:lpstr>Usecase</vt:lpstr>
      <vt:lpstr>When to Use Amazon RDS</vt:lpstr>
      <vt:lpstr>Amazon RDS: Clock-hour billing and database characteristics </vt:lpstr>
      <vt:lpstr>Amazon RDS: DB purchase type and multiple DB instances</vt:lpstr>
      <vt:lpstr>Amazon RDS: Storage</vt:lpstr>
      <vt:lpstr>Amazon RDS: Deployment type and data transfer</vt:lpstr>
      <vt:lpstr>DynamoDB</vt:lpstr>
      <vt:lpstr>Relational versus non-relational databases</vt:lpstr>
      <vt:lpstr>What is Amazon DynamoDB? </vt:lpstr>
      <vt:lpstr>Properties</vt:lpstr>
      <vt:lpstr>Basics</vt:lpstr>
      <vt:lpstr>Example</vt:lpstr>
      <vt:lpstr>DynamoDB – Read/Write Capacity Modes</vt:lpstr>
      <vt:lpstr>Components</vt:lpstr>
      <vt:lpstr>Partitioning</vt:lpstr>
      <vt:lpstr>Items in a table must have a key</vt:lpstr>
      <vt:lpstr>DynamoDB Accelerator (DAX)</vt:lpstr>
      <vt:lpstr>DynamoDB – Stream Processing</vt:lpstr>
      <vt:lpstr>Options</vt:lpstr>
      <vt:lpstr>Dynamo DB straems</vt:lpstr>
      <vt:lpstr>DynamoDB Global Tables</vt:lpstr>
      <vt:lpstr>DynamoDB – Time To Live</vt:lpstr>
      <vt:lpstr>DynamoDB – Backups for disaster recovery</vt:lpstr>
      <vt:lpstr>DynamoDB – Integration with Amazon S3</vt:lpstr>
      <vt:lpstr>DynamoDB – Integration with Amazon S3 (2)</vt:lpstr>
      <vt:lpstr>PowerPoint Presentation</vt:lpstr>
      <vt:lpstr>AWS Aurora</vt:lpstr>
      <vt:lpstr>Amazon Aurora</vt:lpstr>
      <vt:lpstr>Basics</vt:lpstr>
      <vt:lpstr>Benefits</vt:lpstr>
      <vt:lpstr>High Availability</vt:lpstr>
      <vt:lpstr>Aurora High Availability and Read Scaling</vt:lpstr>
      <vt:lpstr>Aurora DB Cluster</vt:lpstr>
      <vt:lpstr>Features</vt:lpstr>
      <vt:lpstr>Aurora Replicas Auto-scaling</vt:lpstr>
      <vt:lpstr>Aurora- Custom Endpoints</vt:lpstr>
      <vt:lpstr>Aurora Serverless</vt:lpstr>
      <vt:lpstr>Resilient design</vt:lpstr>
      <vt:lpstr>Global Aurora</vt:lpstr>
      <vt:lpstr>Aurora Machine Learning</vt:lpstr>
      <vt:lpstr>PowerPoint Presentation</vt:lpstr>
      <vt:lpstr>Database backups and Security</vt:lpstr>
      <vt:lpstr>RDS Backups</vt:lpstr>
      <vt:lpstr>Aurora Backups</vt:lpstr>
      <vt:lpstr>RDS &amp; Aurora Restore options</vt:lpstr>
      <vt:lpstr>Aurora Database Cloning</vt:lpstr>
      <vt:lpstr>RDS &amp; Aurora Security</vt:lpstr>
      <vt:lpstr>Amazon RDS Proxy</vt:lpstr>
      <vt:lpstr>Database Activity 1</vt:lpstr>
      <vt:lpstr>Solve</vt:lpstr>
      <vt:lpstr>Database Activity 2</vt:lpstr>
      <vt:lpstr>Solve</vt:lpstr>
      <vt:lpstr>Database Activity 3</vt:lpstr>
      <vt:lpstr>Solve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Adrija Bhattacharya</dc:creator>
  <cp:lastModifiedBy>adrija bhattacharya</cp:lastModifiedBy>
  <cp:revision>71</cp:revision>
  <dcterms:created xsi:type="dcterms:W3CDTF">2024-09-02T05:25:22Z</dcterms:created>
  <dcterms:modified xsi:type="dcterms:W3CDTF">2025-09-09T03:38:03Z</dcterms:modified>
</cp:coreProperties>
</file>