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12192000" cy="6858000"/>
  <p:notesSz cx="6858000" cy="9144000"/>
  <p:embeddedFontLst>
    <p:embeddedFont>
      <p:font typeface="Palatino Linotype" panose="02040502050505030304" pitchFamily="18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tm0y3tWu6oE2Dz2ygmt4FkvrL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1"/>
  </p:normalViewPr>
  <p:slideViewPr>
    <p:cSldViewPr snapToGrid="0">
      <p:cViewPr varScale="1">
        <p:scale>
          <a:sx n="103" d="100"/>
          <a:sy n="103" d="100"/>
        </p:scale>
        <p:origin x="8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18f606419_0_1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818f606419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18f606419_0_1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818f606419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818f606419_0_129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3818f606419_0_129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3818f606419_0_12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818f606419_0_13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3818f606419_0_13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818f606419_0_13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818f606419_0_13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3818f606419_0_13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818f606419_0_14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818f606419_0_14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g3818f606419_0_140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3818f606419_0_14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818f606419_0_14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818f606419_0_14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818f606419_0_148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g3818f606419_0_148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g3818f606419_0_14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818f606419_0_152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g3818f606419_0_15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818f606419_0_15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g3818f606419_0_155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g3818f606419_0_155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g3818f606419_0_155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3818f606419_0_15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818f606419_0_161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3818f606419_0_16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18f606419_0_164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3818f606419_0_164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g3818f606419_0_16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18f606419_0_16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818f606419_0_1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3818f606419_0_17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just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g3818f606419_0_1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818f606419_0_1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3818f606419_0_1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18f606419_0_1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3818f606419_0_1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3818f606419_0_12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>
            <a:spLocks noGrp="1"/>
          </p:cNvSpPr>
          <p:nvPr>
            <p:ph type="subTitle" idx="1"/>
          </p:nvPr>
        </p:nvSpPr>
        <p:spPr>
          <a:xfrm>
            <a:off x="1316077" y="2102373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None/>
            </a:pPr>
            <a:r>
              <a:rPr lang="en-US" sz="4400">
                <a:solidFill>
                  <a:srgbClr val="C00000"/>
                </a:solidFill>
              </a:rPr>
              <a:t>Module 4 – Intermediate-Code Generation</a:t>
            </a:r>
            <a:endParaRPr/>
          </a:p>
        </p:txBody>
      </p:sp>
      <p:pic>
        <p:nvPicPr>
          <p:cNvPr id="65" name="Google Shape;6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1362" y="5740399"/>
            <a:ext cx="963221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"/>
          <p:cNvSpPr txBox="1"/>
          <p:nvPr/>
        </p:nvSpPr>
        <p:spPr>
          <a:xfrm>
            <a:off x="1408946" y="665914"/>
            <a:ext cx="9144000" cy="79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000099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BCSE307L – Compiler Design</a:t>
            </a:r>
            <a:endParaRPr/>
          </a:p>
        </p:txBody>
      </p:sp>
      <p:pic>
        <p:nvPicPr>
          <p:cNvPr id="67" name="Google Shape;67;p1"/>
          <p:cNvPicPr preferRelativeResize="0"/>
          <p:nvPr/>
        </p:nvPicPr>
        <p:blipFill rotWithShape="1">
          <a:blip r:embed="rId4">
            <a:alphaModFix/>
          </a:blip>
          <a:srcRect l="38144" t="15521" r="859" b="32917"/>
          <a:stretch/>
        </p:blipFill>
        <p:spPr>
          <a:xfrm>
            <a:off x="7218066" y="4396040"/>
            <a:ext cx="4336256" cy="2061909"/>
          </a:xfrm>
          <a:prstGeom prst="rect">
            <a:avLst/>
          </a:prstGeom>
          <a:solidFill>
            <a:srgbClr val="ECECEC"/>
          </a:solidFill>
          <a:ln w="1905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5000" dist="50800" dir="12900000" kx="195000" ky="145000" algn="tl" rotWithShape="0">
              <a:srgbClr val="000000">
                <a:alpha val="29803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Palatino Linotype"/>
              <a:buNone/>
            </a:pPr>
            <a:r>
              <a:rPr lang="en-US"/>
              <a:t>Contents </a:t>
            </a:r>
            <a:endParaRPr/>
          </a:p>
        </p:txBody>
      </p:sp>
      <p:sp>
        <p:nvSpPr>
          <p:cNvPr id="73" name="Google Shape;73;p2"/>
          <p:cNvSpPr txBox="1">
            <a:spLocks noGrp="1"/>
          </p:cNvSpPr>
          <p:nvPr>
            <p:ph type="body" idx="1"/>
          </p:nvPr>
        </p:nvSpPr>
        <p:spPr>
          <a:xfrm>
            <a:off x="838200" y="1521618"/>
            <a:ext cx="10515600" cy="5050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Char char="●"/>
            </a:pPr>
            <a:r>
              <a:rPr lang="en-US">
                <a:solidFill>
                  <a:srgbClr val="000099"/>
                </a:solidFill>
              </a:rPr>
              <a:t>Variants of Syntax trees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99"/>
              </a:buClr>
              <a:buSzPts val="2800"/>
              <a:buChar char="●"/>
            </a:pPr>
            <a:r>
              <a:rPr lang="en-US">
                <a:solidFill>
                  <a:srgbClr val="000099"/>
                </a:solidFill>
              </a:rPr>
              <a:t>Three Address Code </a:t>
            </a:r>
            <a:endParaRPr>
              <a:solidFill>
                <a:srgbClr val="000099"/>
              </a:solidFill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99"/>
              </a:buClr>
              <a:buSzPts val="2800"/>
              <a:buChar char="●"/>
            </a:pPr>
            <a:r>
              <a:rPr lang="en-US">
                <a:solidFill>
                  <a:srgbClr val="000099"/>
                </a:solidFill>
              </a:rPr>
              <a:t>Types, Declarations </a:t>
            </a:r>
            <a:endParaRPr>
              <a:solidFill>
                <a:srgbClr val="000099"/>
              </a:solidFill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99"/>
              </a:buClr>
              <a:buSzPts val="2800"/>
              <a:buChar char="●"/>
            </a:pPr>
            <a:r>
              <a:rPr lang="en-US">
                <a:solidFill>
                  <a:srgbClr val="000099"/>
                </a:solidFill>
              </a:rPr>
              <a:t>Procedures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99"/>
              </a:buClr>
              <a:buSzPts val="2800"/>
              <a:buChar char="●"/>
            </a:pPr>
            <a:r>
              <a:rPr lang="en-US">
                <a:solidFill>
                  <a:srgbClr val="000099"/>
                </a:solidFill>
              </a:rPr>
              <a:t>Assignment Statements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99"/>
              </a:buClr>
              <a:buSzPts val="2800"/>
              <a:buChar char="●"/>
            </a:pPr>
            <a:r>
              <a:rPr lang="en-US">
                <a:solidFill>
                  <a:srgbClr val="000099"/>
                </a:solidFill>
              </a:rPr>
              <a:t>Translation of Expressions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99"/>
              </a:buClr>
              <a:buSzPts val="2800"/>
              <a:buChar char="●"/>
            </a:pPr>
            <a:r>
              <a:rPr lang="en-US">
                <a:solidFill>
                  <a:srgbClr val="000099"/>
                </a:solidFill>
              </a:rPr>
              <a:t>Control Flow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99"/>
              </a:buClr>
              <a:buSzPts val="2800"/>
              <a:buChar char="●"/>
            </a:pPr>
            <a:r>
              <a:rPr lang="en-US">
                <a:solidFill>
                  <a:srgbClr val="000099"/>
                </a:solidFill>
              </a:rPr>
              <a:t>Back Patching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rgbClr val="000099"/>
              </a:buClr>
              <a:buSzPts val="2800"/>
              <a:buChar char="●"/>
            </a:pPr>
            <a:r>
              <a:rPr lang="en-US">
                <a:solidFill>
                  <a:srgbClr val="000099"/>
                </a:solidFill>
              </a:rPr>
              <a:t>Switch Case Statements</a:t>
            </a:r>
            <a:endParaRPr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>
            <a:spLocks noGrp="1"/>
          </p:cNvSpPr>
          <p:nvPr>
            <p:ph type="title"/>
          </p:nvPr>
        </p:nvSpPr>
        <p:spPr>
          <a:xfrm>
            <a:off x="218172" y="-288756"/>
            <a:ext cx="1029742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Palatino Linotype"/>
              <a:buNone/>
            </a:pPr>
            <a:r>
              <a:rPr lang="en-US" dirty="0"/>
              <a:t>Control Flow</a:t>
            </a:r>
            <a:endParaRPr dirty="0"/>
          </a:p>
        </p:txBody>
      </p:sp>
      <p:sp>
        <p:nvSpPr>
          <p:cNvPr id="79" name="Google Shape;79;p3"/>
          <p:cNvSpPr txBox="1">
            <a:spLocks noGrp="1"/>
          </p:cNvSpPr>
          <p:nvPr>
            <p:ph type="body" idx="1"/>
          </p:nvPr>
        </p:nvSpPr>
        <p:spPr>
          <a:xfrm>
            <a:off x="211757" y="750770"/>
            <a:ext cx="11762070" cy="5958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translation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statements </a:t>
            </a: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if-else and while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tied to the </a:t>
            </a: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 Expression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Programming Language, Boolean expressions are often used to: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2600"/>
              <a:buChar char="○"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 the flow of control: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Boolean expressions are used as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expressions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statements that alter the flow of control. The value of such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expression is implicit in a position reached in a program. Example: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sz="2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Condn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then S1</a:t>
            </a:r>
            <a:endParaRPr sz="2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logical values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represent True/False. Res=a &amp;&amp; b</a:t>
            </a:r>
            <a:endParaRPr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6600"/>
              </a:buClr>
              <a:buSzPts val="3000"/>
              <a:buChar char="●"/>
            </a:pP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 expressions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composed of Boolean operators (&amp;&amp;,||, and !). Boolean operators are applied over Boolean variables or relational expression.	</a:t>
            </a:r>
            <a:endParaRPr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3179" y="6088796"/>
            <a:ext cx="10359226" cy="455567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>
            <a:spLocks noGrp="1"/>
          </p:cNvSpPr>
          <p:nvPr>
            <p:ph type="title"/>
          </p:nvPr>
        </p:nvSpPr>
        <p:spPr>
          <a:xfrm>
            <a:off x="0" y="-2887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Palatino Linotype"/>
              <a:buNone/>
            </a:pPr>
            <a:r>
              <a:rPr lang="en-US"/>
              <a:t>Control Flow</a:t>
            </a:r>
            <a:endParaRPr/>
          </a:p>
        </p:txBody>
      </p:sp>
      <p:sp>
        <p:nvSpPr>
          <p:cNvPr id="86" name="Google Shape;86;p4"/>
          <p:cNvSpPr txBox="1">
            <a:spLocks noGrp="1"/>
          </p:cNvSpPr>
          <p:nvPr>
            <p:ph type="body" idx="1"/>
          </p:nvPr>
        </p:nvSpPr>
        <p:spPr>
          <a:xfrm>
            <a:off x="211757" y="750770"/>
            <a:ext cx="11762070" cy="5958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 Expression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381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endParaRPr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381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endParaRPr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381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endParaRPr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381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endParaRPr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 circuit code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short-circuit(jumping) code, the Boolean operators &amp;&amp;,||,! translate Jumps. In this translation, the Boolean expression is true if the control reaches label L2. 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False, control goes to L1.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7" name="Google Shape;8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349" y="1317463"/>
            <a:ext cx="10734299" cy="373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350" y="1782233"/>
            <a:ext cx="1691775" cy="2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0350" y="2206636"/>
            <a:ext cx="11089713" cy="110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86252" y="3444139"/>
            <a:ext cx="7114726" cy="3633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1" name="Google Shape;91;p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25506" y="4769702"/>
            <a:ext cx="4750876" cy="19030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>
            <a:spLocks noGrp="1"/>
          </p:cNvSpPr>
          <p:nvPr>
            <p:ph type="title"/>
          </p:nvPr>
        </p:nvSpPr>
        <p:spPr>
          <a:xfrm>
            <a:off x="0" y="-2887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Palatino Linotype"/>
              <a:buNone/>
            </a:pPr>
            <a:r>
              <a:rPr lang="en-US" dirty="0"/>
              <a:t>Flow of Control Statements</a:t>
            </a:r>
            <a:endParaRPr dirty="0"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1"/>
          </p:nvPr>
        </p:nvSpPr>
        <p:spPr>
          <a:xfrm>
            <a:off x="211757" y="750770"/>
            <a:ext cx="11762070" cy="5958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45720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SzPts val="3000"/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Translation of BE into 3 address code - Statements generated by the Grammar. B - Boolean Exp and S - Statement.</a:t>
            </a:r>
            <a:endParaRPr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902" y="1864577"/>
            <a:ext cx="4266354" cy="11683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9" name="Google Shape;9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8661" y="1864577"/>
            <a:ext cx="6912638" cy="46036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0" name="Google Shape;100;p5"/>
          <p:cNvSpPr/>
          <p:nvPr/>
        </p:nvSpPr>
        <p:spPr>
          <a:xfrm>
            <a:off x="144285" y="3205832"/>
            <a:ext cx="4831975" cy="355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translation of if(B) S1 consists of </a:t>
            </a:r>
            <a:r>
              <a:rPr lang="en-US" sz="25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B.code</a:t>
            </a:r>
            <a:r>
              <a:rPr lang="en-US" sz="2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followed by S1.code. Within </a:t>
            </a:r>
            <a:r>
              <a:rPr lang="en-US" sz="25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B.code</a:t>
            </a:r>
            <a:r>
              <a:rPr lang="en-US" sz="2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there is jumps based on the value B.</a:t>
            </a:r>
            <a:endParaRPr dirty="0"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B is True – control flows to the 1</a:t>
            </a:r>
            <a:r>
              <a:rPr lang="en-US" sz="2500" b="1" i="0" u="none" strike="noStrike" cap="none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US" sz="2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instruction of S1.code</a:t>
            </a:r>
            <a:endParaRPr dirty="0"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B is False – control flows to the instruction immediately following S1.code.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0" y="-3657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Palatino Linotype"/>
              <a:buNone/>
            </a:pPr>
            <a:r>
              <a:rPr lang="en-US" sz="4000"/>
              <a:t>SDD for Flow-of-Control Statements</a:t>
            </a:r>
            <a:endParaRPr sz="4000"/>
          </a:p>
        </p:txBody>
      </p:sp>
      <p:pic>
        <p:nvPicPr>
          <p:cNvPr id="106" name="Google Shape;10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1256" y="523875"/>
            <a:ext cx="6467475" cy="6334125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>
            <a:spLocks noGrp="1"/>
          </p:cNvSpPr>
          <p:nvPr>
            <p:ph type="title"/>
          </p:nvPr>
        </p:nvSpPr>
        <p:spPr>
          <a:xfrm>
            <a:off x="-1" y="-365756"/>
            <a:ext cx="1207970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900"/>
              <a:buFont typeface="Palatino Linotype"/>
              <a:buNone/>
            </a:pPr>
            <a:r>
              <a:rPr lang="en-US" sz="3900"/>
              <a:t>SDD - Control flow translation of Boolean Expression</a:t>
            </a:r>
            <a:endParaRPr sz="3900"/>
          </a:p>
        </p:txBody>
      </p:sp>
      <p:pic>
        <p:nvPicPr>
          <p:cNvPr id="112" name="Google Shape;11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9453" y="587140"/>
            <a:ext cx="6655757" cy="6055276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 txBox="1">
            <a:spLocks noGrp="1"/>
          </p:cNvSpPr>
          <p:nvPr>
            <p:ph type="title"/>
          </p:nvPr>
        </p:nvSpPr>
        <p:spPr>
          <a:xfrm>
            <a:off x="-1" y="-365756"/>
            <a:ext cx="1207970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900"/>
              <a:buFont typeface="Palatino Linotype"/>
              <a:buNone/>
            </a:pPr>
            <a:r>
              <a:rPr lang="en-US" sz="3900"/>
              <a:t>Translation of simple if statement</a:t>
            </a:r>
            <a:endParaRPr sz="3900"/>
          </a:p>
        </p:txBody>
      </p:sp>
      <p:pic>
        <p:nvPicPr>
          <p:cNvPr id="118" name="Google Shape;11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2089" y="709864"/>
            <a:ext cx="6324600" cy="34925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9" name="Google Shape;11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0985" y="1546458"/>
            <a:ext cx="4348712" cy="3381676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>
            <a:spLocks noGrp="1"/>
          </p:cNvSpPr>
          <p:nvPr>
            <p:ph type="title"/>
          </p:nvPr>
        </p:nvSpPr>
        <p:spPr>
          <a:xfrm>
            <a:off x="-1" y="-365756"/>
            <a:ext cx="1207970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900"/>
              <a:buFont typeface="Palatino Linotype"/>
              <a:buNone/>
            </a:pPr>
            <a:r>
              <a:rPr lang="en-US" sz="3900"/>
              <a:t>Translation of while statement</a:t>
            </a:r>
            <a:endParaRPr sz="3900"/>
          </a:p>
        </p:txBody>
      </p:sp>
      <p:pic>
        <p:nvPicPr>
          <p:cNvPr id="125" name="Google Shape;125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57160" y="664482"/>
            <a:ext cx="8765382" cy="5369622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Palatino Linotype"/>
              <a:buNone/>
            </a:pPr>
            <a:r>
              <a:rPr lang="en-US"/>
              <a:t>Case Statements</a:t>
            </a:r>
            <a:endParaRPr/>
          </a:p>
        </p:txBody>
      </p:sp>
      <p:pic>
        <p:nvPicPr>
          <p:cNvPr id="131" name="Google Shape;131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33437" y="1824997"/>
            <a:ext cx="4837608" cy="4397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>
            <a:spLocks noGrp="1"/>
          </p:cNvSpPr>
          <p:nvPr>
            <p:ph type="title"/>
          </p:nvPr>
        </p:nvSpPr>
        <p:spPr>
          <a:xfrm>
            <a:off x="702469" y="1079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Palatino Linotype"/>
              <a:buNone/>
            </a:pPr>
            <a:r>
              <a:rPr lang="en-US"/>
              <a:t>Translation of a case statement</a:t>
            </a:r>
            <a:endParaRPr/>
          </a:p>
        </p:txBody>
      </p:sp>
      <p:pic>
        <p:nvPicPr>
          <p:cNvPr id="137" name="Google Shape;137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21520" y="1433513"/>
            <a:ext cx="9801250" cy="524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 txBox="1">
            <a:spLocks noGrp="1"/>
          </p:cNvSpPr>
          <p:nvPr>
            <p:ph type="title"/>
          </p:nvPr>
        </p:nvSpPr>
        <p:spPr>
          <a:xfrm>
            <a:off x="158578" y="128574"/>
            <a:ext cx="10515600" cy="759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Palatino Linotype"/>
              <a:buNone/>
            </a:pPr>
            <a:r>
              <a:rPr lang="en-US" dirty="0"/>
              <a:t>Backpatching</a:t>
            </a:r>
            <a:endParaRPr dirty="0"/>
          </a:p>
        </p:txBody>
      </p:sp>
      <p:sp>
        <p:nvSpPr>
          <p:cNvPr id="143" name="Google Shape;143;p12"/>
          <p:cNvSpPr txBox="1">
            <a:spLocks noGrp="1"/>
          </p:cNvSpPr>
          <p:nvPr>
            <p:ph type="body" idx="1"/>
          </p:nvPr>
        </p:nvSpPr>
        <p:spPr>
          <a:xfrm>
            <a:off x="331572" y="88791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dirty="0"/>
              <a:t>Boolean expressions insert symbolic labels for jumps.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dirty="0"/>
              <a:t>Problem generated by short-circuit code in generation of 3ac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●"/>
            </a:pPr>
            <a:r>
              <a:rPr lang="en-US" dirty="0">
                <a:solidFill>
                  <a:srgbClr val="FF0000"/>
                </a:solidFill>
              </a:rPr>
              <a:t>Leaves the label unspecified and fill it later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●"/>
            </a:pPr>
            <a:r>
              <a:rPr lang="en-US" dirty="0">
                <a:solidFill>
                  <a:srgbClr val="FF0000"/>
                </a:solidFill>
              </a:rPr>
              <a:t>Ex: a&lt;b or c&gt;d and e&lt;f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●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x &lt; 100 || x &gt; 200 &amp;&amp; x ! = y</a:t>
            </a:r>
            <a:endParaRPr dirty="0"/>
          </a:p>
          <a:p>
            <a:pPr marL="228600" lvl="0" indent="-50800" algn="just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endParaRPr dirty="0">
              <a:solidFill>
                <a:srgbClr val="FF0000"/>
              </a:solidFill>
            </a:endParaRPr>
          </a:p>
        </p:txBody>
      </p:sp>
      <p:pic>
        <p:nvPicPr>
          <p:cNvPr id="144" name="Google Shape;14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84454" y="1789399"/>
            <a:ext cx="4945546" cy="4940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1919850" y="-1"/>
            <a:ext cx="8229600" cy="8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400"/>
              <a:buFont typeface="Palatino Linotype"/>
              <a:buNone/>
            </a:pPr>
            <a:r>
              <a:rPr lang="en-US" sz="3400" b="1"/>
              <a:t>Backpatching for Boolean Expressions</a:t>
            </a:r>
            <a:endParaRPr/>
          </a:p>
        </p:txBody>
      </p:sp>
      <p:pic>
        <p:nvPicPr>
          <p:cNvPr id="150" name="Google Shape;15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4800" y="775416"/>
            <a:ext cx="8359704" cy="5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/>
          <p:cNvPicPr preferRelativeResize="0"/>
          <p:nvPr/>
        </p:nvPicPr>
        <p:blipFill rotWithShape="1"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Marker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854801" y="1431957"/>
            <a:ext cx="8982076" cy="5080054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18f606419_0_17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818f606419_0_176"/>
          <p:cNvSpPr txBox="1">
            <a:spLocks noGrp="1"/>
          </p:cNvSpPr>
          <p:nvPr>
            <p:ph type="title"/>
          </p:nvPr>
        </p:nvSpPr>
        <p:spPr>
          <a:xfrm>
            <a:off x="630936" y="639520"/>
            <a:ext cx="3429000" cy="9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2</a:t>
            </a:r>
            <a:endParaRPr/>
          </a:p>
        </p:txBody>
      </p:sp>
      <p:sp>
        <p:nvSpPr>
          <p:cNvPr id="165" name="Google Shape;165;g3818f606419_0_176"/>
          <p:cNvSpPr txBox="1"/>
          <p:nvPr/>
        </p:nvSpPr>
        <p:spPr>
          <a:xfrm>
            <a:off x="233884" y="1723643"/>
            <a:ext cx="3848700" cy="3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Intermediate code for the following expression using backpatching</a:t>
            </a:r>
            <a:endParaRPr/>
          </a:p>
          <a:p>
            <a:pPr marL="0" marR="0" lvl="0" indent="0" algn="just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x &lt; 100 || x &gt; 200 &amp;&amp; x ! = y</a:t>
            </a:r>
            <a:endParaRPr sz="2200" b="1" i="0" u="none" strike="noStrike" cap="non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g3818f606419_0_17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082475" y="1114575"/>
            <a:ext cx="7870500" cy="40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18f606419_0_18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Palatino Linotype"/>
              <a:buNone/>
            </a:pPr>
            <a:r>
              <a:rPr lang="en-US"/>
              <a:t>Functions in backpatching</a:t>
            </a:r>
            <a:endParaRPr/>
          </a:p>
        </p:txBody>
      </p:sp>
      <p:sp>
        <p:nvSpPr>
          <p:cNvPr id="172" name="Google Shape;172;g3818f606419_0_18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Char char="●"/>
            </a:pPr>
            <a:r>
              <a:rPr lang="en-US" dirty="0" err="1">
                <a:solidFill>
                  <a:srgbClr val="000099"/>
                </a:solidFill>
              </a:rPr>
              <a:t>Makelist</a:t>
            </a:r>
            <a:r>
              <a:rPr lang="en-US" dirty="0">
                <a:solidFill>
                  <a:srgbClr val="000099"/>
                </a:solidFill>
              </a:rPr>
              <a:t>(</a:t>
            </a:r>
            <a:r>
              <a:rPr lang="en-US" dirty="0" err="1">
                <a:solidFill>
                  <a:srgbClr val="000099"/>
                </a:solidFill>
              </a:rPr>
              <a:t>i</a:t>
            </a:r>
            <a:r>
              <a:rPr lang="en-US" dirty="0">
                <a:solidFill>
                  <a:srgbClr val="000099"/>
                </a:solidFill>
              </a:rPr>
              <a:t>) </a:t>
            </a:r>
            <a:r>
              <a:rPr lang="en-US" dirty="0"/>
              <a:t>– creates a new list with index, </a:t>
            </a:r>
            <a:r>
              <a:rPr lang="en-US" dirty="0" err="1"/>
              <a:t>i</a:t>
            </a:r>
            <a:endParaRPr dirty="0"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99"/>
              </a:buClr>
              <a:buSzPts val="2800"/>
              <a:buChar char="●"/>
            </a:pPr>
            <a:r>
              <a:rPr lang="en-US" dirty="0">
                <a:solidFill>
                  <a:srgbClr val="000099"/>
                </a:solidFill>
              </a:rPr>
              <a:t>Merge(L1, L2) </a:t>
            </a:r>
            <a:r>
              <a:rPr lang="en-US" dirty="0"/>
              <a:t>– concatenate List, L1 with list, L2</a:t>
            </a:r>
            <a:endParaRPr dirty="0"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99"/>
              </a:buClr>
              <a:buSzPts val="2800"/>
              <a:buChar char="●"/>
            </a:pPr>
            <a:r>
              <a:rPr lang="en-US" dirty="0">
                <a:solidFill>
                  <a:srgbClr val="000099"/>
                </a:solidFill>
              </a:rPr>
              <a:t>Backpatch(L, label) </a:t>
            </a:r>
            <a:r>
              <a:rPr lang="en-US" dirty="0"/>
              <a:t>– fills all 3ac in list L with the target Label</a:t>
            </a:r>
            <a:endParaRPr dirty="0"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1600"/>
              </a:spcAft>
              <a:buClr>
                <a:srgbClr val="000099"/>
              </a:buClr>
              <a:buSzPts val="2800"/>
              <a:buChar char="●"/>
            </a:pPr>
            <a:r>
              <a:rPr lang="en-US" dirty="0" err="1">
                <a:solidFill>
                  <a:srgbClr val="000099"/>
                </a:solidFill>
              </a:rPr>
              <a:t>Nextquad</a:t>
            </a:r>
            <a:r>
              <a:rPr lang="en-US" dirty="0"/>
              <a:t> – gives index of next quadruple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440</Words>
  <Application>Microsoft Macintosh PowerPoint</Application>
  <PresentationFormat>Widescreen</PresentationFormat>
  <Paragraphs>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Palatino Linotype</vt:lpstr>
      <vt:lpstr>Arial</vt:lpstr>
      <vt:lpstr>Calibri</vt:lpstr>
      <vt:lpstr>Times New Roman</vt:lpstr>
      <vt:lpstr>Simple Light</vt:lpstr>
      <vt:lpstr>PowerPoint Presentation</vt:lpstr>
      <vt:lpstr>Contents </vt:lpstr>
      <vt:lpstr>Control Flow</vt:lpstr>
      <vt:lpstr>Control Flow</vt:lpstr>
      <vt:lpstr>Flow of Control Statements</vt:lpstr>
      <vt:lpstr>SDD for Flow-of-Control Statements</vt:lpstr>
      <vt:lpstr>SDD - Control flow translation of Boolean Expression</vt:lpstr>
      <vt:lpstr>Translation of simple if statement</vt:lpstr>
      <vt:lpstr>Translation of while statement</vt:lpstr>
      <vt:lpstr>Case Statements</vt:lpstr>
      <vt:lpstr>Translation of a case statement</vt:lpstr>
      <vt:lpstr>Backpatching</vt:lpstr>
      <vt:lpstr>Backpatching for Boolean Expressions</vt:lpstr>
      <vt:lpstr>Example 2</vt:lpstr>
      <vt:lpstr>Functions in backpatching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Bhuvaneswari M</cp:lastModifiedBy>
  <cp:revision>2</cp:revision>
  <dcterms:created xsi:type="dcterms:W3CDTF">2020-07-30T09:53:05Z</dcterms:created>
  <dcterms:modified xsi:type="dcterms:W3CDTF">2026-09-08T01:58:44Z</dcterms:modified>
</cp:coreProperties>
</file>