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6" r:id="rId2"/>
    <p:sldId id="258" r:id="rId3"/>
    <p:sldId id="301" r:id="rId4"/>
    <p:sldId id="302" r:id="rId5"/>
    <p:sldId id="260" r:id="rId6"/>
    <p:sldId id="261" r:id="rId7"/>
    <p:sldId id="262" r:id="rId8"/>
    <p:sldId id="263" r:id="rId9"/>
    <p:sldId id="264" r:id="rId10"/>
    <p:sldId id="265" r:id="rId11"/>
    <p:sldId id="266" r:id="rId12"/>
    <p:sldId id="267" r:id="rId13"/>
    <p:sldId id="268" r:id="rId14"/>
    <p:sldId id="269" r:id="rId15"/>
    <p:sldId id="270" r:id="rId16"/>
    <p:sldId id="271" r:id="rId17"/>
    <p:sldId id="306" r:id="rId18"/>
    <p:sldId id="272" r:id="rId19"/>
    <p:sldId id="305" r:id="rId20"/>
    <p:sldId id="274" r:id="rId21"/>
    <p:sldId id="275" r:id="rId22"/>
    <p:sldId id="276" r:id="rId23"/>
    <p:sldId id="277" r:id="rId24"/>
    <p:sldId id="307" r:id="rId25"/>
    <p:sldId id="278" r:id="rId26"/>
    <p:sldId id="279" r:id="rId27"/>
    <p:sldId id="280" r:id="rId28"/>
    <p:sldId id="281" r:id="rId29"/>
    <p:sldId id="282" r:id="rId30"/>
    <p:sldId id="283" r:id="rId31"/>
    <p:sldId id="284" r:id="rId32"/>
    <p:sldId id="285" r:id="rId33"/>
    <p:sldId id="286" r:id="rId34"/>
    <p:sldId id="314" r:id="rId35"/>
    <p:sldId id="315" r:id="rId36"/>
    <p:sldId id="316" r:id="rId37"/>
    <p:sldId id="317" r:id="rId38"/>
    <p:sldId id="318" r:id="rId39"/>
    <p:sldId id="319" r:id="rId40"/>
    <p:sldId id="287" r:id="rId41"/>
    <p:sldId id="288" r:id="rId42"/>
    <p:sldId id="308" r:id="rId43"/>
    <p:sldId id="289" r:id="rId44"/>
    <p:sldId id="309" r:id="rId45"/>
    <p:sldId id="290" r:id="rId46"/>
    <p:sldId id="291" r:id="rId47"/>
    <p:sldId id="292" r:id="rId48"/>
    <p:sldId id="293" r:id="rId49"/>
    <p:sldId id="294" r:id="rId50"/>
    <p:sldId id="296" r:id="rId51"/>
    <p:sldId id="297" r:id="rId52"/>
    <p:sldId id="298" r:id="rId53"/>
    <p:sldId id="311" r:id="rId54"/>
    <p:sldId id="312" r:id="rId55"/>
    <p:sldId id="299" r:id="rId56"/>
    <p:sldId id="300" r:id="rId57"/>
    <p:sldId id="313" r:id="rId5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16765" autoAdjust="0"/>
    <p:restoredTop sz="94660"/>
  </p:normalViewPr>
  <p:slideViewPr>
    <p:cSldViewPr>
      <p:cViewPr varScale="1">
        <p:scale>
          <a:sx n="70" d="100"/>
          <a:sy n="70" d="100"/>
        </p:scale>
        <p:origin x="1520" y="52"/>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C7995C9-F5C7-41C1-AD2D-4F778C5D71C2}" type="datetimeFigureOut">
              <a:rPr lang="en-IN" smtClean="0"/>
              <a:t>18-08-2026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4CC58B-57C3-48E5-9057-0F5073FCDCB3}" type="slidenum">
              <a:rPr lang="en-IN" smtClean="0"/>
              <a:t>‹#›</a:t>
            </a:fld>
            <a:endParaRPr lang="en-IN"/>
          </a:p>
        </p:txBody>
      </p:sp>
    </p:spTree>
    <p:extLst>
      <p:ext uri="{BB962C8B-B14F-4D97-AF65-F5344CB8AC3E}">
        <p14:creationId xmlns:p14="http://schemas.microsoft.com/office/powerpoint/2010/main" val="792448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2EF7F48B-4CE2-4A28-ACF5-FC39260B9E2C}" type="slidenum">
              <a:rPr lang="en-US" altLang="en-US" smtClean="0">
                <a:latin typeface="Times New Roman" pitchFamily="18" charset="0"/>
              </a:rPr>
              <a:pPr/>
              <a:t>2</a:t>
            </a:fld>
            <a:endParaRPr lang="en-US" altLang="en-US">
              <a:latin typeface="Times New Roman" pitchFamily="18"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4184201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12DB3626-9546-46A9-97F4-4831CFEC02EE}" type="slidenum">
              <a:rPr lang="en-US" altLang="en-US" smtClean="0">
                <a:latin typeface="Times New Roman" pitchFamily="18" charset="0"/>
              </a:rPr>
              <a:pPr/>
              <a:t>5</a:t>
            </a:fld>
            <a:endParaRPr lang="en-US" altLang="en-US">
              <a:latin typeface="Times New Roman" pitchFamily="18"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645036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975977E1-C2A3-4CB2-BFCF-9C7FAE9221EB}" type="slidenum">
              <a:rPr lang="en-US" altLang="en-US" smtClean="0">
                <a:latin typeface="Times New Roman" pitchFamily="18" charset="0"/>
              </a:rPr>
              <a:pPr/>
              <a:t>6</a:t>
            </a:fld>
            <a:endParaRPr lang="en-US" altLang="en-US">
              <a:latin typeface="Times New Roman" pitchFamily="18"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8537394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87BCA722-88B0-4833-8DA6-36B8ABBEDEB9}" type="slidenum">
              <a:rPr lang="en-US" altLang="en-US" smtClean="0">
                <a:latin typeface="Times New Roman" pitchFamily="18" charset="0"/>
              </a:rPr>
              <a:pPr/>
              <a:t>7</a:t>
            </a:fld>
            <a:endParaRPr lang="en-US" altLang="en-US">
              <a:latin typeface="Times New Roman" pitchFamily="18"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13643521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FBAE5BCB-969B-4E38-A9BB-74073FEF425F}" type="slidenum">
              <a:rPr lang="en-US" altLang="en-US" smtClean="0">
                <a:latin typeface="Times New Roman" pitchFamily="18" charset="0"/>
              </a:rPr>
              <a:pPr/>
              <a:t>8</a:t>
            </a:fld>
            <a:endParaRPr lang="en-US" altLang="en-US">
              <a:latin typeface="Times New Roman" pitchFamily="18"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30178232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A7CD2874-EF82-4614-90F2-ED1854CEE344}" type="slidenum">
              <a:rPr lang="en-US" altLang="en-US" smtClean="0">
                <a:latin typeface="Times New Roman" pitchFamily="18" charset="0"/>
              </a:rPr>
              <a:pPr/>
              <a:t>9</a:t>
            </a:fld>
            <a:endParaRPr lang="en-US" altLang="en-US">
              <a:latin typeface="Times New Roman" pitchFamily="18" charset="0"/>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30093419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50081720-8D2D-4D8A-90A7-A65F4219D9B9}" type="slidenum">
              <a:rPr lang="en-US" altLang="en-US" smtClean="0">
                <a:latin typeface="Times New Roman" pitchFamily="18" charset="0"/>
              </a:rPr>
              <a:pPr/>
              <a:t>10</a:t>
            </a:fld>
            <a:endParaRPr lang="en-US" altLang="en-US">
              <a:latin typeface="Times New Roman" pitchFamily="18"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1527708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7BD80780-0A9B-4B2C-9417-3CBDF18F2483}" type="slidenum">
              <a:rPr lang="en-US" altLang="en-US" smtClean="0">
                <a:latin typeface="Times New Roman" pitchFamily="18" charset="0"/>
              </a:rPr>
              <a:pPr/>
              <a:t>11</a:t>
            </a:fld>
            <a:endParaRPr lang="en-US" altLang="en-US">
              <a:latin typeface="Times New Roman" pitchFamily="18"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30749808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C0708381-8202-4EDF-AB50-FCCD3B7A65E0}" type="slidenum">
              <a:rPr lang="en-US" altLang="en-US" smtClean="0">
                <a:latin typeface="Times New Roman" pitchFamily="18" charset="0"/>
              </a:rPr>
              <a:pPr/>
              <a:t>12</a:t>
            </a:fld>
            <a:endParaRPr lang="en-US" altLang="en-US">
              <a:latin typeface="Times New Roman" pitchFamily="18"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12661350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EE588A20-B885-4560-AA43-5AA2A0295AC5}" type="slidenum">
              <a:rPr lang="en-US" altLang="en-US" smtClean="0">
                <a:latin typeface="Times New Roman" pitchFamily="18" charset="0"/>
              </a:rPr>
              <a:pPr/>
              <a:t>13</a:t>
            </a:fld>
            <a:endParaRPr lang="en-US" altLang="en-US">
              <a:latin typeface="Times New Roman" pitchFamily="18"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16001688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8E3F9B36-7D5F-496E-9CB9-714BF90C801C}" type="slidenum">
              <a:rPr lang="en-US" altLang="en-US" smtClean="0">
                <a:latin typeface="Times New Roman" pitchFamily="18" charset="0"/>
              </a:rPr>
              <a:pPr/>
              <a:t>14</a:t>
            </a:fld>
            <a:endParaRPr lang="en-US" altLang="en-US">
              <a:latin typeface="Times New Roman" pitchFamily="18"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28125360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37FCF5E7-87EA-4445-BB91-D384099DA167}" type="slidenum">
              <a:rPr lang="en-US" altLang="en-US" smtClean="0">
                <a:latin typeface="Times New Roman" pitchFamily="18" charset="0"/>
              </a:rPr>
              <a:pPr/>
              <a:t>15</a:t>
            </a:fld>
            <a:endParaRPr lang="en-US" altLang="en-US">
              <a:latin typeface="Times New Roman"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5756965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03B7A6CC-CCA5-42E6-B0F1-33E530CFD904}" type="slidenum">
              <a:rPr lang="en-US" altLang="en-US" smtClean="0">
                <a:latin typeface="Times New Roman" pitchFamily="18" charset="0"/>
              </a:rPr>
              <a:pPr/>
              <a:t>16</a:t>
            </a:fld>
            <a:endParaRPr lang="en-US" altLang="en-US">
              <a:latin typeface="Times New Roman" pitchFamily="18"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12883624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55F794AB-0012-46D7-B9AA-CA3C4E35EC11}" type="slidenum">
              <a:rPr lang="en-US" altLang="en-US" smtClean="0">
                <a:latin typeface="Times New Roman" pitchFamily="18" charset="0"/>
              </a:rPr>
              <a:pPr/>
              <a:t>18</a:t>
            </a:fld>
            <a:endParaRPr lang="en-US" altLang="en-US">
              <a:latin typeface="Times New Roman"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5082446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0790A5BB-1373-405F-8B7F-8CDC28BFCD2C}" type="slidenum">
              <a:rPr lang="en-US" altLang="en-US" smtClean="0">
                <a:latin typeface="Times New Roman" pitchFamily="18" charset="0"/>
              </a:rPr>
              <a:pPr/>
              <a:t>19</a:t>
            </a:fld>
            <a:endParaRPr lang="en-US" altLang="en-US">
              <a:latin typeface="Times New Roman" pitchFamily="18"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15327401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32E0E9C4-54DA-4CA7-B28D-AA0CF3D2B03E}" type="slidenum">
              <a:rPr lang="en-US" altLang="en-US" smtClean="0">
                <a:latin typeface="Times New Roman" pitchFamily="18" charset="0"/>
              </a:rPr>
              <a:pPr/>
              <a:t>20</a:t>
            </a:fld>
            <a:endParaRPr lang="en-US" altLang="en-US">
              <a:latin typeface="Times New Roman" pitchFamily="18"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23048030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289BAB8A-C062-40BD-8281-791CD9C27B69}" type="slidenum">
              <a:rPr lang="en-US" altLang="en-US" smtClean="0">
                <a:latin typeface="Times New Roman" pitchFamily="18" charset="0"/>
              </a:rPr>
              <a:pPr/>
              <a:t>21</a:t>
            </a:fld>
            <a:endParaRPr lang="en-US" altLang="en-US">
              <a:latin typeface="Times New Roman" pitchFamily="18"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39489792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70D13099-5D07-46BC-BB67-965CF6F1F87E}" type="slidenum">
              <a:rPr lang="en-US" altLang="en-US" smtClean="0">
                <a:latin typeface="Times New Roman" pitchFamily="18" charset="0"/>
              </a:rPr>
              <a:pPr/>
              <a:t>22</a:t>
            </a:fld>
            <a:endParaRPr lang="en-US" altLang="en-US">
              <a:latin typeface="Times New Roman" pitchFamily="18"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28175865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72B88683-D2E2-41DE-BE8D-CF40C458BFCE}" type="slidenum">
              <a:rPr lang="en-US" altLang="en-US" smtClean="0">
                <a:latin typeface="Times New Roman" pitchFamily="18" charset="0"/>
              </a:rPr>
              <a:pPr/>
              <a:t>23</a:t>
            </a:fld>
            <a:endParaRPr lang="en-US" altLang="en-US">
              <a:latin typeface="Times New Roman" pitchFamily="18"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2866049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DB998710-FA3A-4E85-A721-6B35A5A9CF44}" type="slidenum">
              <a:rPr lang="en-US" altLang="en-US" smtClean="0">
                <a:latin typeface="Times New Roman" pitchFamily="18" charset="0"/>
              </a:rPr>
              <a:pPr/>
              <a:t>25</a:t>
            </a:fld>
            <a:endParaRPr lang="en-US" altLang="en-US">
              <a:latin typeface="Times New Roman"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41997602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B5C15ED5-1D3A-41A5-8D1B-6A5C8DFDD9B4}" type="slidenum">
              <a:rPr lang="en-US" altLang="en-US" smtClean="0">
                <a:latin typeface="Times New Roman" pitchFamily="18" charset="0"/>
              </a:rPr>
              <a:pPr/>
              <a:t>26</a:t>
            </a:fld>
            <a:endParaRPr lang="en-US" altLang="en-US">
              <a:latin typeface="Times New Roman"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36785539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AE66DE1B-17EF-4D40-A885-66CF18B6E61D}" type="slidenum">
              <a:rPr lang="en-US" altLang="en-US" smtClean="0">
                <a:latin typeface="Times New Roman" pitchFamily="18" charset="0"/>
              </a:rPr>
              <a:pPr/>
              <a:t>27</a:t>
            </a:fld>
            <a:endParaRPr lang="en-US" altLang="en-US">
              <a:latin typeface="Times New Roman" pitchFamily="18"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1488019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5404CC94-1B25-416B-8C09-432E759BFE9A}" type="slidenum">
              <a:rPr lang="en-US" altLang="en-US" smtClean="0">
                <a:latin typeface="Times New Roman" pitchFamily="18" charset="0"/>
              </a:rPr>
              <a:pPr/>
              <a:t>28</a:t>
            </a:fld>
            <a:endParaRPr lang="en-US" altLang="en-US">
              <a:latin typeface="Times New Roman" pitchFamily="18"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29439098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8B7DDD46-1AFA-4721-99D7-1AA8736F743E}" type="slidenum">
              <a:rPr lang="en-US" altLang="en-US" smtClean="0">
                <a:latin typeface="Times New Roman" pitchFamily="18" charset="0"/>
              </a:rPr>
              <a:pPr/>
              <a:t>29</a:t>
            </a:fld>
            <a:endParaRPr lang="en-US" altLang="en-US">
              <a:latin typeface="Times New Roman" pitchFamily="18"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33976281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458AF496-E524-4381-AE69-3D42199DCF8F}" type="slidenum">
              <a:rPr lang="en-US" altLang="en-US" smtClean="0">
                <a:latin typeface="Times New Roman" pitchFamily="18" charset="0"/>
              </a:rPr>
              <a:pPr/>
              <a:t>30</a:t>
            </a:fld>
            <a:endParaRPr lang="en-US" altLang="en-US">
              <a:latin typeface="Times New Roman" pitchFamily="18"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19724771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6EDEDE62-1526-4D72-9A0C-49140F7D1D0F}" type="slidenum">
              <a:rPr lang="en-US" altLang="en-US" smtClean="0">
                <a:latin typeface="Times New Roman" pitchFamily="18" charset="0"/>
              </a:rPr>
              <a:pPr/>
              <a:t>31</a:t>
            </a:fld>
            <a:endParaRPr lang="en-US" altLang="en-US">
              <a:latin typeface="Times New Roman" pitchFamily="18"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30084540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81B90148-CCE4-4E2A-9EAD-A8264241E7D2}" type="slidenum">
              <a:rPr lang="en-US" altLang="en-US" smtClean="0">
                <a:latin typeface="Times New Roman" pitchFamily="18" charset="0"/>
              </a:rPr>
              <a:pPr/>
              <a:t>32</a:t>
            </a:fld>
            <a:endParaRPr lang="en-US" altLang="en-US">
              <a:latin typeface="Times New Roman" pitchFamily="18"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24906178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77C8143C-D61C-48D5-99CF-E4CFF0DC7FFC}" type="slidenum">
              <a:rPr lang="en-US" altLang="en-US" smtClean="0">
                <a:latin typeface="Times New Roman" pitchFamily="18" charset="0"/>
              </a:rPr>
              <a:pPr/>
              <a:t>33</a:t>
            </a:fld>
            <a:endParaRPr lang="en-US" altLang="en-US">
              <a:latin typeface="Times New Roman" pitchFamily="18"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24446664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D591A857-1944-4706-8BC3-2D47C589DC19}" type="slidenum">
              <a:rPr lang="en-US" altLang="en-US" smtClean="0">
                <a:latin typeface="Times New Roman" pitchFamily="18" charset="0"/>
              </a:rPr>
              <a:pPr/>
              <a:t>40</a:t>
            </a:fld>
            <a:endParaRPr lang="en-US" altLang="en-US">
              <a:latin typeface="Times New Roman" pitchFamily="18"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29282653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A5A018E5-1739-4103-878D-E9436D48CBA6}" type="slidenum">
              <a:rPr lang="en-US" altLang="en-US" smtClean="0">
                <a:latin typeface="Times New Roman" pitchFamily="18" charset="0"/>
              </a:rPr>
              <a:pPr/>
              <a:t>41</a:t>
            </a:fld>
            <a:endParaRPr lang="en-US" altLang="en-US">
              <a:latin typeface="Times New Roman" pitchFamily="18"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29189721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A5A018E5-1739-4103-878D-E9436D48CBA6}" type="slidenum">
              <a:rPr lang="en-US" altLang="en-US" smtClean="0">
                <a:latin typeface="Times New Roman" pitchFamily="18" charset="0"/>
              </a:rPr>
              <a:pPr/>
              <a:t>42</a:t>
            </a:fld>
            <a:endParaRPr lang="en-US" altLang="en-US">
              <a:latin typeface="Times New Roman" pitchFamily="18"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15574145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FE649BD8-4E4C-48AC-9D5E-1C14BDF3CF65}" type="slidenum">
              <a:rPr lang="en-US" altLang="en-US" smtClean="0">
                <a:latin typeface="Times New Roman" pitchFamily="18" charset="0"/>
              </a:rPr>
              <a:pPr/>
              <a:t>43</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32983786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FE649BD8-4E4C-48AC-9D5E-1C14BDF3CF65}" type="slidenum">
              <a:rPr lang="en-US" altLang="en-US" smtClean="0">
                <a:latin typeface="Times New Roman" pitchFamily="18" charset="0"/>
              </a:rPr>
              <a:pPr/>
              <a:t>44</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34459213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C1C0F15B-0F89-4FD8-AABB-9F25190B3ECA}" type="slidenum">
              <a:rPr lang="en-US" altLang="en-US" smtClean="0">
                <a:latin typeface="Times New Roman" pitchFamily="18" charset="0"/>
              </a:rPr>
              <a:pPr/>
              <a:t>45</a:t>
            </a:fld>
            <a:endParaRPr lang="en-US" altLang="en-US">
              <a:latin typeface="Times New Roman" pitchFamily="18"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30474487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BCD2E642-5995-4E40-8A4B-10FF6C8A8712}" type="slidenum">
              <a:rPr lang="en-US" altLang="en-US" smtClean="0">
                <a:latin typeface="Times New Roman" pitchFamily="18" charset="0"/>
              </a:rPr>
              <a:pPr/>
              <a:t>46</a:t>
            </a:fld>
            <a:endParaRPr lang="en-US" altLang="en-US">
              <a:latin typeface="Times New Roman" pitchFamily="18" charset="0"/>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37272152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B2130D82-1B38-4925-88BA-40BE74E711AC}" type="slidenum">
              <a:rPr lang="en-US" altLang="en-US" smtClean="0">
                <a:latin typeface="Times New Roman" pitchFamily="18" charset="0"/>
              </a:rPr>
              <a:pPr/>
              <a:t>47</a:t>
            </a:fld>
            <a:endParaRPr lang="en-US" altLang="en-US">
              <a:latin typeface="Times New Roman" pitchFamily="18" charset="0"/>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22553696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0C3BC856-464A-470E-BC1F-277463058550}" type="slidenum">
              <a:rPr lang="en-US" altLang="en-US" smtClean="0">
                <a:latin typeface="Times New Roman" pitchFamily="18" charset="0"/>
              </a:rPr>
              <a:pPr/>
              <a:t>48</a:t>
            </a:fld>
            <a:endParaRPr lang="en-US" altLang="en-US">
              <a:latin typeface="Times New Roman" pitchFamily="18"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34517791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E236DF59-7D45-4EA7-9730-74439C07C150}" type="slidenum">
              <a:rPr lang="en-US" altLang="en-US" smtClean="0">
                <a:latin typeface="Times New Roman" pitchFamily="18" charset="0"/>
              </a:rPr>
              <a:pPr/>
              <a:t>49</a:t>
            </a:fld>
            <a:endParaRPr lang="en-US" altLang="en-US">
              <a:latin typeface="Times New Roman" pitchFamily="18" charset="0"/>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37548777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8465BB72-466C-4D03-AF10-75DD343EDC55}" type="slidenum">
              <a:rPr lang="en-US" altLang="en-US" smtClean="0">
                <a:latin typeface="Times New Roman" pitchFamily="18" charset="0"/>
              </a:rPr>
              <a:pPr/>
              <a:t>50</a:t>
            </a:fld>
            <a:endParaRPr lang="en-US" altLang="en-US">
              <a:latin typeface="Times New Roman" pitchFamily="18"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15382348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A35BCA3D-E308-41D5-874E-37DB8845EC00}" type="slidenum">
              <a:rPr lang="en-US" altLang="en-US" smtClean="0">
                <a:latin typeface="Times New Roman" pitchFamily="18" charset="0"/>
              </a:rPr>
              <a:pPr/>
              <a:t>51</a:t>
            </a:fld>
            <a:endParaRPr lang="en-US" altLang="en-US">
              <a:latin typeface="Times New Roman" pitchFamily="18"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2440838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99ABED5C-BC93-4DFC-804B-2885E7D003EF}" type="slidenum">
              <a:rPr lang="en-US" altLang="en-US" smtClean="0">
                <a:latin typeface="Times New Roman" pitchFamily="18" charset="0"/>
              </a:rPr>
              <a:pPr/>
              <a:t>52</a:t>
            </a:fld>
            <a:endParaRPr lang="en-US" altLang="en-US">
              <a:latin typeface="Times New Roman" pitchFamily="18"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19785000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99ABED5C-BC93-4DFC-804B-2885E7D003EF}" type="slidenum">
              <a:rPr lang="en-US" altLang="en-US" smtClean="0">
                <a:latin typeface="Times New Roman" pitchFamily="18" charset="0"/>
              </a:rPr>
              <a:pPr/>
              <a:t>53</a:t>
            </a:fld>
            <a:endParaRPr lang="en-US" altLang="en-US">
              <a:latin typeface="Times New Roman" pitchFamily="18"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33358660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99ABED5C-BC93-4DFC-804B-2885E7D003EF}" type="slidenum">
              <a:rPr lang="en-US" altLang="en-US" smtClean="0">
                <a:latin typeface="Times New Roman" pitchFamily="18" charset="0"/>
              </a:rPr>
              <a:pPr/>
              <a:t>54</a:t>
            </a:fld>
            <a:endParaRPr lang="en-US" altLang="en-US">
              <a:latin typeface="Times New Roman" pitchFamily="18"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7675515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2A08EA2E-2338-48C3-93D8-5A4196EC52D1}" type="slidenum">
              <a:rPr lang="en-US" altLang="en-US" smtClean="0">
                <a:latin typeface="Times New Roman" pitchFamily="18" charset="0"/>
              </a:rPr>
              <a:pPr/>
              <a:t>55</a:t>
            </a:fld>
            <a:endParaRPr lang="en-US" altLang="en-US">
              <a:latin typeface="Times New Roman" pitchFamily="18" charset="0"/>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20901019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C379294C-C973-4B39-AE96-4D85415504A4}" type="slidenum">
              <a:rPr lang="en-US" altLang="en-US" smtClean="0">
                <a:latin typeface="Times New Roman" pitchFamily="18" charset="0"/>
              </a:rPr>
              <a:pPr/>
              <a:t>56</a:t>
            </a:fld>
            <a:endParaRPr lang="en-US" altLang="en-US">
              <a:latin typeface="Times New Roman" pitchFamily="18" charset="0"/>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7844998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09D94AB-AF24-4228-980F-E28A20F3649A}" type="datetimeFigureOut">
              <a:rPr lang="en-IN" smtClean="0"/>
              <a:t>18-08-2026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D87043-83C6-444A-BBEE-2AAF45E487A7}" type="slidenum">
              <a:rPr lang="en-IN" smtClean="0"/>
              <a:t>‹#›</a:t>
            </a:fld>
            <a:endParaRPr lang="en-IN"/>
          </a:p>
        </p:txBody>
      </p:sp>
    </p:spTree>
    <p:extLst>
      <p:ext uri="{BB962C8B-B14F-4D97-AF65-F5344CB8AC3E}">
        <p14:creationId xmlns:p14="http://schemas.microsoft.com/office/powerpoint/2010/main" val="3744327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09D94AB-AF24-4228-980F-E28A20F3649A}" type="datetimeFigureOut">
              <a:rPr lang="en-IN" smtClean="0"/>
              <a:t>18-08-2026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D87043-83C6-444A-BBEE-2AAF45E487A7}" type="slidenum">
              <a:rPr lang="en-IN" smtClean="0"/>
              <a:t>‹#›</a:t>
            </a:fld>
            <a:endParaRPr lang="en-IN"/>
          </a:p>
        </p:txBody>
      </p:sp>
    </p:spTree>
    <p:extLst>
      <p:ext uri="{BB962C8B-B14F-4D97-AF65-F5344CB8AC3E}">
        <p14:creationId xmlns:p14="http://schemas.microsoft.com/office/powerpoint/2010/main" val="2726100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9D94AB-AF24-4228-980F-E28A20F3649A}" type="datetimeFigureOut">
              <a:rPr lang="en-IN" smtClean="0"/>
              <a:t>18-08-2026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D87043-83C6-444A-BBEE-2AAF45E487A7}" type="slidenum">
              <a:rPr lang="en-IN" smtClean="0"/>
              <a:t>‹#›</a:t>
            </a:fld>
            <a:endParaRPr lang="en-IN"/>
          </a:p>
        </p:txBody>
      </p:sp>
    </p:spTree>
    <p:extLst>
      <p:ext uri="{BB962C8B-B14F-4D97-AF65-F5344CB8AC3E}">
        <p14:creationId xmlns:p14="http://schemas.microsoft.com/office/powerpoint/2010/main" val="1080246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909D94AB-AF24-4228-980F-E28A20F3649A}" type="datetimeFigureOut">
              <a:rPr lang="en-IN" smtClean="0"/>
              <a:t>18-08-2026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D87043-83C6-444A-BBEE-2AAF45E487A7}" type="slidenum">
              <a:rPr lang="en-IN" smtClean="0"/>
              <a:t>‹#›</a:t>
            </a:fld>
            <a:endParaRPr lang="en-IN"/>
          </a:p>
        </p:txBody>
      </p:sp>
    </p:spTree>
    <p:extLst>
      <p:ext uri="{BB962C8B-B14F-4D97-AF65-F5344CB8AC3E}">
        <p14:creationId xmlns:p14="http://schemas.microsoft.com/office/powerpoint/2010/main" val="1852653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09D94AB-AF24-4228-980F-E28A20F3649A}" type="datetimeFigureOut">
              <a:rPr lang="en-IN" smtClean="0"/>
              <a:t>18-08-2026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7D87043-83C6-444A-BBEE-2AAF45E487A7}" type="slidenum">
              <a:rPr lang="en-IN" smtClean="0"/>
              <a:t>‹#›</a:t>
            </a:fld>
            <a:endParaRPr lang="en-IN"/>
          </a:p>
        </p:txBody>
      </p:sp>
    </p:spTree>
    <p:extLst>
      <p:ext uri="{BB962C8B-B14F-4D97-AF65-F5344CB8AC3E}">
        <p14:creationId xmlns:p14="http://schemas.microsoft.com/office/powerpoint/2010/main" val="4232547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09D94AB-AF24-4228-980F-E28A20F3649A}" type="datetimeFigureOut">
              <a:rPr lang="en-IN" smtClean="0"/>
              <a:t>18-08-2026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7D87043-83C6-444A-BBEE-2AAF45E487A7}" type="slidenum">
              <a:rPr lang="en-IN" smtClean="0"/>
              <a:t>‹#›</a:t>
            </a:fld>
            <a:endParaRPr lang="en-IN"/>
          </a:p>
        </p:txBody>
      </p:sp>
    </p:spTree>
    <p:extLst>
      <p:ext uri="{BB962C8B-B14F-4D97-AF65-F5344CB8AC3E}">
        <p14:creationId xmlns:p14="http://schemas.microsoft.com/office/powerpoint/2010/main" val="1338940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9D94AB-AF24-4228-980F-E28A20F3649A}" type="datetimeFigureOut">
              <a:rPr lang="en-IN" smtClean="0"/>
              <a:t>18-08-2026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7D87043-83C6-444A-BBEE-2AAF45E487A7}" type="slidenum">
              <a:rPr lang="en-IN" smtClean="0"/>
              <a:t>‹#›</a:t>
            </a:fld>
            <a:endParaRPr lang="en-IN"/>
          </a:p>
        </p:txBody>
      </p:sp>
    </p:spTree>
    <p:extLst>
      <p:ext uri="{BB962C8B-B14F-4D97-AF65-F5344CB8AC3E}">
        <p14:creationId xmlns:p14="http://schemas.microsoft.com/office/powerpoint/2010/main" val="821289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9D94AB-AF24-4228-980F-E28A20F3649A}" type="datetimeFigureOut">
              <a:rPr lang="en-IN" smtClean="0"/>
              <a:t>18-08-2026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D87043-83C6-444A-BBEE-2AAF45E487A7}" type="slidenum">
              <a:rPr lang="en-IN" smtClean="0"/>
              <a:t>‹#›</a:t>
            </a:fld>
            <a:endParaRPr lang="en-IN"/>
          </a:p>
        </p:txBody>
      </p:sp>
    </p:spTree>
    <p:extLst>
      <p:ext uri="{BB962C8B-B14F-4D97-AF65-F5344CB8AC3E}">
        <p14:creationId xmlns:p14="http://schemas.microsoft.com/office/powerpoint/2010/main" val="70876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9D94AB-AF24-4228-980F-E28A20F3649A}" type="datetimeFigureOut">
              <a:rPr lang="en-IN" smtClean="0"/>
              <a:t>18-08-2026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D87043-83C6-444A-BBEE-2AAF45E487A7}" type="slidenum">
              <a:rPr lang="en-IN" smtClean="0"/>
              <a:t>‹#›</a:t>
            </a:fld>
            <a:endParaRPr lang="en-IN"/>
          </a:p>
        </p:txBody>
      </p:sp>
    </p:spTree>
    <p:extLst>
      <p:ext uri="{BB962C8B-B14F-4D97-AF65-F5344CB8AC3E}">
        <p14:creationId xmlns:p14="http://schemas.microsoft.com/office/powerpoint/2010/main" val="1795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09D94AB-AF24-4228-980F-E28A20F3649A}" type="datetimeFigureOut">
              <a:rPr lang="en-IN" smtClean="0"/>
              <a:t>18-08-2026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D87043-83C6-444A-BBEE-2AAF45E487A7}" type="slidenum">
              <a:rPr lang="en-IN" smtClean="0"/>
              <a:t>‹#›</a:t>
            </a:fld>
            <a:endParaRPr lang="en-IN"/>
          </a:p>
        </p:txBody>
      </p:sp>
    </p:spTree>
    <p:extLst>
      <p:ext uri="{BB962C8B-B14F-4D97-AF65-F5344CB8AC3E}">
        <p14:creationId xmlns:p14="http://schemas.microsoft.com/office/powerpoint/2010/main" val="3393297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09D94AB-AF24-4228-980F-E28A20F3649A}" type="datetimeFigureOut">
              <a:rPr lang="en-IN" smtClean="0"/>
              <a:t>18-08-2026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D87043-83C6-444A-BBEE-2AAF45E487A7}" type="slidenum">
              <a:rPr lang="en-IN" smtClean="0"/>
              <a:t>‹#›</a:t>
            </a:fld>
            <a:endParaRPr lang="en-IN"/>
          </a:p>
        </p:txBody>
      </p:sp>
    </p:spTree>
    <p:extLst>
      <p:ext uri="{BB962C8B-B14F-4D97-AF65-F5344CB8AC3E}">
        <p14:creationId xmlns:p14="http://schemas.microsoft.com/office/powerpoint/2010/main" val="138154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9D94AB-AF24-4228-980F-E28A20F3649A}" type="datetimeFigureOut">
              <a:rPr lang="en-IN" smtClean="0"/>
              <a:t>18-08-2026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D87043-83C6-444A-BBEE-2AAF45E487A7}" type="slidenum">
              <a:rPr lang="en-IN" smtClean="0"/>
              <a:t>‹#›</a:t>
            </a:fld>
            <a:endParaRPr lang="en-IN"/>
          </a:p>
        </p:txBody>
      </p:sp>
    </p:spTree>
    <p:extLst>
      <p:ext uri="{BB962C8B-B14F-4D97-AF65-F5344CB8AC3E}">
        <p14:creationId xmlns:p14="http://schemas.microsoft.com/office/powerpoint/2010/main" val="10265095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Module3_Deadlocks</a:t>
            </a:r>
          </a:p>
        </p:txBody>
      </p:sp>
      <p:sp>
        <p:nvSpPr>
          <p:cNvPr id="4" name="Subtitle 2"/>
          <p:cNvSpPr>
            <a:spLocks noGrp="1"/>
          </p:cNvSpPr>
          <p:nvPr>
            <p:ph type="subTitle" idx="1"/>
          </p:nvPr>
        </p:nvSpPr>
        <p:spPr>
          <a:xfrm>
            <a:off x="1371600" y="3886200"/>
            <a:ext cx="6400800" cy="1752600"/>
          </a:xfrm>
        </p:spPr>
        <p:txBody>
          <a:bodyPr>
            <a:normAutofit fontScale="92500" lnSpcReduction="10000"/>
          </a:bodyPr>
          <a:lstStyle/>
          <a:p>
            <a:pPr algn="just"/>
            <a:r>
              <a:rPr lang="en-US" altLang="en-US" dirty="0"/>
              <a:t>Reference: “OPERATING SYSTEM CONCEPTS”, ABRAHAM SILBERSCHATZ, PETER BAER GALVIN, GREG GAGNE , Wiley publications. </a:t>
            </a:r>
            <a:endParaRPr lang="en-IN" dirty="0"/>
          </a:p>
        </p:txBody>
      </p:sp>
    </p:spTree>
    <p:extLst>
      <p:ext uri="{BB962C8B-B14F-4D97-AF65-F5344CB8AC3E}">
        <p14:creationId xmlns:p14="http://schemas.microsoft.com/office/powerpoint/2010/main" val="1044004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806450" y="150813"/>
            <a:ext cx="7880350" cy="576262"/>
          </a:xfrm>
        </p:spPr>
        <p:txBody>
          <a:bodyPr>
            <a:normAutofit fontScale="90000"/>
          </a:bodyPr>
          <a:lstStyle/>
          <a:p>
            <a:pPr eaLnBrk="1" hangingPunct="1"/>
            <a:r>
              <a:rPr lang="en-US" altLang="en-US" dirty="0"/>
              <a:t>Deadlocks- Topics</a:t>
            </a:r>
          </a:p>
        </p:txBody>
      </p:sp>
      <p:sp>
        <p:nvSpPr>
          <p:cNvPr id="4099" name="Rectangle 3"/>
          <p:cNvSpPr>
            <a:spLocks noGrp="1" noChangeArrowheads="1"/>
          </p:cNvSpPr>
          <p:nvPr>
            <p:ph type="body" idx="1"/>
          </p:nvPr>
        </p:nvSpPr>
        <p:spPr>
          <a:xfrm>
            <a:off x="908050" y="1131888"/>
            <a:ext cx="7588250" cy="4530725"/>
          </a:xfrm>
        </p:spPr>
        <p:txBody>
          <a:bodyPr/>
          <a:lstStyle/>
          <a:p>
            <a:pPr>
              <a:buSzPct val="85000"/>
            </a:pPr>
            <a:r>
              <a:rPr lang="en-US" altLang="en-US"/>
              <a:t>System Model</a:t>
            </a:r>
          </a:p>
          <a:p>
            <a:pPr>
              <a:buSzPct val="85000"/>
            </a:pPr>
            <a:r>
              <a:rPr lang="en-US" altLang="en-US"/>
              <a:t>Deadlock Characterization</a:t>
            </a:r>
          </a:p>
          <a:p>
            <a:pPr>
              <a:buSzPct val="85000"/>
            </a:pPr>
            <a:r>
              <a:rPr lang="en-US" altLang="en-US"/>
              <a:t>Methods for Handling Deadlocks</a:t>
            </a:r>
          </a:p>
          <a:p>
            <a:r>
              <a:rPr lang="en-US" altLang="en-US"/>
              <a:t>Deadlock Prevention</a:t>
            </a:r>
          </a:p>
          <a:p>
            <a:pPr>
              <a:buSzPct val="85000"/>
            </a:pPr>
            <a:r>
              <a:rPr lang="en-US" altLang="en-US"/>
              <a:t>Deadlock Avoidance</a:t>
            </a:r>
          </a:p>
          <a:p>
            <a:pPr>
              <a:buSzPct val="85000"/>
            </a:pPr>
            <a:r>
              <a:rPr lang="en-US" altLang="en-US"/>
              <a:t>Deadlock Detection </a:t>
            </a:r>
          </a:p>
          <a:p>
            <a:pPr>
              <a:buSzPct val="85000"/>
            </a:pPr>
            <a:r>
              <a:rPr lang="en-US" altLang="en-US"/>
              <a:t>Recovery from Deadlock </a:t>
            </a:r>
          </a:p>
        </p:txBody>
      </p:sp>
    </p:spTree>
    <p:extLst>
      <p:ext uri="{BB962C8B-B14F-4D97-AF65-F5344CB8AC3E}">
        <p14:creationId xmlns:p14="http://schemas.microsoft.com/office/powerpoint/2010/main" val="3736066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Deadlock Problem</a:t>
            </a:r>
            <a:endParaRPr lang="en-IN" dirty="0"/>
          </a:p>
        </p:txBody>
      </p:sp>
      <p:sp>
        <p:nvSpPr>
          <p:cNvPr id="3" name="Content Placeholder 2"/>
          <p:cNvSpPr>
            <a:spLocks noGrp="1"/>
          </p:cNvSpPr>
          <p:nvPr>
            <p:ph idx="1"/>
          </p:nvPr>
        </p:nvSpPr>
        <p:spPr/>
        <p:txBody>
          <a:bodyPr>
            <a:normAutofit fontScale="85000" lnSpcReduction="20000"/>
          </a:bodyPr>
          <a:lstStyle/>
          <a:p>
            <a:pPr algn="just"/>
            <a:r>
              <a:rPr lang="en-US" altLang="en-US" dirty="0"/>
              <a:t>A set of blocked </a:t>
            </a:r>
            <a:r>
              <a:rPr lang="en-US" altLang="en-US" dirty="0">
                <a:solidFill>
                  <a:srgbClr val="FF0000"/>
                </a:solidFill>
              </a:rPr>
              <a:t>processes each holding a resource and waiting to acquire a resource </a:t>
            </a:r>
            <a:r>
              <a:rPr lang="en-US" altLang="en-US" dirty="0"/>
              <a:t>held by another process in the set.</a:t>
            </a:r>
          </a:p>
          <a:p>
            <a:pPr>
              <a:buSzPct val="85000"/>
            </a:pPr>
            <a:r>
              <a:rPr lang="en-US" altLang="en-US" dirty="0"/>
              <a:t>Example </a:t>
            </a:r>
          </a:p>
          <a:p>
            <a:pPr lvl="1"/>
            <a:r>
              <a:rPr lang="en-US" altLang="en-US" dirty="0"/>
              <a:t>System has 2 disk drives.</a:t>
            </a:r>
          </a:p>
          <a:p>
            <a:pPr lvl="1"/>
            <a:r>
              <a:rPr lang="en-US" altLang="en-US" i="1" dirty="0"/>
              <a:t>P</a:t>
            </a:r>
            <a:r>
              <a:rPr lang="en-US" altLang="en-US" baseline="-25000" dirty="0"/>
              <a:t>1</a:t>
            </a:r>
            <a:r>
              <a:rPr lang="en-US" altLang="en-US" dirty="0"/>
              <a:t> and </a:t>
            </a:r>
            <a:r>
              <a:rPr lang="en-US" altLang="en-US" i="1" dirty="0"/>
              <a:t>P</a:t>
            </a:r>
            <a:r>
              <a:rPr lang="en-US" altLang="en-US" baseline="-25000" dirty="0"/>
              <a:t>2</a:t>
            </a:r>
            <a:r>
              <a:rPr lang="en-US" altLang="en-US" dirty="0"/>
              <a:t> each hold one disk drive and each needs another one.</a:t>
            </a:r>
          </a:p>
          <a:p>
            <a:pPr>
              <a:buSzPct val="85000"/>
            </a:pPr>
            <a:r>
              <a:rPr lang="en-US" altLang="en-US" dirty="0"/>
              <a:t>Example </a:t>
            </a:r>
          </a:p>
          <a:p>
            <a:pPr lvl="1"/>
            <a:r>
              <a:rPr lang="en-US" altLang="en-US" dirty="0">
                <a:solidFill>
                  <a:srgbClr val="FF0000"/>
                </a:solidFill>
              </a:rPr>
              <a:t>Semaphores</a:t>
            </a:r>
            <a:r>
              <a:rPr lang="en-US" altLang="en-US" dirty="0"/>
              <a:t> </a:t>
            </a:r>
            <a:r>
              <a:rPr lang="en-US" altLang="en-US" i="1" dirty="0"/>
              <a:t>A</a:t>
            </a:r>
            <a:r>
              <a:rPr lang="en-US" altLang="en-US" dirty="0"/>
              <a:t> and</a:t>
            </a:r>
            <a:r>
              <a:rPr lang="en-US" altLang="en-US" i="1" dirty="0"/>
              <a:t> B</a:t>
            </a:r>
            <a:r>
              <a:rPr lang="en-US" altLang="en-US" dirty="0"/>
              <a:t>, initialized to 1</a:t>
            </a:r>
          </a:p>
          <a:p>
            <a:pPr lvl="4">
              <a:buFontTx/>
              <a:buNone/>
            </a:pPr>
            <a:r>
              <a:rPr lang="en-US" altLang="en-US" sz="2800" dirty="0"/>
              <a:t>    </a:t>
            </a:r>
            <a:r>
              <a:rPr lang="en-US" altLang="en-US" i="1" dirty="0"/>
              <a:t>P</a:t>
            </a:r>
            <a:r>
              <a:rPr lang="en-US" altLang="en-US" baseline="-25000" dirty="0"/>
              <a:t>0</a:t>
            </a:r>
            <a:r>
              <a:rPr lang="en-US" altLang="en-US" dirty="0"/>
              <a:t>		   </a:t>
            </a:r>
            <a:r>
              <a:rPr lang="en-US" altLang="en-US" i="1" dirty="0"/>
              <a:t>P</a:t>
            </a:r>
            <a:r>
              <a:rPr lang="en-US" altLang="en-US" baseline="-25000" dirty="0"/>
              <a:t>1</a:t>
            </a:r>
            <a:endParaRPr lang="en-US" altLang="en-US" dirty="0"/>
          </a:p>
          <a:p>
            <a:pPr lvl="4">
              <a:buFontTx/>
              <a:buNone/>
            </a:pPr>
            <a:r>
              <a:rPr lang="en-US" altLang="en-US" dirty="0">
                <a:solidFill>
                  <a:srgbClr val="0000FF"/>
                </a:solidFill>
              </a:rPr>
              <a:t>wait (A);		wait(B)</a:t>
            </a:r>
          </a:p>
          <a:p>
            <a:pPr lvl="4">
              <a:buFontTx/>
              <a:buNone/>
            </a:pPr>
            <a:r>
              <a:rPr lang="en-US" altLang="en-US" dirty="0">
                <a:solidFill>
                  <a:srgbClr val="0000FF"/>
                </a:solidFill>
              </a:rPr>
              <a:t>wait (B);		wait(A)</a:t>
            </a:r>
          </a:p>
          <a:p>
            <a:pPr lvl="1"/>
            <a:endParaRPr lang="en-US" altLang="en-US" dirty="0">
              <a:solidFill>
                <a:srgbClr val="0000FF"/>
              </a:solidFill>
            </a:endParaRPr>
          </a:p>
          <a:p>
            <a:endParaRPr lang="en-IN" dirty="0"/>
          </a:p>
        </p:txBody>
      </p:sp>
    </p:spTree>
    <p:extLst>
      <p:ext uri="{BB962C8B-B14F-4D97-AF65-F5344CB8AC3E}">
        <p14:creationId xmlns:p14="http://schemas.microsoft.com/office/powerpoint/2010/main" val="2850089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Bridge Crossing Example</a:t>
            </a:r>
            <a:endParaRPr lang="en-IN" dirty="0"/>
          </a:p>
        </p:txBody>
      </p:sp>
      <p:sp>
        <p:nvSpPr>
          <p:cNvPr id="3" name="Content Placeholder 2"/>
          <p:cNvSpPr>
            <a:spLocks noGrp="1"/>
          </p:cNvSpPr>
          <p:nvPr>
            <p:ph idx="1"/>
          </p:nvPr>
        </p:nvSpPr>
        <p:spPr/>
        <p:txBody>
          <a:bodyPr>
            <a:normAutofit fontScale="70000" lnSpcReduction="20000"/>
          </a:bodyPr>
          <a:lstStyle/>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r>
              <a:rPr lang="en-US" altLang="en-US" dirty="0"/>
              <a:t>Traffic only in one direction.</a:t>
            </a:r>
          </a:p>
          <a:p>
            <a:r>
              <a:rPr lang="en-US" altLang="en-US" dirty="0"/>
              <a:t>Each section of a bridge can be viewed as a resource.</a:t>
            </a:r>
          </a:p>
          <a:p>
            <a:r>
              <a:rPr lang="en-US" altLang="en-US" dirty="0">
                <a:solidFill>
                  <a:srgbClr val="FF0000"/>
                </a:solidFill>
              </a:rPr>
              <a:t>If a deadlock occurs, it can be resolved if one car backs up (preempt resources and rollback).</a:t>
            </a:r>
          </a:p>
          <a:p>
            <a:r>
              <a:rPr lang="en-US" altLang="en-US" dirty="0"/>
              <a:t>Several cars might have to be backed up if a deadlock occurs.</a:t>
            </a:r>
          </a:p>
          <a:p>
            <a:r>
              <a:rPr lang="en-US" altLang="en-US" dirty="0"/>
              <a:t>Starvation is possible.</a:t>
            </a:r>
          </a:p>
        </p:txBody>
      </p:sp>
      <p:grpSp>
        <p:nvGrpSpPr>
          <p:cNvPr id="4" name="Group 35"/>
          <p:cNvGrpSpPr>
            <a:grpSpLocks/>
          </p:cNvGrpSpPr>
          <p:nvPr/>
        </p:nvGrpSpPr>
        <p:grpSpPr bwMode="auto">
          <a:xfrm>
            <a:off x="1175345" y="2057400"/>
            <a:ext cx="6276975" cy="1371600"/>
            <a:chOff x="798" y="1008"/>
            <a:chExt cx="3954" cy="864"/>
          </a:xfrm>
        </p:grpSpPr>
        <p:grpSp>
          <p:nvGrpSpPr>
            <p:cNvPr id="5" name="Group 11"/>
            <p:cNvGrpSpPr>
              <a:grpSpLocks/>
            </p:cNvGrpSpPr>
            <p:nvPr/>
          </p:nvGrpSpPr>
          <p:grpSpPr bwMode="auto">
            <a:xfrm>
              <a:off x="816" y="1008"/>
              <a:ext cx="3936" cy="240"/>
              <a:chOff x="672" y="1008"/>
              <a:chExt cx="3936" cy="240"/>
            </a:xfrm>
          </p:grpSpPr>
          <p:sp>
            <p:nvSpPr>
              <p:cNvPr id="29" name="Line 6"/>
              <p:cNvSpPr>
                <a:spLocks noChangeShapeType="1"/>
              </p:cNvSpPr>
              <p:nvPr/>
            </p:nvSpPr>
            <p:spPr bwMode="auto">
              <a:xfrm>
                <a:off x="672" y="1008"/>
                <a:ext cx="115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 name="Line 7"/>
              <p:cNvSpPr>
                <a:spLocks noChangeShapeType="1"/>
              </p:cNvSpPr>
              <p:nvPr/>
            </p:nvSpPr>
            <p:spPr bwMode="auto">
              <a:xfrm>
                <a:off x="1824" y="1008"/>
                <a:ext cx="384"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1" name="Line 8"/>
              <p:cNvSpPr>
                <a:spLocks noChangeShapeType="1"/>
              </p:cNvSpPr>
              <p:nvPr/>
            </p:nvSpPr>
            <p:spPr bwMode="auto">
              <a:xfrm>
                <a:off x="2208" y="1248"/>
                <a:ext cx="86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2" name="Line 9"/>
              <p:cNvSpPr>
                <a:spLocks noChangeShapeType="1"/>
              </p:cNvSpPr>
              <p:nvPr/>
            </p:nvSpPr>
            <p:spPr bwMode="auto">
              <a:xfrm flipV="1">
                <a:off x="3072" y="1026"/>
                <a:ext cx="384" cy="2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 name="Line 10"/>
              <p:cNvSpPr>
                <a:spLocks noChangeShapeType="1"/>
              </p:cNvSpPr>
              <p:nvPr/>
            </p:nvSpPr>
            <p:spPr bwMode="auto">
              <a:xfrm>
                <a:off x="3456" y="1020"/>
                <a:ext cx="115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6" name="Group 12"/>
            <p:cNvGrpSpPr>
              <a:grpSpLocks/>
            </p:cNvGrpSpPr>
            <p:nvPr/>
          </p:nvGrpSpPr>
          <p:grpSpPr bwMode="auto">
            <a:xfrm flipV="1">
              <a:off x="816" y="1632"/>
              <a:ext cx="3936" cy="240"/>
              <a:chOff x="672" y="1008"/>
              <a:chExt cx="3936" cy="240"/>
            </a:xfrm>
          </p:grpSpPr>
          <p:sp>
            <p:nvSpPr>
              <p:cNvPr id="24" name="Line 13"/>
              <p:cNvSpPr>
                <a:spLocks noChangeShapeType="1"/>
              </p:cNvSpPr>
              <p:nvPr/>
            </p:nvSpPr>
            <p:spPr bwMode="auto">
              <a:xfrm>
                <a:off x="672" y="1008"/>
                <a:ext cx="115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 name="Line 14"/>
              <p:cNvSpPr>
                <a:spLocks noChangeShapeType="1"/>
              </p:cNvSpPr>
              <p:nvPr/>
            </p:nvSpPr>
            <p:spPr bwMode="auto">
              <a:xfrm>
                <a:off x="1824" y="1008"/>
                <a:ext cx="384"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6" name="Line 15"/>
              <p:cNvSpPr>
                <a:spLocks noChangeShapeType="1"/>
              </p:cNvSpPr>
              <p:nvPr/>
            </p:nvSpPr>
            <p:spPr bwMode="auto">
              <a:xfrm>
                <a:off x="2208" y="1248"/>
                <a:ext cx="86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7" name="Line 16"/>
              <p:cNvSpPr>
                <a:spLocks noChangeShapeType="1"/>
              </p:cNvSpPr>
              <p:nvPr/>
            </p:nvSpPr>
            <p:spPr bwMode="auto">
              <a:xfrm flipV="1">
                <a:off x="3072" y="1026"/>
                <a:ext cx="384" cy="2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8" name="Line 17"/>
              <p:cNvSpPr>
                <a:spLocks noChangeShapeType="1"/>
              </p:cNvSpPr>
              <p:nvPr/>
            </p:nvSpPr>
            <p:spPr bwMode="auto">
              <a:xfrm>
                <a:off x="3456" y="1020"/>
                <a:ext cx="115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 name="Group 22"/>
            <p:cNvGrpSpPr>
              <a:grpSpLocks/>
            </p:cNvGrpSpPr>
            <p:nvPr/>
          </p:nvGrpSpPr>
          <p:grpSpPr bwMode="auto">
            <a:xfrm>
              <a:off x="1512" y="1614"/>
              <a:ext cx="288" cy="162"/>
              <a:chOff x="1056" y="1614"/>
              <a:chExt cx="288" cy="162"/>
            </a:xfrm>
          </p:grpSpPr>
          <p:sp>
            <p:nvSpPr>
              <p:cNvPr id="22" name="Rectangle 18"/>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 name="Rectangle 19"/>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8" name="Line 20"/>
            <p:cNvSpPr>
              <a:spLocks noChangeShapeType="1"/>
            </p:cNvSpPr>
            <p:nvPr/>
          </p:nvSpPr>
          <p:spPr bwMode="auto">
            <a:xfrm>
              <a:off x="798" y="1428"/>
              <a:ext cx="1272"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 name="Line 21"/>
            <p:cNvSpPr>
              <a:spLocks noChangeShapeType="1"/>
            </p:cNvSpPr>
            <p:nvPr/>
          </p:nvSpPr>
          <p:spPr bwMode="auto">
            <a:xfrm>
              <a:off x="3444" y="1422"/>
              <a:ext cx="1272"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10" name="Group 23"/>
            <p:cNvGrpSpPr>
              <a:grpSpLocks/>
            </p:cNvGrpSpPr>
            <p:nvPr/>
          </p:nvGrpSpPr>
          <p:grpSpPr bwMode="auto">
            <a:xfrm>
              <a:off x="2382" y="1344"/>
              <a:ext cx="288" cy="162"/>
              <a:chOff x="1056" y="1614"/>
              <a:chExt cx="288" cy="162"/>
            </a:xfrm>
          </p:grpSpPr>
          <p:sp>
            <p:nvSpPr>
              <p:cNvPr id="20" name="Rectangle 24"/>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 name="Rectangle 25"/>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1" name="Group 26"/>
            <p:cNvGrpSpPr>
              <a:grpSpLocks/>
            </p:cNvGrpSpPr>
            <p:nvPr/>
          </p:nvGrpSpPr>
          <p:grpSpPr bwMode="auto">
            <a:xfrm flipH="1">
              <a:off x="2838" y="1344"/>
              <a:ext cx="288" cy="162"/>
              <a:chOff x="1056" y="1614"/>
              <a:chExt cx="288" cy="162"/>
            </a:xfrm>
          </p:grpSpPr>
          <p:sp>
            <p:nvSpPr>
              <p:cNvPr id="18" name="Rectangle 27"/>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 name="Rectangle 28"/>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2" name="Group 29"/>
            <p:cNvGrpSpPr>
              <a:grpSpLocks/>
            </p:cNvGrpSpPr>
            <p:nvPr/>
          </p:nvGrpSpPr>
          <p:grpSpPr bwMode="auto">
            <a:xfrm flipH="1">
              <a:off x="3822" y="1140"/>
              <a:ext cx="288" cy="162"/>
              <a:chOff x="1056" y="1614"/>
              <a:chExt cx="288" cy="162"/>
            </a:xfrm>
          </p:grpSpPr>
          <p:sp>
            <p:nvSpPr>
              <p:cNvPr id="16" name="Rectangle 30"/>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 name="Rectangle 31"/>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3" name="Group 32"/>
            <p:cNvGrpSpPr>
              <a:grpSpLocks/>
            </p:cNvGrpSpPr>
            <p:nvPr/>
          </p:nvGrpSpPr>
          <p:grpSpPr bwMode="auto">
            <a:xfrm flipH="1">
              <a:off x="4248" y="1140"/>
              <a:ext cx="288" cy="162"/>
              <a:chOff x="1056" y="1614"/>
              <a:chExt cx="288" cy="162"/>
            </a:xfrm>
          </p:grpSpPr>
          <p:sp>
            <p:nvSpPr>
              <p:cNvPr id="14" name="Rectangle 33"/>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 name="Rectangle 34"/>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spTree>
    <p:extLst>
      <p:ext uri="{BB962C8B-B14F-4D97-AF65-F5344CB8AC3E}">
        <p14:creationId xmlns:p14="http://schemas.microsoft.com/office/powerpoint/2010/main" val="1657890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176213"/>
            <a:ext cx="8229600" cy="576262"/>
          </a:xfrm>
        </p:spPr>
        <p:txBody>
          <a:bodyPr>
            <a:normAutofit fontScale="90000"/>
          </a:bodyPr>
          <a:lstStyle/>
          <a:p>
            <a:pPr eaLnBrk="1" hangingPunct="1"/>
            <a:r>
              <a:rPr lang="en-US" altLang="en-US"/>
              <a:t>System Model</a:t>
            </a:r>
          </a:p>
        </p:txBody>
      </p:sp>
      <p:sp>
        <p:nvSpPr>
          <p:cNvPr id="6147" name="Rectangle 3"/>
          <p:cNvSpPr>
            <a:spLocks noGrp="1" noChangeArrowheads="1"/>
          </p:cNvSpPr>
          <p:nvPr>
            <p:ph type="body" idx="1"/>
          </p:nvPr>
        </p:nvSpPr>
        <p:spPr>
          <a:xfrm>
            <a:off x="941388" y="1158875"/>
            <a:ext cx="7351712" cy="4483100"/>
          </a:xfrm>
        </p:spPr>
        <p:txBody>
          <a:bodyPr>
            <a:normAutofit lnSpcReduction="10000"/>
          </a:bodyPr>
          <a:lstStyle/>
          <a:p>
            <a:r>
              <a:rPr lang="en-US" altLang="en-US" dirty="0"/>
              <a:t>System consists of </a:t>
            </a:r>
            <a:r>
              <a:rPr lang="en-US" altLang="en-US" dirty="0">
                <a:solidFill>
                  <a:srgbClr val="FF0000"/>
                </a:solidFill>
              </a:rPr>
              <a:t>resources</a:t>
            </a:r>
          </a:p>
          <a:p>
            <a:r>
              <a:rPr lang="en-US" altLang="en-US" dirty="0"/>
              <a:t>Resource types </a:t>
            </a:r>
            <a:r>
              <a:rPr lang="en-US" altLang="en-US" i="1" dirty="0"/>
              <a:t>R</a:t>
            </a:r>
            <a:r>
              <a:rPr lang="en-US" altLang="en-US" baseline="-25000" dirty="0"/>
              <a:t>1</a:t>
            </a:r>
            <a:r>
              <a:rPr lang="en-US" altLang="en-US" dirty="0"/>
              <a:t>, </a:t>
            </a:r>
            <a:r>
              <a:rPr lang="en-US" altLang="en-US" i="1" dirty="0"/>
              <a:t>R</a:t>
            </a:r>
            <a:r>
              <a:rPr lang="en-US" altLang="en-US" baseline="-25000" dirty="0"/>
              <a:t>2</a:t>
            </a:r>
            <a:r>
              <a:rPr lang="en-US" altLang="en-US" dirty="0"/>
              <a:t>, . . ., </a:t>
            </a:r>
            <a:r>
              <a:rPr lang="en-US" altLang="en-US" i="1" dirty="0"/>
              <a:t>R</a:t>
            </a:r>
            <a:r>
              <a:rPr lang="en-US" altLang="en-US" baseline="-25000" dirty="0"/>
              <a:t>m</a:t>
            </a:r>
          </a:p>
          <a:p>
            <a:pPr lvl="2">
              <a:buFont typeface="Webdings" pitchFamily="18" charset="2"/>
              <a:buNone/>
            </a:pPr>
            <a:r>
              <a:rPr lang="en-US" altLang="en-US" i="1" dirty="0"/>
              <a:t>CPU cycles, memory space, I/O devices</a:t>
            </a:r>
          </a:p>
          <a:p>
            <a:r>
              <a:rPr lang="en-US" altLang="en-US" dirty="0"/>
              <a:t>Each resource </a:t>
            </a:r>
            <a:r>
              <a:rPr lang="en-US" altLang="en-US" dirty="0">
                <a:solidFill>
                  <a:srgbClr val="FF0000"/>
                </a:solidFill>
              </a:rPr>
              <a:t>type </a:t>
            </a:r>
            <a:r>
              <a:rPr lang="en-US" altLang="en-US" i="1" dirty="0" err="1">
                <a:solidFill>
                  <a:srgbClr val="FF0000"/>
                </a:solidFill>
              </a:rPr>
              <a:t>R</a:t>
            </a:r>
            <a:r>
              <a:rPr lang="en-US" altLang="en-US" baseline="-25000" dirty="0" err="1">
                <a:solidFill>
                  <a:srgbClr val="FF0000"/>
                </a:solidFill>
              </a:rPr>
              <a:t>i</a:t>
            </a:r>
            <a:r>
              <a:rPr lang="en-US" altLang="en-US" dirty="0">
                <a:solidFill>
                  <a:srgbClr val="FF0000"/>
                </a:solidFill>
              </a:rPr>
              <a:t> has </a:t>
            </a:r>
            <a:r>
              <a:rPr lang="en-US" altLang="en-US" i="1" dirty="0">
                <a:solidFill>
                  <a:srgbClr val="FF0000"/>
                </a:solidFill>
              </a:rPr>
              <a:t>W</a:t>
            </a:r>
            <a:r>
              <a:rPr lang="en-US" altLang="en-US" baseline="-25000" dirty="0">
                <a:solidFill>
                  <a:srgbClr val="FF0000"/>
                </a:solidFill>
              </a:rPr>
              <a:t>i</a:t>
            </a:r>
            <a:r>
              <a:rPr lang="en-US" altLang="en-US" dirty="0">
                <a:solidFill>
                  <a:srgbClr val="FF0000"/>
                </a:solidFill>
              </a:rPr>
              <a:t> instances</a:t>
            </a:r>
            <a:r>
              <a:rPr lang="en-US" altLang="en-US" dirty="0"/>
              <a:t>.</a:t>
            </a:r>
          </a:p>
          <a:p>
            <a:r>
              <a:rPr lang="en-US" altLang="en-US" dirty="0"/>
              <a:t>Each process </a:t>
            </a:r>
            <a:r>
              <a:rPr lang="en-US" altLang="en-US" dirty="0">
                <a:solidFill>
                  <a:srgbClr val="FF0000"/>
                </a:solidFill>
              </a:rPr>
              <a:t>utilizes a resource as </a:t>
            </a:r>
            <a:r>
              <a:rPr lang="en-US" altLang="en-US" dirty="0"/>
              <a:t>follows:</a:t>
            </a:r>
          </a:p>
          <a:p>
            <a:pPr lvl="1"/>
            <a:r>
              <a:rPr lang="en-US" altLang="en-US" b="1" dirty="0">
                <a:solidFill>
                  <a:srgbClr val="00B050"/>
                </a:solidFill>
              </a:rPr>
              <a:t>request </a:t>
            </a:r>
          </a:p>
          <a:p>
            <a:pPr lvl="1"/>
            <a:r>
              <a:rPr lang="en-US" altLang="en-US" b="1" dirty="0">
                <a:solidFill>
                  <a:srgbClr val="00B050"/>
                </a:solidFill>
              </a:rPr>
              <a:t>use </a:t>
            </a:r>
          </a:p>
          <a:p>
            <a:pPr lvl="1"/>
            <a:r>
              <a:rPr lang="en-US" altLang="en-US" b="1" dirty="0">
                <a:solidFill>
                  <a:srgbClr val="00B050"/>
                </a:solidFill>
              </a:rPr>
              <a:t>release</a:t>
            </a:r>
          </a:p>
        </p:txBody>
      </p:sp>
    </p:spTree>
    <p:extLst>
      <p:ext uri="{BB962C8B-B14F-4D97-AF65-F5344CB8AC3E}">
        <p14:creationId xmlns:p14="http://schemas.microsoft.com/office/powerpoint/2010/main" val="529992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749300" y="182563"/>
            <a:ext cx="7937500" cy="576262"/>
          </a:xfrm>
        </p:spPr>
        <p:txBody>
          <a:bodyPr>
            <a:normAutofit fontScale="90000"/>
          </a:bodyPr>
          <a:lstStyle/>
          <a:p>
            <a:pPr eaLnBrk="1" hangingPunct="1"/>
            <a:r>
              <a:rPr lang="en-US" altLang="en-US"/>
              <a:t>Deadlock Characterization</a:t>
            </a:r>
          </a:p>
        </p:txBody>
      </p:sp>
      <p:sp>
        <p:nvSpPr>
          <p:cNvPr id="7171" name="Rectangle 3"/>
          <p:cNvSpPr>
            <a:spLocks noGrp="1" noChangeArrowheads="1"/>
          </p:cNvSpPr>
          <p:nvPr>
            <p:ph type="body" idx="1"/>
          </p:nvPr>
        </p:nvSpPr>
        <p:spPr>
          <a:xfrm>
            <a:off x="1335088" y="1541463"/>
            <a:ext cx="6691312" cy="4668837"/>
          </a:xfrm>
        </p:spPr>
        <p:txBody>
          <a:bodyPr>
            <a:normAutofit fontScale="70000" lnSpcReduction="20000"/>
          </a:bodyPr>
          <a:lstStyle/>
          <a:p>
            <a:pPr algn="just"/>
            <a:r>
              <a:rPr lang="en-US" altLang="en-US" b="1" dirty="0">
                <a:solidFill>
                  <a:srgbClr val="FF0000"/>
                </a:solidFill>
              </a:rPr>
              <a:t>Mutual exclusion</a:t>
            </a:r>
            <a:r>
              <a:rPr lang="en-US" altLang="en-US" b="1" dirty="0"/>
              <a:t>:</a:t>
            </a:r>
            <a:r>
              <a:rPr lang="en-US" altLang="en-US" dirty="0"/>
              <a:t>  only one process at a time can use a resource</a:t>
            </a:r>
            <a:endParaRPr lang="en-US" altLang="en-US" sz="800" dirty="0"/>
          </a:p>
          <a:p>
            <a:pPr algn="just"/>
            <a:r>
              <a:rPr lang="en-US" altLang="en-US" b="1" dirty="0">
                <a:solidFill>
                  <a:srgbClr val="FF0000"/>
                </a:solidFill>
              </a:rPr>
              <a:t>Hold and wait</a:t>
            </a:r>
            <a:r>
              <a:rPr lang="en-US" altLang="en-US" b="1" dirty="0"/>
              <a:t>:</a:t>
            </a:r>
            <a:r>
              <a:rPr lang="en-US" altLang="en-US" dirty="0"/>
              <a:t>  a process holding at least one resource is waiting to acquire additional resources held by other processes</a:t>
            </a:r>
            <a:endParaRPr lang="en-US" altLang="en-US" sz="800" dirty="0"/>
          </a:p>
          <a:p>
            <a:pPr algn="just"/>
            <a:r>
              <a:rPr lang="en-US" altLang="en-US" b="1" dirty="0">
                <a:solidFill>
                  <a:srgbClr val="FF0000"/>
                </a:solidFill>
              </a:rPr>
              <a:t>No preemption</a:t>
            </a:r>
            <a:r>
              <a:rPr lang="en-US" altLang="en-US" b="1" dirty="0"/>
              <a:t>:</a:t>
            </a:r>
            <a:r>
              <a:rPr lang="en-US" altLang="en-US" dirty="0"/>
              <a:t>  a resource can be released only voluntarily by the process holding it, after that process has completed its task</a:t>
            </a:r>
            <a:endParaRPr lang="en-US" altLang="en-US" sz="800" dirty="0"/>
          </a:p>
          <a:p>
            <a:pPr algn="just"/>
            <a:r>
              <a:rPr lang="en-US" altLang="en-US" b="1" dirty="0">
                <a:solidFill>
                  <a:srgbClr val="FF0000"/>
                </a:solidFill>
              </a:rPr>
              <a:t>Circular wait</a:t>
            </a:r>
            <a:r>
              <a:rPr lang="en-US" altLang="en-US" b="1" dirty="0"/>
              <a:t>:</a:t>
            </a:r>
            <a:r>
              <a:rPr lang="en-US" altLang="en-US" dirty="0"/>
              <a:t>  there exists a set {</a:t>
            </a:r>
            <a:r>
              <a:rPr lang="en-US" altLang="en-US" i="1" dirty="0"/>
              <a:t>P</a:t>
            </a:r>
            <a:r>
              <a:rPr lang="en-US" altLang="en-US" baseline="-25000" dirty="0"/>
              <a:t>0</a:t>
            </a:r>
            <a:r>
              <a:rPr lang="en-US" altLang="en-US" dirty="0"/>
              <a:t>, </a:t>
            </a:r>
            <a:r>
              <a:rPr lang="en-US" altLang="en-US" i="1" dirty="0"/>
              <a:t>P</a:t>
            </a:r>
            <a:r>
              <a:rPr lang="en-US" altLang="en-US" baseline="-25000" dirty="0"/>
              <a:t>1</a:t>
            </a:r>
            <a:r>
              <a:rPr lang="en-US" altLang="en-US" dirty="0"/>
              <a:t>, …, </a:t>
            </a:r>
            <a:r>
              <a:rPr lang="en-US" altLang="en-US" i="1" dirty="0" err="1"/>
              <a:t>P</a:t>
            </a:r>
            <a:r>
              <a:rPr lang="en-US" altLang="en-US" baseline="-25000" dirty="0" err="1"/>
              <a:t>n</a:t>
            </a:r>
            <a:r>
              <a:rPr lang="en-US" altLang="en-US" dirty="0"/>
              <a:t>} of waiting processes such that </a:t>
            </a:r>
          </a:p>
          <a:p>
            <a:pPr lvl="1" algn="just"/>
            <a:r>
              <a:rPr lang="en-US" altLang="en-US" i="1" dirty="0"/>
              <a:t>P</a:t>
            </a:r>
            <a:r>
              <a:rPr lang="en-US" altLang="en-US" baseline="-25000" dirty="0"/>
              <a:t>0 </a:t>
            </a:r>
            <a:r>
              <a:rPr lang="en-US" altLang="en-US" dirty="0"/>
              <a:t>is waiting for a resource that is held by </a:t>
            </a:r>
            <a:r>
              <a:rPr lang="en-US" altLang="en-US" i="1" dirty="0"/>
              <a:t>P</a:t>
            </a:r>
            <a:r>
              <a:rPr lang="en-US" altLang="en-US" baseline="-25000" dirty="0"/>
              <a:t>1</a:t>
            </a:r>
            <a:r>
              <a:rPr lang="en-US" altLang="en-US" dirty="0"/>
              <a:t>, </a:t>
            </a:r>
          </a:p>
          <a:p>
            <a:pPr lvl="1" algn="just"/>
            <a:r>
              <a:rPr lang="en-US" altLang="en-US" i="1" dirty="0"/>
              <a:t>P</a:t>
            </a:r>
            <a:r>
              <a:rPr lang="en-US" altLang="en-US" baseline="-25000" dirty="0"/>
              <a:t>1</a:t>
            </a:r>
            <a:r>
              <a:rPr lang="en-US" altLang="en-US" dirty="0"/>
              <a:t> is waiting for a resource that is held by </a:t>
            </a:r>
            <a:r>
              <a:rPr lang="en-US" altLang="en-US" i="1" dirty="0"/>
              <a:t>P</a:t>
            </a:r>
            <a:r>
              <a:rPr lang="en-US" altLang="en-US" baseline="-25000" dirty="0"/>
              <a:t>2</a:t>
            </a:r>
            <a:r>
              <a:rPr lang="en-US" altLang="en-US" dirty="0"/>
              <a:t>, …, </a:t>
            </a:r>
          </a:p>
          <a:p>
            <a:pPr lvl="1" algn="just"/>
            <a:r>
              <a:rPr lang="en-US" altLang="en-US" i="1" dirty="0" err="1"/>
              <a:t>P</a:t>
            </a:r>
            <a:r>
              <a:rPr lang="en-US" altLang="en-US" i="1" baseline="-25000" dirty="0" err="1"/>
              <a:t>n</a:t>
            </a:r>
            <a:r>
              <a:rPr lang="en-US" altLang="en-US" baseline="-25000" dirty="0"/>
              <a:t>–1</a:t>
            </a:r>
            <a:r>
              <a:rPr lang="en-US" altLang="en-US" dirty="0"/>
              <a:t> is waiting for a resource that is held by </a:t>
            </a:r>
            <a:r>
              <a:rPr lang="en-US" altLang="en-US" i="1" dirty="0" err="1"/>
              <a:t>P</a:t>
            </a:r>
            <a:r>
              <a:rPr lang="en-US" altLang="en-US" baseline="-25000" dirty="0" err="1"/>
              <a:t>n</a:t>
            </a:r>
            <a:r>
              <a:rPr lang="en-US" altLang="en-US" dirty="0"/>
              <a:t>, and</a:t>
            </a:r>
          </a:p>
          <a:p>
            <a:pPr lvl="1" algn="just"/>
            <a:r>
              <a:rPr lang="en-US" altLang="en-US" i="1" dirty="0" err="1"/>
              <a:t>P</a:t>
            </a:r>
            <a:r>
              <a:rPr lang="en-US" altLang="en-US" baseline="-25000" dirty="0" err="1"/>
              <a:t>n</a:t>
            </a:r>
            <a:r>
              <a:rPr lang="en-US" altLang="en-US" dirty="0"/>
              <a:t> is waiting for a resource that is held by </a:t>
            </a:r>
            <a:r>
              <a:rPr lang="en-US" altLang="en-US" i="1" dirty="0"/>
              <a:t>P</a:t>
            </a:r>
            <a:r>
              <a:rPr lang="en-US" altLang="en-US" baseline="-25000" dirty="0"/>
              <a:t>0</a:t>
            </a:r>
            <a:r>
              <a:rPr lang="en-US" altLang="en-US" dirty="0"/>
              <a:t>.</a:t>
            </a:r>
          </a:p>
          <a:p>
            <a:pPr algn="just"/>
            <a:endParaRPr lang="en-US" altLang="en-US" dirty="0"/>
          </a:p>
        </p:txBody>
      </p:sp>
      <p:sp>
        <p:nvSpPr>
          <p:cNvPr id="7172" name="Text Box 5"/>
          <p:cNvSpPr txBox="1">
            <a:spLocks noChangeArrowheads="1"/>
          </p:cNvSpPr>
          <p:nvPr/>
        </p:nvSpPr>
        <p:spPr bwMode="auto">
          <a:xfrm>
            <a:off x="825500" y="1049338"/>
            <a:ext cx="63531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84" charset="0"/>
                <a:ea typeface="MS PGothic"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84" charset="0"/>
                <a:ea typeface="MS PGothic"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84" charset="0"/>
                <a:ea typeface="MS PGothic" pitchFamily="34" charset="-128"/>
              </a:defRPr>
            </a:lvl3pPr>
            <a:lvl4pPr marL="1600200" indent="-228600">
              <a:spcBef>
                <a:spcPct val="35000"/>
              </a:spcBef>
              <a:buClr>
                <a:schemeClr val="hlink"/>
              </a:buClr>
              <a:buSzPct val="75000"/>
              <a:buChar char="–"/>
              <a:defRPr kumimoji="1">
                <a:solidFill>
                  <a:schemeClr val="tx1"/>
                </a:solidFill>
                <a:latin typeface="Helvetica" pitchFamily="-84" charset="0"/>
                <a:ea typeface="MS PGothic" pitchFamily="34" charset="-128"/>
              </a:defRPr>
            </a:lvl4pPr>
            <a:lvl5pPr marL="2057400" indent="-228600">
              <a:spcBef>
                <a:spcPct val="35000"/>
              </a:spcBef>
              <a:buClr>
                <a:srgbClr val="FF0066"/>
              </a:buClr>
              <a:buSzPct val="75000"/>
              <a:buChar char="»"/>
              <a:defRPr kumimoji="1">
                <a:solidFill>
                  <a:schemeClr val="tx1"/>
                </a:solidFill>
                <a:latin typeface="Helvetica" pitchFamily="-84" charset="0"/>
                <a:ea typeface="MS PGothic"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9pPr>
          </a:lstStyle>
          <a:p>
            <a:pPr algn="ctr">
              <a:spcBef>
                <a:spcPct val="50000"/>
              </a:spcBef>
              <a:buClrTx/>
              <a:buSzTx/>
              <a:buFontTx/>
              <a:buNone/>
            </a:pPr>
            <a:r>
              <a:rPr kumimoji="0" lang="en-US" altLang="en-US"/>
              <a:t>Deadlock can arise if four conditions hold simultaneously.</a:t>
            </a:r>
          </a:p>
        </p:txBody>
      </p:sp>
    </p:spTree>
    <p:extLst>
      <p:ext uri="{BB962C8B-B14F-4D97-AF65-F5344CB8AC3E}">
        <p14:creationId xmlns:p14="http://schemas.microsoft.com/office/powerpoint/2010/main" val="36358040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749300" y="182563"/>
            <a:ext cx="7937500" cy="576262"/>
          </a:xfrm>
        </p:spPr>
        <p:txBody>
          <a:bodyPr>
            <a:normAutofit fontScale="90000"/>
          </a:bodyPr>
          <a:lstStyle/>
          <a:p>
            <a:pPr eaLnBrk="1" hangingPunct="1"/>
            <a:r>
              <a:rPr lang="en-US" altLang="en-US"/>
              <a:t>Deadlock with Mutex Locks</a:t>
            </a:r>
          </a:p>
        </p:txBody>
      </p:sp>
      <p:sp>
        <p:nvSpPr>
          <p:cNvPr id="8195" name="Rectangle 3"/>
          <p:cNvSpPr>
            <a:spLocks noGrp="1" noChangeArrowheads="1"/>
          </p:cNvSpPr>
          <p:nvPr>
            <p:ph type="body" idx="1"/>
          </p:nvPr>
        </p:nvSpPr>
        <p:spPr>
          <a:xfrm>
            <a:off x="844550" y="1141413"/>
            <a:ext cx="7742238" cy="5084762"/>
          </a:xfrm>
        </p:spPr>
        <p:txBody>
          <a:bodyPr/>
          <a:lstStyle/>
          <a:p>
            <a:r>
              <a:rPr lang="en-US" altLang="en-US" dirty="0"/>
              <a:t>Deadlocks can occur via system calls, locking, etc.</a:t>
            </a:r>
          </a:p>
        </p:txBody>
      </p:sp>
    </p:spTree>
    <p:extLst>
      <p:ext uri="{BB962C8B-B14F-4D97-AF65-F5344CB8AC3E}">
        <p14:creationId xmlns:p14="http://schemas.microsoft.com/office/powerpoint/2010/main" val="1662640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003300" y="166688"/>
            <a:ext cx="7683500" cy="576262"/>
          </a:xfrm>
        </p:spPr>
        <p:txBody>
          <a:bodyPr>
            <a:normAutofit fontScale="90000"/>
          </a:bodyPr>
          <a:lstStyle/>
          <a:p>
            <a:pPr eaLnBrk="1" hangingPunct="1"/>
            <a:r>
              <a:rPr lang="en-US" altLang="en-US"/>
              <a:t>Resource-Allocation Graph</a:t>
            </a:r>
          </a:p>
        </p:txBody>
      </p:sp>
      <p:sp>
        <p:nvSpPr>
          <p:cNvPr id="9219" name="Rectangle 3"/>
          <p:cNvSpPr>
            <a:spLocks noGrp="1" noChangeArrowheads="1"/>
          </p:cNvSpPr>
          <p:nvPr>
            <p:ph type="body" idx="1"/>
          </p:nvPr>
        </p:nvSpPr>
        <p:spPr>
          <a:xfrm>
            <a:off x="1184275" y="1557338"/>
            <a:ext cx="6808788" cy="4019550"/>
          </a:xfrm>
        </p:spPr>
        <p:txBody>
          <a:bodyPr>
            <a:normAutofit fontScale="92500"/>
          </a:bodyPr>
          <a:lstStyle/>
          <a:p>
            <a:r>
              <a:rPr lang="en-US" altLang="en-US" dirty="0"/>
              <a:t>V is partitioned into two types:</a:t>
            </a:r>
          </a:p>
          <a:p>
            <a:pPr lvl="1"/>
            <a:r>
              <a:rPr lang="en-US" altLang="en-US" i="1" dirty="0"/>
              <a:t>P</a:t>
            </a:r>
            <a:r>
              <a:rPr lang="en-US" altLang="en-US" dirty="0"/>
              <a:t> = {</a:t>
            </a:r>
            <a:r>
              <a:rPr lang="en-US" altLang="en-US" i="1" dirty="0"/>
              <a:t>P</a:t>
            </a:r>
            <a:r>
              <a:rPr lang="en-US" altLang="en-US" baseline="-25000" dirty="0"/>
              <a:t>1</a:t>
            </a:r>
            <a:r>
              <a:rPr lang="en-US" altLang="en-US" dirty="0"/>
              <a:t>, </a:t>
            </a:r>
            <a:r>
              <a:rPr lang="en-US" altLang="en-US" i="1" dirty="0"/>
              <a:t>P</a:t>
            </a:r>
            <a:r>
              <a:rPr lang="en-US" altLang="en-US" baseline="-25000" dirty="0"/>
              <a:t>2</a:t>
            </a:r>
            <a:r>
              <a:rPr lang="en-US" altLang="en-US" dirty="0"/>
              <a:t>, …, </a:t>
            </a:r>
            <a:r>
              <a:rPr lang="en-US" altLang="en-US" i="1" dirty="0" err="1"/>
              <a:t>P</a:t>
            </a:r>
            <a:r>
              <a:rPr lang="en-US" altLang="en-US" i="1" baseline="-25000" dirty="0" err="1"/>
              <a:t>n</a:t>
            </a:r>
            <a:r>
              <a:rPr lang="en-US" altLang="en-US" dirty="0"/>
              <a:t>}, the set consisting of all the processes in the system</a:t>
            </a:r>
            <a:br>
              <a:rPr lang="en-US" altLang="en-US" dirty="0"/>
            </a:br>
            <a:endParaRPr lang="en-US" altLang="en-US" dirty="0"/>
          </a:p>
          <a:p>
            <a:pPr lvl="1"/>
            <a:r>
              <a:rPr lang="en-US" altLang="en-US" i="1" dirty="0"/>
              <a:t>R</a:t>
            </a:r>
            <a:r>
              <a:rPr lang="en-US" altLang="en-US" dirty="0"/>
              <a:t> = {</a:t>
            </a:r>
            <a:r>
              <a:rPr lang="en-US" altLang="en-US" i="1" dirty="0"/>
              <a:t>R</a:t>
            </a:r>
            <a:r>
              <a:rPr lang="en-US" altLang="en-US" baseline="-25000" dirty="0"/>
              <a:t>1</a:t>
            </a:r>
            <a:r>
              <a:rPr lang="en-US" altLang="en-US" dirty="0"/>
              <a:t>, </a:t>
            </a:r>
            <a:r>
              <a:rPr lang="en-US" altLang="en-US" i="1" dirty="0"/>
              <a:t>R</a:t>
            </a:r>
            <a:r>
              <a:rPr lang="en-US" altLang="en-US" baseline="-25000" dirty="0"/>
              <a:t>2</a:t>
            </a:r>
            <a:r>
              <a:rPr lang="en-US" altLang="en-US" dirty="0"/>
              <a:t>, …, </a:t>
            </a:r>
            <a:r>
              <a:rPr lang="en-US" altLang="en-US" i="1" dirty="0"/>
              <a:t>R</a:t>
            </a:r>
            <a:r>
              <a:rPr lang="en-US" altLang="en-US" i="1" baseline="-25000" dirty="0"/>
              <a:t>m</a:t>
            </a:r>
            <a:r>
              <a:rPr lang="en-US" altLang="en-US" dirty="0"/>
              <a:t>}, the set consisting of all resource types in the system</a:t>
            </a:r>
          </a:p>
          <a:p>
            <a:pPr lvl="1"/>
            <a:endParaRPr lang="en-US" altLang="en-US" sz="900" dirty="0"/>
          </a:p>
          <a:p>
            <a:r>
              <a:rPr lang="en-US" altLang="en-US" b="1" dirty="0">
                <a:solidFill>
                  <a:srgbClr val="FF0000"/>
                </a:solidFill>
              </a:rPr>
              <a:t>request edge</a:t>
            </a:r>
            <a:r>
              <a:rPr lang="en-US" altLang="en-US" dirty="0">
                <a:solidFill>
                  <a:srgbClr val="FF0000"/>
                </a:solidFill>
              </a:rPr>
              <a:t> </a:t>
            </a:r>
            <a:r>
              <a:rPr lang="en-US" altLang="en-US" dirty="0"/>
              <a:t>– directed edge </a:t>
            </a:r>
            <a:r>
              <a:rPr lang="en-US" altLang="en-US" i="1" dirty="0"/>
              <a:t>P</a:t>
            </a:r>
            <a:r>
              <a:rPr lang="en-US" altLang="en-US" i="1" baseline="-25000" dirty="0"/>
              <a:t>i </a:t>
            </a:r>
            <a:r>
              <a:rPr lang="en-US" altLang="en-US" dirty="0">
                <a:sym typeface="Symbol" pitchFamily="18" charset="2"/>
              </a:rPr>
              <a:t> </a:t>
            </a:r>
            <a:r>
              <a:rPr lang="en-US" altLang="en-US" i="1" dirty="0" err="1">
                <a:sym typeface="Symbol" pitchFamily="18" charset="2"/>
              </a:rPr>
              <a:t>R</a:t>
            </a:r>
            <a:r>
              <a:rPr lang="en-US" altLang="en-US" i="1" baseline="-25000" dirty="0" err="1">
                <a:sym typeface="Symbol" pitchFamily="18" charset="2"/>
              </a:rPr>
              <a:t>j</a:t>
            </a:r>
            <a:endParaRPr lang="en-US" altLang="en-US" i="1" baseline="-25000" dirty="0">
              <a:sym typeface="Symbol" pitchFamily="18" charset="2"/>
            </a:endParaRPr>
          </a:p>
          <a:p>
            <a:endParaRPr lang="en-US" altLang="en-US" sz="800" i="1" baseline="-25000" dirty="0">
              <a:sym typeface="Symbol" pitchFamily="18" charset="2"/>
            </a:endParaRPr>
          </a:p>
          <a:p>
            <a:r>
              <a:rPr lang="en-US" altLang="en-US" b="1" dirty="0">
                <a:solidFill>
                  <a:srgbClr val="FF0000"/>
                </a:solidFill>
                <a:sym typeface="Symbol" pitchFamily="18" charset="2"/>
              </a:rPr>
              <a:t>assignment edge</a:t>
            </a:r>
            <a:r>
              <a:rPr lang="en-US" altLang="en-US" dirty="0">
                <a:solidFill>
                  <a:srgbClr val="FF0000"/>
                </a:solidFill>
                <a:sym typeface="Symbol" pitchFamily="18" charset="2"/>
              </a:rPr>
              <a:t> </a:t>
            </a:r>
            <a:r>
              <a:rPr lang="en-US" altLang="en-US" dirty="0"/>
              <a:t>–directed edge </a:t>
            </a:r>
            <a:r>
              <a:rPr lang="en-US" altLang="en-US" i="1" dirty="0" err="1"/>
              <a:t>R</a:t>
            </a:r>
            <a:r>
              <a:rPr lang="en-US" altLang="en-US" i="1" baseline="-25000" dirty="0" err="1"/>
              <a:t>j</a:t>
            </a:r>
            <a:r>
              <a:rPr lang="en-US" altLang="en-US" i="1" dirty="0"/>
              <a:t> </a:t>
            </a:r>
            <a:r>
              <a:rPr lang="en-US" altLang="en-US" dirty="0">
                <a:sym typeface="Symbol" pitchFamily="18" charset="2"/>
              </a:rPr>
              <a:t> </a:t>
            </a:r>
            <a:r>
              <a:rPr lang="en-US" altLang="en-US" i="1" dirty="0">
                <a:sym typeface="Symbol" pitchFamily="18" charset="2"/>
              </a:rPr>
              <a:t>P</a:t>
            </a:r>
            <a:r>
              <a:rPr lang="en-US" altLang="en-US" i="1" baseline="-25000" dirty="0">
                <a:sym typeface="Symbol" pitchFamily="18" charset="2"/>
              </a:rPr>
              <a:t>i</a:t>
            </a:r>
            <a:endParaRPr lang="en-US" altLang="en-US" dirty="0">
              <a:sym typeface="Symbol" pitchFamily="18" charset="2"/>
            </a:endParaRPr>
          </a:p>
        </p:txBody>
      </p:sp>
      <p:sp>
        <p:nvSpPr>
          <p:cNvPr id="9220" name="Text Box 4"/>
          <p:cNvSpPr txBox="1">
            <a:spLocks noChangeArrowheads="1"/>
          </p:cNvSpPr>
          <p:nvPr/>
        </p:nvSpPr>
        <p:spPr bwMode="auto">
          <a:xfrm>
            <a:off x="822325" y="1035050"/>
            <a:ext cx="4692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84" charset="0"/>
                <a:ea typeface="MS PGothic"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84" charset="0"/>
                <a:ea typeface="MS PGothic"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84" charset="0"/>
                <a:ea typeface="MS PGothic" pitchFamily="34" charset="-128"/>
              </a:defRPr>
            </a:lvl3pPr>
            <a:lvl4pPr marL="1600200" indent="-228600">
              <a:spcBef>
                <a:spcPct val="35000"/>
              </a:spcBef>
              <a:buClr>
                <a:schemeClr val="hlink"/>
              </a:buClr>
              <a:buSzPct val="75000"/>
              <a:buChar char="–"/>
              <a:defRPr kumimoji="1">
                <a:solidFill>
                  <a:schemeClr val="tx1"/>
                </a:solidFill>
                <a:latin typeface="Helvetica" pitchFamily="-84" charset="0"/>
                <a:ea typeface="MS PGothic" pitchFamily="34" charset="-128"/>
              </a:defRPr>
            </a:lvl4pPr>
            <a:lvl5pPr marL="2057400" indent="-228600">
              <a:spcBef>
                <a:spcPct val="35000"/>
              </a:spcBef>
              <a:buClr>
                <a:srgbClr val="FF0066"/>
              </a:buClr>
              <a:buSzPct val="75000"/>
              <a:buChar char="»"/>
              <a:defRPr kumimoji="1">
                <a:solidFill>
                  <a:schemeClr val="tx1"/>
                </a:solidFill>
                <a:latin typeface="Helvetica" pitchFamily="-84" charset="0"/>
                <a:ea typeface="MS PGothic"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9pPr>
          </a:lstStyle>
          <a:p>
            <a:pPr algn="ctr">
              <a:spcBef>
                <a:spcPct val="50000"/>
              </a:spcBef>
              <a:buClrTx/>
              <a:buSzTx/>
              <a:buFontTx/>
              <a:buNone/>
            </a:pPr>
            <a:r>
              <a:rPr kumimoji="0" lang="en-US" altLang="en-US" sz="2000"/>
              <a:t>A set of vertices </a:t>
            </a:r>
            <a:r>
              <a:rPr kumimoji="0" lang="en-US" altLang="en-US" sz="2000" i="1"/>
              <a:t>V</a:t>
            </a:r>
            <a:r>
              <a:rPr kumimoji="0" lang="en-US" altLang="en-US" sz="2000"/>
              <a:t> and a set of edges </a:t>
            </a:r>
            <a:r>
              <a:rPr kumimoji="0" lang="en-US" altLang="en-US" sz="2000" i="1"/>
              <a:t>E</a:t>
            </a:r>
            <a:r>
              <a:rPr kumimoji="0" lang="en-US" altLang="en-US" sz="2000"/>
              <a:t>.</a:t>
            </a:r>
          </a:p>
        </p:txBody>
      </p:sp>
    </p:spTree>
    <p:extLst>
      <p:ext uri="{BB962C8B-B14F-4D97-AF65-F5344CB8AC3E}">
        <p14:creationId xmlns:p14="http://schemas.microsoft.com/office/powerpoint/2010/main" val="1135328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128713" y="182563"/>
            <a:ext cx="7810500" cy="576262"/>
          </a:xfrm>
        </p:spPr>
        <p:txBody>
          <a:bodyPr>
            <a:normAutofit fontScale="90000"/>
          </a:bodyPr>
          <a:lstStyle/>
          <a:p>
            <a:pPr eaLnBrk="1" hangingPunct="1"/>
            <a:r>
              <a:rPr lang="en-US" altLang="en-US"/>
              <a:t>Resource-Allocation Graph (Cont.)</a:t>
            </a:r>
          </a:p>
        </p:txBody>
      </p:sp>
      <p:sp>
        <p:nvSpPr>
          <p:cNvPr id="10243" name="Rectangle 3"/>
          <p:cNvSpPr>
            <a:spLocks noGrp="1" noChangeArrowheads="1"/>
          </p:cNvSpPr>
          <p:nvPr>
            <p:ph type="body" idx="1"/>
          </p:nvPr>
        </p:nvSpPr>
        <p:spPr>
          <a:xfrm>
            <a:off x="885825" y="1138238"/>
            <a:ext cx="7343775" cy="4530725"/>
          </a:xfrm>
        </p:spPr>
        <p:txBody>
          <a:bodyPr>
            <a:normAutofit fontScale="85000" lnSpcReduction="20000"/>
          </a:bodyPr>
          <a:lstStyle/>
          <a:p>
            <a:r>
              <a:rPr lang="en-US" altLang="en-US"/>
              <a:t>Process</a:t>
            </a:r>
            <a:br>
              <a:rPr lang="en-US" altLang="en-US"/>
            </a:br>
            <a:br>
              <a:rPr lang="en-US" altLang="en-US"/>
            </a:br>
            <a:br>
              <a:rPr lang="en-US" altLang="en-US"/>
            </a:br>
            <a:endParaRPr lang="en-US" altLang="en-US"/>
          </a:p>
          <a:p>
            <a:r>
              <a:rPr lang="en-US" altLang="en-US"/>
              <a:t>Resource Type with 4 instances</a:t>
            </a:r>
          </a:p>
          <a:p>
            <a:pPr>
              <a:buFont typeface="Monotype Sorts" pitchFamily="-84" charset="2"/>
              <a:buNone/>
            </a:pPr>
            <a:endParaRPr lang="en-US" altLang="en-US"/>
          </a:p>
          <a:p>
            <a:endParaRPr lang="en-US" altLang="en-US"/>
          </a:p>
          <a:p>
            <a:r>
              <a:rPr lang="en-US" altLang="en-US" i="1"/>
              <a:t>P</a:t>
            </a:r>
            <a:r>
              <a:rPr lang="en-US" altLang="en-US" i="1" baseline="-25000"/>
              <a:t>i</a:t>
            </a:r>
            <a:r>
              <a:rPr lang="en-US" altLang="en-US" i="1"/>
              <a:t> </a:t>
            </a:r>
            <a:r>
              <a:rPr lang="en-US" altLang="en-US"/>
              <a:t>requests instance of </a:t>
            </a:r>
            <a:r>
              <a:rPr lang="en-US" altLang="en-US" i="1"/>
              <a:t>R</a:t>
            </a:r>
            <a:r>
              <a:rPr lang="en-US" altLang="en-US" i="1" baseline="-25000"/>
              <a:t>j</a:t>
            </a:r>
            <a:endParaRPr lang="en-US" altLang="en-US"/>
          </a:p>
          <a:p>
            <a:endParaRPr lang="en-US" altLang="en-US"/>
          </a:p>
          <a:p>
            <a:pPr>
              <a:buFont typeface="Monotype Sorts" pitchFamily="-84" charset="2"/>
              <a:buNone/>
            </a:pPr>
            <a:endParaRPr lang="en-US" altLang="en-US"/>
          </a:p>
          <a:p>
            <a:r>
              <a:rPr lang="en-US" altLang="en-US" i="1"/>
              <a:t>P</a:t>
            </a:r>
            <a:r>
              <a:rPr lang="en-US" altLang="en-US" i="1" baseline="-25000"/>
              <a:t>i</a:t>
            </a:r>
            <a:r>
              <a:rPr lang="en-US" altLang="en-US"/>
              <a:t> is holding an instance of </a:t>
            </a:r>
            <a:r>
              <a:rPr lang="en-US" altLang="en-US" i="1"/>
              <a:t>R</a:t>
            </a:r>
            <a:r>
              <a:rPr lang="en-US" altLang="en-US" i="1" baseline="-25000"/>
              <a:t>j</a:t>
            </a:r>
            <a:endParaRPr lang="en-US" altLang="en-US" i="1"/>
          </a:p>
        </p:txBody>
      </p:sp>
      <p:sp>
        <p:nvSpPr>
          <p:cNvPr id="10244" name="Oval 4"/>
          <p:cNvSpPr>
            <a:spLocks noChangeArrowheads="1"/>
          </p:cNvSpPr>
          <p:nvPr/>
        </p:nvSpPr>
        <p:spPr bwMode="auto">
          <a:xfrm>
            <a:off x="4143375" y="1493838"/>
            <a:ext cx="495300" cy="495300"/>
          </a:xfrm>
          <a:prstGeom prst="ellipse">
            <a:avLst/>
          </a:prstGeom>
          <a:solidFill>
            <a:srgbClr val="CCECFF"/>
          </a:solidFill>
          <a:ln w="9525">
            <a:solidFill>
              <a:schemeClr val="tx1"/>
            </a:solidFill>
            <a:round/>
            <a:headEnd/>
            <a:tailEnd/>
          </a:ln>
        </p:spPr>
        <p:txBody>
          <a:bodyPr wrap="none" anchor="ctr"/>
          <a:lstStyle>
            <a:lvl1pPr>
              <a:spcBef>
                <a:spcPct val="35000"/>
              </a:spcBef>
              <a:buClr>
                <a:srgbClr val="993300"/>
              </a:buClr>
              <a:buSzPct val="90000"/>
              <a:buFont typeface="Monotype Sorts" pitchFamily="-84" charset="2"/>
              <a:buChar char="n"/>
              <a:defRPr kumimoji="1">
                <a:solidFill>
                  <a:schemeClr val="tx1"/>
                </a:solidFill>
                <a:latin typeface="Helvetica" pitchFamily="-84" charset="0"/>
                <a:ea typeface="MS PGothic"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84" charset="0"/>
                <a:ea typeface="MS PGothic"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84" charset="0"/>
                <a:ea typeface="MS PGothic" pitchFamily="34" charset="-128"/>
              </a:defRPr>
            </a:lvl3pPr>
            <a:lvl4pPr marL="1600200" indent="-228600">
              <a:spcBef>
                <a:spcPct val="35000"/>
              </a:spcBef>
              <a:buClr>
                <a:schemeClr val="hlink"/>
              </a:buClr>
              <a:buSzPct val="75000"/>
              <a:buChar char="–"/>
              <a:defRPr kumimoji="1">
                <a:solidFill>
                  <a:schemeClr val="tx1"/>
                </a:solidFill>
                <a:latin typeface="Helvetica" pitchFamily="-84" charset="0"/>
                <a:ea typeface="MS PGothic" pitchFamily="34" charset="-128"/>
              </a:defRPr>
            </a:lvl4pPr>
            <a:lvl5pPr marL="2057400" indent="-228600">
              <a:spcBef>
                <a:spcPct val="35000"/>
              </a:spcBef>
              <a:buClr>
                <a:srgbClr val="FF0066"/>
              </a:buClr>
              <a:buSzPct val="75000"/>
              <a:buChar char="»"/>
              <a:defRPr kumimoji="1">
                <a:solidFill>
                  <a:schemeClr val="tx1"/>
                </a:solidFill>
                <a:latin typeface="Helvetica" pitchFamily="-84" charset="0"/>
                <a:ea typeface="MS PGothic"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9pPr>
          </a:lstStyle>
          <a:p>
            <a:pPr>
              <a:spcBef>
                <a:spcPct val="0"/>
              </a:spcBef>
              <a:buClrTx/>
              <a:buSzTx/>
              <a:buFontTx/>
              <a:buNone/>
            </a:pPr>
            <a:endParaRPr kumimoji="0" lang="en-US" altLang="en-US">
              <a:latin typeface="Verdana" pitchFamily="34" charset="0"/>
            </a:endParaRPr>
          </a:p>
        </p:txBody>
      </p:sp>
      <p:sp>
        <p:nvSpPr>
          <p:cNvPr id="10245" name="Oval 5"/>
          <p:cNvSpPr>
            <a:spLocks noChangeArrowheads="1"/>
          </p:cNvSpPr>
          <p:nvPr/>
        </p:nvSpPr>
        <p:spPr bwMode="auto">
          <a:xfrm>
            <a:off x="3876675" y="5480075"/>
            <a:ext cx="495300" cy="495300"/>
          </a:xfrm>
          <a:prstGeom prst="ellipse">
            <a:avLst/>
          </a:prstGeom>
          <a:solidFill>
            <a:srgbClr val="CCECFF"/>
          </a:solidFill>
          <a:ln w="9525">
            <a:solidFill>
              <a:schemeClr val="tx1"/>
            </a:solidFill>
            <a:round/>
            <a:headEnd/>
            <a:tailEnd/>
          </a:ln>
        </p:spPr>
        <p:txBody>
          <a:bodyPr wrap="none" anchor="ctr"/>
          <a:lstStyle>
            <a:lvl1pPr>
              <a:spcBef>
                <a:spcPct val="35000"/>
              </a:spcBef>
              <a:buClr>
                <a:srgbClr val="993300"/>
              </a:buClr>
              <a:buSzPct val="90000"/>
              <a:buFont typeface="Monotype Sorts" pitchFamily="-84" charset="2"/>
              <a:buChar char="n"/>
              <a:defRPr kumimoji="1">
                <a:solidFill>
                  <a:schemeClr val="tx1"/>
                </a:solidFill>
                <a:latin typeface="Helvetica" pitchFamily="-84" charset="0"/>
                <a:ea typeface="MS PGothic"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84" charset="0"/>
                <a:ea typeface="MS PGothic"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84" charset="0"/>
                <a:ea typeface="MS PGothic" pitchFamily="34" charset="-128"/>
              </a:defRPr>
            </a:lvl3pPr>
            <a:lvl4pPr marL="1600200" indent="-228600">
              <a:spcBef>
                <a:spcPct val="35000"/>
              </a:spcBef>
              <a:buClr>
                <a:schemeClr val="hlink"/>
              </a:buClr>
              <a:buSzPct val="75000"/>
              <a:buChar char="–"/>
              <a:defRPr kumimoji="1">
                <a:solidFill>
                  <a:schemeClr val="tx1"/>
                </a:solidFill>
                <a:latin typeface="Helvetica" pitchFamily="-84" charset="0"/>
                <a:ea typeface="MS PGothic" pitchFamily="34" charset="-128"/>
              </a:defRPr>
            </a:lvl4pPr>
            <a:lvl5pPr marL="2057400" indent="-228600">
              <a:spcBef>
                <a:spcPct val="35000"/>
              </a:spcBef>
              <a:buClr>
                <a:srgbClr val="FF0066"/>
              </a:buClr>
              <a:buSzPct val="75000"/>
              <a:buChar char="»"/>
              <a:defRPr kumimoji="1">
                <a:solidFill>
                  <a:schemeClr val="tx1"/>
                </a:solidFill>
                <a:latin typeface="Helvetica" pitchFamily="-84" charset="0"/>
                <a:ea typeface="MS PGothic"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9pPr>
          </a:lstStyle>
          <a:p>
            <a:pPr algn="ctr">
              <a:spcBef>
                <a:spcPct val="0"/>
              </a:spcBef>
              <a:buClrTx/>
              <a:buSzTx/>
              <a:buFontTx/>
              <a:buNone/>
            </a:pPr>
            <a:r>
              <a:rPr kumimoji="0" lang="en-US" altLang="en-US" i="1"/>
              <a:t>P</a:t>
            </a:r>
            <a:r>
              <a:rPr kumimoji="0" lang="en-US" altLang="en-US" i="1" baseline="-25000"/>
              <a:t>i</a:t>
            </a:r>
            <a:endParaRPr kumimoji="0" lang="en-US" altLang="en-US"/>
          </a:p>
        </p:txBody>
      </p:sp>
      <p:sp>
        <p:nvSpPr>
          <p:cNvPr id="10246" name="Oval 6"/>
          <p:cNvSpPr>
            <a:spLocks noChangeArrowheads="1"/>
          </p:cNvSpPr>
          <p:nvPr/>
        </p:nvSpPr>
        <p:spPr bwMode="auto">
          <a:xfrm>
            <a:off x="3860800" y="4227363"/>
            <a:ext cx="495300" cy="495300"/>
          </a:xfrm>
          <a:prstGeom prst="ellipse">
            <a:avLst/>
          </a:prstGeom>
          <a:solidFill>
            <a:srgbClr val="CCECFF"/>
          </a:solidFill>
          <a:ln w="9525">
            <a:solidFill>
              <a:schemeClr val="tx1"/>
            </a:solidFill>
            <a:round/>
            <a:headEnd/>
            <a:tailEnd/>
          </a:ln>
        </p:spPr>
        <p:txBody>
          <a:bodyPr wrap="none" anchor="ctr"/>
          <a:lstStyle>
            <a:lvl1pPr>
              <a:spcBef>
                <a:spcPct val="35000"/>
              </a:spcBef>
              <a:buClr>
                <a:srgbClr val="993300"/>
              </a:buClr>
              <a:buSzPct val="90000"/>
              <a:buFont typeface="Monotype Sorts" pitchFamily="-84" charset="2"/>
              <a:buChar char="n"/>
              <a:defRPr kumimoji="1">
                <a:solidFill>
                  <a:schemeClr val="tx1"/>
                </a:solidFill>
                <a:latin typeface="Helvetica" pitchFamily="-84" charset="0"/>
                <a:ea typeface="MS PGothic"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84" charset="0"/>
                <a:ea typeface="MS PGothic"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84" charset="0"/>
                <a:ea typeface="MS PGothic" pitchFamily="34" charset="-128"/>
              </a:defRPr>
            </a:lvl3pPr>
            <a:lvl4pPr marL="1600200" indent="-228600">
              <a:spcBef>
                <a:spcPct val="35000"/>
              </a:spcBef>
              <a:buClr>
                <a:schemeClr val="hlink"/>
              </a:buClr>
              <a:buSzPct val="75000"/>
              <a:buChar char="–"/>
              <a:defRPr kumimoji="1">
                <a:solidFill>
                  <a:schemeClr val="tx1"/>
                </a:solidFill>
                <a:latin typeface="Helvetica" pitchFamily="-84" charset="0"/>
                <a:ea typeface="MS PGothic" pitchFamily="34" charset="-128"/>
              </a:defRPr>
            </a:lvl4pPr>
            <a:lvl5pPr marL="2057400" indent="-228600">
              <a:spcBef>
                <a:spcPct val="35000"/>
              </a:spcBef>
              <a:buClr>
                <a:srgbClr val="FF0066"/>
              </a:buClr>
              <a:buSzPct val="75000"/>
              <a:buChar char="»"/>
              <a:defRPr kumimoji="1">
                <a:solidFill>
                  <a:schemeClr val="tx1"/>
                </a:solidFill>
                <a:latin typeface="Helvetica" pitchFamily="-84" charset="0"/>
                <a:ea typeface="MS PGothic"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9pPr>
          </a:lstStyle>
          <a:p>
            <a:pPr algn="ctr">
              <a:spcBef>
                <a:spcPct val="0"/>
              </a:spcBef>
              <a:buClrTx/>
              <a:buSzTx/>
              <a:buFontTx/>
              <a:buNone/>
            </a:pPr>
            <a:r>
              <a:rPr kumimoji="0" lang="en-US" altLang="en-US" i="1" dirty="0"/>
              <a:t>P</a:t>
            </a:r>
            <a:r>
              <a:rPr kumimoji="0" lang="en-US" altLang="en-US" i="1" baseline="-25000" dirty="0"/>
              <a:t>i</a:t>
            </a:r>
            <a:endParaRPr kumimoji="0" lang="en-US" altLang="en-US" i="1" dirty="0"/>
          </a:p>
        </p:txBody>
      </p:sp>
      <p:grpSp>
        <p:nvGrpSpPr>
          <p:cNvPr id="2" name="Group 12"/>
          <p:cNvGrpSpPr>
            <a:grpSpLocks/>
          </p:cNvGrpSpPr>
          <p:nvPr/>
        </p:nvGrpSpPr>
        <p:grpSpPr bwMode="auto">
          <a:xfrm>
            <a:off x="4232275" y="3153916"/>
            <a:ext cx="438150" cy="419100"/>
            <a:chOff x="2666" y="1966"/>
            <a:chExt cx="276" cy="264"/>
          </a:xfrm>
          <a:solidFill>
            <a:srgbClr val="CCECFF"/>
          </a:solidFill>
        </p:grpSpPr>
        <p:sp>
          <p:nvSpPr>
            <p:cNvPr id="10264" name="Rectangle 7"/>
            <p:cNvSpPr>
              <a:spLocks noChangeArrowheads="1"/>
            </p:cNvSpPr>
            <p:nvPr/>
          </p:nvSpPr>
          <p:spPr bwMode="auto">
            <a:xfrm>
              <a:off x="2666" y="1966"/>
              <a:ext cx="276" cy="264"/>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0265" name="Rectangle 8"/>
            <p:cNvSpPr>
              <a:spLocks noChangeArrowheads="1"/>
            </p:cNvSpPr>
            <p:nvPr/>
          </p:nvSpPr>
          <p:spPr bwMode="auto">
            <a:xfrm>
              <a:off x="2736" y="2026"/>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0266" name="Rectangle 9"/>
            <p:cNvSpPr>
              <a:spLocks noChangeArrowheads="1"/>
            </p:cNvSpPr>
            <p:nvPr/>
          </p:nvSpPr>
          <p:spPr bwMode="auto">
            <a:xfrm>
              <a:off x="2832" y="2026"/>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0267" name="Rectangle 10"/>
            <p:cNvSpPr>
              <a:spLocks noChangeArrowheads="1"/>
            </p:cNvSpPr>
            <p:nvPr/>
          </p:nvSpPr>
          <p:spPr bwMode="auto">
            <a:xfrm>
              <a:off x="2736" y="2108"/>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0268" name="Rectangle 11"/>
            <p:cNvSpPr>
              <a:spLocks noChangeArrowheads="1"/>
            </p:cNvSpPr>
            <p:nvPr/>
          </p:nvSpPr>
          <p:spPr bwMode="auto">
            <a:xfrm>
              <a:off x="2832" y="2108"/>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grpSp>
        <p:nvGrpSpPr>
          <p:cNvPr id="3" name="Group 13"/>
          <p:cNvGrpSpPr>
            <a:grpSpLocks/>
          </p:cNvGrpSpPr>
          <p:nvPr/>
        </p:nvGrpSpPr>
        <p:grpSpPr bwMode="auto">
          <a:xfrm>
            <a:off x="4692650" y="4290863"/>
            <a:ext cx="438150" cy="419100"/>
            <a:chOff x="2666" y="1966"/>
            <a:chExt cx="276" cy="264"/>
          </a:xfrm>
          <a:solidFill>
            <a:srgbClr val="CCECFF"/>
          </a:solidFill>
        </p:grpSpPr>
        <p:sp>
          <p:nvSpPr>
            <p:cNvPr id="10259" name="Rectangle 14"/>
            <p:cNvSpPr>
              <a:spLocks noChangeArrowheads="1"/>
            </p:cNvSpPr>
            <p:nvPr/>
          </p:nvSpPr>
          <p:spPr bwMode="auto">
            <a:xfrm>
              <a:off x="2666" y="1966"/>
              <a:ext cx="276" cy="264"/>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0260" name="Rectangle 15"/>
            <p:cNvSpPr>
              <a:spLocks noChangeArrowheads="1"/>
            </p:cNvSpPr>
            <p:nvPr/>
          </p:nvSpPr>
          <p:spPr bwMode="auto">
            <a:xfrm>
              <a:off x="2736" y="2026"/>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0261" name="Rectangle 16"/>
            <p:cNvSpPr>
              <a:spLocks noChangeArrowheads="1"/>
            </p:cNvSpPr>
            <p:nvPr/>
          </p:nvSpPr>
          <p:spPr bwMode="auto">
            <a:xfrm>
              <a:off x="2832" y="2026"/>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0262" name="Rectangle 17"/>
            <p:cNvSpPr>
              <a:spLocks noChangeArrowheads="1"/>
            </p:cNvSpPr>
            <p:nvPr/>
          </p:nvSpPr>
          <p:spPr bwMode="auto">
            <a:xfrm>
              <a:off x="2736" y="2108"/>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0263" name="Rectangle 18"/>
            <p:cNvSpPr>
              <a:spLocks noChangeArrowheads="1"/>
            </p:cNvSpPr>
            <p:nvPr/>
          </p:nvSpPr>
          <p:spPr bwMode="auto">
            <a:xfrm>
              <a:off x="2832" y="2108"/>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10249" name="Line 19"/>
          <p:cNvSpPr>
            <a:spLocks noChangeShapeType="1"/>
          </p:cNvSpPr>
          <p:nvPr/>
        </p:nvSpPr>
        <p:spPr bwMode="auto">
          <a:xfrm>
            <a:off x="4365625" y="4494063"/>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10250" name="Text Box 20"/>
          <p:cNvSpPr txBox="1">
            <a:spLocks noChangeArrowheads="1"/>
          </p:cNvSpPr>
          <p:nvPr/>
        </p:nvSpPr>
        <p:spPr bwMode="auto">
          <a:xfrm>
            <a:off x="4752975" y="4708376"/>
            <a:ext cx="3381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84" charset="0"/>
                <a:ea typeface="MS PGothic"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84" charset="0"/>
                <a:ea typeface="MS PGothic"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84" charset="0"/>
                <a:ea typeface="MS PGothic" pitchFamily="34" charset="-128"/>
              </a:defRPr>
            </a:lvl3pPr>
            <a:lvl4pPr marL="1600200" indent="-228600">
              <a:spcBef>
                <a:spcPct val="35000"/>
              </a:spcBef>
              <a:buClr>
                <a:schemeClr val="hlink"/>
              </a:buClr>
              <a:buSzPct val="75000"/>
              <a:buChar char="–"/>
              <a:defRPr kumimoji="1">
                <a:solidFill>
                  <a:schemeClr val="tx1"/>
                </a:solidFill>
                <a:latin typeface="Helvetica" pitchFamily="-84" charset="0"/>
                <a:ea typeface="MS PGothic" pitchFamily="34" charset="-128"/>
              </a:defRPr>
            </a:lvl4pPr>
            <a:lvl5pPr marL="2057400" indent="-228600">
              <a:spcBef>
                <a:spcPct val="35000"/>
              </a:spcBef>
              <a:buClr>
                <a:srgbClr val="FF0066"/>
              </a:buClr>
              <a:buSzPct val="75000"/>
              <a:buChar char="»"/>
              <a:defRPr kumimoji="1">
                <a:solidFill>
                  <a:schemeClr val="tx1"/>
                </a:solidFill>
                <a:latin typeface="Helvetica" pitchFamily="-84" charset="0"/>
                <a:ea typeface="MS PGothic"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9pPr>
          </a:lstStyle>
          <a:p>
            <a:pPr algn="ctr">
              <a:spcBef>
                <a:spcPct val="50000"/>
              </a:spcBef>
              <a:buClrTx/>
              <a:buSzTx/>
              <a:buFontTx/>
              <a:buNone/>
            </a:pPr>
            <a:r>
              <a:rPr kumimoji="0" lang="en-US" altLang="en-US" sz="1400" i="1"/>
              <a:t>R</a:t>
            </a:r>
            <a:r>
              <a:rPr kumimoji="0" lang="en-US" altLang="en-US" sz="1400" i="1" baseline="-25000"/>
              <a:t>j</a:t>
            </a:r>
            <a:endParaRPr kumimoji="0" lang="en-US" altLang="en-US" sz="1400" i="1"/>
          </a:p>
        </p:txBody>
      </p:sp>
      <p:grpSp>
        <p:nvGrpSpPr>
          <p:cNvPr id="4" name="Group 21"/>
          <p:cNvGrpSpPr>
            <a:grpSpLocks/>
          </p:cNvGrpSpPr>
          <p:nvPr/>
        </p:nvGrpSpPr>
        <p:grpSpPr bwMode="auto">
          <a:xfrm>
            <a:off x="4670425" y="5543575"/>
            <a:ext cx="438150" cy="419100"/>
            <a:chOff x="2666" y="1966"/>
            <a:chExt cx="276" cy="264"/>
          </a:xfrm>
          <a:solidFill>
            <a:srgbClr val="CCECFF"/>
          </a:solidFill>
        </p:grpSpPr>
        <p:sp>
          <p:nvSpPr>
            <p:cNvPr id="10254" name="Rectangle 22"/>
            <p:cNvSpPr>
              <a:spLocks noChangeArrowheads="1"/>
            </p:cNvSpPr>
            <p:nvPr/>
          </p:nvSpPr>
          <p:spPr bwMode="auto">
            <a:xfrm>
              <a:off x="2666" y="1966"/>
              <a:ext cx="276" cy="264"/>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0255" name="Rectangle 23"/>
            <p:cNvSpPr>
              <a:spLocks noChangeArrowheads="1"/>
            </p:cNvSpPr>
            <p:nvPr/>
          </p:nvSpPr>
          <p:spPr bwMode="auto">
            <a:xfrm>
              <a:off x="2736" y="2026"/>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0256" name="Rectangle 24"/>
            <p:cNvSpPr>
              <a:spLocks noChangeArrowheads="1"/>
            </p:cNvSpPr>
            <p:nvPr/>
          </p:nvSpPr>
          <p:spPr bwMode="auto">
            <a:xfrm>
              <a:off x="2832" y="2026"/>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0257" name="Rectangle 25"/>
            <p:cNvSpPr>
              <a:spLocks noChangeArrowheads="1"/>
            </p:cNvSpPr>
            <p:nvPr/>
          </p:nvSpPr>
          <p:spPr bwMode="auto">
            <a:xfrm>
              <a:off x="2736" y="2108"/>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0258" name="Rectangle 26"/>
            <p:cNvSpPr>
              <a:spLocks noChangeArrowheads="1"/>
            </p:cNvSpPr>
            <p:nvPr/>
          </p:nvSpPr>
          <p:spPr bwMode="auto">
            <a:xfrm>
              <a:off x="2832" y="2108"/>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10252" name="Line 27"/>
          <p:cNvSpPr>
            <a:spLocks noChangeShapeType="1"/>
          </p:cNvSpPr>
          <p:nvPr/>
        </p:nvSpPr>
        <p:spPr bwMode="auto">
          <a:xfrm flipH="1">
            <a:off x="4343400" y="5689625"/>
            <a:ext cx="476250" cy="1047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10253" name="Text Box 28"/>
          <p:cNvSpPr txBox="1">
            <a:spLocks noChangeArrowheads="1"/>
          </p:cNvSpPr>
          <p:nvPr/>
        </p:nvSpPr>
        <p:spPr bwMode="auto">
          <a:xfrm>
            <a:off x="4721225" y="5932512"/>
            <a:ext cx="3381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84" charset="0"/>
                <a:ea typeface="MS PGothic"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84" charset="0"/>
                <a:ea typeface="MS PGothic"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84" charset="0"/>
                <a:ea typeface="MS PGothic" pitchFamily="34" charset="-128"/>
              </a:defRPr>
            </a:lvl3pPr>
            <a:lvl4pPr marL="1600200" indent="-228600">
              <a:spcBef>
                <a:spcPct val="35000"/>
              </a:spcBef>
              <a:buClr>
                <a:schemeClr val="hlink"/>
              </a:buClr>
              <a:buSzPct val="75000"/>
              <a:buChar char="–"/>
              <a:defRPr kumimoji="1">
                <a:solidFill>
                  <a:schemeClr val="tx1"/>
                </a:solidFill>
                <a:latin typeface="Helvetica" pitchFamily="-84" charset="0"/>
                <a:ea typeface="MS PGothic" pitchFamily="34" charset="-128"/>
              </a:defRPr>
            </a:lvl4pPr>
            <a:lvl5pPr marL="2057400" indent="-228600">
              <a:spcBef>
                <a:spcPct val="35000"/>
              </a:spcBef>
              <a:buClr>
                <a:srgbClr val="FF0066"/>
              </a:buClr>
              <a:buSzPct val="75000"/>
              <a:buChar char="»"/>
              <a:defRPr kumimoji="1">
                <a:solidFill>
                  <a:schemeClr val="tx1"/>
                </a:solidFill>
                <a:latin typeface="Helvetica" pitchFamily="-84" charset="0"/>
                <a:ea typeface="MS PGothic"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9pPr>
          </a:lstStyle>
          <a:p>
            <a:pPr algn="ctr">
              <a:spcBef>
                <a:spcPct val="50000"/>
              </a:spcBef>
              <a:buClrTx/>
              <a:buSzTx/>
              <a:buFontTx/>
              <a:buNone/>
            </a:pPr>
            <a:r>
              <a:rPr kumimoji="0" lang="en-US" altLang="en-US" sz="1400" i="1"/>
              <a:t>R</a:t>
            </a:r>
            <a:r>
              <a:rPr kumimoji="0" lang="en-US" altLang="en-US" sz="1400" i="1" baseline="-25000"/>
              <a:t>j</a:t>
            </a:r>
            <a:endParaRPr kumimoji="0" lang="en-US" altLang="en-US" sz="1400" i="1"/>
          </a:p>
        </p:txBody>
      </p:sp>
    </p:spTree>
    <p:extLst>
      <p:ext uri="{BB962C8B-B14F-4D97-AF65-F5344CB8AC3E}">
        <p14:creationId xmlns:p14="http://schemas.microsoft.com/office/powerpoint/2010/main" val="3359703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026"/>
          <p:cNvSpPr>
            <a:spLocks noGrp="1" noChangeArrowheads="1"/>
          </p:cNvSpPr>
          <p:nvPr>
            <p:ph type="title"/>
          </p:nvPr>
        </p:nvSpPr>
        <p:spPr>
          <a:xfrm>
            <a:off x="1076325" y="207963"/>
            <a:ext cx="8150225" cy="512762"/>
          </a:xfrm>
        </p:spPr>
        <p:txBody>
          <a:bodyPr>
            <a:normAutofit fontScale="90000"/>
          </a:bodyPr>
          <a:lstStyle/>
          <a:p>
            <a:pPr eaLnBrk="1" hangingPunct="1"/>
            <a:r>
              <a:rPr lang="en-US" altLang="en-US" sz="2800"/>
              <a:t>Example of a Resource Allocation Graph</a:t>
            </a:r>
          </a:p>
        </p:txBody>
      </p:sp>
      <p:pic>
        <p:nvPicPr>
          <p:cNvPr id="11267" name="Picture 1032"/>
          <p:cNvPicPr>
            <a:picLocks noChangeAspect="1" noChangeArrowheads="1"/>
          </p:cNvPicPr>
          <p:nvPr/>
        </p:nvPicPr>
        <p:blipFill>
          <a:blip r:embed="rId3">
            <a:extLst>
              <a:ext uri="{28A0092B-C50C-407E-A947-70E740481C1C}">
                <a14:useLocalDpi xmlns:a14="http://schemas.microsoft.com/office/drawing/2010/main" val="0"/>
              </a:ext>
            </a:extLst>
          </a:blip>
          <a:srcRect l="25287" t="926" r="25287" b="1532"/>
          <a:stretch>
            <a:fillRect/>
          </a:stretch>
        </p:blipFill>
        <p:spPr bwMode="auto">
          <a:xfrm>
            <a:off x="2941638" y="1316038"/>
            <a:ext cx="2741612" cy="405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extLst>
      <p:ext uri="{BB962C8B-B14F-4D97-AF65-F5344CB8AC3E}">
        <p14:creationId xmlns:p14="http://schemas.microsoft.com/office/powerpoint/2010/main" val="288779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033463" y="273050"/>
            <a:ext cx="8378825" cy="469900"/>
          </a:xfrm>
        </p:spPr>
        <p:txBody>
          <a:bodyPr>
            <a:normAutofit fontScale="90000"/>
          </a:bodyPr>
          <a:lstStyle/>
          <a:p>
            <a:pPr eaLnBrk="1" hangingPunct="1"/>
            <a:r>
              <a:rPr lang="en-US" altLang="en-US" sz="2800"/>
              <a:t>Resource Allocation Graph With A Deadlock</a:t>
            </a:r>
          </a:p>
        </p:txBody>
      </p:sp>
      <p:pic>
        <p:nvPicPr>
          <p:cNvPr id="1229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3075" y="1212850"/>
            <a:ext cx="2781300" cy="409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46220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241425" y="304800"/>
            <a:ext cx="7954963" cy="457200"/>
          </a:xfrm>
        </p:spPr>
        <p:txBody>
          <a:bodyPr>
            <a:normAutofit fontScale="90000"/>
          </a:bodyPr>
          <a:lstStyle/>
          <a:p>
            <a:pPr eaLnBrk="1" hangingPunct="1"/>
            <a:r>
              <a:rPr lang="en-US" altLang="en-US"/>
              <a:t>Graph With A Cycle But No Deadlock</a:t>
            </a:r>
          </a:p>
        </p:txBody>
      </p:sp>
      <p:pic>
        <p:nvPicPr>
          <p:cNvPr id="13315" name="Picture 4" descr="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6275" y="1208088"/>
            <a:ext cx="2952750" cy="376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0365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152400"/>
            <a:ext cx="8229600" cy="576263"/>
          </a:xfrm>
        </p:spPr>
        <p:txBody>
          <a:bodyPr>
            <a:normAutofit fontScale="90000"/>
          </a:bodyPr>
          <a:lstStyle/>
          <a:p>
            <a:pPr eaLnBrk="1" hangingPunct="1"/>
            <a:r>
              <a:rPr lang="en-US" altLang="en-US"/>
              <a:t>Basic Facts</a:t>
            </a:r>
          </a:p>
        </p:txBody>
      </p:sp>
      <p:sp>
        <p:nvSpPr>
          <p:cNvPr id="14339" name="Rectangle 3"/>
          <p:cNvSpPr>
            <a:spLocks noGrp="1" noChangeArrowheads="1"/>
          </p:cNvSpPr>
          <p:nvPr>
            <p:ph type="body" idx="1"/>
          </p:nvPr>
        </p:nvSpPr>
        <p:spPr>
          <a:xfrm>
            <a:off x="865188" y="1217613"/>
            <a:ext cx="6284912" cy="4400550"/>
          </a:xfrm>
        </p:spPr>
        <p:txBody>
          <a:bodyPr/>
          <a:lstStyle/>
          <a:p>
            <a:r>
              <a:rPr lang="en-US" altLang="en-US" dirty="0"/>
              <a:t>If graph contains no cycles </a:t>
            </a:r>
            <a:r>
              <a:rPr lang="en-US" altLang="en-US" dirty="0">
                <a:sym typeface="Symbol" pitchFamily="18" charset="2"/>
              </a:rPr>
              <a:t> no deadlock</a:t>
            </a:r>
          </a:p>
          <a:p>
            <a:r>
              <a:rPr lang="en-US" altLang="en-US" dirty="0">
                <a:sym typeface="Symbol" pitchFamily="18" charset="2"/>
              </a:rPr>
              <a:t>If graph contains a cycle </a:t>
            </a:r>
          </a:p>
          <a:p>
            <a:pPr lvl="1"/>
            <a:r>
              <a:rPr lang="en-US" altLang="en-US" dirty="0">
                <a:solidFill>
                  <a:srgbClr val="FF0000"/>
                </a:solidFill>
                <a:sym typeface="Symbol" pitchFamily="18" charset="2"/>
              </a:rPr>
              <a:t>if only one instance per resource type exists, then deadlock </a:t>
            </a:r>
          </a:p>
          <a:p>
            <a:pPr lvl="1"/>
            <a:r>
              <a:rPr lang="en-US" altLang="en-US" dirty="0">
                <a:solidFill>
                  <a:srgbClr val="00B050"/>
                </a:solidFill>
                <a:sym typeface="Symbol" pitchFamily="18" charset="2"/>
              </a:rPr>
              <a:t>if several instances per resource type exists, possibility of deadlock</a:t>
            </a:r>
          </a:p>
        </p:txBody>
      </p:sp>
    </p:spTree>
    <p:extLst>
      <p:ext uri="{BB962C8B-B14F-4D97-AF65-F5344CB8AC3E}">
        <p14:creationId xmlns:p14="http://schemas.microsoft.com/office/powerpoint/2010/main" val="26545495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109663" y="214313"/>
            <a:ext cx="7577137" cy="576262"/>
          </a:xfrm>
        </p:spPr>
        <p:txBody>
          <a:bodyPr>
            <a:normAutofit fontScale="90000"/>
          </a:bodyPr>
          <a:lstStyle/>
          <a:p>
            <a:pPr eaLnBrk="1" hangingPunct="1"/>
            <a:r>
              <a:rPr lang="en-US" altLang="en-US"/>
              <a:t>Methods for Handling Deadlocks</a:t>
            </a:r>
          </a:p>
        </p:txBody>
      </p:sp>
      <p:sp>
        <p:nvSpPr>
          <p:cNvPr id="15363" name="Rectangle 3"/>
          <p:cNvSpPr>
            <a:spLocks noGrp="1" noChangeArrowheads="1"/>
          </p:cNvSpPr>
          <p:nvPr>
            <p:ph type="body" idx="1"/>
          </p:nvPr>
        </p:nvSpPr>
        <p:spPr>
          <a:xfrm>
            <a:off x="882650" y="1198562"/>
            <a:ext cx="6641678" cy="4606701"/>
          </a:xfrm>
        </p:spPr>
        <p:txBody>
          <a:bodyPr>
            <a:noAutofit/>
          </a:bodyPr>
          <a:lstStyle/>
          <a:p>
            <a:r>
              <a:rPr lang="en-US" altLang="en-US" sz="2800" dirty="0"/>
              <a:t>Ensure that the system will </a:t>
            </a:r>
            <a:r>
              <a:rPr lang="en-US" altLang="en-US" sz="2800" b="1" i="1" dirty="0">
                <a:solidFill>
                  <a:srgbClr val="FF0000"/>
                </a:solidFill>
              </a:rPr>
              <a:t>never</a:t>
            </a:r>
            <a:r>
              <a:rPr lang="en-US" altLang="en-US" sz="2800" dirty="0">
                <a:solidFill>
                  <a:srgbClr val="FF0000"/>
                </a:solidFill>
              </a:rPr>
              <a:t> </a:t>
            </a:r>
            <a:r>
              <a:rPr lang="en-US" altLang="en-US" sz="2800" dirty="0"/>
              <a:t>enter a deadlock state:</a:t>
            </a:r>
          </a:p>
          <a:p>
            <a:pPr lvl="1"/>
            <a:r>
              <a:rPr lang="en-US" altLang="en-US" sz="2400" dirty="0">
                <a:solidFill>
                  <a:srgbClr val="00B050"/>
                </a:solidFill>
              </a:rPr>
              <a:t>Deadlock prevention</a:t>
            </a:r>
          </a:p>
          <a:p>
            <a:pPr lvl="1"/>
            <a:r>
              <a:rPr lang="en-US" altLang="en-US" sz="2400" dirty="0">
                <a:solidFill>
                  <a:srgbClr val="00B050"/>
                </a:solidFill>
              </a:rPr>
              <a:t>Deadlock avoidance</a:t>
            </a:r>
          </a:p>
          <a:p>
            <a:pPr algn="just"/>
            <a:r>
              <a:rPr lang="en-US" altLang="en-US" sz="2800" dirty="0"/>
              <a:t>Allow the system to enter a deadlock state and then recover</a:t>
            </a:r>
          </a:p>
          <a:p>
            <a:pPr algn="just"/>
            <a:r>
              <a:rPr lang="en-US" altLang="en-US" sz="2800" dirty="0"/>
              <a:t>Ignore the problem and pretend that deadlocks never occur in the system; </a:t>
            </a:r>
          </a:p>
          <a:p>
            <a:pPr lvl="1" algn="just"/>
            <a:r>
              <a:rPr lang="en-US" altLang="en-US" sz="2400" dirty="0">
                <a:solidFill>
                  <a:srgbClr val="FF0000"/>
                </a:solidFill>
              </a:rPr>
              <a:t>used by most operating systems, including UNIX</a:t>
            </a:r>
          </a:p>
        </p:txBody>
      </p:sp>
    </p:spTree>
    <p:extLst>
      <p:ext uri="{BB962C8B-B14F-4D97-AF65-F5344CB8AC3E}">
        <p14:creationId xmlns:p14="http://schemas.microsoft.com/office/powerpoint/2010/main" val="16911769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26"/>
          <p:cNvSpPr>
            <a:spLocks noGrp="1" noChangeArrowheads="1"/>
          </p:cNvSpPr>
          <p:nvPr>
            <p:ph type="title"/>
          </p:nvPr>
        </p:nvSpPr>
        <p:spPr>
          <a:xfrm>
            <a:off x="885825" y="198438"/>
            <a:ext cx="7800975" cy="576262"/>
          </a:xfrm>
        </p:spPr>
        <p:txBody>
          <a:bodyPr>
            <a:normAutofit fontScale="90000"/>
          </a:bodyPr>
          <a:lstStyle/>
          <a:p>
            <a:pPr eaLnBrk="1" hangingPunct="1"/>
            <a:r>
              <a:rPr lang="en-US" altLang="en-US"/>
              <a:t>Deadlock Prevention</a:t>
            </a:r>
          </a:p>
        </p:txBody>
      </p:sp>
      <p:sp>
        <p:nvSpPr>
          <p:cNvPr id="16387" name="Rectangle 1027"/>
          <p:cNvSpPr>
            <a:spLocks noGrp="1" noChangeArrowheads="1"/>
          </p:cNvSpPr>
          <p:nvPr>
            <p:ph type="body" idx="1"/>
          </p:nvPr>
        </p:nvSpPr>
        <p:spPr>
          <a:xfrm>
            <a:off x="1160463" y="1633538"/>
            <a:ext cx="6523037" cy="3822700"/>
          </a:xfrm>
        </p:spPr>
        <p:txBody>
          <a:bodyPr>
            <a:normAutofit fontScale="70000" lnSpcReduction="20000"/>
          </a:bodyPr>
          <a:lstStyle/>
          <a:p>
            <a:pPr algn="just"/>
            <a:r>
              <a:rPr lang="en-US" altLang="en-US" b="1" dirty="0"/>
              <a:t>Mutual Exclusion</a:t>
            </a:r>
            <a:r>
              <a:rPr lang="en-US" altLang="en-US" dirty="0"/>
              <a:t> – </a:t>
            </a:r>
            <a:r>
              <a:rPr lang="en-US" altLang="en-US" dirty="0">
                <a:solidFill>
                  <a:srgbClr val="FF0000"/>
                </a:solidFill>
              </a:rPr>
              <a:t>not required for sharable resources </a:t>
            </a:r>
            <a:r>
              <a:rPr lang="en-US" altLang="en-US" dirty="0"/>
              <a:t>(e.g., read-only files); must hold for non-sharable resources</a:t>
            </a:r>
          </a:p>
          <a:p>
            <a:pPr algn="just"/>
            <a:r>
              <a:rPr lang="en-US" altLang="en-US" b="1" dirty="0"/>
              <a:t>Hold and Wait</a:t>
            </a:r>
            <a:r>
              <a:rPr lang="en-US" altLang="en-US" dirty="0"/>
              <a:t> – must guarantee that </a:t>
            </a:r>
            <a:r>
              <a:rPr lang="en-US" altLang="en-US" dirty="0">
                <a:solidFill>
                  <a:srgbClr val="FF0000"/>
                </a:solidFill>
              </a:rPr>
              <a:t>whenever a process requests a resource, it does not hold any other resources</a:t>
            </a:r>
          </a:p>
          <a:p>
            <a:pPr lvl="1" algn="just"/>
            <a:r>
              <a:rPr lang="en-US" altLang="en-US" dirty="0"/>
              <a:t>Require process to request and be allocated all its resources before it begins execution</a:t>
            </a:r>
          </a:p>
          <a:p>
            <a:pPr lvl="2" algn="just"/>
            <a:r>
              <a:rPr lang="en-US" altLang="en-US" dirty="0"/>
              <a:t> Low resource utilization</a:t>
            </a:r>
          </a:p>
          <a:p>
            <a:pPr marL="914400" lvl="2" indent="0" algn="just">
              <a:buNone/>
            </a:pPr>
            <a:r>
              <a:rPr lang="en-US" altLang="en-US" dirty="0"/>
              <a:t>(or)</a:t>
            </a:r>
          </a:p>
          <a:p>
            <a:pPr lvl="1" algn="just"/>
            <a:r>
              <a:rPr lang="en-US" altLang="en-US" dirty="0"/>
              <a:t>Allow process to request resources only when the process has none allocated to it.</a:t>
            </a:r>
          </a:p>
          <a:p>
            <a:pPr lvl="2" algn="just"/>
            <a:r>
              <a:rPr lang="en-US" altLang="en-US" dirty="0"/>
              <a:t>Starvation is possible</a:t>
            </a:r>
          </a:p>
        </p:txBody>
      </p:sp>
      <p:sp>
        <p:nvSpPr>
          <p:cNvPr id="16388" name="Text Box 1028"/>
          <p:cNvSpPr txBox="1">
            <a:spLocks noChangeArrowheads="1"/>
          </p:cNvSpPr>
          <p:nvPr/>
        </p:nvSpPr>
        <p:spPr bwMode="auto">
          <a:xfrm>
            <a:off x="819150" y="1116013"/>
            <a:ext cx="4273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84" charset="0"/>
                <a:ea typeface="MS PGothic"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84" charset="0"/>
                <a:ea typeface="MS PGothic"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84" charset="0"/>
                <a:ea typeface="MS PGothic" pitchFamily="34" charset="-128"/>
              </a:defRPr>
            </a:lvl3pPr>
            <a:lvl4pPr marL="1600200" indent="-228600">
              <a:spcBef>
                <a:spcPct val="35000"/>
              </a:spcBef>
              <a:buClr>
                <a:schemeClr val="hlink"/>
              </a:buClr>
              <a:buSzPct val="75000"/>
              <a:buChar char="–"/>
              <a:defRPr kumimoji="1">
                <a:solidFill>
                  <a:schemeClr val="tx1"/>
                </a:solidFill>
                <a:latin typeface="Helvetica" pitchFamily="-84" charset="0"/>
                <a:ea typeface="MS PGothic" pitchFamily="34" charset="-128"/>
              </a:defRPr>
            </a:lvl4pPr>
            <a:lvl5pPr marL="2057400" indent="-228600">
              <a:spcBef>
                <a:spcPct val="35000"/>
              </a:spcBef>
              <a:buClr>
                <a:srgbClr val="FF0066"/>
              </a:buClr>
              <a:buSzPct val="75000"/>
              <a:buChar char="»"/>
              <a:defRPr kumimoji="1">
                <a:solidFill>
                  <a:schemeClr val="tx1"/>
                </a:solidFill>
                <a:latin typeface="Helvetica" pitchFamily="-84" charset="0"/>
                <a:ea typeface="MS PGothic"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9pPr>
          </a:lstStyle>
          <a:p>
            <a:pPr algn="ctr">
              <a:spcBef>
                <a:spcPct val="50000"/>
              </a:spcBef>
              <a:buClrTx/>
              <a:buSzTx/>
              <a:buFontTx/>
              <a:buNone/>
            </a:pPr>
            <a:r>
              <a:rPr kumimoji="0" lang="en-US" altLang="en-US" dirty="0"/>
              <a:t>Restrain the ways request can be made</a:t>
            </a:r>
          </a:p>
        </p:txBody>
      </p:sp>
    </p:spTree>
    <p:extLst>
      <p:ext uri="{BB962C8B-B14F-4D97-AF65-F5344CB8AC3E}">
        <p14:creationId xmlns:p14="http://schemas.microsoft.com/office/powerpoint/2010/main" val="3875510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026"/>
          <p:cNvSpPr>
            <a:spLocks noGrp="1" noChangeArrowheads="1"/>
          </p:cNvSpPr>
          <p:nvPr>
            <p:ph type="title"/>
          </p:nvPr>
        </p:nvSpPr>
        <p:spPr>
          <a:xfrm>
            <a:off x="1003300" y="166688"/>
            <a:ext cx="7683500" cy="576262"/>
          </a:xfrm>
        </p:spPr>
        <p:txBody>
          <a:bodyPr>
            <a:normAutofit fontScale="90000"/>
          </a:bodyPr>
          <a:lstStyle/>
          <a:p>
            <a:pPr eaLnBrk="1" hangingPunct="1"/>
            <a:r>
              <a:rPr lang="en-US" altLang="en-US" dirty="0"/>
              <a:t>Deadlock Prevention (Cont.)</a:t>
            </a:r>
          </a:p>
        </p:txBody>
      </p:sp>
      <p:sp>
        <p:nvSpPr>
          <p:cNvPr id="17411" name="Rectangle 1027"/>
          <p:cNvSpPr>
            <a:spLocks noGrp="1" noChangeArrowheads="1"/>
          </p:cNvSpPr>
          <p:nvPr>
            <p:ph type="body" idx="1"/>
          </p:nvPr>
        </p:nvSpPr>
        <p:spPr>
          <a:xfrm>
            <a:off x="838200" y="742950"/>
            <a:ext cx="6974160" cy="5062314"/>
          </a:xfrm>
        </p:spPr>
        <p:txBody>
          <a:bodyPr>
            <a:normAutofit fontScale="62500" lnSpcReduction="20000"/>
          </a:bodyPr>
          <a:lstStyle/>
          <a:p>
            <a:r>
              <a:rPr lang="en-US" altLang="en-US" b="1" dirty="0"/>
              <a:t>No Preemption</a:t>
            </a:r>
            <a:r>
              <a:rPr lang="en-US" altLang="en-US" dirty="0"/>
              <a:t> –</a:t>
            </a:r>
          </a:p>
          <a:p>
            <a:pPr lvl="1" algn="just"/>
            <a:r>
              <a:rPr lang="en-US" altLang="en-US" dirty="0"/>
              <a:t>If a process that is holding some resources, requests another resource that cannot be immediately allocated to it, then </a:t>
            </a:r>
            <a:r>
              <a:rPr lang="en-US" altLang="en-US" dirty="0">
                <a:solidFill>
                  <a:srgbClr val="FF0000"/>
                </a:solidFill>
              </a:rPr>
              <a:t>all resources currently being held are released(preempted)</a:t>
            </a:r>
          </a:p>
          <a:p>
            <a:pPr lvl="2" algn="just"/>
            <a:r>
              <a:rPr lang="en-US" altLang="en-US" dirty="0"/>
              <a:t>Preempted resources are added to the list of resources for which the process is waiting</a:t>
            </a:r>
          </a:p>
          <a:p>
            <a:pPr lvl="2" algn="just"/>
            <a:r>
              <a:rPr lang="en-US" altLang="en-US" dirty="0"/>
              <a:t>Process will be </a:t>
            </a:r>
            <a:r>
              <a:rPr lang="en-US" altLang="en-US" dirty="0">
                <a:solidFill>
                  <a:srgbClr val="FF0000"/>
                </a:solidFill>
              </a:rPr>
              <a:t>restarted only when it can regain its old resources, as well as the new ones</a:t>
            </a:r>
            <a:r>
              <a:rPr lang="en-US" altLang="en-US" dirty="0"/>
              <a:t> that it is requesting</a:t>
            </a:r>
          </a:p>
          <a:p>
            <a:pPr marL="914400" lvl="2" indent="0" algn="just">
              <a:buNone/>
            </a:pPr>
            <a:r>
              <a:rPr lang="en-US" altLang="en-US" dirty="0"/>
              <a:t>		(or)</a:t>
            </a:r>
          </a:p>
          <a:p>
            <a:pPr lvl="1" algn="just"/>
            <a:r>
              <a:rPr lang="en-US" altLang="en-US" dirty="0"/>
              <a:t>If a process requests some resources, we ﬁrst </a:t>
            </a:r>
            <a:r>
              <a:rPr lang="en-US" altLang="en-US" dirty="0">
                <a:solidFill>
                  <a:srgbClr val="FF0000"/>
                </a:solidFill>
              </a:rPr>
              <a:t>check whether they are available.</a:t>
            </a:r>
          </a:p>
          <a:p>
            <a:pPr lvl="2" algn="just"/>
            <a:r>
              <a:rPr lang="en-US" altLang="en-US" dirty="0"/>
              <a:t>If </a:t>
            </a:r>
            <a:r>
              <a:rPr lang="en-US" altLang="en-US" dirty="0">
                <a:solidFill>
                  <a:srgbClr val="FF0000"/>
                </a:solidFill>
              </a:rPr>
              <a:t>they are, we allocate </a:t>
            </a:r>
            <a:r>
              <a:rPr lang="en-US" altLang="en-US" dirty="0"/>
              <a:t>them. </a:t>
            </a:r>
          </a:p>
          <a:p>
            <a:pPr lvl="2" algn="just"/>
            <a:r>
              <a:rPr lang="en-IN" dirty="0"/>
              <a:t>If </a:t>
            </a:r>
            <a:r>
              <a:rPr lang="en-IN" dirty="0">
                <a:solidFill>
                  <a:srgbClr val="FF0000"/>
                </a:solidFill>
              </a:rPr>
              <a:t>they are not, we check whether they are allocated to some other process </a:t>
            </a:r>
            <a:r>
              <a:rPr lang="en-IN" dirty="0"/>
              <a:t>that is waiting for additional resources.</a:t>
            </a:r>
          </a:p>
          <a:p>
            <a:pPr lvl="3" algn="just"/>
            <a:r>
              <a:rPr lang="en-IN" dirty="0"/>
              <a:t> If so, we </a:t>
            </a:r>
            <a:r>
              <a:rPr lang="en-IN" dirty="0" err="1"/>
              <a:t>preempt</a:t>
            </a:r>
            <a:r>
              <a:rPr lang="en-IN" dirty="0"/>
              <a:t> the desired resources from the waiting process and allocate them to the requesting process. </a:t>
            </a:r>
          </a:p>
          <a:p>
            <a:pPr lvl="2" algn="just"/>
            <a:r>
              <a:rPr lang="en-US" altLang="en-US" dirty="0"/>
              <a:t>If the </a:t>
            </a:r>
            <a:r>
              <a:rPr lang="en-US" altLang="en-US" dirty="0">
                <a:solidFill>
                  <a:srgbClr val="FF0000"/>
                </a:solidFill>
              </a:rPr>
              <a:t>resources are neither available nor held by a waiting process, </a:t>
            </a:r>
            <a:r>
              <a:rPr lang="en-US" altLang="en-US" dirty="0"/>
              <a:t>the requesting process must wait. While it is waiting, some of its resources may be preempted, but only if another process requests them. A process can be restarted only when it is allocated the new resources it is requesting and recovers any resources that were preempted while it was waiting. </a:t>
            </a:r>
          </a:p>
        </p:txBody>
      </p:sp>
    </p:spTree>
    <p:extLst>
      <p:ext uri="{BB962C8B-B14F-4D97-AF65-F5344CB8AC3E}">
        <p14:creationId xmlns:p14="http://schemas.microsoft.com/office/powerpoint/2010/main" val="37681204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US" altLang="en-US" dirty="0"/>
              <a:t>Deadlock Prevention (Cont.)</a:t>
            </a:r>
            <a:endParaRPr lang="en-IN" dirty="0"/>
          </a:p>
        </p:txBody>
      </p:sp>
      <p:sp>
        <p:nvSpPr>
          <p:cNvPr id="3" name="Content Placeholder 2"/>
          <p:cNvSpPr>
            <a:spLocks noGrp="1"/>
          </p:cNvSpPr>
          <p:nvPr>
            <p:ph idx="1"/>
          </p:nvPr>
        </p:nvSpPr>
        <p:spPr>
          <a:xfrm>
            <a:off x="457200" y="980729"/>
            <a:ext cx="8229600" cy="5159082"/>
          </a:xfrm>
        </p:spPr>
        <p:txBody>
          <a:bodyPr>
            <a:normAutofit fontScale="55000" lnSpcReduction="20000"/>
          </a:bodyPr>
          <a:lstStyle/>
          <a:p>
            <a:pPr algn="just"/>
            <a:r>
              <a:rPr lang="en-US" altLang="en-US" b="1" dirty="0"/>
              <a:t>Circular Wait</a:t>
            </a:r>
            <a:r>
              <a:rPr lang="en-US" altLang="en-US" dirty="0"/>
              <a:t> – One way to ensure that this condition never holds is to impose </a:t>
            </a:r>
            <a:r>
              <a:rPr lang="en-US" altLang="en-US" dirty="0">
                <a:solidFill>
                  <a:srgbClr val="FF0000"/>
                </a:solidFill>
              </a:rPr>
              <a:t>a total ordering of all resource types </a:t>
            </a:r>
            <a:r>
              <a:rPr lang="en-US" altLang="en-US" dirty="0"/>
              <a:t>and to require that each process requests resources in an increasing order of enumeration. </a:t>
            </a:r>
          </a:p>
          <a:p>
            <a:pPr lvl="1" algn="just"/>
            <a:r>
              <a:rPr lang="en-US" altLang="en-US" dirty="0"/>
              <a:t>Let R = {R1, R2, ..., Rm} be the set of resource types. </a:t>
            </a:r>
          </a:p>
          <a:p>
            <a:pPr lvl="1" algn="just"/>
            <a:r>
              <a:rPr lang="en-US" dirty="0"/>
              <a:t>Assign to each resource type a unique integer number, which allows to compare two resources and determine whether one precedes another in our ordering. </a:t>
            </a:r>
          </a:p>
          <a:p>
            <a:pPr lvl="1" algn="just"/>
            <a:r>
              <a:rPr lang="en-US" dirty="0"/>
              <a:t>Formally, a one-to-one function F: R→N, is  defined where N is the set of natural numbers. </a:t>
            </a:r>
          </a:p>
          <a:p>
            <a:pPr lvl="1" algn="just"/>
            <a:r>
              <a:rPr lang="en-US" dirty="0"/>
              <a:t>E.g., If the set of resource types R includes tape drives, disk drives, and printers, then the function F might be deﬁned as follows:</a:t>
            </a:r>
          </a:p>
          <a:p>
            <a:pPr lvl="2" algn="just"/>
            <a:r>
              <a:rPr lang="en-US" altLang="en-US" dirty="0"/>
              <a:t>F(tape drive)= 1, F(disk drive)= 5, F(printer) = 12</a:t>
            </a:r>
          </a:p>
          <a:p>
            <a:pPr lvl="1" algn="just"/>
            <a:r>
              <a:rPr lang="en-US" altLang="en-US" dirty="0">
                <a:solidFill>
                  <a:srgbClr val="FF0000"/>
                </a:solidFill>
              </a:rPr>
              <a:t>Protocol to prevent deadlocks: </a:t>
            </a:r>
            <a:r>
              <a:rPr lang="en-US" altLang="en-US" dirty="0">
                <a:solidFill>
                  <a:srgbClr val="00B050"/>
                </a:solidFill>
              </a:rPr>
              <a:t>Each process can request process resources only in an increasing order of enumeration.</a:t>
            </a:r>
          </a:p>
          <a:p>
            <a:pPr lvl="2" algn="just"/>
            <a:r>
              <a:rPr lang="en-US" altLang="en-US" sz="2500" dirty="0"/>
              <a:t>A process can initially request any number of instances of a resource type —say, </a:t>
            </a:r>
            <a:r>
              <a:rPr lang="en-US" altLang="en-US" sz="2500" dirty="0" err="1"/>
              <a:t>Ri</a:t>
            </a:r>
            <a:r>
              <a:rPr lang="en-US" altLang="en-US" sz="2500" dirty="0"/>
              <a:t>. After that, </a:t>
            </a:r>
            <a:r>
              <a:rPr lang="en-US" altLang="en-US" sz="2500" dirty="0">
                <a:solidFill>
                  <a:srgbClr val="FF0000"/>
                </a:solidFill>
              </a:rPr>
              <a:t>the process can request instances of resource type </a:t>
            </a:r>
            <a:r>
              <a:rPr lang="en-US" altLang="en-US" sz="2500" dirty="0" err="1">
                <a:solidFill>
                  <a:srgbClr val="FF0000"/>
                </a:solidFill>
              </a:rPr>
              <a:t>Rj</a:t>
            </a:r>
            <a:r>
              <a:rPr lang="en-US" altLang="en-US" sz="2500" dirty="0">
                <a:solidFill>
                  <a:srgbClr val="FF0000"/>
                </a:solidFill>
              </a:rPr>
              <a:t> if and only if F(</a:t>
            </a:r>
            <a:r>
              <a:rPr lang="en-US" altLang="en-US" sz="2500" dirty="0" err="1">
                <a:solidFill>
                  <a:srgbClr val="FF0000"/>
                </a:solidFill>
              </a:rPr>
              <a:t>Rj</a:t>
            </a:r>
            <a:r>
              <a:rPr lang="en-US" altLang="en-US" sz="2500" dirty="0">
                <a:solidFill>
                  <a:srgbClr val="FF0000"/>
                </a:solidFill>
              </a:rPr>
              <a:t>) &gt; F(</a:t>
            </a:r>
            <a:r>
              <a:rPr lang="en-US" altLang="en-US" sz="2500" dirty="0" err="1">
                <a:solidFill>
                  <a:srgbClr val="FF0000"/>
                </a:solidFill>
              </a:rPr>
              <a:t>Ri</a:t>
            </a:r>
            <a:r>
              <a:rPr lang="en-US" altLang="en-US" sz="2500" dirty="0">
                <a:solidFill>
                  <a:srgbClr val="FF0000"/>
                </a:solidFill>
              </a:rPr>
              <a:t>). </a:t>
            </a:r>
          </a:p>
          <a:p>
            <a:pPr lvl="2" algn="just"/>
            <a:r>
              <a:rPr lang="en-US" altLang="en-US" sz="2500" dirty="0" err="1"/>
              <a:t>E.g</a:t>
            </a:r>
            <a:r>
              <a:rPr lang="en-US" altLang="en-US" sz="2500" dirty="0"/>
              <a:t>: A process that needs to use the tape drive and printer at the same time must ﬁrst request the tape drive and then request the printer. </a:t>
            </a:r>
          </a:p>
          <a:p>
            <a:pPr lvl="2" algn="just"/>
            <a:r>
              <a:rPr lang="en-US" altLang="en-US" sz="2500" dirty="0"/>
              <a:t>Alternatively, we can require that </a:t>
            </a:r>
            <a:r>
              <a:rPr lang="en-US" altLang="en-US" sz="2500" dirty="0">
                <a:solidFill>
                  <a:srgbClr val="FF0000"/>
                </a:solidFill>
              </a:rPr>
              <a:t>a process requesting an instance of resource type </a:t>
            </a:r>
            <a:r>
              <a:rPr lang="en-US" altLang="en-US" sz="2500" dirty="0" err="1">
                <a:solidFill>
                  <a:srgbClr val="FF0000"/>
                </a:solidFill>
              </a:rPr>
              <a:t>Rj</a:t>
            </a:r>
            <a:r>
              <a:rPr lang="en-US" altLang="en-US" sz="2500" dirty="0">
                <a:solidFill>
                  <a:srgbClr val="FF0000"/>
                </a:solidFill>
              </a:rPr>
              <a:t> must have released any resources </a:t>
            </a:r>
            <a:r>
              <a:rPr lang="en-US" altLang="en-US" sz="2500" dirty="0" err="1">
                <a:solidFill>
                  <a:srgbClr val="FF0000"/>
                </a:solidFill>
              </a:rPr>
              <a:t>Ri</a:t>
            </a:r>
            <a:r>
              <a:rPr lang="en-US" altLang="en-US" sz="2500" dirty="0">
                <a:solidFill>
                  <a:srgbClr val="FF0000"/>
                </a:solidFill>
              </a:rPr>
              <a:t> such that F(</a:t>
            </a:r>
            <a:r>
              <a:rPr lang="en-US" altLang="en-US" sz="2500" dirty="0" err="1">
                <a:solidFill>
                  <a:srgbClr val="FF0000"/>
                </a:solidFill>
              </a:rPr>
              <a:t>Ri</a:t>
            </a:r>
            <a:r>
              <a:rPr lang="en-US" altLang="en-US" sz="2500" dirty="0">
                <a:solidFill>
                  <a:srgbClr val="FF0000"/>
                </a:solidFill>
              </a:rPr>
              <a:t>) ≥ F(</a:t>
            </a:r>
            <a:r>
              <a:rPr lang="en-US" altLang="en-US" sz="2500" dirty="0" err="1">
                <a:solidFill>
                  <a:srgbClr val="FF0000"/>
                </a:solidFill>
              </a:rPr>
              <a:t>Rj</a:t>
            </a:r>
            <a:r>
              <a:rPr lang="en-US" altLang="en-US" sz="2500" dirty="0">
                <a:solidFill>
                  <a:srgbClr val="FF0000"/>
                </a:solidFill>
              </a:rPr>
              <a:t>). </a:t>
            </a:r>
          </a:p>
          <a:p>
            <a:pPr lvl="1" algn="just"/>
            <a:r>
              <a:rPr lang="en-US" altLang="en-US" dirty="0"/>
              <a:t>If the two protocol mentioned above is used, then the circular-wait condition cannot hold.</a:t>
            </a:r>
          </a:p>
          <a:p>
            <a:pPr lvl="2" algn="just"/>
            <a:r>
              <a:rPr lang="en-US" altLang="en-US" sz="2500" dirty="0">
                <a:solidFill>
                  <a:srgbClr val="FF0000"/>
                </a:solidFill>
              </a:rPr>
              <a:t>Proof by contradiction:</a:t>
            </a:r>
            <a:r>
              <a:rPr lang="en-IN" sz="2500" dirty="0"/>
              <a:t>Assume that a circular wait exists. Let the set of processes involved in the circular wait be {P0, P1, ..., </a:t>
            </a:r>
            <a:r>
              <a:rPr lang="en-IN" sz="2500" dirty="0" err="1"/>
              <a:t>Pn</a:t>
            </a:r>
            <a:r>
              <a:rPr lang="en-IN" sz="2500" dirty="0"/>
              <a:t>}, where Pi is waiting for a resource </a:t>
            </a:r>
            <a:r>
              <a:rPr lang="en-IN" sz="2500" dirty="0" err="1"/>
              <a:t>Ri</a:t>
            </a:r>
            <a:r>
              <a:rPr lang="en-IN" sz="2500" dirty="0"/>
              <a:t>, which is held by process Pi+1. ( </a:t>
            </a:r>
            <a:r>
              <a:rPr lang="en-IN" sz="2500" dirty="0" err="1"/>
              <a:t>Pn</a:t>
            </a:r>
            <a:r>
              <a:rPr lang="en-IN" sz="2500" dirty="0"/>
              <a:t> is waiting for a resource Rn held by P0.) Then, since process Pi+1 is holding resource </a:t>
            </a:r>
            <a:r>
              <a:rPr lang="en-IN" sz="2500" dirty="0" err="1"/>
              <a:t>Ri</a:t>
            </a:r>
            <a:r>
              <a:rPr lang="en-IN" sz="2500" dirty="0"/>
              <a:t> while requesting resource Ri+1, we must have F(</a:t>
            </a:r>
            <a:r>
              <a:rPr lang="en-IN" sz="2500" dirty="0" err="1"/>
              <a:t>Ri</a:t>
            </a:r>
            <a:r>
              <a:rPr lang="en-IN" sz="2500" dirty="0"/>
              <a:t>) &lt; F(Ri+1) for all </a:t>
            </a:r>
            <a:r>
              <a:rPr lang="en-IN" sz="2500" dirty="0" err="1"/>
              <a:t>i</a:t>
            </a:r>
            <a:r>
              <a:rPr lang="en-IN" sz="2500" dirty="0"/>
              <a:t>. But this condition means that </a:t>
            </a:r>
            <a:r>
              <a:rPr lang="en-IN" sz="2500" dirty="0">
                <a:solidFill>
                  <a:srgbClr val="FF0000"/>
                </a:solidFill>
              </a:rPr>
              <a:t>F(R0) &lt; F(R1) &lt; ... &lt; F(Rn) &lt; F(R0)</a:t>
            </a:r>
            <a:r>
              <a:rPr lang="en-IN" sz="2500" dirty="0"/>
              <a:t>. </a:t>
            </a:r>
            <a:r>
              <a:rPr lang="en-IN" sz="2500" dirty="0">
                <a:solidFill>
                  <a:srgbClr val="FF0000"/>
                </a:solidFill>
              </a:rPr>
              <a:t>By transitivity, F(R0) &lt; F(R0), which is impossible.</a:t>
            </a:r>
            <a:r>
              <a:rPr lang="en-IN" sz="2500" dirty="0"/>
              <a:t> Therefore, </a:t>
            </a:r>
            <a:r>
              <a:rPr lang="en-IN" sz="2500" b="1" dirty="0">
                <a:solidFill>
                  <a:srgbClr val="00B050"/>
                </a:solidFill>
              </a:rPr>
              <a:t>there can be no circular wait in the system.</a:t>
            </a:r>
          </a:p>
          <a:p>
            <a:pPr lvl="2" algn="just"/>
            <a:endParaRPr lang="en-US" altLang="en-US" dirty="0"/>
          </a:p>
        </p:txBody>
      </p:sp>
    </p:spTree>
    <p:extLst>
      <p:ext uri="{BB962C8B-B14F-4D97-AF65-F5344CB8AC3E}">
        <p14:creationId xmlns:p14="http://schemas.microsoft.com/office/powerpoint/2010/main" val="11774574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026"/>
          <p:cNvSpPr>
            <a:spLocks noGrp="1" noChangeArrowheads="1"/>
          </p:cNvSpPr>
          <p:nvPr>
            <p:ph type="title"/>
          </p:nvPr>
        </p:nvSpPr>
        <p:spPr>
          <a:xfrm>
            <a:off x="1003300" y="103188"/>
            <a:ext cx="7683500" cy="576262"/>
          </a:xfrm>
        </p:spPr>
        <p:txBody>
          <a:bodyPr>
            <a:normAutofit fontScale="90000"/>
          </a:bodyPr>
          <a:lstStyle/>
          <a:p>
            <a:pPr eaLnBrk="1" hangingPunct="1"/>
            <a:r>
              <a:rPr lang="en-US" altLang="en-US"/>
              <a:t>Deadlock Example</a:t>
            </a:r>
          </a:p>
        </p:txBody>
      </p:sp>
      <p:sp>
        <p:nvSpPr>
          <p:cNvPr id="18435" name="Rectangle 1027"/>
          <p:cNvSpPr>
            <a:spLocks noGrp="1" noChangeArrowheads="1"/>
          </p:cNvSpPr>
          <p:nvPr>
            <p:ph type="body" idx="1"/>
          </p:nvPr>
        </p:nvSpPr>
        <p:spPr>
          <a:xfrm>
            <a:off x="1355725" y="764704"/>
            <a:ext cx="6746875" cy="5616623"/>
          </a:xfrm>
        </p:spPr>
        <p:txBody>
          <a:bodyPr>
            <a:normAutofit fontScale="92500" lnSpcReduction="20000"/>
          </a:bodyPr>
          <a:lstStyle/>
          <a:p>
            <a:pPr marL="0" indent="0">
              <a:buFont typeface="Monotype Sorts" pitchFamily="-84" charset="2"/>
              <a:buNone/>
            </a:pPr>
            <a:r>
              <a:rPr lang="en-US" altLang="en-US" sz="1400" dirty="0">
                <a:solidFill>
                  <a:srgbClr val="000000"/>
                </a:solidFill>
                <a:latin typeface="Courier New" pitchFamily="49" charset="0"/>
                <a:cs typeface="Courier New" pitchFamily="49" charset="0"/>
              </a:rPr>
              <a:t>/* Create and initialize the </a:t>
            </a:r>
            <a:r>
              <a:rPr lang="en-US" altLang="en-US" sz="1400" dirty="0" err="1">
                <a:solidFill>
                  <a:srgbClr val="000000"/>
                </a:solidFill>
                <a:latin typeface="Courier New" pitchFamily="49" charset="0"/>
                <a:cs typeface="Courier New" pitchFamily="49" charset="0"/>
              </a:rPr>
              <a:t>mutex</a:t>
            </a:r>
            <a:r>
              <a:rPr lang="en-US" altLang="en-US" sz="1400" dirty="0">
                <a:solidFill>
                  <a:srgbClr val="000000"/>
                </a:solidFill>
                <a:latin typeface="Courier New" pitchFamily="49" charset="0"/>
                <a:cs typeface="Courier New" pitchFamily="49" charset="0"/>
              </a:rPr>
              <a:t> locks */ </a:t>
            </a:r>
          </a:p>
          <a:p>
            <a:pPr marL="0" indent="0">
              <a:buFont typeface="Monotype Sorts" pitchFamily="-84" charset="2"/>
              <a:buNone/>
            </a:pPr>
            <a:r>
              <a:rPr lang="en-US" altLang="en-US" sz="1400" dirty="0" err="1">
                <a:solidFill>
                  <a:srgbClr val="000000"/>
                </a:solidFill>
                <a:latin typeface="Courier New" pitchFamily="49" charset="0"/>
                <a:cs typeface="Courier New" pitchFamily="49" charset="0"/>
              </a:rPr>
              <a:t>Pthread_mutex_t</a:t>
            </a:r>
            <a:r>
              <a:rPr lang="en-US" altLang="en-US" sz="1400" dirty="0">
                <a:solidFill>
                  <a:srgbClr val="000000"/>
                </a:solidFill>
                <a:latin typeface="Courier New" pitchFamily="49" charset="0"/>
                <a:cs typeface="Courier New" pitchFamily="49" charset="0"/>
              </a:rPr>
              <a:t> </a:t>
            </a:r>
            <a:r>
              <a:rPr lang="en-US" altLang="en-US" sz="1400" dirty="0" err="1">
                <a:solidFill>
                  <a:srgbClr val="000000"/>
                </a:solidFill>
                <a:latin typeface="Courier New" pitchFamily="49" charset="0"/>
                <a:cs typeface="Courier New" pitchFamily="49" charset="0"/>
              </a:rPr>
              <a:t>first_mutex</a:t>
            </a:r>
            <a:r>
              <a:rPr lang="en-US" altLang="en-US" sz="1400" dirty="0">
                <a:solidFill>
                  <a:srgbClr val="000000"/>
                </a:solidFill>
                <a:latin typeface="Courier New" pitchFamily="49" charset="0"/>
                <a:cs typeface="Courier New" pitchFamily="49" charset="0"/>
              </a:rPr>
              <a:t>; </a:t>
            </a:r>
          </a:p>
          <a:p>
            <a:pPr marL="0" indent="0">
              <a:buFont typeface="Monotype Sorts" pitchFamily="-84" charset="2"/>
              <a:buNone/>
            </a:pPr>
            <a:r>
              <a:rPr lang="en-US" altLang="en-US" sz="1400" dirty="0" err="1">
                <a:solidFill>
                  <a:srgbClr val="000000"/>
                </a:solidFill>
                <a:latin typeface="Courier New" pitchFamily="49" charset="0"/>
                <a:cs typeface="Courier New" pitchFamily="49" charset="0"/>
              </a:rPr>
              <a:t>Pthread_mutex_t</a:t>
            </a:r>
            <a:r>
              <a:rPr lang="en-US" altLang="en-US" sz="1400" dirty="0">
                <a:solidFill>
                  <a:srgbClr val="000000"/>
                </a:solidFill>
                <a:latin typeface="Courier New" pitchFamily="49" charset="0"/>
                <a:cs typeface="Courier New" pitchFamily="49" charset="0"/>
              </a:rPr>
              <a:t> </a:t>
            </a:r>
            <a:r>
              <a:rPr lang="en-US" altLang="en-US" sz="1400" dirty="0" err="1">
                <a:solidFill>
                  <a:srgbClr val="000000"/>
                </a:solidFill>
                <a:latin typeface="Courier New" pitchFamily="49" charset="0"/>
                <a:cs typeface="Courier New" pitchFamily="49" charset="0"/>
              </a:rPr>
              <a:t>second_mutex</a:t>
            </a:r>
            <a:r>
              <a:rPr lang="en-US" altLang="en-US" sz="1400" dirty="0">
                <a:solidFill>
                  <a:srgbClr val="000000"/>
                </a:solidFill>
                <a:latin typeface="Courier New" pitchFamily="49" charset="0"/>
                <a:cs typeface="Courier New" pitchFamily="49" charset="0"/>
              </a:rPr>
              <a:t>;</a:t>
            </a:r>
          </a:p>
          <a:p>
            <a:pPr marL="0" indent="0">
              <a:buFont typeface="Monotype Sorts" pitchFamily="-84" charset="2"/>
              <a:buNone/>
            </a:pPr>
            <a:r>
              <a:rPr lang="en-US" altLang="en-US" sz="1400" dirty="0" err="1">
                <a:solidFill>
                  <a:srgbClr val="000000"/>
                </a:solidFill>
                <a:latin typeface="Courier New" pitchFamily="49" charset="0"/>
                <a:cs typeface="Courier New" pitchFamily="49" charset="0"/>
              </a:rPr>
              <a:t>pthread_mutex_init</a:t>
            </a:r>
            <a:r>
              <a:rPr lang="en-US" altLang="en-US" sz="1400" dirty="0">
                <a:solidFill>
                  <a:srgbClr val="000000"/>
                </a:solidFill>
                <a:latin typeface="Courier New" pitchFamily="49" charset="0"/>
                <a:cs typeface="Courier New" pitchFamily="49" charset="0"/>
              </a:rPr>
              <a:t>(&amp;</a:t>
            </a:r>
            <a:r>
              <a:rPr lang="en-US" altLang="en-US" sz="1400" dirty="0" err="1">
                <a:solidFill>
                  <a:srgbClr val="000000"/>
                </a:solidFill>
                <a:latin typeface="Courier New" pitchFamily="49" charset="0"/>
                <a:cs typeface="Courier New" pitchFamily="49" charset="0"/>
              </a:rPr>
              <a:t>first_mutex,NULL</a:t>
            </a:r>
            <a:r>
              <a:rPr lang="en-US" altLang="en-US" sz="1400" dirty="0">
                <a:solidFill>
                  <a:srgbClr val="000000"/>
                </a:solidFill>
                <a:latin typeface="Courier New" pitchFamily="49" charset="0"/>
                <a:cs typeface="Courier New" pitchFamily="49" charset="0"/>
              </a:rPr>
              <a:t>); </a:t>
            </a:r>
          </a:p>
          <a:p>
            <a:pPr marL="0" indent="0">
              <a:buFont typeface="Monotype Sorts" pitchFamily="-84" charset="2"/>
              <a:buNone/>
            </a:pPr>
            <a:r>
              <a:rPr lang="en-US" altLang="en-US" sz="1400" dirty="0" err="1">
                <a:solidFill>
                  <a:srgbClr val="000000"/>
                </a:solidFill>
                <a:latin typeface="Courier New" pitchFamily="49" charset="0"/>
                <a:cs typeface="Courier New" pitchFamily="49" charset="0"/>
              </a:rPr>
              <a:t>Pthread_mutex_init</a:t>
            </a:r>
            <a:r>
              <a:rPr lang="en-US" altLang="en-US" sz="1400" dirty="0">
                <a:solidFill>
                  <a:srgbClr val="000000"/>
                </a:solidFill>
                <a:latin typeface="Courier New" pitchFamily="49" charset="0"/>
                <a:cs typeface="Courier New" pitchFamily="49" charset="0"/>
              </a:rPr>
              <a:t>(&amp;</a:t>
            </a:r>
            <a:r>
              <a:rPr lang="en-US" altLang="en-US" sz="1400" dirty="0" err="1">
                <a:solidFill>
                  <a:srgbClr val="000000"/>
                </a:solidFill>
                <a:latin typeface="Courier New" pitchFamily="49" charset="0"/>
                <a:cs typeface="Courier New" pitchFamily="49" charset="0"/>
              </a:rPr>
              <a:t>second_mutex,NULL</a:t>
            </a:r>
            <a:r>
              <a:rPr lang="en-US" altLang="en-US" sz="1400" dirty="0">
                <a:solidFill>
                  <a:srgbClr val="000000"/>
                </a:solidFill>
                <a:latin typeface="Courier New" pitchFamily="49" charset="0"/>
                <a:cs typeface="Courier New" pitchFamily="49" charset="0"/>
              </a:rPr>
              <a:t>);</a:t>
            </a:r>
          </a:p>
          <a:p>
            <a:pPr marL="0" indent="0">
              <a:buFont typeface="Monotype Sorts" pitchFamily="-84" charset="2"/>
              <a:buNone/>
            </a:pPr>
            <a:endParaRPr lang="en-US" altLang="en-US" sz="1400" dirty="0">
              <a:solidFill>
                <a:srgbClr val="000000"/>
              </a:solidFill>
              <a:latin typeface="Courier New" pitchFamily="49" charset="0"/>
              <a:cs typeface="Courier New" pitchFamily="49" charset="0"/>
            </a:endParaRPr>
          </a:p>
          <a:p>
            <a:pPr marL="0" indent="0">
              <a:buFont typeface="Monotype Sorts" pitchFamily="-84" charset="2"/>
              <a:buNone/>
            </a:pPr>
            <a:r>
              <a:rPr lang="en-US" altLang="en-US" sz="1400" dirty="0">
                <a:solidFill>
                  <a:srgbClr val="000000"/>
                </a:solidFill>
                <a:latin typeface="Courier New" pitchFamily="49" charset="0"/>
                <a:cs typeface="Courier New" pitchFamily="49" charset="0"/>
              </a:rPr>
              <a:t>/* thread one runs in this function */ </a:t>
            </a:r>
          </a:p>
          <a:p>
            <a:pPr marL="0" indent="0">
              <a:buFont typeface="Monotype Sorts" pitchFamily="-84" charset="2"/>
              <a:buNone/>
            </a:pPr>
            <a:r>
              <a:rPr lang="en-US" altLang="en-US" sz="1400" dirty="0">
                <a:solidFill>
                  <a:srgbClr val="000000"/>
                </a:solidFill>
                <a:latin typeface="Courier New" pitchFamily="49" charset="0"/>
                <a:cs typeface="Courier New" pitchFamily="49" charset="0"/>
              </a:rPr>
              <a:t>void *</a:t>
            </a:r>
            <a:r>
              <a:rPr lang="en-US" altLang="en-US" sz="1400" dirty="0" err="1">
                <a:solidFill>
                  <a:srgbClr val="000000"/>
                </a:solidFill>
                <a:latin typeface="Courier New" pitchFamily="49" charset="0"/>
                <a:cs typeface="Courier New" pitchFamily="49" charset="0"/>
              </a:rPr>
              <a:t>do_work_one</a:t>
            </a:r>
            <a:r>
              <a:rPr lang="en-US" altLang="en-US" sz="1400" dirty="0">
                <a:solidFill>
                  <a:srgbClr val="000000"/>
                </a:solidFill>
                <a:latin typeface="Courier New" pitchFamily="49" charset="0"/>
                <a:cs typeface="Courier New" pitchFamily="49" charset="0"/>
              </a:rPr>
              <a:t>(void *</a:t>
            </a:r>
            <a:r>
              <a:rPr lang="en-US" altLang="en-US" sz="1400" dirty="0" err="1">
                <a:solidFill>
                  <a:srgbClr val="000000"/>
                </a:solidFill>
                <a:latin typeface="Courier New" pitchFamily="49" charset="0"/>
                <a:cs typeface="Courier New" pitchFamily="49" charset="0"/>
              </a:rPr>
              <a:t>param</a:t>
            </a:r>
            <a:r>
              <a:rPr lang="en-US" altLang="en-US" sz="1400" dirty="0">
                <a:solidFill>
                  <a:srgbClr val="000000"/>
                </a:solidFill>
                <a:latin typeface="Courier New" pitchFamily="49" charset="0"/>
                <a:cs typeface="Courier New" pitchFamily="49" charset="0"/>
              </a:rPr>
              <a:t>)</a:t>
            </a:r>
            <a:br>
              <a:rPr lang="en-US" altLang="en-US" sz="1400" dirty="0">
                <a:solidFill>
                  <a:srgbClr val="000000"/>
                </a:solidFill>
                <a:latin typeface="Courier New" pitchFamily="49" charset="0"/>
                <a:cs typeface="Courier New" pitchFamily="49" charset="0"/>
              </a:rPr>
            </a:br>
            <a:r>
              <a:rPr lang="en-US" altLang="en-US" sz="1100" dirty="0">
                <a:solidFill>
                  <a:srgbClr val="000000"/>
                </a:solidFill>
                <a:latin typeface="Courier New" pitchFamily="49" charset="0"/>
                <a:cs typeface="Courier New" pitchFamily="49" charset="0"/>
              </a:rPr>
              <a:t>{ </a:t>
            </a:r>
            <a:endParaRPr lang="en-US" altLang="en-US" sz="1400" dirty="0">
              <a:solidFill>
                <a:srgbClr val="000000"/>
              </a:solidFill>
              <a:latin typeface="Courier New" pitchFamily="49" charset="0"/>
              <a:cs typeface="Courier New" pitchFamily="49" charset="0"/>
            </a:endParaRPr>
          </a:p>
          <a:p>
            <a:pPr marL="0" indent="0">
              <a:buFont typeface="Monotype Sorts" pitchFamily="-84" charset="2"/>
              <a:buNone/>
            </a:pPr>
            <a:r>
              <a:rPr lang="en-US" altLang="en-US" sz="1400" dirty="0">
                <a:solidFill>
                  <a:srgbClr val="000000"/>
                </a:solidFill>
                <a:latin typeface="Courier New" pitchFamily="49" charset="0"/>
                <a:cs typeface="Courier New" pitchFamily="49" charset="0"/>
              </a:rPr>
              <a:t>   </a:t>
            </a:r>
            <a:r>
              <a:rPr lang="en-US" altLang="en-US" sz="1400" dirty="0" err="1">
                <a:solidFill>
                  <a:srgbClr val="000000"/>
                </a:solidFill>
                <a:latin typeface="Courier New" pitchFamily="49" charset="0"/>
                <a:cs typeface="Courier New" pitchFamily="49" charset="0"/>
              </a:rPr>
              <a:t>pthread_mutex_lock</a:t>
            </a:r>
            <a:r>
              <a:rPr lang="en-US" altLang="en-US" sz="1400" dirty="0">
                <a:solidFill>
                  <a:srgbClr val="000000"/>
                </a:solidFill>
                <a:latin typeface="Courier New" pitchFamily="49" charset="0"/>
                <a:cs typeface="Courier New" pitchFamily="49" charset="0"/>
              </a:rPr>
              <a:t>(&amp;</a:t>
            </a:r>
            <a:r>
              <a:rPr lang="en-US" altLang="en-US" sz="1400" dirty="0" err="1">
                <a:solidFill>
                  <a:srgbClr val="000000"/>
                </a:solidFill>
                <a:latin typeface="Courier New" pitchFamily="49" charset="0"/>
                <a:cs typeface="Courier New" pitchFamily="49" charset="0"/>
              </a:rPr>
              <a:t>first_mutex</a:t>
            </a:r>
            <a:r>
              <a:rPr lang="en-US" altLang="en-US" sz="1400" dirty="0">
                <a:solidFill>
                  <a:srgbClr val="000000"/>
                </a:solidFill>
                <a:latin typeface="Courier New" pitchFamily="49" charset="0"/>
                <a:cs typeface="Courier New" pitchFamily="49" charset="0"/>
              </a:rPr>
              <a:t>); </a:t>
            </a:r>
          </a:p>
          <a:p>
            <a:pPr marL="0" indent="0">
              <a:buFont typeface="Monotype Sorts" pitchFamily="-84" charset="2"/>
              <a:buNone/>
            </a:pPr>
            <a:r>
              <a:rPr lang="en-US" altLang="en-US" sz="1400" dirty="0">
                <a:solidFill>
                  <a:srgbClr val="000000"/>
                </a:solidFill>
                <a:latin typeface="Courier New" pitchFamily="49" charset="0"/>
                <a:cs typeface="Courier New" pitchFamily="49" charset="0"/>
              </a:rPr>
              <a:t>   </a:t>
            </a:r>
            <a:r>
              <a:rPr lang="en-US" altLang="en-US" sz="1400" dirty="0" err="1">
                <a:solidFill>
                  <a:srgbClr val="000000"/>
                </a:solidFill>
                <a:latin typeface="Courier New" pitchFamily="49" charset="0"/>
                <a:cs typeface="Courier New" pitchFamily="49" charset="0"/>
              </a:rPr>
              <a:t>pthread_mutex_lock</a:t>
            </a:r>
            <a:r>
              <a:rPr lang="en-US" altLang="en-US" sz="1400" dirty="0">
                <a:solidFill>
                  <a:srgbClr val="000000"/>
                </a:solidFill>
                <a:latin typeface="Courier New" pitchFamily="49" charset="0"/>
                <a:cs typeface="Courier New" pitchFamily="49" charset="0"/>
              </a:rPr>
              <a:t>(&amp;</a:t>
            </a:r>
            <a:r>
              <a:rPr lang="en-US" altLang="en-US" sz="1400" dirty="0" err="1">
                <a:solidFill>
                  <a:srgbClr val="000000"/>
                </a:solidFill>
                <a:latin typeface="Courier New" pitchFamily="49" charset="0"/>
                <a:cs typeface="Courier New" pitchFamily="49" charset="0"/>
              </a:rPr>
              <a:t>second_mutex</a:t>
            </a:r>
            <a:r>
              <a:rPr lang="en-US" altLang="en-US" sz="1400" dirty="0">
                <a:solidFill>
                  <a:srgbClr val="000000"/>
                </a:solidFill>
                <a:latin typeface="Courier New" pitchFamily="49" charset="0"/>
                <a:cs typeface="Courier New" pitchFamily="49" charset="0"/>
              </a:rPr>
              <a:t>); </a:t>
            </a:r>
          </a:p>
          <a:p>
            <a:pPr marL="0" indent="0">
              <a:buFont typeface="Monotype Sorts" pitchFamily="-84" charset="2"/>
              <a:buNone/>
            </a:pPr>
            <a:r>
              <a:rPr lang="en-US" altLang="en-US" sz="1400" dirty="0">
                <a:solidFill>
                  <a:srgbClr val="000000"/>
                </a:solidFill>
                <a:latin typeface="Courier New" pitchFamily="49" charset="0"/>
                <a:cs typeface="Courier New" pitchFamily="49" charset="0"/>
              </a:rPr>
              <a:t>   /** * Do some work */</a:t>
            </a:r>
            <a:br>
              <a:rPr lang="en-US" altLang="en-US" sz="1400" dirty="0">
                <a:solidFill>
                  <a:srgbClr val="000000"/>
                </a:solidFill>
                <a:latin typeface="Courier New" pitchFamily="49" charset="0"/>
                <a:cs typeface="Courier New" pitchFamily="49" charset="0"/>
              </a:rPr>
            </a:br>
            <a:r>
              <a:rPr lang="en-US" altLang="en-US" sz="1400" dirty="0">
                <a:solidFill>
                  <a:srgbClr val="000000"/>
                </a:solidFill>
                <a:latin typeface="Courier New" pitchFamily="49" charset="0"/>
                <a:cs typeface="Courier New" pitchFamily="49" charset="0"/>
              </a:rPr>
              <a:t>   </a:t>
            </a:r>
            <a:r>
              <a:rPr lang="en-US" altLang="en-US" sz="1400" dirty="0" err="1">
                <a:solidFill>
                  <a:srgbClr val="000000"/>
                </a:solidFill>
                <a:latin typeface="Courier New" pitchFamily="49" charset="0"/>
                <a:cs typeface="Courier New" pitchFamily="49" charset="0"/>
              </a:rPr>
              <a:t>pthread_mutex_unlock</a:t>
            </a:r>
            <a:r>
              <a:rPr lang="en-US" altLang="en-US" sz="1400" dirty="0">
                <a:solidFill>
                  <a:srgbClr val="000000"/>
                </a:solidFill>
                <a:latin typeface="Courier New" pitchFamily="49" charset="0"/>
                <a:cs typeface="Courier New" pitchFamily="49" charset="0"/>
              </a:rPr>
              <a:t>(&amp;</a:t>
            </a:r>
            <a:r>
              <a:rPr lang="en-US" altLang="en-US" sz="1400" dirty="0" err="1">
                <a:solidFill>
                  <a:srgbClr val="000000"/>
                </a:solidFill>
                <a:latin typeface="Courier New" pitchFamily="49" charset="0"/>
                <a:cs typeface="Courier New" pitchFamily="49" charset="0"/>
              </a:rPr>
              <a:t>second_mutex</a:t>
            </a:r>
            <a:r>
              <a:rPr lang="en-US" altLang="en-US" sz="1400" dirty="0">
                <a:solidFill>
                  <a:srgbClr val="000000"/>
                </a:solidFill>
                <a:latin typeface="Courier New" pitchFamily="49" charset="0"/>
                <a:cs typeface="Courier New" pitchFamily="49" charset="0"/>
              </a:rPr>
              <a:t>); </a:t>
            </a:r>
          </a:p>
          <a:p>
            <a:pPr marL="0" indent="0">
              <a:buFont typeface="Monotype Sorts" pitchFamily="-84" charset="2"/>
              <a:buNone/>
            </a:pPr>
            <a:r>
              <a:rPr lang="en-US" altLang="en-US" sz="1400" dirty="0">
                <a:solidFill>
                  <a:srgbClr val="000000"/>
                </a:solidFill>
                <a:latin typeface="Courier New" pitchFamily="49" charset="0"/>
                <a:cs typeface="Courier New" pitchFamily="49" charset="0"/>
              </a:rPr>
              <a:t>   </a:t>
            </a:r>
            <a:r>
              <a:rPr lang="en-US" altLang="en-US" sz="1400" dirty="0" err="1">
                <a:solidFill>
                  <a:srgbClr val="000000"/>
                </a:solidFill>
                <a:latin typeface="Courier New" pitchFamily="49" charset="0"/>
                <a:cs typeface="Courier New" pitchFamily="49" charset="0"/>
              </a:rPr>
              <a:t>pthread_mutex_unlock</a:t>
            </a:r>
            <a:r>
              <a:rPr lang="en-US" altLang="en-US" sz="1400" dirty="0">
                <a:solidFill>
                  <a:srgbClr val="000000"/>
                </a:solidFill>
                <a:latin typeface="Courier New" pitchFamily="49" charset="0"/>
                <a:cs typeface="Courier New" pitchFamily="49" charset="0"/>
              </a:rPr>
              <a:t>(&amp;</a:t>
            </a:r>
            <a:r>
              <a:rPr lang="en-US" altLang="en-US" sz="1400" dirty="0" err="1">
                <a:solidFill>
                  <a:srgbClr val="000000"/>
                </a:solidFill>
                <a:latin typeface="Courier New" pitchFamily="49" charset="0"/>
                <a:cs typeface="Courier New" pitchFamily="49" charset="0"/>
              </a:rPr>
              <a:t>first_mutex</a:t>
            </a:r>
            <a:r>
              <a:rPr lang="en-US" altLang="en-US" sz="1400" dirty="0">
                <a:solidFill>
                  <a:srgbClr val="000000"/>
                </a:solidFill>
                <a:latin typeface="Courier New" pitchFamily="49" charset="0"/>
                <a:cs typeface="Courier New" pitchFamily="49" charset="0"/>
              </a:rPr>
              <a:t>); </a:t>
            </a:r>
          </a:p>
          <a:p>
            <a:pPr marL="0" indent="0">
              <a:buFont typeface="Monotype Sorts" pitchFamily="-84" charset="2"/>
              <a:buNone/>
            </a:pPr>
            <a:r>
              <a:rPr lang="en-US" altLang="en-US" sz="1400" dirty="0">
                <a:solidFill>
                  <a:srgbClr val="000000"/>
                </a:solidFill>
                <a:latin typeface="Courier New" pitchFamily="49" charset="0"/>
                <a:cs typeface="Courier New" pitchFamily="49" charset="0"/>
              </a:rPr>
              <a:t>   </a:t>
            </a:r>
            <a:r>
              <a:rPr lang="en-US" altLang="en-US" sz="1400" dirty="0" err="1">
                <a:solidFill>
                  <a:srgbClr val="000000"/>
                </a:solidFill>
                <a:latin typeface="Courier New" pitchFamily="49" charset="0"/>
                <a:cs typeface="Courier New" pitchFamily="49" charset="0"/>
              </a:rPr>
              <a:t>pthread_exit</a:t>
            </a:r>
            <a:r>
              <a:rPr lang="en-US" altLang="en-US" sz="1400" dirty="0">
                <a:solidFill>
                  <a:srgbClr val="000000"/>
                </a:solidFill>
                <a:latin typeface="Courier New" pitchFamily="49" charset="0"/>
                <a:cs typeface="Courier New" pitchFamily="49" charset="0"/>
              </a:rPr>
              <a:t>(0); </a:t>
            </a:r>
          </a:p>
          <a:p>
            <a:pPr marL="0" indent="0">
              <a:buFont typeface="Monotype Sorts" pitchFamily="-84" charset="2"/>
              <a:buNone/>
            </a:pPr>
            <a:r>
              <a:rPr lang="en-US" altLang="en-US" sz="1400" dirty="0">
                <a:solidFill>
                  <a:srgbClr val="000000"/>
                </a:solidFill>
                <a:latin typeface="Courier New" pitchFamily="49" charset="0"/>
                <a:cs typeface="Courier New" pitchFamily="49" charset="0"/>
              </a:rPr>
              <a:t>} </a:t>
            </a:r>
          </a:p>
          <a:p>
            <a:pPr marL="0" indent="0">
              <a:buFont typeface="Monotype Sorts" pitchFamily="-84" charset="2"/>
              <a:buNone/>
            </a:pPr>
            <a:endParaRPr lang="en-US" altLang="en-US" sz="1400" dirty="0">
              <a:solidFill>
                <a:srgbClr val="000000"/>
              </a:solidFill>
              <a:latin typeface="Courier New" pitchFamily="49" charset="0"/>
              <a:cs typeface="Courier New" pitchFamily="49" charset="0"/>
            </a:endParaRPr>
          </a:p>
          <a:p>
            <a:pPr marL="0" indent="0">
              <a:buFont typeface="Monotype Sorts" pitchFamily="-84" charset="2"/>
              <a:buNone/>
            </a:pPr>
            <a:r>
              <a:rPr lang="en-US" altLang="en-US" sz="1400" dirty="0">
                <a:solidFill>
                  <a:srgbClr val="000000"/>
                </a:solidFill>
                <a:latin typeface="Courier New" pitchFamily="49" charset="0"/>
                <a:cs typeface="Courier New" pitchFamily="49" charset="0"/>
              </a:rPr>
              <a:t>/* thread two runs in this function */ </a:t>
            </a:r>
          </a:p>
          <a:p>
            <a:pPr marL="0" indent="0">
              <a:buFont typeface="Monotype Sorts" pitchFamily="-84" charset="2"/>
              <a:buNone/>
            </a:pPr>
            <a:r>
              <a:rPr lang="en-US" altLang="en-US" sz="1400" dirty="0">
                <a:solidFill>
                  <a:srgbClr val="000000"/>
                </a:solidFill>
                <a:latin typeface="Courier New" pitchFamily="49" charset="0"/>
                <a:cs typeface="Courier New" pitchFamily="49" charset="0"/>
              </a:rPr>
              <a:t>void *</a:t>
            </a:r>
            <a:r>
              <a:rPr lang="en-US" altLang="en-US" sz="1400" dirty="0" err="1">
                <a:solidFill>
                  <a:srgbClr val="000000"/>
                </a:solidFill>
                <a:latin typeface="Courier New" pitchFamily="49" charset="0"/>
                <a:cs typeface="Courier New" pitchFamily="49" charset="0"/>
              </a:rPr>
              <a:t>do_work_two</a:t>
            </a:r>
            <a:r>
              <a:rPr lang="en-US" altLang="en-US" sz="1400" dirty="0">
                <a:solidFill>
                  <a:srgbClr val="000000"/>
                </a:solidFill>
                <a:latin typeface="Courier New" pitchFamily="49" charset="0"/>
                <a:cs typeface="Courier New" pitchFamily="49" charset="0"/>
              </a:rPr>
              <a:t>(void *</a:t>
            </a:r>
            <a:r>
              <a:rPr lang="en-US" altLang="en-US" sz="1400" dirty="0" err="1">
                <a:solidFill>
                  <a:srgbClr val="000000"/>
                </a:solidFill>
                <a:latin typeface="Courier New" pitchFamily="49" charset="0"/>
                <a:cs typeface="Courier New" pitchFamily="49" charset="0"/>
              </a:rPr>
              <a:t>param</a:t>
            </a:r>
            <a:r>
              <a:rPr lang="en-US" altLang="en-US" sz="1400" dirty="0">
                <a:solidFill>
                  <a:srgbClr val="000000"/>
                </a:solidFill>
                <a:latin typeface="Courier New" pitchFamily="49" charset="0"/>
                <a:cs typeface="Courier New" pitchFamily="49" charset="0"/>
              </a:rPr>
              <a:t>)</a:t>
            </a:r>
            <a:br>
              <a:rPr lang="en-US" altLang="en-US" sz="1400" dirty="0">
                <a:solidFill>
                  <a:srgbClr val="000000"/>
                </a:solidFill>
                <a:latin typeface="Courier New" pitchFamily="49" charset="0"/>
                <a:cs typeface="Courier New" pitchFamily="49" charset="0"/>
              </a:rPr>
            </a:br>
            <a:r>
              <a:rPr lang="en-US" altLang="en-US" sz="1100" dirty="0">
                <a:solidFill>
                  <a:srgbClr val="000000"/>
                </a:solidFill>
                <a:latin typeface="Courier New" pitchFamily="49" charset="0"/>
                <a:cs typeface="Courier New" pitchFamily="49" charset="0"/>
              </a:rPr>
              <a:t>{ </a:t>
            </a:r>
            <a:endParaRPr lang="en-US" altLang="en-US" sz="1400" dirty="0">
              <a:solidFill>
                <a:srgbClr val="000000"/>
              </a:solidFill>
              <a:latin typeface="Courier New" pitchFamily="49" charset="0"/>
              <a:cs typeface="Courier New" pitchFamily="49" charset="0"/>
            </a:endParaRPr>
          </a:p>
          <a:p>
            <a:pPr marL="0" indent="0">
              <a:buFont typeface="Monotype Sorts" pitchFamily="-84" charset="2"/>
              <a:buNone/>
            </a:pPr>
            <a:r>
              <a:rPr lang="en-US" altLang="en-US" sz="1400" dirty="0">
                <a:solidFill>
                  <a:srgbClr val="000000"/>
                </a:solidFill>
                <a:latin typeface="Courier New" pitchFamily="49" charset="0"/>
                <a:cs typeface="Courier New" pitchFamily="49" charset="0"/>
              </a:rPr>
              <a:t>   </a:t>
            </a:r>
            <a:r>
              <a:rPr lang="en-US" altLang="en-US" sz="1400" dirty="0" err="1">
                <a:solidFill>
                  <a:srgbClr val="000000"/>
                </a:solidFill>
                <a:latin typeface="Courier New" pitchFamily="49" charset="0"/>
                <a:cs typeface="Courier New" pitchFamily="49" charset="0"/>
              </a:rPr>
              <a:t>pthread_mutex_lock</a:t>
            </a:r>
            <a:r>
              <a:rPr lang="en-US" altLang="en-US" sz="1400" dirty="0">
                <a:solidFill>
                  <a:srgbClr val="000000"/>
                </a:solidFill>
                <a:latin typeface="Courier New" pitchFamily="49" charset="0"/>
                <a:cs typeface="Courier New" pitchFamily="49" charset="0"/>
              </a:rPr>
              <a:t>(&amp;</a:t>
            </a:r>
            <a:r>
              <a:rPr lang="en-US" altLang="en-US" sz="1400" dirty="0" err="1">
                <a:solidFill>
                  <a:srgbClr val="000000"/>
                </a:solidFill>
                <a:latin typeface="Courier New" pitchFamily="49" charset="0"/>
                <a:cs typeface="Courier New" pitchFamily="49" charset="0"/>
              </a:rPr>
              <a:t>second_mutex</a:t>
            </a:r>
            <a:r>
              <a:rPr lang="en-US" altLang="en-US" sz="1400" dirty="0">
                <a:solidFill>
                  <a:srgbClr val="000000"/>
                </a:solidFill>
                <a:latin typeface="Courier New" pitchFamily="49" charset="0"/>
                <a:cs typeface="Courier New" pitchFamily="49" charset="0"/>
              </a:rPr>
              <a:t>); </a:t>
            </a:r>
          </a:p>
          <a:p>
            <a:pPr marL="0" indent="0">
              <a:buFont typeface="Monotype Sorts" pitchFamily="-84" charset="2"/>
              <a:buNone/>
            </a:pPr>
            <a:r>
              <a:rPr lang="en-US" altLang="en-US" sz="1400" dirty="0">
                <a:solidFill>
                  <a:srgbClr val="000000"/>
                </a:solidFill>
                <a:latin typeface="Courier New" pitchFamily="49" charset="0"/>
                <a:cs typeface="Courier New" pitchFamily="49" charset="0"/>
              </a:rPr>
              <a:t>   </a:t>
            </a:r>
            <a:r>
              <a:rPr lang="en-US" altLang="en-US" sz="1400" dirty="0" err="1">
                <a:solidFill>
                  <a:srgbClr val="000000"/>
                </a:solidFill>
                <a:latin typeface="Courier New" pitchFamily="49" charset="0"/>
                <a:cs typeface="Courier New" pitchFamily="49" charset="0"/>
              </a:rPr>
              <a:t>pthread_mutex_lock</a:t>
            </a:r>
            <a:r>
              <a:rPr lang="en-US" altLang="en-US" sz="1400" dirty="0">
                <a:solidFill>
                  <a:srgbClr val="000000"/>
                </a:solidFill>
                <a:latin typeface="Courier New" pitchFamily="49" charset="0"/>
                <a:cs typeface="Courier New" pitchFamily="49" charset="0"/>
              </a:rPr>
              <a:t>(&amp;</a:t>
            </a:r>
            <a:r>
              <a:rPr lang="en-US" altLang="en-US" sz="1400" dirty="0" err="1">
                <a:solidFill>
                  <a:srgbClr val="000000"/>
                </a:solidFill>
                <a:latin typeface="Courier New" pitchFamily="49" charset="0"/>
                <a:cs typeface="Courier New" pitchFamily="49" charset="0"/>
              </a:rPr>
              <a:t>first_mutex</a:t>
            </a:r>
            <a:r>
              <a:rPr lang="en-US" altLang="en-US" sz="1400" dirty="0">
                <a:solidFill>
                  <a:srgbClr val="000000"/>
                </a:solidFill>
                <a:latin typeface="Courier New" pitchFamily="49" charset="0"/>
                <a:cs typeface="Courier New" pitchFamily="49" charset="0"/>
              </a:rPr>
              <a:t>); </a:t>
            </a:r>
          </a:p>
          <a:p>
            <a:pPr marL="0" indent="0">
              <a:buFont typeface="Monotype Sorts" pitchFamily="-84" charset="2"/>
              <a:buNone/>
            </a:pPr>
            <a:r>
              <a:rPr lang="en-US" altLang="en-US" sz="1400" dirty="0">
                <a:solidFill>
                  <a:srgbClr val="000000"/>
                </a:solidFill>
                <a:latin typeface="Courier New" pitchFamily="49" charset="0"/>
                <a:cs typeface="Courier New" pitchFamily="49" charset="0"/>
              </a:rPr>
              <a:t>   /** * Do some work */</a:t>
            </a:r>
            <a:br>
              <a:rPr lang="en-US" altLang="en-US" sz="1400" dirty="0">
                <a:solidFill>
                  <a:srgbClr val="000000"/>
                </a:solidFill>
                <a:latin typeface="Courier New" pitchFamily="49" charset="0"/>
                <a:cs typeface="Courier New" pitchFamily="49" charset="0"/>
              </a:rPr>
            </a:br>
            <a:r>
              <a:rPr lang="en-US" altLang="en-US" sz="1400" dirty="0">
                <a:solidFill>
                  <a:srgbClr val="000000"/>
                </a:solidFill>
                <a:latin typeface="Courier New" pitchFamily="49" charset="0"/>
                <a:cs typeface="Courier New" pitchFamily="49" charset="0"/>
              </a:rPr>
              <a:t>   </a:t>
            </a:r>
            <a:r>
              <a:rPr lang="en-US" altLang="en-US" sz="1400" dirty="0" err="1">
                <a:solidFill>
                  <a:srgbClr val="000000"/>
                </a:solidFill>
                <a:latin typeface="Courier New" pitchFamily="49" charset="0"/>
                <a:cs typeface="Courier New" pitchFamily="49" charset="0"/>
              </a:rPr>
              <a:t>pthread_mutex_unlock</a:t>
            </a:r>
            <a:r>
              <a:rPr lang="en-US" altLang="en-US" sz="1400" dirty="0">
                <a:solidFill>
                  <a:srgbClr val="000000"/>
                </a:solidFill>
                <a:latin typeface="Courier New" pitchFamily="49" charset="0"/>
                <a:cs typeface="Courier New" pitchFamily="49" charset="0"/>
              </a:rPr>
              <a:t>(&amp;</a:t>
            </a:r>
            <a:r>
              <a:rPr lang="en-US" altLang="en-US" sz="1400" dirty="0" err="1">
                <a:solidFill>
                  <a:srgbClr val="000000"/>
                </a:solidFill>
                <a:latin typeface="Courier New" pitchFamily="49" charset="0"/>
                <a:cs typeface="Courier New" pitchFamily="49" charset="0"/>
              </a:rPr>
              <a:t>first_mutex</a:t>
            </a:r>
            <a:r>
              <a:rPr lang="en-US" altLang="en-US" sz="1400" dirty="0">
                <a:solidFill>
                  <a:srgbClr val="000000"/>
                </a:solidFill>
                <a:latin typeface="Courier New" pitchFamily="49" charset="0"/>
                <a:cs typeface="Courier New" pitchFamily="49" charset="0"/>
              </a:rPr>
              <a:t>); </a:t>
            </a:r>
          </a:p>
          <a:p>
            <a:pPr marL="0" indent="0">
              <a:buFont typeface="Monotype Sorts" pitchFamily="-84" charset="2"/>
              <a:buNone/>
            </a:pPr>
            <a:r>
              <a:rPr lang="en-US" altLang="en-US" sz="1400" dirty="0">
                <a:solidFill>
                  <a:srgbClr val="000000"/>
                </a:solidFill>
                <a:latin typeface="Courier New" pitchFamily="49" charset="0"/>
                <a:cs typeface="Courier New" pitchFamily="49" charset="0"/>
              </a:rPr>
              <a:t>   </a:t>
            </a:r>
            <a:r>
              <a:rPr lang="en-US" altLang="en-US" sz="1400" dirty="0" err="1">
                <a:solidFill>
                  <a:srgbClr val="000000"/>
                </a:solidFill>
                <a:latin typeface="Courier New" pitchFamily="49" charset="0"/>
                <a:cs typeface="Courier New" pitchFamily="49" charset="0"/>
              </a:rPr>
              <a:t>pthread_mutex_unlock</a:t>
            </a:r>
            <a:r>
              <a:rPr lang="en-US" altLang="en-US" sz="1400" dirty="0">
                <a:solidFill>
                  <a:srgbClr val="000000"/>
                </a:solidFill>
                <a:latin typeface="Courier New" pitchFamily="49" charset="0"/>
                <a:cs typeface="Courier New" pitchFamily="49" charset="0"/>
              </a:rPr>
              <a:t>(&amp;</a:t>
            </a:r>
            <a:r>
              <a:rPr lang="en-US" altLang="en-US" sz="1400" dirty="0" err="1">
                <a:solidFill>
                  <a:srgbClr val="000000"/>
                </a:solidFill>
                <a:latin typeface="Courier New" pitchFamily="49" charset="0"/>
                <a:cs typeface="Courier New" pitchFamily="49" charset="0"/>
              </a:rPr>
              <a:t>second_mutex</a:t>
            </a:r>
            <a:r>
              <a:rPr lang="en-US" altLang="en-US" sz="1400" dirty="0">
                <a:solidFill>
                  <a:srgbClr val="000000"/>
                </a:solidFill>
                <a:latin typeface="Courier New" pitchFamily="49" charset="0"/>
                <a:cs typeface="Courier New" pitchFamily="49" charset="0"/>
              </a:rPr>
              <a:t>); </a:t>
            </a:r>
          </a:p>
          <a:p>
            <a:pPr marL="0" indent="0">
              <a:buFont typeface="Monotype Sorts" pitchFamily="-84" charset="2"/>
              <a:buNone/>
            </a:pPr>
            <a:r>
              <a:rPr lang="en-US" altLang="en-US" sz="1400" dirty="0">
                <a:solidFill>
                  <a:srgbClr val="000000"/>
                </a:solidFill>
                <a:latin typeface="Courier New" pitchFamily="49" charset="0"/>
                <a:cs typeface="Courier New" pitchFamily="49" charset="0"/>
              </a:rPr>
              <a:t>   </a:t>
            </a:r>
            <a:r>
              <a:rPr lang="en-US" altLang="en-US" sz="1400" dirty="0" err="1">
                <a:solidFill>
                  <a:srgbClr val="000000"/>
                </a:solidFill>
                <a:latin typeface="Courier New" pitchFamily="49" charset="0"/>
                <a:cs typeface="Courier New" pitchFamily="49" charset="0"/>
              </a:rPr>
              <a:t>pthread_exit</a:t>
            </a:r>
            <a:r>
              <a:rPr lang="en-US" altLang="en-US" sz="1400" dirty="0">
                <a:solidFill>
                  <a:srgbClr val="000000"/>
                </a:solidFill>
                <a:latin typeface="Courier New" pitchFamily="49" charset="0"/>
                <a:cs typeface="Courier New" pitchFamily="49" charset="0"/>
              </a:rPr>
              <a:t>(0); </a:t>
            </a:r>
          </a:p>
          <a:p>
            <a:pPr marL="0" indent="0">
              <a:buFont typeface="Monotype Sorts" pitchFamily="-84" charset="2"/>
              <a:buNone/>
            </a:pPr>
            <a:r>
              <a:rPr lang="en-US" altLang="en-US" sz="1400" dirty="0">
                <a:solidFill>
                  <a:srgbClr val="000000"/>
                </a:solidFill>
                <a:latin typeface="Courier New" pitchFamily="49" charset="0"/>
                <a:cs typeface="Courier New" pitchFamily="49" charset="0"/>
              </a:rPr>
              <a:t>} </a:t>
            </a:r>
          </a:p>
        </p:txBody>
      </p:sp>
    </p:spTree>
    <p:extLst>
      <p:ext uri="{BB962C8B-B14F-4D97-AF65-F5344CB8AC3E}">
        <p14:creationId xmlns:p14="http://schemas.microsoft.com/office/powerpoint/2010/main" val="21857669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026"/>
          <p:cNvSpPr>
            <a:spLocks noGrp="1" noChangeArrowheads="1"/>
          </p:cNvSpPr>
          <p:nvPr>
            <p:ph type="title"/>
          </p:nvPr>
        </p:nvSpPr>
        <p:spPr>
          <a:xfrm>
            <a:off x="1385888" y="122238"/>
            <a:ext cx="7724775" cy="576262"/>
          </a:xfrm>
        </p:spPr>
        <p:txBody>
          <a:bodyPr/>
          <a:lstStyle/>
          <a:p>
            <a:pPr eaLnBrk="1" hangingPunct="1"/>
            <a:r>
              <a:rPr lang="en-US" altLang="en-US" sz="2800"/>
              <a:t>Deadlock Example with Lock Ordering</a:t>
            </a:r>
          </a:p>
        </p:txBody>
      </p:sp>
      <p:sp>
        <p:nvSpPr>
          <p:cNvPr id="19459" name="Rectangle 1027"/>
          <p:cNvSpPr>
            <a:spLocks noGrp="1" noChangeArrowheads="1"/>
          </p:cNvSpPr>
          <p:nvPr>
            <p:ph type="body" idx="1"/>
          </p:nvPr>
        </p:nvSpPr>
        <p:spPr>
          <a:xfrm>
            <a:off x="1184275" y="1060450"/>
            <a:ext cx="7639050" cy="3638550"/>
          </a:xfrm>
        </p:spPr>
        <p:txBody>
          <a:bodyPr/>
          <a:lstStyle/>
          <a:p>
            <a:pPr marL="0" indent="0">
              <a:buFont typeface="Monotype Sorts" pitchFamily="-84" charset="2"/>
              <a:buNone/>
            </a:pPr>
            <a:r>
              <a:rPr lang="en-US" altLang="en-US" sz="1400">
                <a:latin typeface="Courier New" pitchFamily="49" charset="0"/>
                <a:cs typeface="Courier New" pitchFamily="49" charset="0"/>
              </a:rPr>
              <a:t>void transaction(Account from, Account to, double amount) </a:t>
            </a:r>
          </a:p>
          <a:p>
            <a:pPr marL="0" indent="0">
              <a:buFont typeface="Monotype Sorts" pitchFamily="-84" charset="2"/>
              <a:buNone/>
            </a:pPr>
            <a:r>
              <a:rPr lang="en-US" altLang="en-US" sz="1400">
                <a:latin typeface="Courier New" pitchFamily="49" charset="0"/>
                <a:cs typeface="Courier New" pitchFamily="49" charset="0"/>
              </a:rPr>
              <a:t>{ </a:t>
            </a:r>
          </a:p>
          <a:p>
            <a:pPr marL="0" indent="0">
              <a:buFont typeface="Monotype Sorts" pitchFamily="-84" charset="2"/>
              <a:buNone/>
            </a:pPr>
            <a:r>
              <a:rPr lang="en-US" altLang="en-US" sz="1400">
                <a:latin typeface="Courier New" pitchFamily="49" charset="0"/>
                <a:cs typeface="Courier New" pitchFamily="49" charset="0"/>
              </a:rPr>
              <a:t>   mutex lock1, lock2; </a:t>
            </a:r>
          </a:p>
          <a:p>
            <a:pPr marL="0" indent="0">
              <a:buFont typeface="Monotype Sorts" pitchFamily="-84" charset="2"/>
              <a:buNone/>
            </a:pPr>
            <a:r>
              <a:rPr lang="en-US" altLang="en-US" sz="1400">
                <a:latin typeface="Courier New" pitchFamily="49" charset="0"/>
                <a:cs typeface="Courier New" pitchFamily="49" charset="0"/>
              </a:rPr>
              <a:t>   lock1 = get_lock(from); </a:t>
            </a:r>
          </a:p>
          <a:p>
            <a:pPr marL="0" indent="0">
              <a:buFont typeface="Monotype Sorts" pitchFamily="-84" charset="2"/>
              <a:buNone/>
            </a:pPr>
            <a:r>
              <a:rPr lang="en-US" altLang="en-US" sz="1400">
                <a:latin typeface="Courier New" pitchFamily="49" charset="0"/>
                <a:cs typeface="Courier New" pitchFamily="49" charset="0"/>
              </a:rPr>
              <a:t>   lock2 = get_lock(to); </a:t>
            </a:r>
          </a:p>
          <a:p>
            <a:pPr marL="0" indent="0">
              <a:buFont typeface="Monotype Sorts" pitchFamily="-84" charset="2"/>
              <a:buNone/>
            </a:pPr>
            <a:r>
              <a:rPr lang="en-US" altLang="en-US" sz="1400">
                <a:latin typeface="Courier New" pitchFamily="49" charset="0"/>
                <a:cs typeface="Courier New" pitchFamily="49" charset="0"/>
              </a:rPr>
              <a:t>   acquire(lock1); </a:t>
            </a:r>
          </a:p>
          <a:p>
            <a:pPr marL="0" indent="0">
              <a:buFont typeface="Monotype Sorts" pitchFamily="-84" charset="2"/>
              <a:buNone/>
            </a:pPr>
            <a:r>
              <a:rPr lang="en-US" altLang="en-US" sz="1400">
                <a:latin typeface="Courier New" pitchFamily="49" charset="0"/>
                <a:cs typeface="Courier New" pitchFamily="49" charset="0"/>
              </a:rPr>
              <a:t>      acquire(lock2); </a:t>
            </a:r>
          </a:p>
          <a:p>
            <a:pPr marL="0" indent="0">
              <a:buFont typeface="Monotype Sorts" pitchFamily="-84" charset="2"/>
              <a:buNone/>
            </a:pPr>
            <a:r>
              <a:rPr lang="en-US" altLang="en-US" sz="1400">
                <a:latin typeface="Courier New" pitchFamily="49" charset="0"/>
                <a:cs typeface="Courier New" pitchFamily="49" charset="0"/>
              </a:rPr>
              <a:t>         withdraw(from, amount); </a:t>
            </a:r>
          </a:p>
          <a:p>
            <a:pPr marL="0" indent="0">
              <a:buFont typeface="Monotype Sorts" pitchFamily="-84" charset="2"/>
              <a:buNone/>
            </a:pPr>
            <a:r>
              <a:rPr lang="en-US" altLang="en-US" sz="1400">
                <a:latin typeface="Courier New" pitchFamily="49" charset="0"/>
                <a:cs typeface="Courier New" pitchFamily="49" charset="0"/>
              </a:rPr>
              <a:t>         deposit(to, amount); </a:t>
            </a:r>
          </a:p>
          <a:p>
            <a:pPr marL="0" indent="0">
              <a:buFont typeface="Monotype Sorts" pitchFamily="-84" charset="2"/>
              <a:buNone/>
            </a:pPr>
            <a:r>
              <a:rPr lang="en-US" altLang="en-US" sz="1400">
                <a:latin typeface="Courier New" pitchFamily="49" charset="0"/>
                <a:cs typeface="Courier New" pitchFamily="49" charset="0"/>
              </a:rPr>
              <a:t>      release(lock2); </a:t>
            </a:r>
          </a:p>
          <a:p>
            <a:pPr marL="0" indent="0">
              <a:buFont typeface="Monotype Sorts" pitchFamily="-84" charset="2"/>
              <a:buNone/>
            </a:pPr>
            <a:r>
              <a:rPr lang="en-US" altLang="en-US" sz="1400">
                <a:latin typeface="Courier New" pitchFamily="49" charset="0"/>
                <a:cs typeface="Courier New" pitchFamily="49" charset="0"/>
              </a:rPr>
              <a:t>   release(lock1); </a:t>
            </a:r>
          </a:p>
          <a:p>
            <a:pPr marL="0" indent="0">
              <a:buFont typeface="Monotype Sorts" pitchFamily="-84" charset="2"/>
              <a:buNone/>
            </a:pPr>
            <a:r>
              <a:rPr lang="en-US" altLang="en-US" sz="1400">
                <a:latin typeface="Courier New" pitchFamily="49" charset="0"/>
                <a:cs typeface="Courier New" pitchFamily="49" charset="0"/>
              </a:rPr>
              <a:t>} </a:t>
            </a:r>
          </a:p>
        </p:txBody>
      </p:sp>
      <p:sp>
        <p:nvSpPr>
          <p:cNvPr id="19460" name="Rectangle 3"/>
          <p:cNvSpPr>
            <a:spLocks noChangeArrowheads="1"/>
          </p:cNvSpPr>
          <p:nvPr/>
        </p:nvSpPr>
        <p:spPr bwMode="auto">
          <a:xfrm>
            <a:off x="1181100" y="4618038"/>
            <a:ext cx="70485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84" charset="0"/>
                <a:ea typeface="MS PGothic"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84" charset="0"/>
                <a:ea typeface="MS PGothic"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84" charset="0"/>
                <a:ea typeface="MS PGothic" pitchFamily="34" charset="-128"/>
              </a:defRPr>
            </a:lvl3pPr>
            <a:lvl4pPr marL="1600200" indent="-228600">
              <a:spcBef>
                <a:spcPct val="35000"/>
              </a:spcBef>
              <a:buClr>
                <a:schemeClr val="hlink"/>
              </a:buClr>
              <a:buSzPct val="75000"/>
              <a:buChar char="–"/>
              <a:defRPr kumimoji="1">
                <a:solidFill>
                  <a:schemeClr val="tx1"/>
                </a:solidFill>
                <a:latin typeface="Helvetica" pitchFamily="-84" charset="0"/>
                <a:ea typeface="MS PGothic" pitchFamily="34" charset="-128"/>
              </a:defRPr>
            </a:lvl4pPr>
            <a:lvl5pPr marL="2057400" indent="-228600">
              <a:spcBef>
                <a:spcPct val="35000"/>
              </a:spcBef>
              <a:buClr>
                <a:srgbClr val="FF0066"/>
              </a:buClr>
              <a:buSzPct val="75000"/>
              <a:buChar char="»"/>
              <a:defRPr kumimoji="1">
                <a:solidFill>
                  <a:schemeClr val="tx1"/>
                </a:solidFill>
                <a:latin typeface="Helvetica" pitchFamily="-84" charset="0"/>
                <a:ea typeface="MS PGothic"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9pPr>
          </a:lstStyle>
          <a:p>
            <a:pPr algn="just">
              <a:spcBef>
                <a:spcPct val="50000"/>
              </a:spcBef>
              <a:buClrTx/>
              <a:buSzTx/>
              <a:buFontTx/>
              <a:buNone/>
            </a:pPr>
            <a:r>
              <a:rPr kumimoji="0" lang="en-US" altLang="en-US" sz="1600" dirty="0"/>
              <a:t>Transactions 1 and 2 execute concurrently.  Transaction  1 transfers $25 from account A to account B, and Transaction 2 transfers $50 from account B to account A</a:t>
            </a:r>
            <a:endParaRPr kumimoji="0" lang="en-US" altLang="en-US" sz="1600" dirty="0">
              <a:latin typeface="Verdana" pitchFamily="34" charset="0"/>
            </a:endParaRPr>
          </a:p>
          <a:p>
            <a:pPr>
              <a:spcBef>
                <a:spcPct val="50000"/>
              </a:spcBef>
              <a:buClrTx/>
              <a:buSzTx/>
              <a:buFontTx/>
              <a:buNone/>
            </a:pPr>
            <a:r>
              <a:rPr kumimoji="0" lang="en-US" altLang="en-US" sz="1600" dirty="0"/>
              <a:t>    </a:t>
            </a:r>
          </a:p>
        </p:txBody>
      </p:sp>
    </p:spTree>
    <p:extLst>
      <p:ext uri="{BB962C8B-B14F-4D97-AF65-F5344CB8AC3E}">
        <p14:creationId xmlns:p14="http://schemas.microsoft.com/office/powerpoint/2010/main" val="28657767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923925" y="198438"/>
            <a:ext cx="7762875" cy="576262"/>
          </a:xfrm>
        </p:spPr>
        <p:txBody>
          <a:bodyPr>
            <a:normAutofit fontScale="90000"/>
          </a:bodyPr>
          <a:lstStyle/>
          <a:p>
            <a:pPr eaLnBrk="1" hangingPunct="1"/>
            <a:r>
              <a:rPr lang="en-US" altLang="en-US"/>
              <a:t>Deadlock Avoidance</a:t>
            </a:r>
          </a:p>
        </p:txBody>
      </p:sp>
      <p:sp>
        <p:nvSpPr>
          <p:cNvPr id="20483" name="Rectangle 3"/>
          <p:cNvSpPr>
            <a:spLocks noGrp="1" noChangeArrowheads="1"/>
          </p:cNvSpPr>
          <p:nvPr>
            <p:ph type="body" idx="1"/>
          </p:nvPr>
        </p:nvSpPr>
        <p:spPr>
          <a:xfrm>
            <a:off x="1397000" y="1814513"/>
            <a:ext cx="6629400" cy="3783012"/>
          </a:xfrm>
        </p:spPr>
        <p:txBody>
          <a:bodyPr>
            <a:normAutofit fontScale="77500" lnSpcReduction="20000"/>
          </a:bodyPr>
          <a:lstStyle/>
          <a:p>
            <a:pPr algn="just"/>
            <a:r>
              <a:rPr lang="en-US" altLang="en-US" dirty="0"/>
              <a:t>Simplest and most useful model requires that </a:t>
            </a:r>
            <a:r>
              <a:rPr lang="en-US" altLang="en-US" dirty="0">
                <a:solidFill>
                  <a:srgbClr val="FF0000"/>
                </a:solidFill>
              </a:rPr>
              <a:t>each process declare the </a:t>
            </a:r>
            <a:r>
              <a:rPr lang="en-US" altLang="en-US" b="1" i="1" dirty="0">
                <a:solidFill>
                  <a:srgbClr val="FF0000"/>
                </a:solidFill>
              </a:rPr>
              <a:t>maximum number</a:t>
            </a:r>
            <a:r>
              <a:rPr lang="en-US" altLang="en-US" b="1" dirty="0">
                <a:solidFill>
                  <a:srgbClr val="FF0000"/>
                </a:solidFill>
              </a:rPr>
              <a:t> </a:t>
            </a:r>
            <a:r>
              <a:rPr lang="en-US" altLang="en-US" dirty="0">
                <a:solidFill>
                  <a:srgbClr val="FF0000"/>
                </a:solidFill>
              </a:rPr>
              <a:t>of resources of each type</a:t>
            </a:r>
            <a:r>
              <a:rPr lang="en-US" altLang="en-US" dirty="0"/>
              <a:t> that it may need</a:t>
            </a:r>
          </a:p>
          <a:p>
            <a:pPr algn="just"/>
            <a:r>
              <a:rPr lang="en-US" altLang="en-US" dirty="0"/>
              <a:t>The deadlock-avoidance </a:t>
            </a:r>
            <a:r>
              <a:rPr lang="en-US" altLang="en-US" dirty="0">
                <a:solidFill>
                  <a:srgbClr val="FF0000"/>
                </a:solidFill>
              </a:rPr>
              <a:t>algorithm dynamically examines the resource-allocation state </a:t>
            </a:r>
            <a:r>
              <a:rPr lang="en-US" altLang="en-US" dirty="0"/>
              <a:t>to ensure that there can never be a circular-wait condition</a:t>
            </a:r>
          </a:p>
          <a:p>
            <a:pPr algn="just"/>
            <a:r>
              <a:rPr lang="en-US" altLang="en-US" dirty="0"/>
              <a:t>Resource-allocation </a:t>
            </a:r>
            <a:r>
              <a:rPr lang="en-US" altLang="en-US" b="1" i="1" dirty="0">
                <a:solidFill>
                  <a:srgbClr val="00B0F0"/>
                </a:solidFill>
              </a:rPr>
              <a:t>state</a:t>
            </a:r>
            <a:r>
              <a:rPr lang="en-US" altLang="en-US" dirty="0">
                <a:solidFill>
                  <a:srgbClr val="00B0F0"/>
                </a:solidFill>
              </a:rPr>
              <a:t> </a:t>
            </a:r>
            <a:r>
              <a:rPr lang="en-US" altLang="en-US" dirty="0">
                <a:solidFill>
                  <a:srgbClr val="FF0000"/>
                </a:solidFill>
              </a:rPr>
              <a:t>is defined by </a:t>
            </a:r>
            <a:r>
              <a:rPr lang="en-US" altLang="en-US" dirty="0"/>
              <a:t>the number of </a:t>
            </a:r>
            <a:r>
              <a:rPr lang="en-US" altLang="en-US" dirty="0">
                <a:solidFill>
                  <a:srgbClr val="00B050"/>
                </a:solidFill>
              </a:rPr>
              <a:t>available and allocated resources, and the maximum demands </a:t>
            </a:r>
            <a:r>
              <a:rPr lang="en-US" altLang="en-US" dirty="0"/>
              <a:t>of the processes</a:t>
            </a:r>
          </a:p>
        </p:txBody>
      </p:sp>
      <p:sp>
        <p:nvSpPr>
          <p:cNvPr id="20484" name="Text Box 4"/>
          <p:cNvSpPr txBox="1">
            <a:spLocks noChangeArrowheads="1"/>
          </p:cNvSpPr>
          <p:nvPr/>
        </p:nvSpPr>
        <p:spPr bwMode="auto">
          <a:xfrm>
            <a:off x="1154113" y="1098550"/>
            <a:ext cx="77692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84" charset="0"/>
                <a:ea typeface="MS PGothic"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84" charset="0"/>
                <a:ea typeface="MS PGothic"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84" charset="0"/>
                <a:ea typeface="MS PGothic" pitchFamily="34" charset="-128"/>
              </a:defRPr>
            </a:lvl3pPr>
            <a:lvl4pPr marL="1600200" indent="-228600">
              <a:spcBef>
                <a:spcPct val="35000"/>
              </a:spcBef>
              <a:buClr>
                <a:schemeClr val="hlink"/>
              </a:buClr>
              <a:buSzPct val="75000"/>
              <a:buChar char="–"/>
              <a:defRPr kumimoji="1">
                <a:solidFill>
                  <a:schemeClr val="tx1"/>
                </a:solidFill>
                <a:latin typeface="Helvetica" pitchFamily="-84" charset="0"/>
                <a:ea typeface="MS PGothic" pitchFamily="34" charset="-128"/>
              </a:defRPr>
            </a:lvl4pPr>
            <a:lvl5pPr marL="2057400" indent="-228600">
              <a:spcBef>
                <a:spcPct val="35000"/>
              </a:spcBef>
              <a:buClr>
                <a:srgbClr val="FF0066"/>
              </a:buClr>
              <a:buSzPct val="75000"/>
              <a:buChar char="»"/>
              <a:defRPr kumimoji="1">
                <a:solidFill>
                  <a:schemeClr val="tx1"/>
                </a:solidFill>
                <a:latin typeface="Helvetica" pitchFamily="-84" charset="0"/>
                <a:ea typeface="MS PGothic"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9pPr>
          </a:lstStyle>
          <a:p>
            <a:pPr>
              <a:spcBef>
                <a:spcPct val="50000"/>
              </a:spcBef>
              <a:buClrTx/>
              <a:buSzTx/>
              <a:buFontTx/>
              <a:buNone/>
            </a:pPr>
            <a:r>
              <a:rPr kumimoji="0" lang="en-US" altLang="en-US"/>
              <a:t>Requires that the system has some additional </a:t>
            </a:r>
            <a:r>
              <a:rPr kumimoji="0" lang="en-US" altLang="en-US" b="1" i="1"/>
              <a:t>a priori </a:t>
            </a:r>
            <a:r>
              <a:rPr kumimoji="0" lang="en-US" altLang="en-US"/>
              <a:t>information </a:t>
            </a:r>
            <a:br>
              <a:rPr kumimoji="0" lang="en-US" altLang="en-US"/>
            </a:br>
            <a:r>
              <a:rPr kumimoji="0" lang="en-US" altLang="en-US"/>
              <a:t>available</a:t>
            </a:r>
          </a:p>
        </p:txBody>
      </p:sp>
    </p:spTree>
    <p:extLst>
      <p:ext uri="{BB962C8B-B14F-4D97-AF65-F5344CB8AC3E}">
        <p14:creationId xmlns:p14="http://schemas.microsoft.com/office/powerpoint/2010/main" val="34301219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136525"/>
            <a:ext cx="8229600" cy="576263"/>
          </a:xfrm>
        </p:spPr>
        <p:txBody>
          <a:bodyPr>
            <a:normAutofit fontScale="90000"/>
          </a:bodyPr>
          <a:lstStyle/>
          <a:p>
            <a:pPr eaLnBrk="1" hangingPunct="1"/>
            <a:r>
              <a:rPr lang="en-US" altLang="en-US"/>
              <a:t>Safe State</a:t>
            </a:r>
          </a:p>
        </p:txBody>
      </p:sp>
      <p:sp>
        <p:nvSpPr>
          <p:cNvPr id="21507" name="Rectangle 3"/>
          <p:cNvSpPr>
            <a:spLocks noGrp="1" noChangeArrowheads="1"/>
          </p:cNvSpPr>
          <p:nvPr>
            <p:ph type="body" idx="1"/>
          </p:nvPr>
        </p:nvSpPr>
        <p:spPr>
          <a:xfrm>
            <a:off x="919163" y="1165225"/>
            <a:ext cx="7358062" cy="4997450"/>
          </a:xfrm>
        </p:spPr>
        <p:txBody>
          <a:bodyPr>
            <a:normAutofit fontScale="77500" lnSpcReduction="20000"/>
          </a:bodyPr>
          <a:lstStyle/>
          <a:p>
            <a:pPr algn="just"/>
            <a:r>
              <a:rPr lang="en-US" altLang="en-US" dirty="0"/>
              <a:t>When a process requests an available resource, system must </a:t>
            </a:r>
            <a:r>
              <a:rPr lang="en-US" altLang="en-US" dirty="0">
                <a:solidFill>
                  <a:srgbClr val="FF0000"/>
                </a:solidFill>
              </a:rPr>
              <a:t>decide if immediate allocation leaves the system in a safe state</a:t>
            </a:r>
          </a:p>
          <a:p>
            <a:pPr algn="just"/>
            <a:r>
              <a:rPr lang="en-US" altLang="en-US" dirty="0"/>
              <a:t>System is in </a:t>
            </a:r>
            <a:r>
              <a:rPr lang="en-US" altLang="en-US" b="1" dirty="0">
                <a:solidFill>
                  <a:srgbClr val="3366FF"/>
                </a:solidFill>
              </a:rPr>
              <a:t>safe state</a:t>
            </a:r>
            <a:r>
              <a:rPr lang="en-US" altLang="en-US" dirty="0">
                <a:solidFill>
                  <a:srgbClr val="3366FF"/>
                </a:solidFill>
              </a:rPr>
              <a:t> </a:t>
            </a:r>
            <a:r>
              <a:rPr lang="en-US" altLang="en-US" dirty="0"/>
              <a:t>if there </a:t>
            </a:r>
            <a:r>
              <a:rPr lang="en-US" altLang="en-US" dirty="0">
                <a:solidFill>
                  <a:srgbClr val="FF0000"/>
                </a:solidFill>
              </a:rPr>
              <a:t>exists a sequence &lt;</a:t>
            </a:r>
            <a:r>
              <a:rPr lang="en-US" altLang="en-US" i="1" dirty="0">
                <a:solidFill>
                  <a:srgbClr val="FF0000"/>
                </a:solidFill>
              </a:rPr>
              <a:t>P</a:t>
            </a:r>
            <a:r>
              <a:rPr lang="en-US" altLang="en-US" i="1" baseline="-25000" dirty="0">
                <a:solidFill>
                  <a:srgbClr val="FF0000"/>
                </a:solidFill>
              </a:rPr>
              <a:t>1</a:t>
            </a:r>
            <a:r>
              <a:rPr lang="en-US" altLang="en-US" i="1" dirty="0">
                <a:solidFill>
                  <a:srgbClr val="FF0000"/>
                </a:solidFill>
              </a:rPr>
              <a:t>, P</a:t>
            </a:r>
            <a:r>
              <a:rPr lang="en-US" altLang="en-US" i="1" baseline="-25000" dirty="0">
                <a:solidFill>
                  <a:srgbClr val="FF0000"/>
                </a:solidFill>
              </a:rPr>
              <a:t>2</a:t>
            </a:r>
            <a:r>
              <a:rPr lang="en-US" altLang="en-US" i="1" dirty="0">
                <a:solidFill>
                  <a:srgbClr val="FF0000"/>
                </a:solidFill>
              </a:rPr>
              <a:t>, …, </a:t>
            </a:r>
            <a:r>
              <a:rPr lang="en-US" altLang="en-US" i="1" dirty="0" err="1">
                <a:solidFill>
                  <a:srgbClr val="FF0000"/>
                </a:solidFill>
              </a:rPr>
              <a:t>P</a:t>
            </a:r>
            <a:r>
              <a:rPr lang="en-US" altLang="en-US" i="1" baseline="-25000" dirty="0" err="1">
                <a:solidFill>
                  <a:srgbClr val="FF0000"/>
                </a:solidFill>
              </a:rPr>
              <a:t>n</a:t>
            </a:r>
            <a:r>
              <a:rPr lang="en-US" altLang="en-US" dirty="0">
                <a:solidFill>
                  <a:srgbClr val="FF0000"/>
                </a:solidFill>
              </a:rPr>
              <a:t>&gt; of ALL the  processes </a:t>
            </a:r>
            <a:r>
              <a:rPr lang="en-US" altLang="en-US" dirty="0"/>
              <a:t> in the system such that  for each P</a:t>
            </a:r>
            <a:r>
              <a:rPr lang="en-US" altLang="en-US" baseline="-25000" dirty="0"/>
              <a:t>i</a:t>
            </a:r>
            <a:r>
              <a:rPr lang="en-US" altLang="en-US" dirty="0"/>
              <a:t>, the resources that P</a:t>
            </a:r>
            <a:r>
              <a:rPr lang="en-US" altLang="en-US" baseline="-25000" dirty="0"/>
              <a:t>i </a:t>
            </a:r>
            <a:r>
              <a:rPr lang="en-US" altLang="en-US" dirty="0"/>
              <a:t>can still request could be </a:t>
            </a:r>
            <a:r>
              <a:rPr lang="en-US" altLang="en-US" dirty="0">
                <a:solidFill>
                  <a:srgbClr val="FF0000"/>
                </a:solidFill>
              </a:rPr>
              <a:t>satisfied by currently available resources + resources held by all the </a:t>
            </a:r>
            <a:r>
              <a:rPr lang="en-US" altLang="en-US" i="1" dirty="0" err="1">
                <a:solidFill>
                  <a:srgbClr val="FF0000"/>
                </a:solidFill>
              </a:rPr>
              <a:t>P</a:t>
            </a:r>
            <a:r>
              <a:rPr lang="en-US" altLang="en-US" i="1" baseline="-25000" dirty="0" err="1"/>
              <a:t>j</a:t>
            </a:r>
            <a:r>
              <a:rPr lang="en-US" altLang="en-US" dirty="0"/>
              <a:t>, with</a:t>
            </a:r>
            <a:r>
              <a:rPr lang="en-US" altLang="en-US" i="1" dirty="0"/>
              <a:t> j </a:t>
            </a:r>
            <a:r>
              <a:rPr lang="en-US" altLang="en-US" dirty="0"/>
              <a:t>&lt; </a:t>
            </a:r>
            <a:r>
              <a:rPr lang="en-US" altLang="en-US" i="1" dirty="0" err="1"/>
              <a:t>i</a:t>
            </a:r>
            <a:endParaRPr lang="en-US" altLang="en-US" dirty="0"/>
          </a:p>
          <a:p>
            <a:pPr lvl="1" algn="just"/>
            <a:r>
              <a:rPr lang="en-US" altLang="en-US" dirty="0"/>
              <a:t>If P</a:t>
            </a:r>
            <a:r>
              <a:rPr lang="en-US" altLang="en-US" baseline="-25000" dirty="0"/>
              <a:t>i</a:t>
            </a:r>
            <a:r>
              <a:rPr lang="en-US" altLang="en-US" dirty="0"/>
              <a:t> resource needs are not immediately available, then </a:t>
            </a:r>
            <a:r>
              <a:rPr lang="en-US" altLang="en-US" i="1" dirty="0"/>
              <a:t>P</a:t>
            </a:r>
            <a:r>
              <a:rPr lang="en-US" altLang="en-US" i="1" baseline="-25000" dirty="0"/>
              <a:t>i</a:t>
            </a:r>
            <a:r>
              <a:rPr lang="en-US" altLang="en-US" dirty="0"/>
              <a:t> can wait until all </a:t>
            </a:r>
            <a:r>
              <a:rPr lang="en-US" altLang="en-US" i="1" dirty="0" err="1"/>
              <a:t>P</a:t>
            </a:r>
            <a:r>
              <a:rPr lang="en-US" altLang="en-US" i="1" baseline="-25000" dirty="0" err="1"/>
              <a:t>j</a:t>
            </a:r>
            <a:r>
              <a:rPr lang="en-US" altLang="en-US" i="1" dirty="0"/>
              <a:t> </a:t>
            </a:r>
            <a:r>
              <a:rPr lang="en-US" altLang="en-US" dirty="0"/>
              <a:t>have finished</a:t>
            </a:r>
          </a:p>
          <a:p>
            <a:pPr lvl="1" algn="just"/>
            <a:r>
              <a:rPr lang="en-US" altLang="en-US" dirty="0"/>
              <a:t>When </a:t>
            </a:r>
            <a:r>
              <a:rPr lang="en-US" altLang="en-US" i="1" dirty="0" err="1"/>
              <a:t>P</a:t>
            </a:r>
            <a:r>
              <a:rPr lang="en-US" altLang="en-US" i="1" baseline="-25000" dirty="0" err="1"/>
              <a:t>j</a:t>
            </a:r>
            <a:r>
              <a:rPr lang="en-US" altLang="en-US" dirty="0"/>
              <a:t> is finished, </a:t>
            </a:r>
            <a:r>
              <a:rPr lang="en-US" altLang="en-US" i="1" dirty="0"/>
              <a:t>P</a:t>
            </a:r>
            <a:r>
              <a:rPr lang="en-US" altLang="en-US" i="1" baseline="-25000" dirty="0"/>
              <a:t>i</a:t>
            </a:r>
            <a:r>
              <a:rPr lang="en-US" altLang="en-US" dirty="0"/>
              <a:t> can obtain needed resources, execute, return allocated resources, and terminate</a:t>
            </a:r>
          </a:p>
          <a:p>
            <a:pPr lvl="1" algn="just"/>
            <a:r>
              <a:rPr lang="en-US" altLang="en-US" dirty="0"/>
              <a:t>When </a:t>
            </a:r>
            <a:r>
              <a:rPr lang="en-US" altLang="en-US" i="1" dirty="0"/>
              <a:t>P</a:t>
            </a:r>
            <a:r>
              <a:rPr lang="en-US" altLang="en-US" i="1" baseline="-25000" dirty="0"/>
              <a:t>i</a:t>
            </a:r>
            <a:r>
              <a:rPr lang="en-US" altLang="en-US" dirty="0"/>
              <a:t> terminates, </a:t>
            </a:r>
            <a:r>
              <a:rPr lang="en-US" altLang="en-US" i="1" dirty="0"/>
              <a:t>P</a:t>
            </a:r>
            <a:r>
              <a:rPr lang="en-US" altLang="en-US" i="1" baseline="-25000" dirty="0"/>
              <a:t>i</a:t>
            </a:r>
            <a:r>
              <a:rPr lang="en-US" altLang="en-US" baseline="-25000" dirty="0"/>
              <a:t>+1</a:t>
            </a:r>
            <a:r>
              <a:rPr lang="en-US" altLang="en-US" dirty="0"/>
              <a:t> can obtain its needed resources, and so on </a:t>
            </a:r>
          </a:p>
        </p:txBody>
      </p:sp>
    </p:spTree>
    <p:extLst>
      <p:ext uri="{BB962C8B-B14F-4D97-AF65-F5344CB8AC3E}">
        <p14:creationId xmlns:p14="http://schemas.microsoft.com/office/powerpoint/2010/main" val="17654109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57200" y="152400"/>
            <a:ext cx="8229600" cy="576263"/>
          </a:xfrm>
        </p:spPr>
        <p:txBody>
          <a:bodyPr>
            <a:normAutofit fontScale="90000"/>
          </a:bodyPr>
          <a:lstStyle/>
          <a:p>
            <a:pPr eaLnBrk="1" hangingPunct="1"/>
            <a:r>
              <a:rPr lang="en-US" altLang="en-US"/>
              <a:t>Basic Facts</a:t>
            </a:r>
          </a:p>
        </p:txBody>
      </p:sp>
      <p:sp>
        <p:nvSpPr>
          <p:cNvPr id="22531" name="Rectangle 3"/>
          <p:cNvSpPr>
            <a:spLocks noGrp="1" noChangeArrowheads="1"/>
          </p:cNvSpPr>
          <p:nvPr>
            <p:ph type="body" idx="1"/>
          </p:nvPr>
        </p:nvSpPr>
        <p:spPr>
          <a:xfrm>
            <a:off x="922338" y="1190625"/>
            <a:ext cx="6597650" cy="4414838"/>
          </a:xfrm>
        </p:spPr>
        <p:txBody>
          <a:bodyPr/>
          <a:lstStyle/>
          <a:p>
            <a:r>
              <a:rPr lang="en-US" altLang="en-US" dirty="0"/>
              <a:t>If a system is in </a:t>
            </a:r>
            <a:r>
              <a:rPr lang="en-US" altLang="en-US" dirty="0">
                <a:solidFill>
                  <a:srgbClr val="FF0000"/>
                </a:solidFill>
              </a:rPr>
              <a:t>safe state </a:t>
            </a:r>
            <a:r>
              <a:rPr lang="en-US" altLang="en-US" dirty="0">
                <a:solidFill>
                  <a:srgbClr val="FF0000"/>
                </a:solidFill>
                <a:sym typeface="Symbol" pitchFamily="18" charset="2"/>
              </a:rPr>
              <a:t> no deadlocks</a:t>
            </a:r>
            <a:br>
              <a:rPr lang="en-US" altLang="en-US" dirty="0">
                <a:sym typeface="Symbol" pitchFamily="18" charset="2"/>
              </a:rPr>
            </a:br>
            <a:endParaRPr lang="en-US" altLang="en-US" dirty="0">
              <a:sym typeface="Symbol" pitchFamily="18" charset="2"/>
            </a:endParaRPr>
          </a:p>
          <a:p>
            <a:r>
              <a:rPr lang="en-US" altLang="en-US" dirty="0">
                <a:sym typeface="Symbol" pitchFamily="18" charset="2"/>
              </a:rPr>
              <a:t>If a system is in </a:t>
            </a:r>
            <a:r>
              <a:rPr lang="en-US" altLang="en-US" dirty="0">
                <a:solidFill>
                  <a:srgbClr val="FF0000"/>
                </a:solidFill>
                <a:sym typeface="Symbol" pitchFamily="18" charset="2"/>
              </a:rPr>
              <a:t>unsafe state  possibility of deadlock</a:t>
            </a:r>
            <a:br>
              <a:rPr lang="en-US" altLang="en-US" dirty="0">
                <a:sym typeface="Symbol" pitchFamily="18" charset="2"/>
              </a:rPr>
            </a:br>
            <a:endParaRPr lang="en-US" altLang="en-US" dirty="0">
              <a:sym typeface="Symbol" pitchFamily="18" charset="2"/>
            </a:endParaRPr>
          </a:p>
          <a:p>
            <a:r>
              <a:rPr lang="en-US" altLang="en-US" dirty="0">
                <a:sym typeface="Symbol" pitchFamily="18" charset="2"/>
              </a:rPr>
              <a:t>Avoidance  ensure that a system will </a:t>
            </a:r>
            <a:r>
              <a:rPr lang="en-US" altLang="en-US" dirty="0">
                <a:solidFill>
                  <a:srgbClr val="FF0000"/>
                </a:solidFill>
                <a:sym typeface="Symbol" pitchFamily="18" charset="2"/>
              </a:rPr>
              <a:t>never enter an unsafe state.</a:t>
            </a:r>
          </a:p>
        </p:txBody>
      </p:sp>
    </p:spTree>
    <p:extLst>
      <p:ext uri="{BB962C8B-B14F-4D97-AF65-F5344CB8AC3E}">
        <p14:creationId xmlns:p14="http://schemas.microsoft.com/office/powerpoint/2010/main" val="36058626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846138" y="150813"/>
            <a:ext cx="7840662" cy="576262"/>
          </a:xfrm>
        </p:spPr>
        <p:txBody>
          <a:bodyPr>
            <a:normAutofit fontScale="90000"/>
          </a:bodyPr>
          <a:lstStyle/>
          <a:p>
            <a:pPr eaLnBrk="1" hangingPunct="1"/>
            <a:r>
              <a:rPr lang="en-US" altLang="en-US" dirty="0"/>
              <a:t>Safe, Unsafe, Deadlock State </a:t>
            </a:r>
          </a:p>
        </p:txBody>
      </p:sp>
      <p:pic>
        <p:nvPicPr>
          <p:cNvPr id="23555" name="Picture 4"/>
          <p:cNvPicPr>
            <a:picLocks noChangeAspect="1" noChangeArrowheads="1"/>
          </p:cNvPicPr>
          <p:nvPr/>
        </p:nvPicPr>
        <p:blipFill>
          <a:blip r:embed="rId3">
            <a:extLst>
              <a:ext uri="{28A0092B-C50C-407E-A947-70E740481C1C}">
                <a14:useLocalDpi xmlns:a14="http://schemas.microsoft.com/office/drawing/2010/main" val="0"/>
              </a:ext>
            </a:extLst>
          </a:blip>
          <a:srcRect l="13437" t="1572" r="13683" b="2194"/>
          <a:stretch>
            <a:fillRect/>
          </a:stretch>
        </p:blipFill>
        <p:spPr bwMode="auto">
          <a:xfrm>
            <a:off x="2446338" y="1308100"/>
            <a:ext cx="4022725" cy="398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extLst>
      <p:ext uri="{BB962C8B-B14F-4D97-AF65-F5344CB8AC3E}">
        <p14:creationId xmlns:p14="http://schemas.microsoft.com/office/powerpoint/2010/main" val="33231083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60990"/>
            <a:ext cx="8229600" cy="575722"/>
          </a:xfrm>
        </p:spPr>
        <p:txBody>
          <a:bodyPr>
            <a:normAutofit fontScale="90000"/>
          </a:bodyPr>
          <a:lstStyle/>
          <a:p>
            <a:r>
              <a:rPr lang="en-US" altLang="en-US" dirty="0"/>
              <a:t>Safe, Unsafe, Deadlock State </a:t>
            </a:r>
            <a:endParaRPr lang="en-IN" dirty="0"/>
          </a:p>
        </p:txBody>
      </p:sp>
      <p:sp>
        <p:nvSpPr>
          <p:cNvPr id="4" name="Content Placeholder 3"/>
          <p:cNvSpPr>
            <a:spLocks noGrp="1"/>
          </p:cNvSpPr>
          <p:nvPr>
            <p:ph idx="1"/>
          </p:nvPr>
        </p:nvSpPr>
        <p:spPr>
          <a:xfrm>
            <a:off x="457200" y="836712"/>
            <a:ext cx="8229600" cy="5289451"/>
          </a:xfrm>
        </p:spPr>
        <p:txBody>
          <a:bodyPr>
            <a:normAutofit/>
          </a:bodyPr>
          <a:lstStyle/>
          <a:p>
            <a:pPr algn="just"/>
            <a:r>
              <a:rPr lang="en-IN" sz="1900" dirty="0"/>
              <a:t>In an unsafe state, OS cannot prevent processes from requesting resources in such a way that a deadlock occurs. </a:t>
            </a:r>
          </a:p>
          <a:p>
            <a:pPr algn="just"/>
            <a:r>
              <a:rPr lang="en-IN" sz="1900" dirty="0"/>
              <a:t>The </a:t>
            </a:r>
            <a:r>
              <a:rPr lang="en-IN" sz="1900" dirty="0" err="1"/>
              <a:t>behavior</a:t>
            </a:r>
            <a:r>
              <a:rPr lang="en-IN" sz="1900" dirty="0"/>
              <a:t> of the processes controls unsafe states.</a:t>
            </a:r>
          </a:p>
          <a:p>
            <a:pPr lvl="1"/>
            <a:r>
              <a:rPr lang="en-IN" sz="1500" dirty="0" err="1"/>
              <a:t>E.g</a:t>
            </a:r>
            <a:r>
              <a:rPr lang="en-IN" sz="1500" dirty="0"/>
              <a:t> , we consider a </a:t>
            </a:r>
            <a:r>
              <a:rPr lang="en-IN" sz="1500" dirty="0">
                <a:solidFill>
                  <a:srgbClr val="FF0000"/>
                </a:solidFill>
              </a:rPr>
              <a:t>system with 12 magnetic tape drives </a:t>
            </a:r>
            <a:r>
              <a:rPr lang="en-IN" sz="1500" dirty="0"/>
              <a:t>and </a:t>
            </a:r>
            <a:r>
              <a:rPr lang="en-IN" sz="1500" dirty="0">
                <a:solidFill>
                  <a:srgbClr val="FF0000"/>
                </a:solidFill>
              </a:rPr>
              <a:t>3 processes</a:t>
            </a:r>
            <a:r>
              <a:rPr lang="en-IN" sz="1500" dirty="0"/>
              <a:t>: P0, P1, andP2. Consider the  snapshot  of the system at time t0 as given below  in the table. Then there are </a:t>
            </a:r>
            <a:r>
              <a:rPr lang="en-IN" sz="1500" dirty="0">
                <a:solidFill>
                  <a:srgbClr val="FF0000"/>
                </a:solidFill>
              </a:rPr>
              <a:t>three free tape drives</a:t>
            </a:r>
            <a:r>
              <a:rPr lang="en-IN" sz="1500" dirty="0"/>
              <a:t>.</a:t>
            </a:r>
          </a:p>
          <a:p>
            <a:pPr lvl="1"/>
            <a:r>
              <a:rPr lang="en-IN" sz="1300" dirty="0"/>
              <a:t>At time t0, the system is in a safe state. The </a:t>
            </a:r>
            <a:r>
              <a:rPr lang="en-IN" sz="1300" b="1" dirty="0">
                <a:solidFill>
                  <a:srgbClr val="00B050"/>
                </a:solidFill>
              </a:rPr>
              <a:t>sequence &lt;P1, P0, P2&gt; satisﬁes the safety condition.</a:t>
            </a:r>
            <a:r>
              <a:rPr lang="en-IN" sz="2600" b="1" dirty="0">
                <a:solidFill>
                  <a:srgbClr val="00B050"/>
                </a:solidFill>
              </a:rPr>
              <a:t> </a:t>
            </a:r>
          </a:p>
          <a:p>
            <a:r>
              <a:rPr lang="en-IN" sz="1900" dirty="0"/>
              <a:t>A system can go from a safe state to an unsafe state. </a:t>
            </a:r>
          </a:p>
          <a:p>
            <a:pPr lvl="1"/>
            <a:r>
              <a:rPr lang="en-IN" sz="1700" dirty="0"/>
              <a:t>Suppose that, </a:t>
            </a:r>
            <a:r>
              <a:rPr lang="en-IN" sz="1700" dirty="0">
                <a:solidFill>
                  <a:srgbClr val="FF0000"/>
                </a:solidFill>
              </a:rPr>
              <a:t>at time t1, process P2 requests and is allocated one more tape drive. </a:t>
            </a:r>
          </a:p>
          <a:p>
            <a:pPr lvl="1" algn="just"/>
            <a:r>
              <a:rPr lang="en-IN" sz="1700" dirty="0"/>
              <a:t>The system is no longer in a safe state. At this point, only process P1 can be allocated all its tape drives. When it returns them, the system will have only four available tape drives. Similarly, process P2 may request six additional tape drives and have to wait, resulting in a deadlock. </a:t>
            </a:r>
          </a:p>
          <a:p>
            <a:pPr lvl="2" algn="just"/>
            <a:r>
              <a:rPr lang="en-IN" sz="1900" dirty="0">
                <a:solidFill>
                  <a:srgbClr val="FF0000"/>
                </a:solidFill>
              </a:rPr>
              <a:t>Solution</a:t>
            </a:r>
            <a:r>
              <a:rPr lang="en-IN" sz="1900" dirty="0"/>
              <a:t>: P2 should have been put under wait state wait until either of the other processes had ﬁnished and released its resources</a:t>
            </a:r>
          </a:p>
          <a:p>
            <a:pPr lvl="1"/>
            <a:endParaRPr lang="en-IN" sz="2000" dirty="0"/>
          </a:p>
          <a:p>
            <a:endParaRPr lang="en-IN" sz="2400" dirty="0"/>
          </a:p>
        </p:txBody>
      </p:sp>
      <p:graphicFrame>
        <p:nvGraphicFramePr>
          <p:cNvPr id="5" name="Table 4"/>
          <p:cNvGraphicFramePr>
            <a:graphicFrameLocks noGrp="1"/>
          </p:cNvGraphicFramePr>
          <p:nvPr>
            <p:extLst>
              <p:ext uri="{D42A27DB-BD31-4B8C-83A1-F6EECF244321}">
                <p14:modId xmlns:p14="http://schemas.microsoft.com/office/powerpoint/2010/main" val="1007800078"/>
              </p:ext>
            </p:extLst>
          </p:nvPr>
        </p:nvGraphicFramePr>
        <p:xfrm>
          <a:off x="3563888" y="5484068"/>
          <a:ext cx="3039741" cy="1257300"/>
        </p:xfrm>
        <a:graphic>
          <a:graphicData uri="http://schemas.openxmlformats.org/drawingml/2006/table">
            <a:tbl>
              <a:tblPr>
                <a:tableStyleId>{5C22544A-7EE6-4342-B048-85BDC9FD1C3A}</a:tableStyleId>
              </a:tblPr>
              <a:tblGrid>
                <a:gridCol w="691505">
                  <a:extLst>
                    <a:ext uri="{9D8B030D-6E8A-4147-A177-3AD203B41FA5}">
                      <a16:colId xmlns:a16="http://schemas.microsoft.com/office/drawing/2014/main" val="20000"/>
                    </a:ext>
                  </a:extLst>
                </a:gridCol>
                <a:gridCol w="1253353">
                  <a:extLst>
                    <a:ext uri="{9D8B030D-6E8A-4147-A177-3AD203B41FA5}">
                      <a16:colId xmlns:a16="http://schemas.microsoft.com/office/drawing/2014/main" val="20001"/>
                    </a:ext>
                  </a:extLst>
                </a:gridCol>
                <a:gridCol w="1094883">
                  <a:extLst>
                    <a:ext uri="{9D8B030D-6E8A-4147-A177-3AD203B41FA5}">
                      <a16:colId xmlns:a16="http://schemas.microsoft.com/office/drawing/2014/main" val="20002"/>
                    </a:ext>
                  </a:extLst>
                </a:gridCol>
              </a:tblGrid>
              <a:tr h="188640">
                <a:tc>
                  <a:txBody>
                    <a:bodyPr/>
                    <a:lstStyle/>
                    <a:p>
                      <a:pPr algn="ctr" fontAlgn="b"/>
                      <a:r>
                        <a:rPr lang="en-IN" sz="1600" u="none" strike="noStrike" dirty="0">
                          <a:effectLst/>
                        </a:rPr>
                        <a:t> </a:t>
                      </a:r>
                      <a:endParaRPr lang="en-IN"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dirty="0">
                          <a:effectLst/>
                        </a:rPr>
                        <a:t>Maximum Needs </a:t>
                      </a:r>
                      <a:endParaRPr lang="en-IN"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dirty="0">
                          <a:effectLst/>
                        </a:rPr>
                        <a:t>Current Allocation</a:t>
                      </a:r>
                      <a:endParaRPr lang="en-IN"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0"/>
                  </a:ext>
                </a:extLst>
              </a:tr>
              <a:tr h="190500">
                <a:tc>
                  <a:txBody>
                    <a:bodyPr/>
                    <a:lstStyle/>
                    <a:p>
                      <a:pPr algn="ctr" fontAlgn="b"/>
                      <a:r>
                        <a:rPr lang="en-IN" sz="1600" u="none" strike="noStrike" dirty="0">
                          <a:effectLst/>
                        </a:rPr>
                        <a:t>P0</a:t>
                      </a:r>
                      <a:endParaRPr lang="en-IN"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dirty="0">
                          <a:effectLst/>
                        </a:rPr>
                        <a:t>10</a:t>
                      </a:r>
                      <a:endParaRPr lang="en-IN"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dirty="0">
                          <a:effectLst/>
                        </a:rPr>
                        <a:t>5</a:t>
                      </a:r>
                      <a:endParaRPr lang="en-IN"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1"/>
                  </a:ext>
                </a:extLst>
              </a:tr>
              <a:tr h="190500">
                <a:tc>
                  <a:txBody>
                    <a:bodyPr/>
                    <a:lstStyle/>
                    <a:p>
                      <a:pPr algn="ctr" fontAlgn="b"/>
                      <a:r>
                        <a:rPr lang="en-IN" sz="1600" u="none" strike="noStrike">
                          <a:effectLst/>
                        </a:rPr>
                        <a:t>P1</a:t>
                      </a:r>
                      <a:endParaRPr lang="en-IN" sz="1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dirty="0">
                          <a:effectLst/>
                        </a:rPr>
                        <a:t>4</a:t>
                      </a:r>
                      <a:endParaRPr lang="en-IN"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dirty="0">
                          <a:effectLst/>
                        </a:rPr>
                        <a:t>2</a:t>
                      </a:r>
                      <a:endParaRPr lang="en-IN"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2"/>
                  </a:ext>
                </a:extLst>
              </a:tr>
              <a:tr h="190500">
                <a:tc>
                  <a:txBody>
                    <a:bodyPr/>
                    <a:lstStyle/>
                    <a:p>
                      <a:pPr algn="ctr" fontAlgn="b"/>
                      <a:r>
                        <a:rPr lang="en-IN" sz="1600" u="none" strike="noStrike" dirty="0">
                          <a:effectLst/>
                        </a:rPr>
                        <a:t>P2</a:t>
                      </a:r>
                      <a:endParaRPr lang="en-IN"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dirty="0">
                          <a:effectLst/>
                        </a:rPr>
                        <a:t>9</a:t>
                      </a:r>
                      <a:endParaRPr lang="en-IN"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dirty="0">
                          <a:effectLst/>
                        </a:rPr>
                        <a:t>2</a:t>
                      </a:r>
                      <a:endParaRPr lang="en-IN"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46581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041400" y="166688"/>
            <a:ext cx="7645400" cy="576262"/>
          </a:xfrm>
        </p:spPr>
        <p:txBody>
          <a:bodyPr>
            <a:normAutofit fontScale="90000"/>
          </a:bodyPr>
          <a:lstStyle/>
          <a:p>
            <a:pPr eaLnBrk="1" hangingPunct="1"/>
            <a:r>
              <a:rPr lang="en-US" altLang="en-US"/>
              <a:t>Avoidance Algorithms</a:t>
            </a:r>
          </a:p>
        </p:txBody>
      </p:sp>
      <p:sp>
        <p:nvSpPr>
          <p:cNvPr id="24579" name="Rectangle 3"/>
          <p:cNvSpPr>
            <a:spLocks noGrp="1" noChangeArrowheads="1"/>
          </p:cNvSpPr>
          <p:nvPr>
            <p:ph type="body" idx="1"/>
          </p:nvPr>
        </p:nvSpPr>
        <p:spPr>
          <a:xfrm>
            <a:off x="906463" y="1171575"/>
            <a:ext cx="6659562" cy="4483100"/>
          </a:xfrm>
        </p:spPr>
        <p:txBody>
          <a:bodyPr/>
          <a:lstStyle/>
          <a:p>
            <a:r>
              <a:rPr lang="en-US" altLang="en-US" dirty="0">
                <a:solidFill>
                  <a:srgbClr val="FF0000"/>
                </a:solidFill>
              </a:rPr>
              <a:t>Single instance</a:t>
            </a:r>
            <a:r>
              <a:rPr lang="en-US" altLang="en-US" dirty="0"/>
              <a:t> of a resource type</a:t>
            </a:r>
          </a:p>
          <a:p>
            <a:pPr lvl="1"/>
            <a:r>
              <a:rPr lang="en-US" altLang="en-US" dirty="0"/>
              <a:t>Use a Resource-Allocation Graph (RAG)</a:t>
            </a:r>
          </a:p>
          <a:p>
            <a:pPr lvl="1">
              <a:buFont typeface="Monotype Sorts" pitchFamily="-84" charset="2"/>
              <a:buNone/>
            </a:pPr>
            <a:endParaRPr lang="en-US" altLang="en-US" dirty="0"/>
          </a:p>
          <a:p>
            <a:r>
              <a:rPr lang="en-US" altLang="en-US" dirty="0">
                <a:solidFill>
                  <a:srgbClr val="FF0000"/>
                </a:solidFill>
              </a:rPr>
              <a:t>Multiple instances </a:t>
            </a:r>
            <a:r>
              <a:rPr lang="en-US" altLang="en-US" dirty="0"/>
              <a:t>of a resource type</a:t>
            </a:r>
          </a:p>
          <a:p>
            <a:pPr lvl="1"/>
            <a:r>
              <a:rPr lang="en-US" altLang="en-US" dirty="0"/>
              <a:t> Use the Banker</a:t>
            </a:r>
            <a:r>
              <a:rPr lang="ja-JP" altLang="en-US" dirty="0"/>
              <a:t>’</a:t>
            </a:r>
            <a:r>
              <a:rPr lang="en-US" altLang="ja-JP" dirty="0"/>
              <a:t>s algorithm</a:t>
            </a:r>
            <a:endParaRPr lang="en-US" altLang="en-US" dirty="0"/>
          </a:p>
        </p:txBody>
      </p:sp>
    </p:spTree>
    <p:extLst>
      <p:ext uri="{BB962C8B-B14F-4D97-AF65-F5344CB8AC3E}">
        <p14:creationId xmlns:p14="http://schemas.microsoft.com/office/powerpoint/2010/main" val="3343247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123950" y="198438"/>
            <a:ext cx="7831138" cy="576262"/>
          </a:xfrm>
        </p:spPr>
        <p:txBody>
          <a:bodyPr>
            <a:normAutofit fontScale="90000"/>
          </a:bodyPr>
          <a:lstStyle/>
          <a:p>
            <a:pPr eaLnBrk="1" hangingPunct="1"/>
            <a:r>
              <a:rPr lang="en-US" altLang="en-US"/>
              <a:t>Resource-Allocation Graph Scheme</a:t>
            </a:r>
          </a:p>
        </p:txBody>
      </p:sp>
      <p:sp>
        <p:nvSpPr>
          <p:cNvPr id="25603" name="Rectangle 3"/>
          <p:cNvSpPr>
            <a:spLocks noGrp="1" noChangeArrowheads="1"/>
          </p:cNvSpPr>
          <p:nvPr>
            <p:ph type="body" idx="1"/>
          </p:nvPr>
        </p:nvSpPr>
        <p:spPr>
          <a:xfrm>
            <a:off x="858838" y="1155700"/>
            <a:ext cx="6989762" cy="4483100"/>
          </a:xfrm>
        </p:spPr>
        <p:txBody>
          <a:bodyPr>
            <a:normAutofit fontScale="85000" lnSpcReduction="20000"/>
          </a:bodyPr>
          <a:lstStyle/>
          <a:p>
            <a:pPr algn="just"/>
            <a:r>
              <a:rPr lang="en-US" altLang="en-US" b="1" dirty="0">
                <a:solidFill>
                  <a:srgbClr val="3366FF"/>
                </a:solidFill>
              </a:rPr>
              <a:t>Claim edge</a:t>
            </a:r>
            <a:r>
              <a:rPr lang="en-US" altLang="en-US" dirty="0">
                <a:solidFill>
                  <a:srgbClr val="3366FF"/>
                </a:solidFill>
              </a:rPr>
              <a:t> </a:t>
            </a:r>
            <a:r>
              <a:rPr lang="en-US" altLang="en-US" i="1" dirty="0"/>
              <a:t>P</a:t>
            </a:r>
            <a:r>
              <a:rPr lang="en-US" altLang="en-US" i="1" baseline="-25000" dirty="0"/>
              <a:t>i</a:t>
            </a:r>
            <a:r>
              <a:rPr lang="en-US" altLang="en-US" dirty="0"/>
              <a:t> </a:t>
            </a:r>
            <a:r>
              <a:rPr lang="en-US" altLang="en-US" dirty="0">
                <a:sym typeface="Symbol" pitchFamily="18" charset="2"/>
              </a:rPr>
              <a:t> </a:t>
            </a:r>
            <a:r>
              <a:rPr lang="en-US" altLang="en-US" i="1" dirty="0" err="1">
                <a:sym typeface="Symbol" pitchFamily="18" charset="2"/>
              </a:rPr>
              <a:t>R</a:t>
            </a:r>
            <a:r>
              <a:rPr lang="en-US" altLang="en-US" i="1" baseline="-25000" dirty="0" err="1">
                <a:sym typeface="Symbol" pitchFamily="18" charset="2"/>
              </a:rPr>
              <a:t>j</a:t>
            </a:r>
            <a:r>
              <a:rPr lang="en-US" altLang="en-US" dirty="0">
                <a:sym typeface="Symbol" pitchFamily="18" charset="2"/>
              </a:rPr>
              <a:t> indicates that process </a:t>
            </a:r>
            <a:r>
              <a:rPr lang="en-US" altLang="en-US" i="1" dirty="0" err="1">
                <a:sym typeface="Symbol" pitchFamily="18" charset="2"/>
              </a:rPr>
              <a:t>P</a:t>
            </a:r>
            <a:r>
              <a:rPr lang="en-US" altLang="en-US" i="1" baseline="-25000" dirty="0" err="1">
                <a:sym typeface="Symbol" pitchFamily="18" charset="2"/>
              </a:rPr>
              <a:t>j</a:t>
            </a:r>
            <a:r>
              <a:rPr lang="en-US" altLang="en-US" dirty="0">
                <a:sym typeface="Symbol" pitchFamily="18" charset="2"/>
              </a:rPr>
              <a:t> may request resource </a:t>
            </a:r>
            <a:r>
              <a:rPr lang="en-US" altLang="en-US" i="1" dirty="0" err="1">
                <a:sym typeface="Symbol" pitchFamily="18" charset="2"/>
              </a:rPr>
              <a:t>R</a:t>
            </a:r>
            <a:r>
              <a:rPr lang="en-US" altLang="en-US" i="1" baseline="-25000" dirty="0" err="1">
                <a:sym typeface="Symbol" pitchFamily="18" charset="2"/>
              </a:rPr>
              <a:t>j</a:t>
            </a:r>
            <a:r>
              <a:rPr lang="en-US" altLang="en-US" dirty="0">
                <a:sym typeface="Symbol" pitchFamily="18" charset="2"/>
              </a:rPr>
              <a:t>; represented by a dashed line</a:t>
            </a:r>
          </a:p>
          <a:p>
            <a:pPr algn="just"/>
            <a:r>
              <a:rPr lang="en-US" altLang="en-US" dirty="0">
                <a:solidFill>
                  <a:srgbClr val="FF0000"/>
                </a:solidFill>
                <a:sym typeface="Symbol" pitchFamily="18" charset="2"/>
              </a:rPr>
              <a:t>Claim edge converts to request edge</a:t>
            </a:r>
            <a:r>
              <a:rPr lang="en-US" altLang="en-US" dirty="0">
                <a:sym typeface="Symbol" pitchFamily="18" charset="2"/>
              </a:rPr>
              <a:t> when a process requests a resource</a:t>
            </a:r>
          </a:p>
          <a:p>
            <a:pPr algn="just"/>
            <a:r>
              <a:rPr lang="en-US" altLang="en-US" dirty="0">
                <a:solidFill>
                  <a:srgbClr val="FF0000"/>
                </a:solidFill>
                <a:sym typeface="Symbol" pitchFamily="18" charset="2"/>
              </a:rPr>
              <a:t>Request edge is converted to an assignment edge </a:t>
            </a:r>
            <a:r>
              <a:rPr lang="en-US" altLang="en-US" dirty="0">
                <a:sym typeface="Symbol" pitchFamily="18" charset="2"/>
              </a:rPr>
              <a:t>when the  resource is allocated to the process</a:t>
            </a:r>
          </a:p>
          <a:p>
            <a:pPr algn="just"/>
            <a:r>
              <a:rPr lang="en-US" altLang="en-US" dirty="0">
                <a:sym typeface="Symbol" pitchFamily="18" charset="2"/>
              </a:rPr>
              <a:t>When a resource is released by a process, assignment edge reconverts to a claim edge</a:t>
            </a:r>
          </a:p>
          <a:p>
            <a:pPr algn="just"/>
            <a:r>
              <a:rPr lang="en-US" altLang="en-US" dirty="0">
                <a:sym typeface="Symbol" pitchFamily="18" charset="2"/>
              </a:rPr>
              <a:t>Resources must be claimed </a:t>
            </a:r>
            <a:r>
              <a:rPr lang="en-US" altLang="en-US" i="1" dirty="0">
                <a:sym typeface="Symbol" pitchFamily="18" charset="2"/>
              </a:rPr>
              <a:t>a priori</a:t>
            </a:r>
            <a:r>
              <a:rPr lang="en-US" altLang="en-US" dirty="0">
                <a:sym typeface="Symbol" pitchFamily="18" charset="2"/>
              </a:rPr>
              <a:t> in the system</a:t>
            </a:r>
            <a:endParaRPr lang="en-US" altLang="en-US" dirty="0"/>
          </a:p>
        </p:txBody>
      </p:sp>
      <p:pic>
        <p:nvPicPr>
          <p:cNvPr id="4" name="Picture 4" descr="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2240" y="5229200"/>
            <a:ext cx="1465197" cy="1484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352800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741363" y="280988"/>
            <a:ext cx="8224837" cy="457200"/>
          </a:xfrm>
        </p:spPr>
        <p:txBody>
          <a:bodyPr>
            <a:normAutofit fontScale="90000"/>
          </a:bodyPr>
          <a:lstStyle/>
          <a:p>
            <a:pPr eaLnBrk="1" hangingPunct="1"/>
            <a:r>
              <a:rPr lang="en-US" altLang="en-US" sz="2800"/>
              <a:t>Resource-Allocation Graph</a:t>
            </a:r>
          </a:p>
        </p:txBody>
      </p:sp>
      <p:pic>
        <p:nvPicPr>
          <p:cNvPr id="26627" name="Picture 4" descr="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8588" y="1409700"/>
            <a:ext cx="3681412" cy="373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488885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131888" y="260350"/>
            <a:ext cx="8243887" cy="457200"/>
          </a:xfrm>
        </p:spPr>
        <p:txBody>
          <a:bodyPr>
            <a:normAutofit fontScale="90000"/>
          </a:bodyPr>
          <a:lstStyle/>
          <a:p>
            <a:pPr eaLnBrk="1" hangingPunct="1"/>
            <a:r>
              <a:rPr lang="en-US" altLang="en-US" sz="2800"/>
              <a:t>Unsafe State In Resource-Allocation Graph</a:t>
            </a:r>
          </a:p>
        </p:txBody>
      </p:sp>
      <p:pic>
        <p:nvPicPr>
          <p:cNvPr id="27651" name="Picture 4" descr="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1282700"/>
            <a:ext cx="3360738" cy="340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843254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303338" y="150813"/>
            <a:ext cx="7656512" cy="576262"/>
          </a:xfrm>
        </p:spPr>
        <p:txBody>
          <a:bodyPr/>
          <a:lstStyle/>
          <a:p>
            <a:pPr eaLnBrk="1" hangingPunct="1"/>
            <a:r>
              <a:rPr lang="en-US" altLang="en-US" sz="2800"/>
              <a:t>Resource-Allocation Graph Algorithm</a:t>
            </a:r>
          </a:p>
        </p:txBody>
      </p:sp>
      <p:sp>
        <p:nvSpPr>
          <p:cNvPr id="28675" name="Rectangle 3"/>
          <p:cNvSpPr>
            <a:spLocks noGrp="1" noChangeArrowheads="1"/>
          </p:cNvSpPr>
          <p:nvPr>
            <p:ph type="body" idx="1"/>
          </p:nvPr>
        </p:nvSpPr>
        <p:spPr>
          <a:xfrm>
            <a:off x="933450" y="1187450"/>
            <a:ext cx="7022926" cy="4303713"/>
          </a:xfrm>
        </p:spPr>
        <p:txBody>
          <a:bodyPr/>
          <a:lstStyle/>
          <a:p>
            <a:pPr algn="just"/>
            <a:r>
              <a:rPr lang="en-US" altLang="en-US" dirty="0"/>
              <a:t>Suppose that process</a:t>
            </a:r>
            <a:r>
              <a:rPr lang="en-US" altLang="en-US" i="1" dirty="0"/>
              <a:t> P</a:t>
            </a:r>
            <a:r>
              <a:rPr lang="en-US" altLang="en-US" i="1" baseline="-25000" dirty="0"/>
              <a:t>i</a:t>
            </a:r>
            <a:r>
              <a:rPr lang="en-US" altLang="en-US" dirty="0"/>
              <a:t> requests a resource </a:t>
            </a:r>
            <a:r>
              <a:rPr lang="en-US" altLang="en-US" i="1" dirty="0" err="1">
                <a:sym typeface="Symbol" pitchFamily="18" charset="2"/>
              </a:rPr>
              <a:t>R</a:t>
            </a:r>
            <a:r>
              <a:rPr lang="en-US" altLang="en-US" i="1" baseline="-25000" dirty="0" err="1">
                <a:sym typeface="Symbol" pitchFamily="18" charset="2"/>
              </a:rPr>
              <a:t>j</a:t>
            </a:r>
            <a:endParaRPr lang="en-US" altLang="en-US" i="1" baseline="-25000" dirty="0">
              <a:sym typeface="Symbol" pitchFamily="18" charset="2"/>
            </a:endParaRPr>
          </a:p>
          <a:p>
            <a:pPr algn="just"/>
            <a:r>
              <a:rPr lang="en-US" altLang="en-US" dirty="0">
                <a:sym typeface="Symbol" pitchFamily="18" charset="2"/>
              </a:rPr>
              <a:t>The </a:t>
            </a:r>
            <a:r>
              <a:rPr lang="en-US" altLang="en-US" dirty="0">
                <a:solidFill>
                  <a:srgbClr val="FF0000"/>
                </a:solidFill>
                <a:sym typeface="Symbol" pitchFamily="18" charset="2"/>
              </a:rPr>
              <a:t>request can be granted only if converting the request edge to an assignment edge does not result in the formation of a cycle</a:t>
            </a:r>
            <a:r>
              <a:rPr lang="en-US" altLang="en-US" dirty="0">
                <a:sym typeface="Symbol" pitchFamily="18" charset="2"/>
              </a:rPr>
              <a:t> in the resource allocation graph.</a:t>
            </a:r>
          </a:p>
        </p:txBody>
      </p:sp>
    </p:spTree>
    <p:extLst>
      <p:ext uri="{BB962C8B-B14F-4D97-AF65-F5344CB8AC3E}">
        <p14:creationId xmlns:p14="http://schemas.microsoft.com/office/powerpoint/2010/main" val="3195758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914400" y="182563"/>
            <a:ext cx="7772400" cy="576262"/>
          </a:xfrm>
        </p:spPr>
        <p:txBody>
          <a:bodyPr>
            <a:normAutofit fontScale="90000"/>
          </a:bodyPr>
          <a:lstStyle/>
          <a:p>
            <a:pPr eaLnBrk="1" hangingPunct="1"/>
            <a:r>
              <a:rPr lang="en-US" altLang="en-US"/>
              <a:t>Banker’s Algorithm</a:t>
            </a:r>
          </a:p>
        </p:txBody>
      </p:sp>
      <p:sp>
        <p:nvSpPr>
          <p:cNvPr id="29699" name="Rectangle 3"/>
          <p:cNvSpPr>
            <a:spLocks noGrp="1" noChangeArrowheads="1"/>
          </p:cNvSpPr>
          <p:nvPr>
            <p:ph type="body" idx="1"/>
          </p:nvPr>
        </p:nvSpPr>
        <p:spPr>
          <a:xfrm>
            <a:off x="858838" y="1128713"/>
            <a:ext cx="6756400" cy="4441825"/>
          </a:xfrm>
        </p:spPr>
        <p:txBody>
          <a:bodyPr>
            <a:normAutofit fontScale="92500" lnSpcReduction="20000"/>
          </a:bodyPr>
          <a:lstStyle/>
          <a:p>
            <a:r>
              <a:rPr lang="en-US" altLang="en-US" dirty="0"/>
              <a:t>Multiple instances of resources exists</a:t>
            </a:r>
            <a:br>
              <a:rPr lang="en-US" altLang="en-US" dirty="0"/>
            </a:br>
            <a:endParaRPr lang="en-US" altLang="en-US" dirty="0"/>
          </a:p>
          <a:p>
            <a:r>
              <a:rPr lang="en-US" altLang="en-US" dirty="0"/>
              <a:t>Each process must a priori claim maximum use</a:t>
            </a:r>
            <a:br>
              <a:rPr lang="en-US" altLang="en-US" dirty="0"/>
            </a:br>
            <a:endParaRPr lang="en-US" altLang="en-US" dirty="0"/>
          </a:p>
          <a:p>
            <a:r>
              <a:rPr lang="en-US" altLang="en-US" dirty="0"/>
              <a:t>When a process requests a resource it may have to wait  </a:t>
            </a:r>
            <a:br>
              <a:rPr lang="en-US" altLang="en-US" dirty="0"/>
            </a:br>
            <a:endParaRPr lang="en-US" altLang="en-US" dirty="0"/>
          </a:p>
          <a:p>
            <a:r>
              <a:rPr lang="en-US" altLang="en-US" dirty="0"/>
              <a:t>When a process gets all its resources it must return them in a finite amount of time</a:t>
            </a:r>
          </a:p>
        </p:txBody>
      </p:sp>
    </p:spTree>
    <p:extLst>
      <p:ext uri="{BB962C8B-B14F-4D97-AF65-F5344CB8AC3E}">
        <p14:creationId xmlns:p14="http://schemas.microsoft.com/office/powerpoint/2010/main" val="27777549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474788" y="327025"/>
            <a:ext cx="7586662" cy="431800"/>
          </a:xfrm>
        </p:spPr>
        <p:txBody>
          <a:bodyPr>
            <a:normAutofit fontScale="90000"/>
          </a:bodyPr>
          <a:lstStyle/>
          <a:p>
            <a:pPr eaLnBrk="1" hangingPunct="1"/>
            <a:r>
              <a:rPr lang="en-US" altLang="en-US" sz="2800"/>
              <a:t>Data Structures for the Banker</a:t>
            </a:r>
            <a:r>
              <a:rPr lang="ja-JP" altLang="en-US" sz="2800"/>
              <a:t>’</a:t>
            </a:r>
            <a:r>
              <a:rPr lang="en-US" altLang="ja-JP" sz="2800"/>
              <a:t>s Algorithm </a:t>
            </a:r>
            <a:endParaRPr lang="en-US" altLang="en-US" sz="2800"/>
          </a:p>
        </p:txBody>
      </p:sp>
      <p:sp>
        <p:nvSpPr>
          <p:cNvPr id="30723" name="Rectangle 3"/>
          <p:cNvSpPr>
            <a:spLocks noGrp="1" noChangeArrowheads="1"/>
          </p:cNvSpPr>
          <p:nvPr>
            <p:ph type="body" idx="1"/>
          </p:nvPr>
        </p:nvSpPr>
        <p:spPr>
          <a:xfrm>
            <a:off x="1192213" y="1654175"/>
            <a:ext cx="7370762" cy="4387850"/>
          </a:xfrm>
        </p:spPr>
        <p:txBody>
          <a:bodyPr>
            <a:normAutofit fontScale="77500" lnSpcReduction="20000"/>
          </a:bodyPr>
          <a:lstStyle/>
          <a:p>
            <a:r>
              <a:rPr lang="en-US" altLang="en-US" b="1" dirty="0">
                <a:solidFill>
                  <a:srgbClr val="FF0000"/>
                </a:solidFill>
              </a:rPr>
              <a:t>Available</a:t>
            </a:r>
            <a:r>
              <a:rPr lang="en-US" altLang="en-US" i="1" dirty="0"/>
              <a:t>:</a:t>
            </a:r>
            <a:r>
              <a:rPr lang="en-US" altLang="en-US" dirty="0"/>
              <a:t>  Vector of length </a:t>
            </a:r>
            <a:r>
              <a:rPr lang="en-US" altLang="en-US" i="1" dirty="0"/>
              <a:t>m</a:t>
            </a:r>
            <a:r>
              <a:rPr lang="en-US" altLang="en-US" dirty="0"/>
              <a:t>. If available [</a:t>
            </a:r>
            <a:r>
              <a:rPr lang="en-US" altLang="en-US" i="1" dirty="0"/>
              <a:t>j</a:t>
            </a:r>
            <a:r>
              <a:rPr lang="en-US" altLang="en-US" dirty="0"/>
              <a:t>] = </a:t>
            </a:r>
            <a:r>
              <a:rPr lang="en-US" altLang="en-US" i="1" dirty="0"/>
              <a:t>k</a:t>
            </a:r>
            <a:r>
              <a:rPr lang="en-US" altLang="en-US" dirty="0"/>
              <a:t>, there are</a:t>
            </a:r>
            <a:r>
              <a:rPr lang="en-US" altLang="en-US" i="1" dirty="0"/>
              <a:t> k</a:t>
            </a:r>
            <a:r>
              <a:rPr lang="en-US" altLang="en-US" dirty="0"/>
              <a:t> instances of resource type </a:t>
            </a:r>
            <a:r>
              <a:rPr lang="en-US" altLang="en-US" i="1" dirty="0" err="1"/>
              <a:t>R</a:t>
            </a:r>
            <a:r>
              <a:rPr lang="en-US" altLang="en-US" i="1" baseline="-25000" dirty="0" err="1"/>
              <a:t>j</a:t>
            </a:r>
            <a:r>
              <a:rPr lang="en-US" altLang="en-US" baseline="-25000" dirty="0"/>
              <a:t>  </a:t>
            </a:r>
            <a:r>
              <a:rPr lang="en-US" altLang="en-US" dirty="0"/>
              <a:t>available</a:t>
            </a:r>
          </a:p>
          <a:p>
            <a:endParaRPr lang="en-US" altLang="en-US" sz="800" dirty="0"/>
          </a:p>
          <a:p>
            <a:r>
              <a:rPr lang="en-US" altLang="en-US" b="1" dirty="0">
                <a:solidFill>
                  <a:srgbClr val="FF0000"/>
                </a:solidFill>
              </a:rPr>
              <a:t>Max</a:t>
            </a:r>
            <a:r>
              <a:rPr lang="en-US" altLang="en-US" i="1" dirty="0"/>
              <a:t>: n x m</a:t>
            </a:r>
            <a:r>
              <a:rPr lang="en-US" altLang="en-US" dirty="0"/>
              <a:t> matrix.  If </a:t>
            </a:r>
            <a:r>
              <a:rPr lang="en-US" altLang="en-US" i="1" dirty="0"/>
              <a:t>Max </a:t>
            </a:r>
            <a:r>
              <a:rPr lang="en-US" altLang="en-US" dirty="0"/>
              <a:t>[</a:t>
            </a:r>
            <a:r>
              <a:rPr lang="en-US" altLang="en-US" i="1" dirty="0" err="1"/>
              <a:t>i,j</a:t>
            </a:r>
            <a:r>
              <a:rPr lang="en-US" altLang="en-US" dirty="0"/>
              <a:t>] = </a:t>
            </a:r>
            <a:r>
              <a:rPr lang="en-US" altLang="en-US" i="1" dirty="0"/>
              <a:t>k</a:t>
            </a:r>
            <a:r>
              <a:rPr lang="en-US" altLang="en-US" dirty="0"/>
              <a:t>, then process </a:t>
            </a:r>
            <a:r>
              <a:rPr lang="en-US" altLang="en-US" i="1" dirty="0"/>
              <a:t>P</a:t>
            </a:r>
            <a:r>
              <a:rPr lang="en-US" altLang="en-US" i="1" baseline="-25000" dirty="0"/>
              <a:t>i</a:t>
            </a:r>
            <a:r>
              <a:rPr lang="en-US" altLang="en-US" i="1" dirty="0"/>
              <a:t> </a:t>
            </a:r>
            <a:r>
              <a:rPr lang="en-US" altLang="en-US" dirty="0"/>
              <a:t>may request at most</a:t>
            </a:r>
            <a:r>
              <a:rPr lang="en-US" altLang="en-US" i="1" dirty="0"/>
              <a:t> k </a:t>
            </a:r>
            <a:r>
              <a:rPr lang="en-US" altLang="en-US" dirty="0"/>
              <a:t>instances of resource type </a:t>
            </a:r>
            <a:r>
              <a:rPr lang="en-US" altLang="en-US" i="1" dirty="0" err="1"/>
              <a:t>R</a:t>
            </a:r>
            <a:r>
              <a:rPr lang="en-US" altLang="en-US" i="1" baseline="-25000" dirty="0" err="1"/>
              <a:t>j</a:t>
            </a:r>
            <a:endParaRPr lang="en-US" altLang="en-US" i="1" baseline="-25000" dirty="0"/>
          </a:p>
          <a:p>
            <a:endParaRPr lang="en-US" altLang="en-US" sz="800" i="1" baseline="-25000" dirty="0"/>
          </a:p>
          <a:p>
            <a:r>
              <a:rPr lang="en-US" altLang="en-US" b="1" dirty="0">
                <a:solidFill>
                  <a:srgbClr val="FF0000"/>
                </a:solidFill>
              </a:rPr>
              <a:t>Allocation</a:t>
            </a:r>
            <a:r>
              <a:rPr lang="en-US" altLang="en-US" i="1" dirty="0"/>
              <a:t>:  n </a:t>
            </a:r>
            <a:r>
              <a:rPr lang="en-US" altLang="en-US" dirty="0"/>
              <a:t>x</a:t>
            </a:r>
            <a:r>
              <a:rPr lang="en-US" altLang="en-US" i="1" dirty="0"/>
              <a:t> m</a:t>
            </a:r>
            <a:r>
              <a:rPr lang="en-US" altLang="en-US" dirty="0"/>
              <a:t> matrix.  If Allocation[</a:t>
            </a:r>
            <a:r>
              <a:rPr lang="en-US" altLang="en-US" i="1" dirty="0" err="1"/>
              <a:t>i,j</a:t>
            </a:r>
            <a:r>
              <a:rPr lang="en-US" altLang="en-US" dirty="0"/>
              <a:t>] = </a:t>
            </a:r>
            <a:r>
              <a:rPr lang="en-US" altLang="en-US" i="1" dirty="0"/>
              <a:t>k</a:t>
            </a:r>
            <a:r>
              <a:rPr lang="en-US" altLang="en-US" dirty="0"/>
              <a:t> then</a:t>
            </a:r>
            <a:r>
              <a:rPr lang="en-US" altLang="en-US" i="1" dirty="0"/>
              <a:t> P</a:t>
            </a:r>
            <a:r>
              <a:rPr lang="en-US" altLang="en-US" i="1" baseline="-25000" dirty="0"/>
              <a:t>i</a:t>
            </a:r>
            <a:r>
              <a:rPr lang="en-US" altLang="en-US" dirty="0"/>
              <a:t> is currently allocated </a:t>
            </a:r>
            <a:r>
              <a:rPr lang="en-US" altLang="en-US" i="1" dirty="0"/>
              <a:t>k</a:t>
            </a:r>
            <a:r>
              <a:rPr lang="en-US" altLang="en-US" dirty="0"/>
              <a:t> instances of </a:t>
            </a:r>
            <a:r>
              <a:rPr lang="en-US" altLang="en-US" i="1" dirty="0" err="1"/>
              <a:t>R</a:t>
            </a:r>
            <a:r>
              <a:rPr lang="en-US" altLang="en-US" i="1" baseline="-25000" dirty="0" err="1"/>
              <a:t>j</a:t>
            </a:r>
            <a:endParaRPr lang="en-US" altLang="en-US" i="1" baseline="-25000" dirty="0"/>
          </a:p>
          <a:p>
            <a:endParaRPr lang="en-US" altLang="en-US" sz="800" i="1" baseline="-25000" dirty="0"/>
          </a:p>
          <a:p>
            <a:r>
              <a:rPr lang="en-US" altLang="en-US" b="1" dirty="0">
                <a:solidFill>
                  <a:srgbClr val="FF0000"/>
                </a:solidFill>
              </a:rPr>
              <a:t>Need</a:t>
            </a:r>
            <a:r>
              <a:rPr lang="en-US" altLang="en-US" i="1" dirty="0"/>
              <a:t>:  n </a:t>
            </a:r>
            <a:r>
              <a:rPr lang="en-US" altLang="en-US" dirty="0"/>
              <a:t>x</a:t>
            </a:r>
            <a:r>
              <a:rPr lang="en-US" altLang="en-US" i="1" dirty="0"/>
              <a:t> m</a:t>
            </a:r>
            <a:r>
              <a:rPr lang="en-US" altLang="en-US" dirty="0"/>
              <a:t> matrix. If </a:t>
            </a:r>
            <a:r>
              <a:rPr lang="en-US" altLang="en-US" i="1" dirty="0"/>
              <a:t>Need</a:t>
            </a:r>
            <a:r>
              <a:rPr lang="en-US" altLang="en-US" dirty="0"/>
              <a:t>[</a:t>
            </a:r>
            <a:r>
              <a:rPr lang="en-US" altLang="en-US" i="1" dirty="0" err="1"/>
              <a:t>i,j</a:t>
            </a:r>
            <a:r>
              <a:rPr lang="en-US" altLang="en-US" dirty="0"/>
              <a:t>] =</a:t>
            </a:r>
            <a:r>
              <a:rPr lang="en-US" altLang="en-US" i="1" dirty="0"/>
              <a:t> k</a:t>
            </a:r>
            <a:r>
              <a:rPr lang="en-US" altLang="en-US" dirty="0"/>
              <a:t>, then</a:t>
            </a:r>
            <a:r>
              <a:rPr lang="en-US" altLang="en-US" i="1" dirty="0"/>
              <a:t> P</a:t>
            </a:r>
            <a:r>
              <a:rPr lang="en-US" altLang="en-US" i="1" baseline="-25000" dirty="0"/>
              <a:t>i</a:t>
            </a:r>
            <a:r>
              <a:rPr lang="en-US" altLang="en-US" dirty="0"/>
              <a:t> may need </a:t>
            </a:r>
            <a:r>
              <a:rPr lang="en-US" altLang="en-US" i="1" dirty="0"/>
              <a:t>k</a:t>
            </a:r>
            <a:r>
              <a:rPr lang="en-US" altLang="en-US" dirty="0"/>
              <a:t> more instances of </a:t>
            </a:r>
            <a:r>
              <a:rPr lang="en-US" altLang="en-US" i="1" dirty="0" err="1"/>
              <a:t>R</a:t>
            </a:r>
            <a:r>
              <a:rPr lang="en-US" altLang="en-US" i="1" baseline="-25000" dirty="0" err="1"/>
              <a:t>j</a:t>
            </a:r>
            <a:r>
              <a:rPr lang="en-US" altLang="en-US" baseline="-25000" dirty="0"/>
              <a:t> </a:t>
            </a:r>
            <a:r>
              <a:rPr lang="en-US" altLang="en-US" dirty="0"/>
              <a:t>to complete its task</a:t>
            </a:r>
          </a:p>
          <a:p>
            <a:pPr lvl="2">
              <a:buFont typeface="Webdings" pitchFamily="18" charset="2"/>
              <a:buNone/>
            </a:pPr>
            <a:br>
              <a:rPr lang="en-US" altLang="en-US" dirty="0"/>
            </a:br>
            <a:r>
              <a:rPr lang="en-US" altLang="en-US" i="1" dirty="0"/>
              <a:t>Need</a:t>
            </a:r>
            <a:r>
              <a:rPr lang="en-US" altLang="en-US" dirty="0"/>
              <a:t> [</a:t>
            </a:r>
            <a:r>
              <a:rPr lang="en-US" altLang="en-US" i="1" dirty="0" err="1"/>
              <a:t>i,j</a:t>
            </a:r>
            <a:r>
              <a:rPr lang="en-US" altLang="en-US" i="1" dirty="0"/>
              <a:t>]</a:t>
            </a:r>
            <a:r>
              <a:rPr lang="en-US" altLang="en-US" dirty="0"/>
              <a:t> = </a:t>
            </a:r>
            <a:r>
              <a:rPr lang="en-US" altLang="en-US" i="1" dirty="0"/>
              <a:t>Max</a:t>
            </a:r>
            <a:r>
              <a:rPr lang="en-US" altLang="en-US" dirty="0"/>
              <a:t>[</a:t>
            </a:r>
            <a:r>
              <a:rPr lang="en-US" altLang="en-US" i="1" dirty="0" err="1"/>
              <a:t>i,j</a:t>
            </a:r>
            <a:r>
              <a:rPr lang="en-US" altLang="en-US" dirty="0"/>
              <a:t>] – </a:t>
            </a:r>
            <a:r>
              <a:rPr lang="en-US" altLang="en-US" i="1" dirty="0"/>
              <a:t>Allocation</a:t>
            </a:r>
            <a:r>
              <a:rPr lang="en-US" altLang="en-US" dirty="0"/>
              <a:t> [</a:t>
            </a:r>
            <a:r>
              <a:rPr lang="en-US" altLang="en-US" i="1" dirty="0" err="1"/>
              <a:t>i,j</a:t>
            </a:r>
            <a:r>
              <a:rPr lang="en-US" altLang="en-US" dirty="0"/>
              <a:t>]</a:t>
            </a:r>
          </a:p>
        </p:txBody>
      </p:sp>
      <p:sp>
        <p:nvSpPr>
          <p:cNvPr id="30724" name="Text Box 4"/>
          <p:cNvSpPr txBox="1">
            <a:spLocks noChangeArrowheads="1"/>
          </p:cNvSpPr>
          <p:nvPr/>
        </p:nvSpPr>
        <p:spPr bwMode="auto">
          <a:xfrm>
            <a:off x="950913" y="899017"/>
            <a:ext cx="6878806"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84" charset="0"/>
                <a:ea typeface="MS PGothic"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84" charset="0"/>
                <a:ea typeface="MS PGothic"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84" charset="0"/>
                <a:ea typeface="MS PGothic" pitchFamily="34" charset="-128"/>
              </a:defRPr>
            </a:lvl3pPr>
            <a:lvl4pPr marL="1600200" indent="-228600">
              <a:spcBef>
                <a:spcPct val="35000"/>
              </a:spcBef>
              <a:buClr>
                <a:schemeClr val="hlink"/>
              </a:buClr>
              <a:buSzPct val="75000"/>
              <a:buChar char="–"/>
              <a:defRPr kumimoji="1">
                <a:solidFill>
                  <a:schemeClr val="tx1"/>
                </a:solidFill>
                <a:latin typeface="Helvetica" pitchFamily="-84" charset="0"/>
                <a:ea typeface="MS PGothic" pitchFamily="34" charset="-128"/>
              </a:defRPr>
            </a:lvl4pPr>
            <a:lvl5pPr marL="2057400" indent="-228600">
              <a:spcBef>
                <a:spcPct val="35000"/>
              </a:spcBef>
              <a:buClr>
                <a:srgbClr val="FF0066"/>
              </a:buClr>
              <a:buSzPct val="75000"/>
              <a:buChar char="»"/>
              <a:defRPr kumimoji="1">
                <a:solidFill>
                  <a:schemeClr val="tx1"/>
                </a:solidFill>
                <a:latin typeface="Helvetica" pitchFamily="-84" charset="0"/>
                <a:ea typeface="MS PGothic"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9pPr>
          </a:lstStyle>
          <a:p>
            <a:pPr>
              <a:spcBef>
                <a:spcPct val="50000"/>
              </a:spcBef>
              <a:buClrTx/>
              <a:buSzTx/>
              <a:buFontTx/>
              <a:buNone/>
            </a:pPr>
            <a:r>
              <a:rPr kumimoji="0" lang="en-US" altLang="en-US" dirty="0"/>
              <a:t>Let </a:t>
            </a:r>
            <a:r>
              <a:rPr kumimoji="0" lang="en-US" altLang="en-US" i="1" dirty="0"/>
              <a:t>n</a:t>
            </a:r>
            <a:r>
              <a:rPr kumimoji="0" lang="en-US" altLang="en-US" dirty="0"/>
              <a:t> = number of processes, and </a:t>
            </a:r>
            <a:r>
              <a:rPr kumimoji="0" lang="en-US" altLang="en-US" i="1" dirty="0"/>
              <a:t>m </a:t>
            </a:r>
            <a:r>
              <a:rPr kumimoji="0" lang="en-US" altLang="en-US" dirty="0"/>
              <a:t>= number of resources types</a:t>
            </a:r>
          </a:p>
          <a:p>
            <a:pPr>
              <a:spcBef>
                <a:spcPct val="50000"/>
              </a:spcBef>
              <a:buClrTx/>
              <a:buSzTx/>
              <a:buFontTx/>
              <a:buNone/>
            </a:pPr>
            <a:r>
              <a:rPr lang="en-IN" dirty="0"/>
              <a:t>	</a:t>
            </a:r>
            <a:r>
              <a:rPr lang="en-IN" dirty="0">
                <a:solidFill>
                  <a:srgbClr val="FF0000"/>
                </a:solidFill>
              </a:rPr>
              <a:t>Time-varying data structures</a:t>
            </a:r>
            <a:r>
              <a:rPr kumimoji="0" lang="en-US" dirty="0">
                <a:solidFill>
                  <a:srgbClr val="FF0000"/>
                </a:solidFill>
              </a:rPr>
              <a:t>:</a:t>
            </a:r>
            <a:r>
              <a:rPr kumimoji="0" lang="en-US" altLang="en-US" dirty="0">
                <a:solidFill>
                  <a:srgbClr val="FF0000"/>
                </a:solidFill>
              </a:rPr>
              <a:t> </a:t>
            </a:r>
          </a:p>
        </p:txBody>
      </p:sp>
    </p:spTree>
    <p:extLst>
      <p:ext uri="{BB962C8B-B14F-4D97-AF65-F5344CB8AC3E}">
        <p14:creationId xmlns:p14="http://schemas.microsoft.com/office/powerpoint/2010/main" val="27594122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57200" y="166688"/>
            <a:ext cx="8229600" cy="576262"/>
          </a:xfrm>
        </p:spPr>
        <p:txBody>
          <a:bodyPr>
            <a:normAutofit fontScale="90000"/>
          </a:bodyPr>
          <a:lstStyle/>
          <a:p>
            <a:pPr eaLnBrk="1" hangingPunct="1"/>
            <a:r>
              <a:rPr lang="en-US" altLang="en-US"/>
              <a:t>Safety Algorithm</a:t>
            </a:r>
          </a:p>
        </p:txBody>
      </p:sp>
      <p:sp>
        <p:nvSpPr>
          <p:cNvPr id="31747" name="Rectangle 3"/>
          <p:cNvSpPr>
            <a:spLocks noGrp="1" noChangeArrowheads="1"/>
          </p:cNvSpPr>
          <p:nvPr>
            <p:ph type="body" idx="1"/>
          </p:nvPr>
        </p:nvSpPr>
        <p:spPr>
          <a:xfrm>
            <a:off x="908050" y="1157288"/>
            <a:ext cx="7372350" cy="4943475"/>
          </a:xfrm>
        </p:spPr>
        <p:txBody>
          <a:bodyPr>
            <a:normAutofit fontScale="92500" lnSpcReduction="20000"/>
          </a:bodyPr>
          <a:lstStyle/>
          <a:p>
            <a:pPr>
              <a:lnSpc>
                <a:spcPct val="90000"/>
              </a:lnSpc>
              <a:buFont typeface="Monotype Sorts" pitchFamily="-84" charset="2"/>
              <a:buNone/>
            </a:pPr>
            <a:r>
              <a:rPr lang="en-US" altLang="en-US" dirty="0"/>
              <a:t>1.	Let </a:t>
            </a:r>
            <a:r>
              <a:rPr lang="en-US" altLang="en-US" b="1" i="1" dirty="0">
                <a:solidFill>
                  <a:srgbClr val="000000"/>
                </a:solidFill>
              </a:rPr>
              <a:t>Work</a:t>
            </a:r>
            <a:r>
              <a:rPr lang="en-US" altLang="en-US" i="1" dirty="0">
                <a:solidFill>
                  <a:srgbClr val="000000"/>
                </a:solidFill>
              </a:rPr>
              <a:t> </a:t>
            </a:r>
            <a:r>
              <a:rPr lang="en-US" altLang="en-US" dirty="0"/>
              <a:t>and </a:t>
            </a:r>
            <a:r>
              <a:rPr lang="en-US" altLang="en-US" b="1" i="1" dirty="0">
                <a:solidFill>
                  <a:srgbClr val="000000"/>
                </a:solidFill>
              </a:rPr>
              <a:t>Finish</a:t>
            </a:r>
            <a:r>
              <a:rPr lang="en-US" altLang="en-US" dirty="0">
                <a:solidFill>
                  <a:srgbClr val="000000"/>
                </a:solidFill>
              </a:rPr>
              <a:t> </a:t>
            </a:r>
            <a:r>
              <a:rPr lang="en-US" altLang="en-US" dirty="0"/>
              <a:t>be vectors of length</a:t>
            </a:r>
            <a:r>
              <a:rPr lang="en-US" altLang="en-US" i="1" dirty="0"/>
              <a:t> m</a:t>
            </a:r>
            <a:r>
              <a:rPr lang="en-US" altLang="en-US" dirty="0"/>
              <a:t> and</a:t>
            </a:r>
            <a:r>
              <a:rPr lang="en-US" altLang="en-US" i="1" dirty="0"/>
              <a:t> n</a:t>
            </a:r>
            <a:r>
              <a:rPr lang="en-US" altLang="en-US" dirty="0"/>
              <a:t>, respectively.  Initialize:</a:t>
            </a:r>
          </a:p>
          <a:p>
            <a:pPr marL="1543050" lvl="3" indent="-342900">
              <a:lnSpc>
                <a:spcPct val="90000"/>
              </a:lnSpc>
              <a:buFontTx/>
              <a:buNone/>
            </a:pPr>
            <a:r>
              <a:rPr lang="en-US" altLang="en-US" b="1" i="1" dirty="0"/>
              <a:t>Work </a:t>
            </a:r>
            <a:r>
              <a:rPr lang="en-US" altLang="en-US" b="1" dirty="0"/>
              <a:t>= </a:t>
            </a:r>
            <a:r>
              <a:rPr lang="en-US" altLang="en-US" b="1" i="1" dirty="0"/>
              <a:t>Available</a:t>
            </a:r>
          </a:p>
          <a:p>
            <a:pPr marL="1543050" lvl="3" indent="-342900">
              <a:lnSpc>
                <a:spcPct val="90000"/>
              </a:lnSpc>
              <a:buFontTx/>
              <a:buNone/>
            </a:pPr>
            <a:r>
              <a:rPr lang="en-US" altLang="en-US" b="1" i="1" dirty="0"/>
              <a:t>Finish </a:t>
            </a:r>
            <a:r>
              <a:rPr lang="en-US" altLang="en-US" b="1" dirty="0"/>
              <a:t>[</a:t>
            </a:r>
            <a:r>
              <a:rPr lang="en-US" altLang="en-US" b="1" i="1" dirty="0" err="1"/>
              <a:t>i</a:t>
            </a:r>
            <a:r>
              <a:rPr lang="en-US" altLang="en-US" b="1" dirty="0"/>
              <a:t>] =</a:t>
            </a:r>
            <a:r>
              <a:rPr lang="en-US" altLang="en-US" b="1" i="1" dirty="0"/>
              <a:t> false </a:t>
            </a:r>
            <a:r>
              <a:rPr lang="en-US" altLang="en-US" b="1" dirty="0"/>
              <a:t>for</a:t>
            </a:r>
            <a:r>
              <a:rPr lang="en-US" altLang="en-US" b="1" i="1" dirty="0"/>
              <a:t> </a:t>
            </a:r>
            <a:r>
              <a:rPr lang="en-US" altLang="en-US" b="1" i="1" dirty="0" err="1"/>
              <a:t>i</a:t>
            </a:r>
            <a:r>
              <a:rPr lang="en-US" altLang="en-US" b="1" dirty="0"/>
              <a:t> = 0, 1, …, </a:t>
            </a:r>
            <a:r>
              <a:rPr lang="en-US" altLang="en-US" b="1" i="1" dirty="0"/>
              <a:t>n- </a:t>
            </a:r>
            <a:r>
              <a:rPr lang="en-US" altLang="en-US" b="1" dirty="0"/>
              <a:t>1</a:t>
            </a:r>
          </a:p>
          <a:p>
            <a:pPr marL="1543050" lvl="3" indent="-342900">
              <a:lnSpc>
                <a:spcPct val="90000"/>
              </a:lnSpc>
              <a:buFontTx/>
              <a:buNone/>
            </a:pPr>
            <a:endParaRPr lang="en-US" altLang="en-US" sz="800" dirty="0"/>
          </a:p>
          <a:p>
            <a:pPr>
              <a:lnSpc>
                <a:spcPct val="90000"/>
              </a:lnSpc>
              <a:buFont typeface="Monotype Sorts" pitchFamily="-84" charset="2"/>
              <a:buNone/>
            </a:pPr>
            <a:r>
              <a:rPr lang="en-US" altLang="en-US" dirty="0"/>
              <a:t>2.	</a:t>
            </a:r>
            <a:r>
              <a:rPr lang="en-US" altLang="en-US" dirty="0">
                <a:solidFill>
                  <a:srgbClr val="FF0000"/>
                </a:solidFill>
              </a:rPr>
              <a:t>Find an </a:t>
            </a:r>
            <a:r>
              <a:rPr lang="en-US" altLang="en-US" b="1" i="1" dirty="0" err="1">
                <a:solidFill>
                  <a:srgbClr val="FF0000"/>
                </a:solidFill>
              </a:rPr>
              <a:t>i</a:t>
            </a:r>
            <a:r>
              <a:rPr lang="en-US" altLang="en-US" i="1" dirty="0">
                <a:solidFill>
                  <a:srgbClr val="FF0000"/>
                </a:solidFill>
              </a:rPr>
              <a:t> </a:t>
            </a:r>
            <a:r>
              <a:rPr lang="en-US" altLang="en-US" dirty="0">
                <a:solidFill>
                  <a:srgbClr val="FF0000"/>
                </a:solidFill>
              </a:rPr>
              <a:t>such that both (a) &amp; (b) are true:</a:t>
            </a:r>
            <a:r>
              <a:rPr lang="en-US" altLang="en-US" dirty="0"/>
              <a:t> </a:t>
            </a:r>
          </a:p>
          <a:p>
            <a:pPr marL="800100" lvl="1" indent="-342900">
              <a:lnSpc>
                <a:spcPct val="90000"/>
              </a:lnSpc>
              <a:buFont typeface="Monotype Sorts" pitchFamily="-84" charset="2"/>
              <a:buNone/>
            </a:pPr>
            <a:r>
              <a:rPr lang="en-US" altLang="en-US" dirty="0"/>
              <a:t>(a) </a:t>
            </a:r>
            <a:r>
              <a:rPr lang="en-US" altLang="en-US" b="1" i="1" dirty="0"/>
              <a:t>Finish</a:t>
            </a:r>
            <a:r>
              <a:rPr lang="en-US" altLang="en-US" b="1" dirty="0"/>
              <a:t> [</a:t>
            </a:r>
            <a:r>
              <a:rPr lang="en-US" altLang="en-US" b="1" i="1" dirty="0" err="1"/>
              <a:t>i</a:t>
            </a:r>
            <a:r>
              <a:rPr lang="en-US" altLang="en-US" b="1" dirty="0"/>
              <a:t>] = </a:t>
            </a:r>
            <a:r>
              <a:rPr lang="en-US" altLang="en-US" b="1" i="1" dirty="0"/>
              <a:t>false</a:t>
            </a:r>
            <a:endParaRPr lang="en-US" altLang="en-US" b="1" dirty="0"/>
          </a:p>
          <a:p>
            <a:pPr marL="800100" lvl="1" indent="-342900">
              <a:lnSpc>
                <a:spcPct val="90000"/>
              </a:lnSpc>
              <a:buFont typeface="Monotype Sorts" pitchFamily="-84" charset="2"/>
              <a:buNone/>
            </a:pPr>
            <a:r>
              <a:rPr lang="en-US" altLang="en-US" dirty="0"/>
              <a:t>(b) </a:t>
            </a:r>
            <a:r>
              <a:rPr lang="en-US" altLang="en-US" b="1" i="1" dirty="0" err="1"/>
              <a:t>Need</a:t>
            </a:r>
            <a:r>
              <a:rPr lang="en-US" altLang="en-US" b="1" i="1" baseline="-25000" dirty="0" err="1"/>
              <a:t>i</a:t>
            </a:r>
            <a:r>
              <a:rPr lang="en-US" altLang="en-US" b="1" dirty="0"/>
              <a:t> </a:t>
            </a:r>
            <a:r>
              <a:rPr lang="en-US" altLang="en-US" b="1" dirty="0">
                <a:sym typeface="Symbol" pitchFamily="18" charset="2"/>
              </a:rPr>
              <a:t> </a:t>
            </a:r>
            <a:r>
              <a:rPr lang="en-US" altLang="en-US" b="1" i="1" dirty="0">
                <a:sym typeface="Symbol" pitchFamily="18" charset="2"/>
              </a:rPr>
              <a:t>Work</a:t>
            </a:r>
          </a:p>
          <a:p>
            <a:pPr marL="800100" lvl="1" indent="-342900">
              <a:lnSpc>
                <a:spcPct val="90000"/>
              </a:lnSpc>
              <a:buFont typeface="Monotype Sorts" pitchFamily="-84" charset="2"/>
              <a:buNone/>
            </a:pPr>
            <a:r>
              <a:rPr lang="en-US" altLang="en-US" dirty="0">
                <a:sym typeface="Symbol" pitchFamily="18" charset="2"/>
              </a:rPr>
              <a:t>If no such</a:t>
            </a:r>
            <a:r>
              <a:rPr lang="en-US" altLang="en-US" b="1" dirty="0">
                <a:sym typeface="Symbol" pitchFamily="18" charset="2"/>
              </a:rPr>
              <a:t> </a:t>
            </a:r>
            <a:r>
              <a:rPr lang="en-US" altLang="en-US" b="1" i="1" dirty="0" err="1">
                <a:sym typeface="Symbol" pitchFamily="18" charset="2"/>
              </a:rPr>
              <a:t>i</a:t>
            </a:r>
            <a:r>
              <a:rPr lang="en-US" altLang="en-US" b="1" i="1" dirty="0">
                <a:sym typeface="Symbol" pitchFamily="18" charset="2"/>
              </a:rPr>
              <a:t> </a:t>
            </a:r>
            <a:r>
              <a:rPr lang="en-US" altLang="en-US" dirty="0">
                <a:sym typeface="Symbol" pitchFamily="18" charset="2"/>
              </a:rPr>
              <a:t>exists, go to step 4</a:t>
            </a:r>
          </a:p>
          <a:p>
            <a:pPr marL="800100" lvl="1" indent="-342900">
              <a:lnSpc>
                <a:spcPct val="90000"/>
              </a:lnSpc>
              <a:buFont typeface="Monotype Sorts" pitchFamily="-84" charset="2"/>
              <a:buNone/>
            </a:pPr>
            <a:endParaRPr lang="en-US" altLang="en-US" sz="800" dirty="0">
              <a:sym typeface="Symbol" pitchFamily="18" charset="2"/>
            </a:endParaRPr>
          </a:p>
          <a:p>
            <a:pPr>
              <a:lnSpc>
                <a:spcPct val="90000"/>
              </a:lnSpc>
              <a:buFont typeface="Monotype Sorts" pitchFamily="-84" charset="2"/>
              <a:buNone/>
            </a:pPr>
            <a:r>
              <a:rPr lang="en-US" altLang="en-US" i="1" dirty="0"/>
              <a:t>3.  </a:t>
            </a:r>
            <a:r>
              <a:rPr lang="en-US" altLang="en-US" b="1" i="1" dirty="0"/>
              <a:t>Work</a:t>
            </a:r>
            <a:r>
              <a:rPr lang="en-US" altLang="en-US" b="1" dirty="0"/>
              <a:t> = </a:t>
            </a:r>
            <a:r>
              <a:rPr lang="en-US" altLang="en-US" b="1" i="1" dirty="0"/>
              <a:t>Work </a:t>
            </a:r>
            <a:r>
              <a:rPr lang="en-US" altLang="en-US" b="1" dirty="0"/>
              <a:t>+ </a:t>
            </a:r>
            <a:r>
              <a:rPr lang="en-US" altLang="en-US" b="1" i="1" dirty="0" err="1"/>
              <a:t>Allocation</a:t>
            </a:r>
            <a:r>
              <a:rPr lang="en-US" altLang="en-US" b="1" i="1" baseline="-25000" dirty="0" err="1"/>
              <a:t>i</a:t>
            </a:r>
            <a:br>
              <a:rPr lang="en-US" altLang="en-US" b="1" dirty="0"/>
            </a:br>
            <a:r>
              <a:rPr lang="en-US" altLang="en-US" b="1" i="1" dirty="0"/>
              <a:t>Finish</a:t>
            </a:r>
            <a:r>
              <a:rPr lang="en-US" altLang="en-US" b="1" dirty="0"/>
              <a:t>[</a:t>
            </a:r>
            <a:r>
              <a:rPr lang="en-US" altLang="en-US" b="1" i="1" dirty="0" err="1"/>
              <a:t>i</a:t>
            </a:r>
            <a:r>
              <a:rPr lang="en-US" altLang="en-US" b="1" dirty="0"/>
              <a:t>] =</a:t>
            </a:r>
            <a:r>
              <a:rPr lang="en-US" altLang="en-US" b="1" i="1" dirty="0"/>
              <a:t> true</a:t>
            </a:r>
            <a:br>
              <a:rPr lang="en-US" altLang="en-US" b="1" dirty="0"/>
            </a:br>
            <a:r>
              <a:rPr lang="en-US" altLang="en-US" dirty="0"/>
              <a:t>go to step 2</a:t>
            </a:r>
          </a:p>
          <a:p>
            <a:pPr>
              <a:lnSpc>
                <a:spcPct val="90000"/>
              </a:lnSpc>
            </a:pPr>
            <a:endParaRPr lang="en-US" altLang="en-US" sz="800" dirty="0"/>
          </a:p>
          <a:p>
            <a:pPr>
              <a:lnSpc>
                <a:spcPct val="90000"/>
              </a:lnSpc>
              <a:buFont typeface="Monotype Sorts" pitchFamily="-84" charset="2"/>
              <a:buNone/>
            </a:pPr>
            <a:r>
              <a:rPr lang="en-US" altLang="en-US" dirty="0"/>
              <a:t>4.	If </a:t>
            </a:r>
            <a:r>
              <a:rPr lang="en-US" altLang="en-US" b="1" i="1" dirty="0"/>
              <a:t>Finish</a:t>
            </a:r>
            <a:r>
              <a:rPr lang="en-US" altLang="en-US" b="1" dirty="0"/>
              <a:t> [</a:t>
            </a:r>
            <a:r>
              <a:rPr lang="en-US" altLang="en-US" b="1" i="1" dirty="0" err="1"/>
              <a:t>i</a:t>
            </a:r>
            <a:r>
              <a:rPr lang="en-US" altLang="en-US" b="1" dirty="0"/>
              <a:t>] == </a:t>
            </a:r>
            <a:r>
              <a:rPr lang="en-US" altLang="en-US" b="1" i="1" dirty="0"/>
              <a:t>true</a:t>
            </a:r>
            <a:r>
              <a:rPr lang="en-US" altLang="en-US" b="1" dirty="0"/>
              <a:t> </a:t>
            </a:r>
            <a:r>
              <a:rPr lang="en-US" altLang="en-US" dirty="0"/>
              <a:t>for all </a:t>
            </a:r>
            <a:r>
              <a:rPr lang="en-US" altLang="en-US" b="1" i="1" dirty="0" err="1"/>
              <a:t>i</a:t>
            </a:r>
            <a:r>
              <a:rPr lang="en-US" altLang="en-US" dirty="0"/>
              <a:t>, then the system is in a safe state</a:t>
            </a:r>
          </a:p>
        </p:txBody>
      </p:sp>
    </p:spTree>
    <p:extLst>
      <p:ext uri="{BB962C8B-B14F-4D97-AF65-F5344CB8AC3E}">
        <p14:creationId xmlns:p14="http://schemas.microsoft.com/office/powerpoint/2010/main" val="27146867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273175" y="231775"/>
            <a:ext cx="7924800" cy="457200"/>
          </a:xfrm>
        </p:spPr>
        <p:txBody>
          <a:bodyPr>
            <a:normAutofit fontScale="90000"/>
          </a:bodyPr>
          <a:lstStyle/>
          <a:p>
            <a:pPr eaLnBrk="1" hangingPunct="1"/>
            <a:r>
              <a:rPr lang="en-US" altLang="en-US" sz="2800"/>
              <a:t>Resource-Request Algorithm for Process </a:t>
            </a:r>
            <a:r>
              <a:rPr lang="en-US" altLang="en-US" sz="2800" i="1"/>
              <a:t>P</a:t>
            </a:r>
            <a:r>
              <a:rPr lang="en-US" altLang="en-US" sz="2800" i="1" baseline="-25000"/>
              <a:t>i</a:t>
            </a:r>
            <a:endParaRPr lang="en-US" altLang="en-US" sz="2800"/>
          </a:p>
        </p:txBody>
      </p:sp>
      <p:sp>
        <p:nvSpPr>
          <p:cNvPr id="32771" name="Rectangle 3"/>
          <p:cNvSpPr>
            <a:spLocks noGrp="1" noChangeArrowheads="1"/>
          </p:cNvSpPr>
          <p:nvPr>
            <p:ph type="body" idx="1"/>
          </p:nvPr>
        </p:nvSpPr>
        <p:spPr>
          <a:xfrm>
            <a:off x="822325" y="1114425"/>
            <a:ext cx="7642225" cy="4686300"/>
          </a:xfrm>
        </p:spPr>
        <p:txBody>
          <a:bodyPr>
            <a:normAutofit fontScale="85000" lnSpcReduction="20000"/>
          </a:bodyPr>
          <a:lstStyle/>
          <a:p>
            <a:pPr>
              <a:lnSpc>
                <a:spcPct val="90000"/>
              </a:lnSpc>
              <a:buFont typeface="Monotype Sorts" pitchFamily="-84" charset="2"/>
              <a:buNone/>
            </a:pPr>
            <a:r>
              <a:rPr lang="en-US" altLang="en-US" i="1"/>
              <a:t>     </a:t>
            </a:r>
            <a:r>
              <a:rPr lang="en-US" altLang="en-US" b="1" i="1"/>
              <a:t>Request</a:t>
            </a:r>
            <a:r>
              <a:rPr lang="en-US" altLang="en-US" b="1" i="1" baseline="-25000"/>
              <a:t>i</a:t>
            </a:r>
            <a:r>
              <a:rPr lang="en-US" altLang="en-US"/>
              <a:t> = request vector for process </a:t>
            </a:r>
            <a:r>
              <a:rPr lang="en-US" altLang="en-US" b="1" i="1"/>
              <a:t>P</a:t>
            </a:r>
            <a:r>
              <a:rPr lang="en-US" altLang="en-US" b="1" i="1" baseline="-25000"/>
              <a:t>i</a:t>
            </a:r>
            <a:r>
              <a:rPr lang="en-US" altLang="en-US"/>
              <a:t>.  If </a:t>
            </a:r>
            <a:r>
              <a:rPr lang="en-US" altLang="en-US" b="1" i="1"/>
              <a:t>Request</a:t>
            </a:r>
            <a:r>
              <a:rPr lang="en-US" altLang="en-US" b="1" i="1" baseline="-25000"/>
              <a:t>i</a:t>
            </a:r>
            <a:r>
              <a:rPr lang="en-US" altLang="en-US" b="1" baseline="-25000"/>
              <a:t> </a:t>
            </a:r>
            <a:r>
              <a:rPr lang="en-US" altLang="en-US" b="1"/>
              <a:t>[</a:t>
            </a:r>
            <a:r>
              <a:rPr lang="en-US" altLang="en-US" b="1" i="1"/>
              <a:t>j</a:t>
            </a:r>
            <a:r>
              <a:rPr lang="en-US" altLang="en-US" b="1"/>
              <a:t>] = </a:t>
            </a:r>
            <a:r>
              <a:rPr lang="en-US" altLang="en-US" b="1" i="1"/>
              <a:t>k</a:t>
            </a:r>
            <a:r>
              <a:rPr lang="en-US" altLang="en-US" b="1"/>
              <a:t> </a:t>
            </a:r>
            <a:r>
              <a:rPr lang="en-US" altLang="en-US"/>
              <a:t>then process </a:t>
            </a:r>
            <a:r>
              <a:rPr lang="en-US" altLang="en-US" b="1" i="1"/>
              <a:t>P</a:t>
            </a:r>
            <a:r>
              <a:rPr lang="en-US" altLang="en-US" b="1" i="1" baseline="-25000"/>
              <a:t>i</a:t>
            </a:r>
            <a:r>
              <a:rPr lang="en-US" altLang="en-US"/>
              <a:t> wants </a:t>
            </a:r>
            <a:r>
              <a:rPr lang="en-US" altLang="en-US" b="1" i="1"/>
              <a:t>k</a:t>
            </a:r>
            <a:r>
              <a:rPr lang="en-US" altLang="en-US"/>
              <a:t> instances of resource type </a:t>
            </a:r>
            <a:r>
              <a:rPr lang="en-US" altLang="en-US" b="1" i="1"/>
              <a:t>R</a:t>
            </a:r>
            <a:r>
              <a:rPr lang="en-US" altLang="en-US" b="1" i="1" baseline="-25000"/>
              <a:t>j</a:t>
            </a:r>
            <a:endParaRPr lang="en-US" altLang="en-US" b="1" baseline="-25000"/>
          </a:p>
          <a:p>
            <a:pPr lvl="1">
              <a:lnSpc>
                <a:spcPct val="90000"/>
              </a:lnSpc>
              <a:buFont typeface="Monotype Sorts" pitchFamily="-84" charset="2"/>
              <a:buNone/>
            </a:pPr>
            <a:r>
              <a:rPr lang="en-US" altLang="en-US"/>
              <a:t>1.	If </a:t>
            </a:r>
            <a:r>
              <a:rPr lang="en-US" altLang="en-US" b="1" i="1"/>
              <a:t>Request</a:t>
            </a:r>
            <a:r>
              <a:rPr lang="en-US" altLang="en-US" b="1" i="1" baseline="-25000"/>
              <a:t>i</a:t>
            </a:r>
            <a:r>
              <a:rPr lang="en-US" altLang="en-US" b="1" i="1"/>
              <a:t> </a:t>
            </a:r>
            <a:r>
              <a:rPr lang="en-US" altLang="en-US" b="1">
                <a:sym typeface="Symbol" pitchFamily="18" charset="2"/>
              </a:rPr>
              <a:t> </a:t>
            </a:r>
            <a:r>
              <a:rPr lang="en-US" altLang="en-US" b="1" i="1">
                <a:sym typeface="Symbol" pitchFamily="18" charset="2"/>
              </a:rPr>
              <a:t>Need</a:t>
            </a:r>
            <a:r>
              <a:rPr lang="en-US" altLang="en-US" b="1" i="1" baseline="-25000">
                <a:sym typeface="Symbol" pitchFamily="18" charset="2"/>
              </a:rPr>
              <a:t>i</a:t>
            </a:r>
            <a:r>
              <a:rPr lang="en-US" altLang="en-US" b="1" i="1">
                <a:sym typeface="Symbol" pitchFamily="18" charset="2"/>
              </a:rPr>
              <a:t> </a:t>
            </a:r>
            <a:r>
              <a:rPr lang="en-US" altLang="en-US">
                <a:sym typeface="Symbol" pitchFamily="18" charset="2"/>
              </a:rPr>
              <a:t>go to step 2.  Otherwise, raise error condition, since process has exceeded its maximum claim</a:t>
            </a:r>
          </a:p>
          <a:p>
            <a:pPr lvl="1">
              <a:lnSpc>
                <a:spcPct val="90000"/>
              </a:lnSpc>
              <a:buFont typeface="Monotype Sorts" pitchFamily="-84" charset="2"/>
              <a:buNone/>
            </a:pPr>
            <a:r>
              <a:rPr lang="en-US" altLang="en-US">
                <a:sym typeface="Symbol" pitchFamily="18" charset="2"/>
              </a:rPr>
              <a:t>2.	If </a:t>
            </a:r>
            <a:r>
              <a:rPr lang="en-US" altLang="en-US" b="1" i="1"/>
              <a:t>Request</a:t>
            </a:r>
            <a:r>
              <a:rPr lang="en-US" altLang="en-US" b="1" i="1" baseline="-25000"/>
              <a:t>i</a:t>
            </a:r>
            <a:r>
              <a:rPr lang="en-US" altLang="en-US" b="1"/>
              <a:t> </a:t>
            </a:r>
            <a:r>
              <a:rPr lang="en-US" altLang="en-US" b="1">
                <a:sym typeface="Symbol" pitchFamily="18" charset="2"/>
              </a:rPr>
              <a:t> </a:t>
            </a:r>
            <a:r>
              <a:rPr lang="en-US" altLang="en-US" b="1" i="1">
                <a:sym typeface="Symbol" pitchFamily="18" charset="2"/>
              </a:rPr>
              <a:t>Available</a:t>
            </a:r>
            <a:r>
              <a:rPr lang="en-US" altLang="en-US">
                <a:sym typeface="Symbol" pitchFamily="18" charset="2"/>
              </a:rPr>
              <a:t>, go to step 3.  Otherwise </a:t>
            </a:r>
            <a:r>
              <a:rPr lang="en-US" altLang="en-US" b="1" i="1">
                <a:sym typeface="Symbol" pitchFamily="18" charset="2"/>
              </a:rPr>
              <a:t>P</a:t>
            </a:r>
            <a:r>
              <a:rPr lang="en-US" altLang="en-US" b="1" i="1" baseline="-25000">
                <a:sym typeface="Symbol" pitchFamily="18" charset="2"/>
              </a:rPr>
              <a:t>i</a:t>
            </a:r>
            <a:r>
              <a:rPr lang="en-US" altLang="en-US">
                <a:sym typeface="Symbol" pitchFamily="18" charset="2"/>
              </a:rPr>
              <a:t>  must wait, since resources are not available</a:t>
            </a:r>
          </a:p>
          <a:p>
            <a:pPr lvl="1">
              <a:lnSpc>
                <a:spcPct val="90000"/>
              </a:lnSpc>
              <a:buFont typeface="Monotype Sorts" pitchFamily="-84" charset="2"/>
              <a:buNone/>
            </a:pPr>
            <a:r>
              <a:rPr lang="en-US" altLang="en-US">
                <a:sym typeface="Symbol" pitchFamily="18" charset="2"/>
              </a:rPr>
              <a:t>3.	Pretend to allocate requested resources to </a:t>
            </a:r>
            <a:r>
              <a:rPr lang="en-US" altLang="en-US" b="1" i="1">
                <a:sym typeface="Symbol" pitchFamily="18" charset="2"/>
              </a:rPr>
              <a:t>P</a:t>
            </a:r>
            <a:r>
              <a:rPr lang="en-US" altLang="en-US" b="1" i="1" baseline="-25000">
                <a:sym typeface="Symbol" pitchFamily="18" charset="2"/>
              </a:rPr>
              <a:t>i</a:t>
            </a:r>
            <a:r>
              <a:rPr lang="en-US" altLang="en-US">
                <a:sym typeface="Symbol" pitchFamily="18" charset="2"/>
              </a:rPr>
              <a:t> by modifying the state as follows:</a:t>
            </a:r>
          </a:p>
          <a:p>
            <a:pPr lvl="3">
              <a:lnSpc>
                <a:spcPct val="90000"/>
              </a:lnSpc>
              <a:buFontTx/>
              <a:buNone/>
            </a:pPr>
            <a:r>
              <a:rPr lang="en-US" altLang="en-US">
                <a:sym typeface="Symbol" pitchFamily="18" charset="2"/>
              </a:rPr>
              <a:t>		</a:t>
            </a:r>
            <a:r>
              <a:rPr lang="en-US" altLang="en-US" b="1" i="1">
                <a:sym typeface="Symbol" pitchFamily="18" charset="2"/>
              </a:rPr>
              <a:t>Available</a:t>
            </a:r>
            <a:r>
              <a:rPr lang="en-US" altLang="en-US" b="1">
                <a:sym typeface="Symbol" pitchFamily="18" charset="2"/>
              </a:rPr>
              <a:t> = </a:t>
            </a:r>
            <a:r>
              <a:rPr lang="en-US" altLang="en-US" b="1" i="1">
                <a:sym typeface="Symbol" pitchFamily="18" charset="2"/>
              </a:rPr>
              <a:t>Available  </a:t>
            </a:r>
            <a:r>
              <a:rPr lang="en-US" altLang="en-US" b="1">
                <a:sym typeface="Symbol" pitchFamily="18" charset="2"/>
              </a:rPr>
              <a:t>–</a:t>
            </a:r>
            <a:r>
              <a:rPr lang="en-US" altLang="en-US" b="1" i="1">
                <a:sym typeface="Symbol" pitchFamily="18" charset="2"/>
              </a:rPr>
              <a:t> Request</a:t>
            </a:r>
            <a:r>
              <a:rPr lang="en-US" altLang="en-US" b="1" i="1" baseline="-25000">
                <a:sym typeface="Symbol" pitchFamily="18" charset="2"/>
              </a:rPr>
              <a:t>i</a:t>
            </a:r>
            <a:r>
              <a:rPr lang="en-US" altLang="en-US" b="1" i="1">
                <a:sym typeface="Symbol" pitchFamily="18" charset="2"/>
              </a:rPr>
              <a:t>;</a:t>
            </a:r>
          </a:p>
          <a:p>
            <a:pPr lvl="3">
              <a:lnSpc>
                <a:spcPct val="90000"/>
              </a:lnSpc>
              <a:buFontTx/>
              <a:buNone/>
            </a:pPr>
            <a:r>
              <a:rPr lang="en-US" altLang="en-US" b="1">
                <a:sym typeface="Symbol" pitchFamily="18" charset="2"/>
              </a:rPr>
              <a:t>		</a:t>
            </a:r>
            <a:r>
              <a:rPr lang="en-US" altLang="en-US" b="1" i="1">
                <a:sym typeface="Symbol" pitchFamily="18" charset="2"/>
              </a:rPr>
              <a:t>Allocation</a:t>
            </a:r>
            <a:r>
              <a:rPr lang="en-US" altLang="en-US" b="1" i="1" baseline="-25000">
                <a:sym typeface="Symbol" pitchFamily="18" charset="2"/>
              </a:rPr>
              <a:t>i</a:t>
            </a:r>
            <a:r>
              <a:rPr lang="en-US" altLang="en-US" b="1" baseline="-25000">
                <a:sym typeface="Symbol" pitchFamily="18" charset="2"/>
              </a:rPr>
              <a:t> </a:t>
            </a:r>
            <a:r>
              <a:rPr lang="en-US" altLang="en-US" b="1">
                <a:sym typeface="Symbol" pitchFamily="18" charset="2"/>
              </a:rPr>
              <a:t>= </a:t>
            </a:r>
            <a:r>
              <a:rPr lang="en-US" altLang="en-US" b="1" i="1">
                <a:sym typeface="Symbol" pitchFamily="18" charset="2"/>
              </a:rPr>
              <a:t>Allocation</a:t>
            </a:r>
            <a:r>
              <a:rPr lang="en-US" altLang="en-US" b="1" i="1" baseline="-25000">
                <a:sym typeface="Symbol" pitchFamily="18" charset="2"/>
              </a:rPr>
              <a:t>i</a:t>
            </a:r>
            <a:r>
              <a:rPr lang="en-US" altLang="en-US" b="1">
                <a:sym typeface="Symbol" pitchFamily="18" charset="2"/>
              </a:rPr>
              <a:t> + </a:t>
            </a:r>
            <a:r>
              <a:rPr lang="en-US" altLang="en-US" b="1" i="1">
                <a:sym typeface="Symbol" pitchFamily="18" charset="2"/>
              </a:rPr>
              <a:t>Request</a:t>
            </a:r>
            <a:r>
              <a:rPr lang="en-US" altLang="en-US" b="1" i="1" baseline="-25000">
                <a:sym typeface="Symbol" pitchFamily="18" charset="2"/>
              </a:rPr>
              <a:t>i</a:t>
            </a:r>
            <a:r>
              <a:rPr lang="en-US" altLang="en-US" b="1">
                <a:sym typeface="Symbol" pitchFamily="18" charset="2"/>
              </a:rPr>
              <a:t>;</a:t>
            </a:r>
          </a:p>
          <a:p>
            <a:pPr lvl="3">
              <a:lnSpc>
                <a:spcPct val="90000"/>
              </a:lnSpc>
              <a:buFontTx/>
              <a:buNone/>
            </a:pPr>
            <a:r>
              <a:rPr lang="en-US" altLang="en-US" b="1">
                <a:sym typeface="Symbol" pitchFamily="18" charset="2"/>
              </a:rPr>
              <a:t>		</a:t>
            </a:r>
            <a:r>
              <a:rPr lang="en-US" altLang="en-US" b="1" i="1">
                <a:sym typeface="Symbol" pitchFamily="18" charset="2"/>
              </a:rPr>
              <a:t>Need</a:t>
            </a:r>
            <a:r>
              <a:rPr lang="en-US" altLang="en-US" b="1" i="1" baseline="-25000">
                <a:sym typeface="Symbol" pitchFamily="18" charset="2"/>
              </a:rPr>
              <a:t>i</a:t>
            </a:r>
            <a:r>
              <a:rPr lang="en-US" altLang="en-US" b="1" i="1">
                <a:sym typeface="Symbol" pitchFamily="18" charset="2"/>
              </a:rPr>
              <a:t> </a:t>
            </a:r>
            <a:r>
              <a:rPr lang="en-US" altLang="en-US" b="1">
                <a:sym typeface="Symbol" pitchFamily="18" charset="2"/>
              </a:rPr>
              <a:t>=</a:t>
            </a:r>
            <a:r>
              <a:rPr lang="en-US" altLang="en-US" b="1" i="1">
                <a:sym typeface="Symbol" pitchFamily="18" charset="2"/>
              </a:rPr>
              <a:t> Need</a:t>
            </a:r>
            <a:r>
              <a:rPr lang="en-US" altLang="en-US" b="1" i="1" baseline="-25000">
                <a:sym typeface="Symbol" pitchFamily="18" charset="2"/>
              </a:rPr>
              <a:t>i</a:t>
            </a:r>
            <a:r>
              <a:rPr lang="en-US" altLang="en-US" b="1">
                <a:sym typeface="Symbol" pitchFamily="18" charset="2"/>
              </a:rPr>
              <a:t> – </a:t>
            </a:r>
            <a:r>
              <a:rPr lang="en-US" altLang="en-US" b="1" i="1">
                <a:sym typeface="Symbol" pitchFamily="18" charset="2"/>
              </a:rPr>
              <a:t>Request</a:t>
            </a:r>
            <a:r>
              <a:rPr lang="en-US" altLang="en-US" b="1" i="1" baseline="-25000">
                <a:sym typeface="Symbol" pitchFamily="18" charset="2"/>
              </a:rPr>
              <a:t>i</a:t>
            </a:r>
            <a:r>
              <a:rPr lang="en-US" altLang="en-US" b="1" i="1">
                <a:sym typeface="Symbol" pitchFamily="18" charset="2"/>
              </a:rPr>
              <a:t>;</a:t>
            </a:r>
          </a:p>
          <a:p>
            <a:pPr lvl="2">
              <a:lnSpc>
                <a:spcPct val="90000"/>
              </a:lnSpc>
              <a:buClr>
                <a:srgbClr val="CC6600"/>
              </a:buClr>
              <a:buSzPct val="80000"/>
              <a:buFont typeface="Monotype Sorts" pitchFamily="-84" charset="2"/>
              <a:buChar char="l"/>
            </a:pPr>
            <a:r>
              <a:rPr lang="en-US" altLang="en-US">
                <a:sym typeface="Symbol" pitchFamily="18" charset="2"/>
              </a:rPr>
              <a:t>If safe  the resources are allocated to </a:t>
            </a:r>
            <a:r>
              <a:rPr lang="en-US" altLang="en-US" b="1" i="1">
                <a:sym typeface="Symbol" pitchFamily="18" charset="2"/>
              </a:rPr>
              <a:t>P</a:t>
            </a:r>
            <a:r>
              <a:rPr lang="en-US" altLang="en-US" b="1" i="1" baseline="-25000">
                <a:sym typeface="Symbol" pitchFamily="18" charset="2"/>
              </a:rPr>
              <a:t>i</a:t>
            </a:r>
          </a:p>
          <a:p>
            <a:pPr lvl="2">
              <a:lnSpc>
                <a:spcPct val="90000"/>
              </a:lnSpc>
              <a:buClr>
                <a:srgbClr val="CC6600"/>
              </a:buClr>
              <a:buSzPct val="80000"/>
              <a:buFont typeface="Monotype Sorts" pitchFamily="-84" charset="2"/>
              <a:buChar char="l"/>
            </a:pPr>
            <a:r>
              <a:rPr lang="en-US" altLang="en-US">
                <a:sym typeface="Symbol" pitchFamily="18" charset="2"/>
              </a:rPr>
              <a:t>If unsafe  </a:t>
            </a:r>
            <a:r>
              <a:rPr lang="en-US" altLang="en-US" b="1" i="1">
                <a:sym typeface="Symbol" pitchFamily="18" charset="2"/>
              </a:rPr>
              <a:t>P</a:t>
            </a:r>
            <a:r>
              <a:rPr lang="en-US" altLang="en-US" b="1" i="1" baseline="-25000">
                <a:sym typeface="Symbol" pitchFamily="18" charset="2"/>
              </a:rPr>
              <a:t>i</a:t>
            </a:r>
            <a:r>
              <a:rPr lang="en-US" altLang="en-US">
                <a:sym typeface="Symbol" pitchFamily="18" charset="2"/>
              </a:rPr>
              <a:t> must wait, and the old resource-allocation state is restored</a:t>
            </a:r>
          </a:p>
        </p:txBody>
      </p:sp>
    </p:spTree>
    <p:extLst>
      <p:ext uri="{BB962C8B-B14F-4D97-AF65-F5344CB8AC3E}">
        <p14:creationId xmlns:p14="http://schemas.microsoft.com/office/powerpoint/2010/main" val="21852301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38188"/>
            <a:ext cx="9353550" cy="538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911429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xx</a:t>
            </a:r>
          </a:p>
        </p:txBody>
      </p:sp>
      <p:sp>
        <p:nvSpPr>
          <p:cNvPr id="3" name="Content Placeholder 2"/>
          <p:cNvSpPr>
            <a:spLocks noGrp="1"/>
          </p:cNvSpPr>
          <p:nvPr>
            <p:ph idx="1"/>
          </p:nvPr>
        </p:nvSpPr>
        <p:spPr/>
        <p:txBody>
          <a:bodyPr/>
          <a:lstStyle/>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70" y="116632"/>
            <a:ext cx="8648700" cy="2505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732" y="2771353"/>
            <a:ext cx="8064896" cy="360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50846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57" y="24869"/>
            <a:ext cx="4697059" cy="4700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016" y="3140968"/>
            <a:ext cx="3744416" cy="3629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577569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88640"/>
            <a:ext cx="6896100" cy="3867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80625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6813" y="1009650"/>
            <a:ext cx="6810375" cy="483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0720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962150"/>
            <a:ext cx="6962775" cy="293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319745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022350" y="152400"/>
            <a:ext cx="7664450" cy="576263"/>
          </a:xfrm>
        </p:spPr>
        <p:txBody>
          <a:bodyPr>
            <a:normAutofit fontScale="90000"/>
          </a:bodyPr>
          <a:lstStyle/>
          <a:p>
            <a:pPr eaLnBrk="1" hangingPunct="1"/>
            <a:r>
              <a:rPr lang="en-US" altLang="en-US"/>
              <a:t>Example of Banker</a:t>
            </a:r>
            <a:r>
              <a:rPr lang="ja-JP" altLang="en-US"/>
              <a:t>’</a:t>
            </a:r>
            <a:r>
              <a:rPr lang="en-US" altLang="ja-JP"/>
              <a:t>s Algorithm</a:t>
            </a:r>
            <a:endParaRPr lang="en-US" altLang="en-US"/>
          </a:p>
        </p:txBody>
      </p:sp>
      <p:sp>
        <p:nvSpPr>
          <p:cNvPr id="33795" name="Rectangle 3"/>
          <p:cNvSpPr>
            <a:spLocks noGrp="1" noChangeArrowheads="1"/>
          </p:cNvSpPr>
          <p:nvPr>
            <p:ph type="body" idx="1"/>
          </p:nvPr>
        </p:nvSpPr>
        <p:spPr>
          <a:xfrm>
            <a:off x="852488" y="1360488"/>
            <a:ext cx="7923212" cy="4540250"/>
          </a:xfrm>
        </p:spPr>
        <p:txBody>
          <a:bodyPr>
            <a:normAutofit fontScale="55000" lnSpcReduction="20000"/>
          </a:bodyPr>
          <a:lstStyle/>
          <a:p>
            <a:pPr>
              <a:tabLst>
                <a:tab pos="1371600" algn="l"/>
                <a:tab pos="2395538" algn="ctr"/>
                <a:tab pos="3594100" algn="ctr"/>
                <a:tab pos="4805363" algn="ctr"/>
              </a:tabLst>
            </a:pPr>
            <a:r>
              <a:rPr lang="en-US" altLang="en-US" dirty="0"/>
              <a:t>Consider a system with ﬁve processes P0 through P4 and three resource types A, B and C. </a:t>
            </a:r>
            <a:r>
              <a:rPr lang="en-US" altLang="en-US"/>
              <a:t>Resource type A </a:t>
            </a:r>
            <a:r>
              <a:rPr lang="en-US" altLang="en-US" dirty="0"/>
              <a:t>has ten instances, resource type B has ﬁve instances, and resource type C has seven instances. Suppose that, at time t0 the following snapshot of the system has been taken: </a:t>
            </a:r>
            <a:r>
              <a:rPr lang="en-US" altLang="en-US" dirty="0">
                <a:solidFill>
                  <a:srgbClr val="FF0000"/>
                </a:solidFill>
              </a:rPr>
              <a:t>Determine whether the system is in safe state.</a:t>
            </a:r>
          </a:p>
          <a:p>
            <a:pPr>
              <a:tabLst>
                <a:tab pos="1371600" algn="l"/>
                <a:tab pos="2395538" algn="ctr"/>
                <a:tab pos="3594100" algn="ctr"/>
                <a:tab pos="4805363" algn="ctr"/>
              </a:tabLst>
            </a:pPr>
            <a:r>
              <a:rPr lang="en-US" altLang="en-US" dirty="0"/>
              <a:t>5 processes </a:t>
            </a:r>
            <a:r>
              <a:rPr lang="en-US" altLang="en-US" i="1" dirty="0"/>
              <a:t>P</a:t>
            </a:r>
            <a:r>
              <a:rPr lang="en-US" altLang="en-US" baseline="-25000" dirty="0"/>
              <a:t>0  </a:t>
            </a:r>
            <a:r>
              <a:rPr lang="en-US" altLang="en-US" dirty="0"/>
              <a:t>through </a:t>
            </a:r>
            <a:r>
              <a:rPr lang="en-US" altLang="en-US" i="1" dirty="0"/>
              <a:t>P</a:t>
            </a:r>
            <a:r>
              <a:rPr lang="en-US" altLang="en-US" baseline="-25000" dirty="0"/>
              <a:t>4</a:t>
            </a:r>
            <a:r>
              <a:rPr lang="en-US" altLang="en-US" dirty="0"/>
              <a:t>; </a:t>
            </a:r>
          </a:p>
          <a:p>
            <a:pPr>
              <a:buFont typeface="Monotype Sorts" pitchFamily="-84" charset="2"/>
              <a:buNone/>
              <a:tabLst>
                <a:tab pos="1371600" algn="l"/>
                <a:tab pos="2395538" algn="ctr"/>
                <a:tab pos="3594100" algn="ctr"/>
                <a:tab pos="4805363" algn="ctr"/>
              </a:tabLst>
            </a:pPr>
            <a:r>
              <a:rPr lang="en-US" altLang="en-US" dirty="0"/>
              <a:t>      3 resource types:</a:t>
            </a:r>
          </a:p>
          <a:p>
            <a:pPr>
              <a:buFont typeface="Monotype Sorts" pitchFamily="-84" charset="2"/>
              <a:buNone/>
              <a:tabLst>
                <a:tab pos="1371600" algn="l"/>
                <a:tab pos="2395538" algn="ctr"/>
                <a:tab pos="3594100" algn="ctr"/>
                <a:tab pos="4805363" algn="ctr"/>
              </a:tabLst>
            </a:pPr>
            <a:r>
              <a:rPr lang="en-US" altLang="en-US" dirty="0"/>
              <a:t>              </a:t>
            </a:r>
            <a:r>
              <a:rPr lang="en-US" altLang="en-US" i="1" dirty="0"/>
              <a:t>A</a:t>
            </a:r>
            <a:r>
              <a:rPr lang="en-US" altLang="en-US" dirty="0"/>
              <a:t> (10 instances),  </a:t>
            </a:r>
            <a:r>
              <a:rPr lang="en-US" altLang="en-US" i="1" dirty="0"/>
              <a:t>B</a:t>
            </a:r>
            <a:r>
              <a:rPr lang="en-US" altLang="en-US" dirty="0"/>
              <a:t> (5instances), and </a:t>
            </a:r>
            <a:r>
              <a:rPr lang="en-US" altLang="en-US" i="1" dirty="0"/>
              <a:t>C</a:t>
            </a:r>
            <a:r>
              <a:rPr lang="en-US" altLang="en-US" dirty="0"/>
              <a:t> (7 instances)</a:t>
            </a:r>
          </a:p>
          <a:p>
            <a:pPr>
              <a:tabLst>
                <a:tab pos="1371600" algn="l"/>
                <a:tab pos="2395538" algn="ctr"/>
                <a:tab pos="3594100" algn="ctr"/>
                <a:tab pos="4805363" algn="ctr"/>
              </a:tabLst>
            </a:pPr>
            <a:r>
              <a:rPr lang="en-US" altLang="en-US" dirty="0"/>
              <a:t>Snapshot at time </a:t>
            </a:r>
            <a:r>
              <a:rPr lang="en-US" altLang="en-US" i="1" dirty="0"/>
              <a:t>T</a:t>
            </a:r>
            <a:r>
              <a:rPr lang="en-US" altLang="en-US" baseline="-25000" dirty="0"/>
              <a:t>0</a:t>
            </a:r>
            <a:r>
              <a:rPr lang="en-US" altLang="en-US" dirty="0"/>
              <a:t>:</a:t>
            </a:r>
          </a:p>
          <a:p>
            <a:pPr>
              <a:buFont typeface="Monotype Sorts" pitchFamily="-84" charset="2"/>
              <a:buNone/>
              <a:tabLst>
                <a:tab pos="1371600" algn="l"/>
                <a:tab pos="2395538" algn="ctr"/>
                <a:tab pos="3594100" algn="ctr"/>
                <a:tab pos="4805363" algn="ctr"/>
              </a:tabLst>
            </a:pPr>
            <a:r>
              <a:rPr lang="en-US" altLang="en-US" dirty="0"/>
              <a:t>			</a:t>
            </a:r>
            <a:r>
              <a:rPr lang="en-US" altLang="en-US" i="1" u="sng" dirty="0"/>
              <a:t>Allocation</a:t>
            </a:r>
            <a:r>
              <a:rPr lang="en-US" altLang="en-US" i="1" dirty="0"/>
              <a:t>	  </a:t>
            </a:r>
            <a:r>
              <a:rPr lang="en-US" altLang="en-US" i="1" u="sng" dirty="0"/>
              <a:t>Max</a:t>
            </a:r>
            <a:r>
              <a:rPr lang="en-US" altLang="en-US" i="1" dirty="0"/>
              <a:t>	</a:t>
            </a:r>
            <a:r>
              <a:rPr lang="en-US" altLang="en-US" i="1" u="sng" dirty="0"/>
              <a:t>Available</a:t>
            </a:r>
            <a:endParaRPr lang="en-US" altLang="en-US" i="1" dirty="0"/>
          </a:p>
          <a:p>
            <a:pPr>
              <a:buFont typeface="Monotype Sorts" pitchFamily="-84" charset="2"/>
              <a:buNone/>
              <a:tabLst>
                <a:tab pos="1371600" algn="l"/>
                <a:tab pos="2395538" algn="ctr"/>
                <a:tab pos="3594100" algn="ctr"/>
                <a:tab pos="4805363" algn="ctr"/>
              </a:tabLst>
            </a:pPr>
            <a:r>
              <a:rPr lang="en-US" altLang="en-US" i="1" dirty="0"/>
              <a:t>			A B C	       A B C 	A B C</a:t>
            </a:r>
          </a:p>
          <a:p>
            <a:pPr>
              <a:buFont typeface="Monotype Sorts" pitchFamily="-84" charset="2"/>
              <a:buNone/>
              <a:tabLst>
                <a:tab pos="1371600" algn="l"/>
                <a:tab pos="2395538" algn="ctr"/>
                <a:tab pos="3594100" algn="ctr"/>
                <a:tab pos="4805363" algn="ctr"/>
              </a:tabLst>
            </a:pPr>
            <a:r>
              <a:rPr lang="en-US" altLang="en-US" dirty="0"/>
              <a:t>		</a:t>
            </a:r>
            <a:r>
              <a:rPr lang="en-US" altLang="en-US" i="1" dirty="0"/>
              <a:t>P</a:t>
            </a:r>
            <a:r>
              <a:rPr lang="en-US" altLang="en-US" baseline="-25000" dirty="0"/>
              <a:t>0	</a:t>
            </a:r>
            <a:r>
              <a:rPr lang="en-US" altLang="en-US" dirty="0"/>
              <a:t>0 1 0	         7 5 3 	3 3 2</a:t>
            </a:r>
          </a:p>
          <a:p>
            <a:pPr>
              <a:buFont typeface="Monotype Sorts" pitchFamily="-84" charset="2"/>
              <a:buNone/>
              <a:tabLst>
                <a:tab pos="1371600" algn="l"/>
                <a:tab pos="2395538" algn="ctr"/>
                <a:tab pos="3594100" algn="ctr"/>
                <a:tab pos="4805363" algn="ctr"/>
              </a:tabLst>
            </a:pPr>
            <a:r>
              <a:rPr lang="en-US" altLang="en-US" dirty="0"/>
              <a:t>		 </a:t>
            </a:r>
            <a:r>
              <a:rPr lang="en-US" altLang="en-US" i="1" dirty="0"/>
              <a:t>P</a:t>
            </a:r>
            <a:r>
              <a:rPr lang="en-US" altLang="en-US" baseline="-25000" dirty="0"/>
              <a:t>1	</a:t>
            </a:r>
            <a:r>
              <a:rPr lang="en-US" altLang="en-US" dirty="0"/>
              <a:t>2 0 0 	        3 2 2  </a:t>
            </a:r>
          </a:p>
          <a:p>
            <a:pPr>
              <a:buFont typeface="Monotype Sorts" pitchFamily="-84" charset="2"/>
              <a:buNone/>
              <a:tabLst>
                <a:tab pos="1371600" algn="l"/>
                <a:tab pos="2395538" algn="ctr"/>
                <a:tab pos="3594100" algn="ctr"/>
                <a:tab pos="4805363" algn="ctr"/>
              </a:tabLst>
            </a:pPr>
            <a:r>
              <a:rPr lang="en-US" altLang="en-US" dirty="0"/>
              <a:t>		 </a:t>
            </a:r>
            <a:r>
              <a:rPr lang="en-US" altLang="en-US" i="1" dirty="0"/>
              <a:t>P</a:t>
            </a:r>
            <a:r>
              <a:rPr lang="en-US" altLang="en-US" baseline="-25000" dirty="0"/>
              <a:t>2</a:t>
            </a:r>
            <a:r>
              <a:rPr lang="en-US" altLang="en-US" dirty="0"/>
              <a:t>	3 0 2 	        9 0 2</a:t>
            </a:r>
          </a:p>
          <a:p>
            <a:pPr>
              <a:buFont typeface="Monotype Sorts" pitchFamily="-84" charset="2"/>
              <a:buNone/>
              <a:tabLst>
                <a:tab pos="1371600" algn="l"/>
                <a:tab pos="2395538" algn="ctr"/>
                <a:tab pos="3594100" algn="ctr"/>
                <a:tab pos="4805363" algn="ctr"/>
              </a:tabLst>
            </a:pPr>
            <a:r>
              <a:rPr lang="en-US" altLang="en-US" dirty="0"/>
              <a:t>		 </a:t>
            </a:r>
            <a:r>
              <a:rPr lang="en-US" altLang="en-US" i="1" dirty="0"/>
              <a:t>P</a:t>
            </a:r>
            <a:r>
              <a:rPr lang="en-US" altLang="en-US" baseline="-25000" dirty="0"/>
              <a:t>3</a:t>
            </a:r>
            <a:r>
              <a:rPr lang="en-US" altLang="en-US" dirty="0"/>
              <a:t>	2 1 1 	        2 2 2</a:t>
            </a:r>
          </a:p>
          <a:p>
            <a:pPr>
              <a:buFont typeface="Monotype Sorts" pitchFamily="-84" charset="2"/>
              <a:buNone/>
              <a:tabLst>
                <a:tab pos="1371600" algn="l"/>
                <a:tab pos="2395538" algn="ctr"/>
                <a:tab pos="3594100" algn="ctr"/>
                <a:tab pos="4805363" algn="ctr"/>
              </a:tabLst>
            </a:pPr>
            <a:r>
              <a:rPr lang="en-US" altLang="en-US" dirty="0"/>
              <a:t>		 </a:t>
            </a:r>
            <a:r>
              <a:rPr lang="en-US" altLang="en-US" i="1" dirty="0"/>
              <a:t>P</a:t>
            </a:r>
            <a:r>
              <a:rPr lang="en-US" altLang="en-US" baseline="-25000" dirty="0"/>
              <a:t>4</a:t>
            </a:r>
            <a:r>
              <a:rPr lang="en-US" altLang="en-US" dirty="0"/>
              <a:t>	0 0 2	         4 3 3  		</a:t>
            </a:r>
          </a:p>
        </p:txBody>
      </p:sp>
    </p:spTree>
    <p:extLst>
      <p:ext uri="{BB962C8B-B14F-4D97-AF65-F5344CB8AC3E}">
        <p14:creationId xmlns:p14="http://schemas.microsoft.com/office/powerpoint/2010/main" val="33849929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ltLang="en-US"/>
              <a:t>Example (Cont.)</a:t>
            </a:r>
          </a:p>
        </p:txBody>
      </p:sp>
      <p:sp>
        <p:nvSpPr>
          <p:cNvPr id="34819" name="Rectangle 3"/>
          <p:cNvSpPr>
            <a:spLocks noGrp="1" noChangeArrowheads="1"/>
          </p:cNvSpPr>
          <p:nvPr>
            <p:ph type="body" idx="1"/>
          </p:nvPr>
        </p:nvSpPr>
        <p:spPr>
          <a:xfrm>
            <a:off x="931863" y="1136650"/>
            <a:ext cx="7724775" cy="4640263"/>
          </a:xfrm>
        </p:spPr>
        <p:txBody>
          <a:bodyPr>
            <a:normAutofit fontScale="70000" lnSpcReduction="20000"/>
          </a:bodyPr>
          <a:lstStyle/>
          <a:p>
            <a:pPr>
              <a:tabLst>
                <a:tab pos="2452688" algn="l"/>
                <a:tab pos="3492500" algn="ctr"/>
              </a:tabLst>
            </a:pPr>
            <a:r>
              <a:rPr lang="en-US" altLang="en-US"/>
              <a:t>The content of the matrix </a:t>
            </a:r>
            <a:r>
              <a:rPr lang="en-US" altLang="en-US" b="1" i="1"/>
              <a:t>Need</a:t>
            </a:r>
            <a:r>
              <a:rPr lang="en-US" altLang="en-US"/>
              <a:t> is defined to be </a:t>
            </a:r>
            <a:r>
              <a:rPr lang="en-US" altLang="en-US" b="1" i="1"/>
              <a:t>Max</a:t>
            </a:r>
            <a:r>
              <a:rPr lang="en-US" altLang="en-US" b="1"/>
              <a:t> – </a:t>
            </a:r>
            <a:r>
              <a:rPr lang="en-US" altLang="en-US" b="1" i="1"/>
              <a:t>Allocation</a:t>
            </a:r>
            <a:endParaRPr lang="en-US" altLang="en-US" b="1"/>
          </a:p>
          <a:p>
            <a:pPr>
              <a:buFont typeface="Monotype Sorts" pitchFamily="-84" charset="2"/>
              <a:buNone/>
              <a:tabLst>
                <a:tab pos="2452688" algn="l"/>
                <a:tab pos="3492500" algn="ctr"/>
              </a:tabLst>
            </a:pPr>
            <a:endParaRPr lang="en-US" altLang="en-US"/>
          </a:p>
          <a:p>
            <a:pPr>
              <a:buFont typeface="Monotype Sorts" pitchFamily="-84" charset="2"/>
              <a:buNone/>
              <a:tabLst>
                <a:tab pos="2452688" algn="l"/>
                <a:tab pos="3492500" algn="ctr"/>
              </a:tabLst>
            </a:pPr>
            <a:r>
              <a:rPr lang="en-US" altLang="en-US"/>
              <a:t>			</a:t>
            </a:r>
            <a:r>
              <a:rPr lang="en-US" altLang="en-US" i="1" u="sng"/>
              <a:t>Need</a:t>
            </a:r>
            <a:endParaRPr lang="en-US" altLang="en-US" u="sng"/>
          </a:p>
          <a:p>
            <a:pPr>
              <a:buFont typeface="Monotype Sorts" pitchFamily="-84" charset="2"/>
              <a:buNone/>
              <a:tabLst>
                <a:tab pos="2452688" algn="l"/>
                <a:tab pos="3492500" algn="ctr"/>
              </a:tabLst>
            </a:pPr>
            <a:r>
              <a:rPr lang="en-US" altLang="en-US"/>
              <a:t>			</a:t>
            </a:r>
            <a:r>
              <a:rPr lang="en-US" altLang="en-US" i="1"/>
              <a:t>A B C</a:t>
            </a:r>
          </a:p>
          <a:p>
            <a:pPr>
              <a:buFont typeface="Monotype Sorts" pitchFamily="-84" charset="2"/>
              <a:buNone/>
              <a:tabLst>
                <a:tab pos="2452688" algn="l"/>
                <a:tab pos="3492500" algn="ctr"/>
              </a:tabLst>
            </a:pPr>
            <a:r>
              <a:rPr lang="en-US" altLang="en-US"/>
              <a:t>		 </a:t>
            </a:r>
            <a:r>
              <a:rPr lang="en-US" altLang="en-US" i="1"/>
              <a:t>P</a:t>
            </a:r>
            <a:r>
              <a:rPr lang="en-US" altLang="en-US" baseline="-25000"/>
              <a:t>0	</a:t>
            </a:r>
            <a:r>
              <a:rPr lang="en-US" altLang="en-US"/>
              <a:t>7 4 3 </a:t>
            </a:r>
          </a:p>
          <a:p>
            <a:pPr>
              <a:buFont typeface="Monotype Sorts" pitchFamily="-84" charset="2"/>
              <a:buNone/>
              <a:tabLst>
                <a:tab pos="2452688" algn="l"/>
                <a:tab pos="3492500" algn="ctr"/>
              </a:tabLst>
            </a:pPr>
            <a:r>
              <a:rPr lang="en-US" altLang="en-US"/>
              <a:t>		 </a:t>
            </a:r>
            <a:r>
              <a:rPr lang="en-US" altLang="en-US" i="1"/>
              <a:t>P</a:t>
            </a:r>
            <a:r>
              <a:rPr lang="en-US" altLang="en-US" baseline="-25000"/>
              <a:t>1	</a:t>
            </a:r>
            <a:r>
              <a:rPr lang="en-US" altLang="en-US"/>
              <a:t>1 2 2 </a:t>
            </a:r>
          </a:p>
          <a:p>
            <a:pPr>
              <a:buFont typeface="Monotype Sorts" pitchFamily="-84" charset="2"/>
              <a:buNone/>
              <a:tabLst>
                <a:tab pos="2452688" algn="l"/>
                <a:tab pos="3492500" algn="ctr"/>
              </a:tabLst>
            </a:pPr>
            <a:r>
              <a:rPr lang="en-US" altLang="en-US"/>
              <a:t>		 </a:t>
            </a:r>
            <a:r>
              <a:rPr lang="en-US" altLang="en-US" i="1"/>
              <a:t>P</a:t>
            </a:r>
            <a:r>
              <a:rPr lang="en-US" altLang="en-US" baseline="-25000"/>
              <a:t>2</a:t>
            </a:r>
            <a:r>
              <a:rPr lang="en-US" altLang="en-US"/>
              <a:t>	6 0 0 </a:t>
            </a:r>
          </a:p>
          <a:p>
            <a:pPr>
              <a:buFont typeface="Monotype Sorts" pitchFamily="-84" charset="2"/>
              <a:buNone/>
              <a:tabLst>
                <a:tab pos="2452688" algn="l"/>
                <a:tab pos="3492500" algn="ctr"/>
              </a:tabLst>
            </a:pPr>
            <a:r>
              <a:rPr lang="en-US" altLang="en-US"/>
              <a:t>		 </a:t>
            </a:r>
            <a:r>
              <a:rPr lang="en-US" altLang="en-US" i="1"/>
              <a:t>P</a:t>
            </a:r>
            <a:r>
              <a:rPr lang="en-US" altLang="en-US" baseline="-25000"/>
              <a:t>3</a:t>
            </a:r>
            <a:r>
              <a:rPr lang="en-US" altLang="en-US"/>
              <a:t>	0 1 1</a:t>
            </a:r>
          </a:p>
          <a:p>
            <a:pPr>
              <a:buFont typeface="Monotype Sorts" pitchFamily="-84" charset="2"/>
              <a:buNone/>
              <a:tabLst>
                <a:tab pos="2452688" algn="l"/>
                <a:tab pos="3492500" algn="ctr"/>
              </a:tabLst>
            </a:pPr>
            <a:r>
              <a:rPr lang="en-US" altLang="en-US"/>
              <a:t>		 </a:t>
            </a:r>
            <a:r>
              <a:rPr lang="en-US" altLang="en-US" i="1"/>
              <a:t>P</a:t>
            </a:r>
            <a:r>
              <a:rPr lang="en-US" altLang="en-US" baseline="-25000"/>
              <a:t>4</a:t>
            </a:r>
            <a:r>
              <a:rPr lang="en-US" altLang="en-US"/>
              <a:t>	4 3 1 </a:t>
            </a:r>
            <a:br>
              <a:rPr lang="en-US" altLang="en-US"/>
            </a:br>
            <a:endParaRPr lang="en-US" altLang="en-US"/>
          </a:p>
          <a:p>
            <a:pPr>
              <a:tabLst>
                <a:tab pos="2452688" algn="l"/>
                <a:tab pos="3492500" algn="ctr"/>
              </a:tabLst>
            </a:pPr>
            <a:r>
              <a:rPr lang="en-US" altLang="en-US"/>
              <a:t>The system is in a safe state since the sequence &lt; </a:t>
            </a:r>
            <a:r>
              <a:rPr lang="en-US" altLang="en-US" i="1"/>
              <a:t>P</a:t>
            </a:r>
            <a:r>
              <a:rPr lang="en-US" altLang="en-US" baseline="-25000"/>
              <a:t>1</a:t>
            </a:r>
            <a:r>
              <a:rPr lang="en-US" altLang="en-US"/>
              <a:t>, </a:t>
            </a:r>
            <a:r>
              <a:rPr lang="en-US" altLang="en-US" i="1"/>
              <a:t>P</a:t>
            </a:r>
            <a:r>
              <a:rPr lang="en-US" altLang="en-US" baseline="-25000"/>
              <a:t>3</a:t>
            </a:r>
            <a:r>
              <a:rPr lang="en-US" altLang="en-US"/>
              <a:t>, </a:t>
            </a:r>
            <a:r>
              <a:rPr lang="en-US" altLang="en-US" i="1"/>
              <a:t>P</a:t>
            </a:r>
            <a:r>
              <a:rPr lang="en-US" altLang="en-US" baseline="-25000"/>
              <a:t>4</a:t>
            </a:r>
            <a:r>
              <a:rPr lang="en-US" altLang="en-US"/>
              <a:t>, </a:t>
            </a:r>
            <a:r>
              <a:rPr lang="en-US" altLang="en-US" i="1"/>
              <a:t>P</a:t>
            </a:r>
            <a:r>
              <a:rPr lang="en-US" altLang="en-US" baseline="-25000"/>
              <a:t>2</a:t>
            </a:r>
            <a:r>
              <a:rPr lang="en-US" altLang="en-US"/>
              <a:t>, </a:t>
            </a:r>
            <a:r>
              <a:rPr lang="en-US" altLang="en-US" i="1"/>
              <a:t>P</a:t>
            </a:r>
            <a:r>
              <a:rPr lang="en-US" altLang="en-US" baseline="-25000"/>
              <a:t>0</a:t>
            </a:r>
            <a:r>
              <a:rPr lang="en-US" altLang="en-US"/>
              <a:t>&gt; satisfies safety criteria</a:t>
            </a:r>
            <a:endParaRPr lang="en-US" altLang="en-US" baseline="-25000"/>
          </a:p>
        </p:txBody>
      </p:sp>
    </p:spTree>
    <p:extLst>
      <p:ext uri="{BB962C8B-B14F-4D97-AF65-F5344CB8AC3E}">
        <p14:creationId xmlns:p14="http://schemas.microsoft.com/office/powerpoint/2010/main" val="40052860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ltLang="en-US"/>
              <a:t>Example (Cont.)</a:t>
            </a:r>
          </a:p>
        </p:txBody>
      </p:sp>
      <p:sp>
        <p:nvSpPr>
          <p:cNvPr id="34819" name="Rectangle 3"/>
          <p:cNvSpPr>
            <a:spLocks noGrp="1" noChangeArrowheads="1"/>
          </p:cNvSpPr>
          <p:nvPr>
            <p:ph type="body" idx="1"/>
          </p:nvPr>
        </p:nvSpPr>
        <p:spPr>
          <a:xfrm>
            <a:off x="931863" y="1136650"/>
            <a:ext cx="7724775" cy="4640263"/>
          </a:xfrm>
        </p:spPr>
        <p:txBody>
          <a:bodyPr>
            <a:normAutofit/>
          </a:bodyPr>
          <a:lstStyle/>
          <a:p>
            <a:pPr algn="just">
              <a:tabLst>
                <a:tab pos="2452688" algn="l"/>
                <a:tab pos="3492500" algn="ctr"/>
              </a:tabLst>
            </a:pPr>
            <a:r>
              <a:rPr lang="en-US" altLang="en-US" sz="4400" baseline="-25000" dirty="0"/>
              <a:t>Suppose now that process P1 requests one additional instance of resource type A and two instances of resource type C, so </a:t>
            </a:r>
            <a:r>
              <a:rPr lang="en-US" altLang="en-US" sz="4400" baseline="-25000" dirty="0">
                <a:solidFill>
                  <a:srgbClr val="FF0000"/>
                </a:solidFill>
              </a:rPr>
              <a:t>Request1 = &lt;1,0,2&gt;</a:t>
            </a:r>
          </a:p>
          <a:p>
            <a:pPr lvl="1" algn="just">
              <a:tabLst>
                <a:tab pos="2452688" algn="l"/>
                <a:tab pos="3492500" algn="ctr"/>
              </a:tabLst>
            </a:pPr>
            <a:r>
              <a:rPr lang="en-US" altLang="en-US" dirty="0">
                <a:solidFill>
                  <a:srgbClr val="FF0000"/>
                </a:solidFill>
              </a:rPr>
              <a:t>Can this request by </a:t>
            </a:r>
            <a:r>
              <a:rPr lang="en-US" altLang="en-US" b="1" i="1" dirty="0"/>
              <a:t>P</a:t>
            </a:r>
            <a:r>
              <a:rPr lang="en-US" altLang="en-US" b="1" baseline="-25000" dirty="0"/>
              <a:t>1 </a:t>
            </a:r>
            <a:r>
              <a:rPr lang="en-US" altLang="en-US" dirty="0">
                <a:solidFill>
                  <a:srgbClr val="FF0000"/>
                </a:solidFill>
              </a:rPr>
              <a:t> be granted? </a:t>
            </a:r>
          </a:p>
        </p:txBody>
      </p:sp>
    </p:spTree>
    <p:extLst>
      <p:ext uri="{BB962C8B-B14F-4D97-AF65-F5344CB8AC3E}">
        <p14:creationId xmlns:p14="http://schemas.microsoft.com/office/powerpoint/2010/main" val="18101899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817563" y="214313"/>
            <a:ext cx="7869237" cy="576262"/>
          </a:xfrm>
        </p:spPr>
        <p:txBody>
          <a:bodyPr>
            <a:normAutofit fontScale="90000"/>
          </a:bodyPr>
          <a:lstStyle/>
          <a:p>
            <a:pPr eaLnBrk="1" hangingPunct="1"/>
            <a:r>
              <a:rPr lang="en-US" altLang="en-US" dirty="0"/>
              <a:t>Example (cont’d):  </a:t>
            </a:r>
            <a:r>
              <a:rPr lang="en-US" altLang="en-US" i="1" dirty="0"/>
              <a:t>P</a:t>
            </a:r>
            <a:r>
              <a:rPr lang="en-US" altLang="en-US" baseline="-25000" dirty="0"/>
              <a:t>1</a:t>
            </a:r>
            <a:r>
              <a:rPr lang="en-US" altLang="en-US" dirty="0"/>
              <a:t> Request (1,0,2)</a:t>
            </a:r>
          </a:p>
        </p:txBody>
      </p:sp>
      <p:sp>
        <p:nvSpPr>
          <p:cNvPr id="35843" name="Rectangle 3"/>
          <p:cNvSpPr>
            <a:spLocks noGrp="1" noChangeArrowheads="1"/>
          </p:cNvSpPr>
          <p:nvPr>
            <p:ph type="body" idx="1"/>
          </p:nvPr>
        </p:nvSpPr>
        <p:spPr>
          <a:xfrm>
            <a:off x="896938" y="1103313"/>
            <a:ext cx="7766050" cy="5103812"/>
          </a:xfrm>
        </p:spPr>
        <p:txBody>
          <a:bodyPr>
            <a:normAutofit fontScale="85000" lnSpcReduction="20000"/>
          </a:bodyPr>
          <a:lstStyle/>
          <a:p>
            <a:pPr>
              <a:tabLst>
                <a:tab pos="1544638" algn="l"/>
                <a:tab pos="2452688" algn="ctr"/>
                <a:tab pos="3767138" algn="ctr"/>
                <a:tab pos="5022850" algn="ctr"/>
              </a:tabLst>
            </a:pPr>
            <a:r>
              <a:rPr lang="en-US" altLang="en-US" dirty="0"/>
              <a:t>Check if Request </a:t>
            </a:r>
            <a:r>
              <a:rPr lang="en-US" altLang="en-US" dirty="0">
                <a:sym typeface="Symbol" pitchFamily="18" charset="2"/>
              </a:rPr>
              <a:t> Available (that is, &lt;1,0,2&gt;  &lt;3,3,2&gt;  true</a:t>
            </a:r>
            <a:endParaRPr lang="en-US" altLang="en-US" i="1" dirty="0">
              <a:sym typeface="Symbol" pitchFamily="18" charset="2"/>
            </a:endParaRPr>
          </a:p>
          <a:p>
            <a:pPr>
              <a:buFont typeface="Monotype Sorts" pitchFamily="-84" charset="2"/>
              <a:buNone/>
              <a:tabLst>
                <a:tab pos="1544638" algn="l"/>
                <a:tab pos="2452688" algn="ctr"/>
                <a:tab pos="3767138" algn="ctr"/>
                <a:tab pos="5022850" algn="ctr"/>
              </a:tabLst>
            </a:pPr>
            <a:r>
              <a:rPr lang="en-US" altLang="en-US" i="1" dirty="0"/>
              <a:t>			</a:t>
            </a:r>
            <a:r>
              <a:rPr lang="en-US" altLang="en-US" i="1" u="sng" dirty="0"/>
              <a:t>Allocation</a:t>
            </a:r>
            <a:r>
              <a:rPr lang="en-US" altLang="en-US" i="1" dirty="0"/>
              <a:t>	</a:t>
            </a:r>
            <a:r>
              <a:rPr lang="en-US" altLang="en-US" i="1" u="sng" dirty="0"/>
              <a:t>Need</a:t>
            </a:r>
            <a:r>
              <a:rPr lang="en-US" altLang="en-US" i="1" dirty="0"/>
              <a:t>	   </a:t>
            </a:r>
            <a:r>
              <a:rPr lang="en-US" altLang="en-US" i="1" u="sng" dirty="0"/>
              <a:t>Available</a:t>
            </a:r>
            <a:endParaRPr lang="en-US" altLang="en-US" i="1" dirty="0"/>
          </a:p>
          <a:p>
            <a:pPr>
              <a:buFont typeface="Monotype Sorts" pitchFamily="-84" charset="2"/>
              <a:buNone/>
              <a:tabLst>
                <a:tab pos="1544638" algn="l"/>
                <a:tab pos="2452688" algn="ctr"/>
                <a:tab pos="3767138" algn="ctr"/>
                <a:tab pos="5022850" algn="ctr"/>
              </a:tabLst>
            </a:pPr>
            <a:r>
              <a:rPr lang="en-US" altLang="en-US" i="1" dirty="0"/>
              <a:t>			A B C	A B C	 A B C </a:t>
            </a:r>
          </a:p>
          <a:p>
            <a:pPr>
              <a:buFont typeface="Monotype Sorts" pitchFamily="-84" charset="2"/>
              <a:buNone/>
              <a:tabLst>
                <a:tab pos="1544638" algn="l"/>
                <a:tab pos="2452688" algn="ctr"/>
                <a:tab pos="3767138" algn="ctr"/>
                <a:tab pos="5022850" algn="ctr"/>
              </a:tabLst>
            </a:pPr>
            <a:r>
              <a:rPr lang="en-US" altLang="en-US" dirty="0"/>
              <a:t>		</a:t>
            </a:r>
            <a:r>
              <a:rPr lang="en-US" altLang="en-US" i="1" dirty="0"/>
              <a:t>P</a:t>
            </a:r>
            <a:r>
              <a:rPr lang="en-US" altLang="en-US" baseline="-25000" dirty="0"/>
              <a:t>0</a:t>
            </a:r>
            <a:r>
              <a:rPr lang="en-US" altLang="en-US" dirty="0"/>
              <a:t>	0 1 0 	7 4 3 	2 3 0</a:t>
            </a:r>
          </a:p>
          <a:p>
            <a:pPr>
              <a:buFont typeface="Monotype Sorts" pitchFamily="-84" charset="2"/>
              <a:buNone/>
              <a:tabLst>
                <a:tab pos="1544638" algn="l"/>
                <a:tab pos="2452688" algn="ctr"/>
                <a:tab pos="3767138" algn="ctr"/>
                <a:tab pos="5022850" algn="ctr"/>
              </a:tabLst>
            </a:pPr>
            <a:r>
              <a:rPr lang="en-US" altLang="en-US" dirty="0"/>
              <a:t>		</a:t>
            </a:r>
            <a:r>
              <a:rPr lang="en-US" altLang="en-US" i="1" dirty="0"/>
              <a:t>P</a:t>
            </a:r>
            <a:r>
              <a:rPr lang="en-US" altLang="en-US" baseline="-25000" dirty="0"/>
              <a:t>1</a:t>
            </a:r>
            <a:r>
              <a:rPr lang="en-US" altLang="en-US" dirty="0"/>
              <a:t>	    3 0 2        0 2 0 	</a:t>
            </a:r>
          </a:p>
          <a:p>
            <a:pPr>
              <a:buFont typeface="Monotype Sorts" pitchFamily="-84" charset="2"/>
              <a:buNone/>
              <a:tabLst>
                <a:tab pos="1544638" algn="l"/>
                <a:tab pos="2452688" algn="ctr"/>
                <a:tab pos="3767138" algn="ctr"/>
                <a:tab pos="5022850" algn="ctr"/>
              </a:tabLst>
            </a:pPr>
            <a:r>
              <a:rPr lang="en-US" altLang="en-US" dirty="0"/>
              <a:t>		</a:t>
            </a:r>
            <a:r>
              <a:rPr lang="en-US" altLang="en-US" i="1" dirty="0"/>
              <a:t>P</a:t>
            </a:r>
            <a:r>
              <a:rPr lang="en-US" altLang="en-US" baseline="-25000" dirty="0"/>
              <a:t>2</a:t>
            </a:r>
            <a:r>
              <a:rPr lang="en-US" altLang="en-US" dirty="0"/>
              <a:t>	3 0 2 	 6 0 0 </a:t>
            </a:r>
          </a:p>
          <a:p>
            <a:pPr>
              <a:buFont typeface="Monotype Sorts" pitchFamily="-84" charset="2"/>
              <a:buNone/>
              <a:tabLst>
                <a:tab pos="1544638" algn="l"/>
                <a:tab pos="2452688" algn="ctr"/>
                <a:tab pos="3767138" algn="ctr"/>
                <a:tab pos="5022850" algn="ctr"/>
              </a:tabLst>
            </a:pPr>
            <a:r>
              <a:rPr lang="en-US" altLang="en-US" dirty="0"/>
              <a:t>		</a:t>
            </a:r>
            <a:r>
              <a:rPr lang="en-US" altLang="en-US" i="1" dirty="0"/>
              <a:t>P</a:t>
            </a:r>
            <a:r>
              <a:rPr lang="en-US" altLang="en-US" baseline="-25000" dirty="0"/>
              <a:t>3</a:t>
            </a:r>
            <a:r>
              <a:rPr lang="en-US" altLang="en-US" dirty="0"/>
              <a:t>	2 1 1 	0 1 1</a:t>
            </a:r>
          </a:p>
          <a:p>
            <a:pPr>
              <a:buFont typeface="Monotype Sorts" pitchFamily="-84" charset="2"/>
              <a:buNone/>
              <a:tabLst>
                <a:tab pos="1544638" algn="l"/>
                <a:tab pos="2452688" algn="ctr"/>
                <a:tab pos="3767138" algn="ctr"/>
                <a:tab pos="5022850" algn="ctr"/>
              </a:tabLst>
            </a:pPr>
            <a:r>
              <a:rPr lang="en-US" altLang="en-US" dirty="0"/>
              <a:t>		</a:t>
            </a:r>
            <a:r>
              <a:rPr lang="en-US" altLang="en-US" i="1" dirty="0"/>
              <a:t>P</a:t>
            </a:r>
            <a:r>
              <a:rPr lang="en-US" altLang="en-US" baseline="-25000" dirty="0"/>
              <a:t>4</a:t>
            </a:r>
            <a:r>
              <a:rPr lang="en-US" altLang="en-US" dirty="0"/>
              <a:t>	0 0 2 	 4 3 1 </a:t>
            </a:r>
          </a:p>
          <a:p>
            <a:pPr>
              <a:buFont typeface="Monotype Sorts" pitchFamily="-84" charset="2"/>
              <a:buNone/>
              <a:tabLst>
                <a:tab pos="1544638" algn="l"/>
                <a:tab pos="2452688" algn="ctr"/>
                <a:tab pos="3767138" algn="ctr"/>
                <a:tab pos="5022850" algn="ctr"/>
              </a:tabLst>
            </a:pPr>
            <a:endParaRPr lang="en-US" altLang="en-US" sz="800" dirty="0"/>
          </a:p>
          <a:p>
            <a:pPr>
              <a:tabLst>
                <a:tab pos="1544638" algn="l"/>
                <a:tab pos="2452688" algn="ctr"/>
                <a:tab pos="3767138" algn="ctr"/>
                <a:tab pos="5022850" algn="ctr"/>
              </a:tabLst>
            </a:pPr>
            <a:r>
              <a:rPr lang="en-US" altLang="en-US" dirty="0"/>
              <a:t>Executing safety algorithm shows that </a:t>
            </a:r>
            <a:r>
              <a:rPr lang="en-US" altLang="en-US" dirty="0">
                <a:solidFill>
                  <a:srgbClr val="FF0000"/>
                </a:solidFill>
              </a:rPr>
              <a:t>sequence &lt; </a:t>
            </a:r>
            <a:r>
              <a:rPr lang="en-US" altLang="en-US" b="1" i="1" dirty="0">
                <a:solidFill>
                  <a:srgbClr val="FF0000"/>
                </a:solidFill>
              </a:rPr>
              <a:t>P</a:t>
            </a:r>
            <a:r>
              <a:rPr lang="en-US" altLang="en-US" b="1" baseline="-25000" dirty="0">
                <a:solidFill>
                  <a:srgbClr val="FF0000"/>
                </a:solidFill>
              </a:rPr>
              <a:t>1</a:t>
            </a:r>
            <a:r>
              <a:rPr lang="en-US" altLang="en-US" b="1" dirty="0">
                <a:solidFill>
                  <a:srgbClr val="FF0000"/>
                </a:solidFill>
              </a:rPr>
              <a:t>, </a:t>
            </a:r>
            <a:r>
              <a:rPr lang="en-US" altLang="en-US" b="1" i="1" dirty="0">
                <a:solidFill>
                  <a:srgbClr val="FF0000"/>
                </a:solidFill>
              </a:rPr>
              <a:t>P</a:t>
            </a:r>
            <a:r>
              <a:rPr lang="en-US" altLang="en-US" b="1" baseline="-25000" dirty="0">
                <a:solidFill>
                  <a:srgbClr val="FF0000"/>
                </a:solidFill>
              </a:rPr>
              <a:t>3</a:t>
            </a:r>
            <a:r>
              <a:rPr lang="en-US" altLang="en-US" b="1" dirty="0">
                <a:solidFill>
                  <a:srgbClr val="FF0000"/>
                </a:solidFill>
              </a:rPr>
              <a:t>, </a:t>
            </a:r>
            <a:r>
              <a:rPr lang="en-US" altLang="en-US" b="1" i="1" dirty="0">
                <a:solidFill>
                  <a:srgbClr val="FF0000"/>
                </a:solidFill>
              </a:rPr>
              <a:t>P</a:t>
            </a:r>
            <a:r>
              <a:rPr lang="en-US" altLang="en-US" b="1" baseline="-25000" dirty="0">
                <a:solidFill>
                  <a:srgbClr val="FF0000"/>
                </a:solidFill>
              </a:rPr>
              <a:t>4</a:t>
            </a:r>
            <a:r>
              <a:rPr lang="en-US" altLang="en-US" b="1" dirty="0">
                <a:solidFill>
                  <a:srgbClr val="FF0000"/>
                </a:solidFill>
              </a:rPr>
              <a:t>, </a:t>
            </a:r>
            <a:r>
              <a:rPr lang="en-US" altLang="en-US" b="1" i="1" dirty="0">
                <a:solidFill>
                  <a:srgbClr val="FF0000"/>
                </a:solidFill>
              </a:rPr>
              <a:t>P</a:t>
            </a:r>
            <a:r>
              <a:rPr lang="en-US" altLang="en-US" b="1" baseline="-25000" dirty="0">
                <a:solidFill>
                  <a:srgbClr val="FF0000"/>
                </a:solidFill>
              </a:rPr>
              <a:t>0</a:t>
            </a:r>
            <a:r>
              <a:rPr lang="en-US" altLang="en-US" b="1" dirty="0">
                <a:solidFill>
                  <a:srgbClr val="FF0000"/>
                </a:solidFill>
              </a:rPr>
              <a:t>, </a:t>
            </a:r>
            <a:r>
              <a:rPr lang="en-US" altLang="en-US" b="1" i="1" dirty="0">
                <a:solidFill>
                  <a:srgbClr val="FF0000"/>
                </a:solidFill>
              </a:rPr>
              <a:t>P</a:t>
            </a:r>
            <a:r>
              <a:rPr lang="en-US" altLang="en-US" b="1" baseline="-25000" dirty="0">
                <a:solidFill>
                  <a:srgbClr val="FF0000"/>
                </a:solidFill>
              </a:rPr>
              <a:t>2</a:t>
            </a:r>
            <a:r>
              <a:rPr lang="en-US" altLang="en-US" dirty="0">
                <a:solidFill>
                  <a:srgbClr val="FF0000"/>
                </a:solidFill>
              </a:rPr>
              <a:t>&gt; satisfies the safety requirement.</a:t>
            </a:r>
          </a:p>
          <a:p>
            <a:pPr lvl="1">
              <a:tabLst>
                <a:tab pos="1544638" algn="l"/>
                <a:tab pos="2452688" algn="ctr"/>
                <a:tab pos="3767138" algn="ctr"/>
                <a:tab pos="5022850" algn="ctr"/>
              </a:tabLst>
            </a:pPr>
            <a:r>
              <a:rPr lang="en-US" altLang="en-US" b="1" dirty="0">
                <a:solidFill>
                  <a:srgbClr val="00B050"/>
                </a:solidFill>
              </a:rPr>
              <a:t>Hence , the request by </a:t>
            </a:r>
            <a:r>
              <a:rPr lang="en-US" altLang="en-US" b="1" i="1" dirty="0">
                <a:solidFill>
                  <a:srgbClr val="00B050"/>
                </a:solidFill>
              </a:rPr>
              <a:t>P</a:t>
            </a:r>
            <a:r>
              <a:rPr lang="en-US" altLang="en-US" b="1" baseline="-25000" dirty="0">
                <a:solidFill>
                  <a:srgbClr val="00B050"/>
                </a:solidFill>
              </a:rPr>
              <a:t>1</a:t>
            </a:r>
            <a:r>
              <a:rPr lang="en-US" altLang="en-US" b="1" dirty="0">
                <a:solidFill>
                  <a:srgbClr val="00B050"/>
                </a:solidFill>
              </a:rPr>
              <a:t> can be granted immediately</a:t>
            </a:r>
          </a:p>
          <a:p>
            <a:pPr>
              <a:tabLst>
                <a:tab pos="1544638" algn="l"/>
                <a:tab pos="2452688" algn="ctr"/>
                <a:tab pos="3767138" algn="ctr"/>
                <a:tab pos="5022850" algn="ctr"/>
              </a:tabLst>
            </a:pPr>
            <a:endParaRPr lang="en-US" altLang="en-US" sz="800" dirty="0"/>
          </a:p>
          <a:p>
            <a:pPr>
              <a:buFont typeface="Monotype Sorts" pitchFamily="-84" charset="2"/>
              <a:buNone/>
              <a:tabLst>
                <a:tab pos="1544638" algn="l"/>
                <a:tab pos="2452688" algn="ctr"/>
                <a:tab pos="3767138" algn="ctr"/>
                <a:tab pos="5022850" algn="ctr"/>
              </a:tabLst>
            </a:pPr>
            <a:endParaRPr lang="en-US" altLang="en-US" dirty="0"/>
          </a:p>
        </p:txBody>
      </p:sp>
    </p:spTree>
    <p:extLst>
      <p:ext uri="{BB962C8B-B14F-4D97-AF65-F5344CB8AC3E}">
        <p14:creationId xmlns:p14="http://schemas.microsoft.com/office/powerpoint/2010/main" val="26205253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817563" y="214313"/>
            <a:ext cx="7869237" cy="576262"/>
          </a:xfrm>
        </p:spPr>
        <p:txBody>
          <a:bodyPr>
            <a:normAutofit fontScale="90000"/>
          </a:bodyPr>
          <a:lstStyle/>
          <a:p>
            <a:pPr eaLnBrk="1" hangingPunct="1"/>
            <a:r>
              <a:rPr lang="en-US" altLang="en-US" dirty="0"/>
              <a:t>Example (cont’d)</a:t>
            </a:r>
          </a:p>
        </p:txBody>
      </p:sp>
      <p:sp>
        <p:nvSpPr>
          <p:cNvPr id="35843" name="Rectangle 3"/>
          <p:cNvSpPr>
            <a:spLocks noGrp="1" noChangeArrowheads="1"/>
          </p:cNvSpPr>
          <p:nvPr>
            <p:ph type="body" idx="1"/>
          </p:nvPr>
        </p:nvSpPr>
        <p:spPr>
          <a:xfrm>
            <a:off x="896938" y="1103313"/>
            <a:ext cx="7766050" cy="5103812"/>
          </a:xfrm>
        </p:spPr>
        <p:txBody>
          <a:bodyPr>
            <a:normAutofit/>
          </a:bodyPr>
          <a:lstStyle/>
          <a:p>
            <a:pPr>
              <a:tabLst>
                <a:tab pos="1544638" algn="l"/>
                <a:tab pos="2452688" algn="ctr"/>
                <a:tab pos="3767138" algn="ctr"/>
                <a:tab pos="5022850" algn="ctr"/>
              </a:tabLst>
            </a:pPr>
            <a:endParaRPr lang="en-US" altLang="en-US" sz="800" dirty="0"/>
          </a:p>
          <a:p>
            <a:pPr>
              <a:tabLst>
                <a:tab pos="1544638" algn="l"/>
                <a:tab pos="2452688" algn="ctr"/>
                <a:tab pos="3767138" algn="ctr"/>
                <a:tab pos="5022850" algn="ctr"/>
              </a:tabLst>
            </a:pPr>
            <a:r>
              <a:rPr lang="en-US" altLang="en-US" dirty="0"/>
              <a:t>Can request for &lt;3,3,0&gt; by </a:t>
            </a:r>
            <a:r>
              <a:rPr lang="en-US" altLang="en-US" b="1" i="1" dirty="0"/>
              <a:t>P</a:t>
            </a:r>
            <a:r>
              <a:rPr lang="en-US" altLang="en-US" b="1" baseline="-25000" dirty="0"/>
              <a:t>4</a:t>
            </a:r>
            <a:r>
              <a:rPr lang="en-US" altLang="en-US" dirty="0"/>
              <a:t> be granted?</a:t>
            </a:r>
          </a:p>
          <a:p>
            <a:pPr lvl="1">
              <a:tabLst>
                <a:tab pos="1544638" algn="l"/>
                <a:tab pos="2452688" algn="ctr"/>
                <a:tab pos="3767138" algn="ctr"/>
                <a:tab pos="5022850" algn="ctr"/>
              </a:tabLst>
            </a:pPr>
            <a:r>
              <a:rPr lang="en-US" altLang="en-US" dirty="0">
                <a:solidFill>
                  <a:srgbClr val="FF0000"/>
                </a:solidFill>
              </a:rPr>
              <a:t>No</a:t>
            </a:r>
            <a:r>
              <a:rPr lang="en-US" altLang="en-US" dirty="0"/>
              <a:t>, </a:t>
            </a:r>
            <a:r>
              <a:rPr lang="en-US" dirty="0"/>
              <a:t>since the resources are not available (current availability is (2,3,0)).</a:t>
            </a:r>
            <a:endParaRPr lang="en-US" altLang="en-US" dirty="0"/>
          </a:p>
          <a:p>
            <a:pPr>
              <a:tabLst>
                <a:tab pos="1544638" algn="l"/>
                <a:tab pos="2452688" algn="ctr"/>
                <a:tab pos="3767138" algn="ctr"/>
                <a:tab pos="5022850" algn="ctr"/>
              </a:tabLst>
            </a:pPr>
            <a:endParaRPr lang="en-US" altLang="en-US" sz="800" dirty="0"/>
          </a:p>
          <a:p>
            <a:pPr>
              <a:tabLst>
                <a:tab pos="1544638" algn="l"/>
                <a:tab pos="2452688" algn="ctr"/>
                <a:tab pos="3767138" algn="ctr"/>
                <a:tab pos="5022850" algn="ctr"/>
              </a:tabLst>
            </a:pPr>
            <a:r>
              <a:rPr lang="en-US" altLang="en-US" dirty="0"/>
              <a:t>Can request for (0,2,0) by </a:t>
            </a:r>
            <a:r>
              <a:rPr lang="en-US" altLang="en-US" b="1" i="1" dirty="0"/>
              <a:t>P</a:t>
            </a:r>
            <a:r>
              <a:rPr lang="en-US" altLang="en-US" b="1" baseline="-25000" dirty="0"/>
              <a:t>0</a:t>
            </a:r>
            <a:r>
              <a:rPr lang="en-US" altLang="en-US" dirty="0"/>
              <a:t> be granted?</a:t>
            </a:r>
          </a:p>
          <a:p>
            <a:pPr lvl="1"/>
            <a:r>
              <a:rPr lang="en-US" altLang="en-US" dirty="0">
                <a:solidFill>
                  <a:srgbClr val="FF0000"/>
                </a:solidFill>
              </a:rPr>
              <a:t>No</a:t>
            </a:r>
            <a:r>
              <a:rPr lang="en-US" altLang="en-US" dirty="0"/>
              <a:t> (</a:t>
            </a:r>
            <a:r>
              <a:rPr lang="en-IN" dirty="0"/>
              <a:t>though the </a:t>
            </a:r>
            <a:r>
              <a:rPr lang="en-US" dirty="0"/>
              <a:t>resources are available, the resulting state is unsafe).</a:t>
            </a:r>
            <a:endParaRPr lang="en-US" altLang="en-US" dirty="0"/>
          </a:p>
          <a:p>
            <a:pPr>
              <a:buFont typeface="Monotype Sorts" pitchFamily="-84" charset="2"/>
              <a:buNone/>
              <a:tabLst>
                <a:tab pos="1544638" algn="l"/>
                <a:tab pos="2452688" algn="ctr"/>
                <a:tab pos="3767138" algn="ctr"/>
                <a:tab pos="5022850" algn="ctr"/>
              </a:tabLst>
            </a:pPr>
            <a:endParaRPr lang="en-US" altLang="en-US" dirty="0"/>
          </a:p>
        </p:txBody>
      </p:sp>
    </p:spTree>
    <p:extLst>
      <p:ext uri="{BB962C8B-B14F-4D97-AF65-F5344CB8AC3E}">
        <p14:creationId xmlns:p14="http://schemas.microsoft.com/office/powerpoint/2010/main" val="6083102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141413" y="198438"/>
            <a:ext cx="7421562" cy="576262"/>
          </a:xfrm>
        </p:spPr>
        <p:txBody>
          <a:bodyPr>
            <a:normAutofit fontScale="90000"/>
          </a:bodyPr>
          <a:lstStyle/>
          <a:p>
            <a:pPr eaLnBrk="1" hangingPunct="1"/>
            <a:r>
              <a:rPr lang="en-US" altLang="en-US" dirty="0"/>
              <a:t>Deadlock Detection</a:t>
            </a:r>
          </a:p>
        </p:txBody>
      </p:sp>
      <p:sp>
        <p:nvSpPr>
          <p:cNvPr id="36867" name="Rectangle 3"/>
          <p:cNvSpPr>
            <a:spLocks noGrp="1" noChangeArrowheads="1"/>
          </p:cNvSpPr>
          <p:nvPr>
            <p:ph type="body" idx="1"/>
          </p:nvPr>
        </p:nvSpPr>
        <p:spPr>
          <a:xfrm>
            <a:off x="901700" y="1233488"/>
            <a:ext cx="7391400" cy="4530725"/>
          </a:xfrm>
        </p:spPr>
        <p:txBody>
          <a:bodyPr>
            <a:normAutofit fontScale="70000" lnSpcReduction="20000"/>
          </a:bodyPr>
          <a:lstStyle/>
          <a:p>
            <a:pPr algn="just"/>
            <a:r>
              <a:rPr lang="en-IN" dirty="0"/>
              <a:t>If a system does not employ </a:t>
            </a:r>
            <a:r>
              <a:rPr lang="en-IN" dirty="0">
                <a:solidFill>
                  <a:srgbClr val="FF0000"/>
                </a:solidFill>
              </a:rPr>
              <a:t>either a deadlock-prevention or a deadlock avoidance algorithm</a:t>
            </a:r>
            <a:r>
              <a:rPr lang="en-IN" dirty="0"/>
              <a:t>, then a </a:t>
            </a:r>
            <a:r>
              <a:rPr lang="en-IN" dirty="0">
                <a:solidFill>
                  <a:srgbClr val="00B050"/>
                </a:solidFill>
              </a:rPr>
              <a:t>deadlock situation may occur</a:t>
            </a:r>
            <a:r>
              <a:rPr lang="en-IN" dirty="0"/>
              <a:t>.</a:t>
            </a:r>
          </a:p>
          <a:p>
            <a:pPr lvl="1"/>
            <a:r>
              <a:rPr lang="en-US" altLang="en-US" dirty="0"/>
              <a:t>Allow the system to enter deadlock state </a:t>
            </a:r>
            <a:br>
              <a:rPr lang="en-US" altLang="en-US" dirty="0"/>
            </a:br>
            <a:endParaRPr lang="en-US" altLang="en-US" dirty="0"/>
          </a:p>
          <a:p>
            <a:r>
              <a:rPr lang="en-IN" dirty="0"/>
              <a:t>In this environment, the system may provide</a:t>
            </a:r>
            <a:endParaRPr lang="en-US" altLang="en-US" dirty="0"/>
          </a:p>
          <a:p>
            <a:pPr lvl="1"/>
            <a:r>
              <a:rPr lang="en-US" altLang="en-US" dirty="0"/>
              <a:t>Detection algorithm</a:t>
            </a:r>
            <a:br>
              <a:rPr lang="en-US" altLang="en-US" dirty="0"/>
            </a:br>
            <a:endParaRPr lang="en-US" altLang="en-US" dirty="0"/>
          </a:p>
          <a:p>
            <a:pPr lvl="1"/>
            <a:r>
              <a:rPr lang="en-US" altLang="en-US" dirty="0"/>
              <a:t>Recovery scheme</a:t>
            </a:r>
          </a:p>
          <a:p>
            <a:pPr marL="0" indent="0">
              <a:buNone/>
            </a:pPr>
            <a:endParaRPr lang="en-IN" dirty="0"/>
          </a:p>
          <a:p>
            <a:pPr marL="0" indent="0" algn="just">
              <a:buNone/>
            </a:pPr>
            <a:r>
              <a:rPr lang="en-IN" dirty="0"/>
              <a:t>	(At an additional </a:t>
            </a:r>
            <a:r>
              <a:rPr lang="en-IN" dirty="0">
                <a:solidFill>
                  <a:srgbClr val="FF0000"/>
                </a:solidFill>
              </a:rPr>
              <a:t>overhead</a:t>
            </a:r>
            <a:r>
              <a:rPr lang="en-IN" dirty="0"/>
              <a:t> of  </a:t>
            </a:r>
            <a:r>
              <a:rPr lang="en-US" dirty="0">
                <a:solidFill>
                  <a:srgbClr val="FF0000"/>
                </a:solidFill>
              </a:rPr>
              <a:t>run-time costs in maintaining the necessary information </a:t>
            </a:r>
            <a:r>
              <a:rPr lang="en-US" dirty="0"/>
              <a:t>and </a:t>
            </a:r>
            <a:r>
              <a:rPr lang="en-US"/>
              <a:t>executing the detection </a:t>
            </a:r>
            <a:r>
              <a:rPr lang="en-US" dirty="0"/>
              <a:t>algorithm and also the </a:t>
            </a:r>
            <a:r>
              <a:rPr lang="en-US" dirty="0">
                <a:solidFill>
                  <a:srgbClr val="FF0000"/>
                </a:solidFill>
              </a:rPr>
              <a:t>potential losses inherent in recovering </a:t>
            </a:r>
            <a:r>
              <a:rPr lang="en-US" dirty="0"/>
              <a:t>from </a:t>
            </a:r>
            <a:r>
              <a:rPr lang="en-IN" dirty="0"/>
              <a:t>a deadlock)</a:t>
            </a:r>
          </a:p>
          <a:p>
            <a:pPr lvl="1"/>
            <a:endParaRPr lang="en-US" altLang="en-US" dirty="0"/>
          </a:p>
        </p:txBody>
      </p:sp>
    </p:spTree>
    <p:extLst>
      <p:ext uri="{BB962C8B-B14F-4D97-AF65-F5344CB8AC3E}">
        <p14:creationId xmlns:p14="http://schemas.microsoft.com/office/powerpoint/2010/main" val="25087043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048072" y="208185"/>
            <a:ext cx="7772400" cy="844551"/>
          </a:xfrm>
        </p:spPr>
        <p:txBody>
          <a:bodyPr>
            <a:noAutofit/>
          </a:bodyPr>
          <a:lstStyle/>
          <a:p>
            <a:r>
              <a:rPr lang="en-US" altLang="en-US" sz="2800" dirty="0"/>
              <a:t>Deadlock Detection - Single Instance of Each Resource Type</a:t>
            </a:r>
          </a:p>
        </p:txBody>
      </p:sp>
      <p:sp>
        <p:nvSpPr>
          <p:cNvPr id="37891" name="Rectangle 3"/>
          <p:cNvSpPr>
            <a:spLocks noGrp="1" noChangeArrowheads="1"/>
          </p:cNvSpPr>
          <p:nvPr>
            <p:ph type="body" idx="1"/>
          </p:nvPr>
        </p:nvSpPr>
        <p:spPr>
          <a:xfrm>
            <a:off x="827088" y="1173163"/>
            <a:ext cx="7585075" cy="4511675"/>
          </a:xfrm>
        </p:spPr>
        <p:txBody>
          <a:bodyPr>
            <a:normAutofit fontScale="70000" lnSpcReduction="20000"/>
          </a:bodyPr>
          <a:lstStyle/>
          <a:p>
            <a:pPr algn="just"/>
            <a:r>
              <a:rPr lang="en-US" altLang="en-US" dirty="0"/>
              <a:t>Maintain </a:t>
            </a:r>
            <a:r>
              <a:rPr lang="en-US" altLang="en-US" b="1" dirty="0">
                <a:solidFill>
                  <a:srgbClr val="3366FF"/>
                </a:solidFill>
              </a:rPr>
              <a:t>wait-for </a:t>
            </a:r>
            <a:r>
              <a:rPr lang="en-US" altLang="en-US" dirty="0"/>
              <a:t>graph (obtained from RAG, by removing resources nodes and collapsing edges appropriately)</a:t>
            </a:r>
          </a:p>
          <a:p>
            <a:pPr lvl="1"/>
            <a:r>
              <a:rPr lang="en-US" altLang="en-US" dirty="0"/>
              <a:t>Nodes are processes</a:t>
            </a:r>
          </a:p>
          <a:p>
            <a:pPr lvl="1"/>
            <a:r>
              <a:rPr lang="en-US" altLang="en-US" b="1" i="1" dirty="0"/>
              <a:t>P</a:t>
            </a:r>
            <a:r>
              <a:rPr lang="en-US" altLang="en-US" b="1" i="1" baseline="-25000" dirty="0"/>
              <a:t>i</a:t>
            </a:r>
            <a:r>
              <a:rPr lang="en-US" altLang="en-US" b="1" dirty="0"/>
              <a:t> </a:t>
            </a:r>
            <a:r>
              <a:rPr lang="en-US" altLang="en-US" b="1" dirty="0">
                <a:sym typeface="Symbol" pitchFamily="18" charset="2"/>
              </a:rPr>
              <a:t> </a:t>
            </a:r>
            <a:r>
              <a:rPr lang="en-US" altLang="en-US" b="1" i="1" dirty="0" err="1">
                <a:sym typeface="Symbol" pitchFamily="18" charset="2"/>
              </a:rPr>
              <a:t>P</a:t>
            </a:r>
            <a:r>
              <a:rPr lang="en-US" altLang="en-US" b="1" i="1" baseline="-25000" dirty="0" err="1">
                <a:sym typeface="Symbol" pitchFamily="18" charset="2"/>
              </a:rPr>
              <a:t>j</a:t>
            </a:r>
            <a:r>
              <a:rPr lang="en-US" altLang="en-US" b="1" i="1" baseline="-25000" dirty="0">
                <a:sym typeface="Symbol" pitchFamily="18" charset="2"/>
              </a:rPr>
              <a:t>   </a:t>
            </a:r>
            <a:r>
              <a:rPr lang="en-US" altLang="en-US" dirty="0">
                <a:sym typeface="Symbol" pitchFamily="18" charset="2"/>
              </a:rPr>
              <a:t>if </a:t>
            </a:r>
            <a:r>
              <a:rPr lang="en-US" altLang="en-US" b="1" i="1" dirty="0">
                <a:sym typeface="Symbol" pitchFamily="18" charset="2"/>
              </a:rPr>
              <a:t>P</a:t>
            </a:r>
            <a:r>
              <a:rPr lang="en-US" altLang="en-US" b="1" i="1" baseline="-25000" dirty="0">
                <a:sym typeface="Symbol" pitchFamily="18" charset="2"/>
              </a:rPr>
              <a:t>i</a:t>
            </a:r>
            <a:r>
              <a:rPr lang="en-US" altLang="en-US" i="1" dirty="0">
                <a:sym typeface="Symbol" pitchFamily="18" charset="2"/>
              </a:rPr>
              <a:t> </a:t>
            </a:r>
            <a:r>
              <a:rPr lang="en-US" altLang="en-US" dirty="0">
                <a:sym typeface="Symbol" pitchFamily="18" charset="2"/>
              </a:rPr>
              <a:t>is waiting for</a:t>
            </a:r>
            <a:r>
              <a:rPr lang="en-US" altLang="en-US" i="1" dirty="0">
                <a:sym typeface="Symbol" pitchFamily="18" charset="2"/>
              </a:rPr>
              <a:t> </a:t>
            </a:r>
            <a:r>
              <a:rPr lang="en-US" altLang="en-US" b="1" i="1" dirty="0" err="1">
                <a:sym typeface="Symbol" pitchFamily="18" charset="2"/>
              </a:rPr>
              <a:t>P</a:t>
            </a:r>
            <a:r>
              <a:rPr lang="en-US" altLang="en-US" b="1" i="1" baseline="-25000" dirty="0" err="1">
                <a:sym typeface="Symbol" pitchFamily="18" charset="2"/>
              </a:rPr>
              <a:t>j</a:t>
            </a:r>
            <a:endParaRPr lang="en-US" altLang="en-US" b="1" i="1" baseline="-25000" dirty="0">
              <a:sym typeface="Symbol" pitchFamily="18" charset="2"/>
            </a:endParaRPr>
          </a:p>
          <a:p>
            <a:pPr lvl="1"/>
            <a:endParaRPr lang="en-US" altLang="en-US" b="1" i="1" baseline="-25000" dirty="0">
              <a:sym typeface="Symbol" pitchFamily="18" charset="2"/>
            </a:endParaRPr>
          </a:p>
          <a:p>
            <a:pPr lvl="2"/>
            <a:r>
              <a:rPr lang="en-US" altLang="en-US" b="1" i="1" dirty="0"/>
              <a:t>P</a:t>
            </a:r>
            <a:r>
              <a:rPr lang="en-US" altLang="en-US" b="1" i="1" baseline="-25000" dirty="0"/>
              <a:t>i </a:t>
            </a:r>
            <a:r>
              <a:rPr lang="en-US" dirty="0"/>
              <a:t>→ </a:t>
            </a:r>
            <a:r>
              <a:rPr lang="en-US" dirty="0" err="1"/>
              <a:t>R</a:t>
            </a:r>
            <a:r>
              <a:rPr lang="en-US" altLang="en-US" b="1" i="1" baseline="-25000" dirty="0" err="1"/>
              <a:t>q</a:t>
            </a:r>
            <a:r>
              <a:rPr lang="en-US" altLang="en-US" b="1" i="1" baseline="-25000" dirty="0"/>
              <a:t>  </a:t>
            </a:r>
            <a:r>
              <a:rPr lang="en-US" dirty="0"/>
              <a:t>and </a:t>
            </a:r>
            <a:r>
              <a:rPr lang="en-US" dirty="0" err="1"/>
              <a:t>R</a:t>
            </a:r>
            <a:r>
              <a:rPr lang="en-US" altLang="en-US" b="1" i="1" baseline="-25000" dirty="0" err="1"/>
              <a:t>q</a:t>
            </a:r>
            <a:r>
              <a:rPr lang="en-US" altLang="en-US" b="1" i="1" baseline="-25000" dirty="0"/>
              <a:t> </a:t>
            </a:r>
            <a:r>
              <a:rPr lang="en-US" i="1" dirty="0"/>
              <a:t> </a:t>
            </a:r>
            <a:r>
              <a:rPr lang="en-US" dirty="0"/>
              <a:t>→ </a:t>
            </a:r>
            <a:r>
              <a:rPr lang="en-US" altLang="en-US" b="1" i="1" dirty="0" err="1"/>
              <a:t>P</a:t>
            </a:r>
            <a:r>
              <a:rPr lang="en-US" altLang="en-US" b="1" i="1" baseline="-25000" dirty="0" err="1"/>
              <a:t>j</a:t>
            </a:r>
            <a:br>
              <a:rPr lang="en-US" altLang="en-US" b="1" i="1" dirty="0">
                <a:sym typeface="Symbol" pitchFamily="18" charset="2"/>
              </a:rPr>
            </a:br>
            <a:endParaRPr lang="en-US" altLang="en-US" b="1" i="1" dirty="0">
              <a:sym typeface="Symbol" pitchFamily="18" charset="2"/>
            </a:endParaRPr>
          </a:p>
          <a:p>
            <a:pPr algn="just"/>
            <a:r>
              <a:rPr lang="en-US" altLang="en-US" dirty="0"/>
              <a:t>Periodically invoke an algorithm that </a:t>
            </a:r>
            <a:r>
              <a:rPr lang="en-US" altLang="en-US" dirty="0">
                <a:solidFill>
                  <a:srgbClr val="FF0000"/>
                </a:solidFill>
              </a:rPr>
              <a:t>searches for a cycle in the graph</a:t>
            </a:r>
            <a:r>
              <a:rPr lang="en-US" altLang="en-US" dirty="0"/>
              <a:t>. If there is a cycle, there exists a deadlock</a:t>
            </a:r>
          </a:p>
          <a:p>
            <a:pPr>
              <a:buFont typeface="Monotype Sorts" pitchFamily="-84" charset="2"/>
              <a:buNone/>
            </a:pPr>
            <a:endParaRPr lang="en-US" altLang="en-US" dirty="0"/>
          </a:p>
          <a:p>
            <a:pPr algn="just"/>
            <a:r>
              <a:rPr lang="en-US" altLang="en-US" dirty="0"/>
              <a:t>An algorithm to detect a cycle in a graph requires an order of</a:t>
            </a:r>
            <a:r>
              <a:rPr lang="en-US" altLang="en-US" i="1" dirty="0"/>
              <a:t> </a:t>
            </a:r>
            <a:r>
              <a:rPr lang="en-US" altLang="en-US" b="1" i="1" dirty="0"/>
              <a:t>n</a:t>
            </a:r>
            <a:r>
              <a:rPr lang="en-US" altLang="en-US" b="1" baseline="30000" dirty="0"/>
              <a:t>2</a:t>
            </a:r>
            <a:r>
              <a:rPr lang="en-US" altLang="en-US" b="1" dirty="0"/>
              <a:t> </a:t>
            </a:r>
            <a:r>
              <a:rPr lang="en-US" altLang="en-US" dirty="0"/>
              <a:t>operations, where </a:t>
            </a:r>
            <a:r>
              <a:rPr lang="en-US" altLang="en-US" b="1" i="1" dirty="0"/>
              <a:t>n</a:t>
            </a:r>
            <a:r>
              <a:rPr lang="en-US" altLang="en-US" dirty="0"/>
              <a:t> is the number of vertices in the graph.</a:t>
            </a:r>
          </a:p>
        </p:txBody>
      </p:sp>
    </p:spTree>
    <p:extLst>
      <p:ext uri="{BB962C8B-B14F-4D97-AF65-F5344CB8AC3E}">
        <p14:creationId xmlns:p14="http://schemas.microsoft.com/office/powerpoint/2010/main" val="12484088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115616" y="188640"/>
            <a:ext cx="7751762" cy="930052"/>
          </a:xfrm>
        </p:spPr>
        <p:txBody>
          <a:bodyPr>
            <a:noAutofit/>
          </a:bodyPr>
          <a:lstStyle/>
          <a:p>
            <a:r>
              <a:rPr lang="en-US" altLang="en-US" sz="2800" dirty="0"/>
              <a:t>Deadlock Detection – Resource Allocation Graph and  Wait-for Graph</a:t>
            </a:r>
          </a:p>
        </p:txBody>
      </p:sp>
      <p:sp>
        <p:nvSpPr>
          <p:cNvPr id="38915" name="Text Box 5"/>
          <p:cNvSpPr txBox="1">
            <a:spLocks noChangeArrowheads="1"/>
          </p:cNvSpPr>
          <p:nvPr/>
        </p:nvSpPr>
        <p:spPr bwMode="auto">
          <a:xfrm>
            <a:off x="1647825" y="5294313"/>
            <a:ext cx="2927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84" charset="0"/>
                <a:ea typeface="MS PGothic"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84" charset="0"/>
                <a:ea typeface="MS PGothic"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84" charset="0"/>
                <a:ea typeface="MS PGothic" pitchFamily="34" charset="-128"/>
              </a:defRPr>
            </a:lvl3pPr>
            <a:lvl4pPr marL="1600200" indent="-228600">
              <a:spcBef>
                <a:spcPct val="35000"/>
              </a:spcBef>
              <a:buClr>
                <a:schemeClr val="hlink"/>
              </a:buClr>
              <a:buSzPct val="75000"/>
              <a:buChar char="–"/>
              <a:defRPr kumimoji="1">
                <a:solidFill>
                  <a:schemeClr val="tx1"/>
                </a:solidFill>
                <a:latin typeface="Helvetica" pitchFamily="-84" charset="0"/>
                <a:ea typeface="MS PGothic" pitchFamily="34" charset="-128"/>
              </a:defRPr>
            </a:lvl4pPr>
            <a:lvl5pPr marL="2057400" indent="-228600">
              <a:spcBef>
                <a:spcPct val="35000"/>
              </a:spcBef>
              <a:buClr>
                <a:srgbClr val="FF0066"/>
              </a:buClr>
              <a:buSzPct val="75000"/>
              <a:buChar char="»"/>
              <a:defRPr kumimoji="1">
                <a:solidFill>
                  <a:schemeClr val="tx1"/>
                </a:solidFill>
                <a:latin typeface="Helvetica" pitchFamily="-84" charset="0"/>
                <a:ea typeface="MS PGothic"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9pPr>
          </a:lstStyle>
          <a:p>
            <a:pPr algn="ctr">
              <a:spcBef>
                <a:spcPct val="50000"/>
              </a:spcBef>
              <a:buClrTx/>
              <a:buSzTx/>
              <a:buFontTx/>
              <a:buNone/>
            </a:pPr>
            <a:r>
              <a:rPr kumimoji="0" lang="en-US" altLang="en-US" dirty="0"/>
              <a:t>Resource-Allocation Graph</a:t>
            </a:r>
          </a:p>
        </p:txBody>
      </p:sp>
      <p:sp>
        <p:nvSpPr>
          <p:cNvPr id="38916" name="Text Box 6"/>
          <p:cNvSpPr txBox="1">
            <a:spLocks noChangeArrowheads="1"/>
          </p:cNvSpPr>
          <p:nvPr/>
        </p:nvSpPr>
        <p:spPr bwMode="auto">
          <a:xfrm>
            <a:off x="4810125" y="5294313"/>
            <a:ext cx="3143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84" charset="0"/>
                <a:ea typeface="MS PGothic"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84" charset="0"/>
                <a:ea typeface="MS PGothic"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84" charset="0"/>
                <a:ea typeface="MS PGothic" pitchFamily="34" charset="-128"/>
              </a:defRPr>
            </a:lvl3pPr>
            <a:lvl4pPr marL="1600200" indent="-228600">
              <a:spcBef>
                <a:spcPct val="35000"/>
              </a:spcBef>
              <a:buClr>
                <a:schemeClr val="hlink"/>
              </a:buClr>
              <a:buSzPct val="75000"/>
              <a:buChar char="–"/>
              <a:defRPr kumimoji="1">
                <a:solidFill>
                  <a:schemeClr val="tx1"/>
                </a:solidFill>
                <a:latin typeface="Helvetica" pitchFamily="-84" charset="0"/>
                <a:ea typeface="MS PGothic" pitchFamily="34" charset="-128"/>
              </a:defRPr>
            </a:lvl4pPr>
            <a:lvl5pPr marL="2057400" indent="-228600">
              <a:spcBef>
                <a:spcPct val="35000"/>
              </a:spcBef>
              <a:buClr>
                <a:srgbClr val="FF0066"/>
              </a:buClr>
              <a:buSzPct val="75000"/>
              <a:buChar char="»"/>
              <a:defRPr kumimoji="1">
                <a:solidFill>
                  <a:schemeClr val="tx1"/>
                </a:solidFill>
                <a:latin typeface="Helvetica" pitchFamily="-84" charset="0"/>
                <a:ea typeface="MS PGothic"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9pPr>
          </a:lstStyle>
          <a:p>
            <a:pPr algn="ctr">
              <a:spcBef>
                <a:spcPct val="50000"/>
              </a:spcBef>
              <a:buClrTx/>
              <a:buSzTx/>
              <a:buFontTx/>
              <a:buNone/>
            </a:pPr>
            <a:r>
              <a:rPr kumimoji="0" lang="en-US" altLang="en-US" dirty="0"/>
              <a:t>Corresponding wait-for graph</a:t>
            </a:r>
          </a:p>
        </p:txBody>
      </p:sp>
      <p:pic>
        <p:nvPicPr>
          <p:cNvPr id="38917" name="Picture 6" descr="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6425" y="1398562"/>
            <a:ext cx="5937250" cy="383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416587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899592" y="352078"/>
            <a:ext cx="7772400" cy="628650"/>
          </a:xfrm>
        </p:spPr>
        <p:txBody>
          <a:bodyPr>
            <a:noAutofit/>
          </a:bodyPr>
          <a:lstStyle/>
          <a:p>
            <a:r>
              <a:rPr lang="en-US" altLang="en-US" sz="2800" dirty="0"/>
              <a:t>Deadlock Detection -Several Instances of a Resource Type</a:t>
            </a:r>
          </a:p>
        </p:txBody>
      </p:sp>
      <p:sp>
        <p:nvSpPr>
          <p:cNvPr id="39939" name="Rectangle 3"/>
          <p:cNvSpPr>
            <a:spLocks noGrp="1" noChangeArrowheads="1"/>
          </p:cNvSpPr>
          <p:nvPr>
            <p:ph type="body" idx="1"/>
          </p:nvPr>
        </p:nvSpPr>
        <p:spPr>
          <a:xfrm>
            <a:off x="971600" y="1340768"/>
            <a:ext cx="7015163" cy="3851275"/>
          </a:xfrm>
        </p:spPr>
        <p:txBody>
          <a:bodyPr>
            <a:normAutofit fontScale="85000" lnSpcReduction="10000"/>
          </a:bodyPr>
          <a:lstStyle/>
          <a:p>
            <a:pPr algn="just"/>
            <a:r>
              <a:rPr lang="en-US" altLang="en-US" b="1" dirty="0">
                <a:solidFill>
                  <a:srgbClr val="FF0000"/>
                </a:solidFill>
              </a:rPr>
              <a:t>Available</a:t>
            </a:r>
            <a:r>
              <a:rPr lang="en-US" altLang="en-US" i="1" dirty="0"/>
              <a:t>:</a:t>
            </a:r>
            <a:r>
              <a:rPr lang="en-US" altLang="en-US" dirty="0"/>
              <a:t>  A vector of length </a:t>
            </a:r>
            <a:r>
              <a:rPr lang="en-US" altLang="en-US" b="1" i="1" dirty="0"/>
              <a:t>m</a:t>
            </a:r>
            <a:r>
              <a:rPr lang="en-US" altLang="en-US" dirty="0"/>
              <a:t> indicates the number of available resources of each type</a:t>
            </a:r>
          </a:p>
          <a:p>
            <a:pPr algn="just"/>
            <a:r>
              <a:rPr lang="en-US" altLang="en-US" b="1" dirty="0">
                <a:solidFill>
                  <a:srgbClr val="FF0000"/>
                </a:solidFill>
              </a:rPr>
              <a:t>Allocation</a:t>
            </a:r>
            <a:r>
              <a:rPr lang="en-US" altLang="en-US" i="1" dirty="0"/>
              <a:t>:</a:t>
            </a:r>
            <a:r>
              <a:rPr lang="en-US" altLang="en-US" dirty="0"/>
              <a:t>  An </a:t>
            </a:r>
            <a:r>
              <a:rPr lang="en-US" altLang="en-US" b="1" i="1" dirty="0"/>
              <a:t>n </a:t>
            </a:r>
            <a:r>
              <a:rPr lang="en-US" altLang="en-US" b="1" dirty="0"/>
              <a:t>x</a:t>
            </a:r>
            <a:r>
              <a:rPr lang="en-US" altLang="en-US" b="1" i="1" dirty="0"/>
              <a:t> m</a:t>
            </a:r>
            <a:r>
              <a:rPr lang="en-US" altLang="en-US" b="1" dirty="0"/>
              <a:t> </a:t>
            </a:r>
            <a:r>
              <a:rPr lang="en-US" altLang="en-US" dirty="0"/>
              <a:t>matrix defines the number of resources of each type currently allocated to each process</a:t>
            </a:r>
          </a:p>
          <a:p>
            <a:pPr algn="just"/>
            <a:r>
              <a:rPr lang="en-US" altLang="en-US" b="1" dirty="0">
                <a:solidFill>
                  <a:srgbClr val="00B050"/>
                </a:solidFill>
              </a:rPr>
              <a:t>Request</a:t>
            </a:r>
            <a:r>
              <a:rPr lang="en-US" altLang="en-US" i="1" dirty="0"/>
              <a:t>:</a:t>
            </a:r>
            <a:r>
              <a:rPr lang="en-US" altLang="en-US" dirty="0"/>
              <a:t>  An </a:t>
            </a:r>
            <a:r>
              <a:rPr lang="en-US" altLang="en-US" b="1" i="1" dirty="0"/>
              <a:t>n </a:t>
            </a:r>
            <a:r>
              <a:rPr lang="en-US" altLang="en-US" b="1" dirty="0"/>
              <a:t>x</a:t>
            </a:r>
            <a:r>
              <a:rPr lang="en-US" altLang="en-US" b="1" i="1" dirty="0"/>
              <a:t> m</a:t>
            </a:r>
            <a:r>
              <a:rPr lang="en-US" altLang="en-US" b="1" dirty="0"/>
              <a:t> </a:t>
            </a:r>
            <a:r>
              <a:rPr lang="en-US" altLang="en-US" dirty="0"/>
              <a:t>matrix indicates the current request  of each process.  If </a:t>
            </a:r>
            <a:r>
              <a:rPr lang="en-US" altLang="en-US" b="1" i="1" dirty="0"/>
              <a:t>Request </a:t>
            </a:r>
            <a:r>
              <a:rPr lang="en-US" altLang="en-US" b="1" dirty="0"/>
              <a:t>[</a:t>
            </a:r>
            <a:r>
              <a:rPr lang="en-US" altLang="en-US" b="1" i="1" dirty="0" err="1"/>
              <a:t>i</a:t>
            </a:r>
            <a:r>
              <a:rPr lang="en-US" altLang="en-US" b="1" dirty="0"/>
              <a:t>][</a:t>
            </a:r>
            <a:r>
              <a:rPr lang="en-US" altLang="en-US" b="1" i="1" dirty="0"/>
              <a:t>j</a:t>
            </a:r>
            <a:r>
              <a:rPr lang="en-US" altLang="en-US" b="1" dirty="0"/>
              <a:t>] = </a:t>
            </a:r>
            <a:r>
              <a:rPr lang="en-US" altLang="en-US" b="1" i="1" dirty="0"/>
              <a:t>k</a:t>
            </a:r>
            <a:r>
              <a:rPr lang="en-US" altLang="en-US" dirty="0"/>
              <a:t>, then process</a:t>
            </a:r>
            <a:r>
              <a:rPr lang="en-US" altLang="en-US" i="1" dirty="0"/>
              <a:t> </a:t>
            </a:r>
            <a:r>
              <a:rPr lang="en-US" altLang="en-US" b="1" i="1" dirty="0"/>
              <a:t>P</a:t>
            </a:r>
            <a:r>
              <a:rPr lang="en-US" altLang="en-US" b="1" i="1" baseline="-25000" dirty="0"/>
              <a:t>i</a:t>
            </a:r>
            <a:r>
              <a:rPr lang="en-US" altLang="en-US" dirty="0"/>
              <a:t> is requesting</a:t>
            </a:r>
            <a:r>
              <a:rPr lang="en-US" altLang="en-US" i="1" dirty="0"/>
              <a:t> </a:t>
            </a:r>
            <a:r>
              <a:rPr lang="en-US" altLang="en-US" b="1" i="1" dirty="0"/>
              <a:t>k</a:t>
            </a:r>
            <a:r>
              <a:rPr lang="en-US" altLang="en-US" dirty="0"/>
              <a:t> more instances of resource type </a:t>
            </a:r>
            <a:r>
              <a:rPr lang="en-US" altLang="en-US" b="1" i="1" dirty="0" err="1"/>
              <a:t>R</a:t>
            </a:r>
            <a:r>
              <a:rPr lang="en-US" altLang="en-US" b="1" i="1" baseline="-25000" dirty="0" err="1"/>
              <a:t>j</a:t>
            </a:r>
            <a:r>
              <a:rPr lang="en-US" altLang="en-US" dirty="0"/>
              <a:t>.</a:t>
            </a:r>
          </a:p>
        </p:txBody>
      </p:sp>
    </p:spTree>
    <p:extLst>
      <p:ext uri="{BB962C8B-B14F-4D97-AF65-F5344CB8AC3E}">
        <p14:creationId xmlns:p14="http://schemas.microsoft.com/office/powerpoint/2010/main" val="14780980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787400" y="152400"/>
            <a:ext cx="7899400" cy="1188368"/>
          </a:xfrm>
        </p:spPr>
        <p:txBody>
          <a:bodyPr>
            <a:noAutofit/>
          </a:bodyPr>
          <a:lstStyle/>
          <a:p>
            <a:r>
              <a:rPr lang="en-US" altLang="en-US" sz="3200" dirty="0"/>
              <a:t>Deadlock Detection Algorithm  - Several Instances of a Resource Type</a:t>
            </a:r>
          </a:p>
        </p:txBody>
      </p:sp>
      <p:sp>
        <p:nvSpPr>
          <p:cNvPr id="40963" name="Rectangle 3"/>
          <p:cNvSpPr>
            <a:spLocks noGrp="1" noChangeArrowheads="1"/>
          </p:cNvSpPr>
          <p:nvPr>
            <p:ph type="body" idx="1"/>
          </p:nvPr>
        </p:nvSpPr>
        <p:spPr>
          <a:xfrm>
            <a:off x="899592" y="1490563"/>
            <a:ext cx="7753350" cy="4530725"/>
          </a:xfrm>
        </p:spPr>
        <p:txBody>
          <a:bodyPr>
            <a:noAutofit/>
          </a:bodyPr>
          <a:lstStyle/>
          <a:p>
            <a:pPr algn="just">
              <a:buFont typeface="Monotype Sorts" pitchFamily="-84" charset="2"/>
              <a:buNone/>
            </a:pPr>
            <a:r>
              <a:rPr lang="en-US" altLang="en-US" sz="2000" dirty="0"/>
              <a:t>1.	Let </a:t>
            </a:r>
            <a:r>
              <a:rPr lang="en-US" altLang="en-US" sz="2000" b="1" i="1" dirty="0"/>
              <a:t>Work</a:t>
            </a:r>
            <a:r>
              <a:rPr lang="en-US" altLang="en-US" sz="2000" dirty="0"/>
              <a:t> and </a:t>
            </a:r>
            <a:r>
              <a:rPr lang="en-US" altLang="en-US" sz="2000" b="1" i="1" dirty="0"/>
              <a:t>Finish</a:t>
            </a:r>
            <a:r>
              <a:rPr lang="en-US" altLang="en-US" sz="2000" dirty="0"/>
              <a:t> be vectors of length </a:t>
            </a:r>
            <a:r>
              <a:rPr lang="en-US" altLang="en-US" sz="2000" b="1" i="1" dirty="0"/>
              <a:t>m</a:t>
            </a:r>
            <a:r>
              <a:rPr lang="en-US" altLang="en-US" sz="2000" dirty="0"/>
              <a:t> and </a:t>
            </a:r>
            <a:r>
              <a:rPr lang="en-US" altLang="en-US" sz="2000" b="1" i="1" dirty="0"/>
              <a:t>n</a:t>
            </a:r>
            <a:r>
              <a:rPr lang="en-US" altLang="en-US" sz="2000" dirty="0"/>
              <a:t>, respectively Initialize:</a:t>
            </a:r>
          </a:p>
          <a:p>
            <a:pPr marL="850900" lvl="1" indent="-393700">
              <a:buFont typeface="Monotype Sorts" pitchFamily="-84" charset="2"/>
              <a:buNone/>
            </a:pPr>
            <a:r>
              <a:rPr lang="en-US" altLang="en-US" sz="1600" dirty="0"/>
              <a:t>(a) </a:t>
            </a:r>
            <a:r>
              <a:rPr lang="en-US" altLang="en-US" sz="1600" b="1" i="1" dirty="0"/>
              <a:t>Work</a:t>
            </a:r>
            <a:r>
              <a:rPr lang="en-US" altLang="en-US" sz="1600" b="1" dirty="0"/>
              <a:t> = </a:t>
            </a:r>
            <a:r>
              <a:rPr lang="en-US" altLang="en-US" sz="1600" b="1" i="1" dirty="0"/>
              <a:t>Available</a:t>
            </a:r>
            <a:endParaRPr lang="en-US" altLang="en-US" sz="1600" b="1" dirty="0"/>
          </a:p>
          <a:p>
            <a:pPr marL="850900" lvl="1" indent="-393700">
              <a:buFont typeface="Monotype Sorts" pitchFamily="-84" charset="2"/>
              <a:buNone/>
            </a:pPr>
            <a:r>
              <a:rPr lang="en-US" altLang="en-US" sz="1600" dirty="0"/>
              <a:t>(b)	For </a:t>
            </a:r>
            <a:r>
              <a:rPr lang="en-US" altLang="en-US" sz="1600" b="1" i="1" dirty="0" err="1"/>
              <a:t>i</a:t>
            </a:r>
            <a:r>
              <a:rPr lang="en-US" altLang="en-US" sz="1600" b="1" dirty="0"/>
              <a:t> = 1,2, …,</a:t>
            </a:r>
            <a:r>
              <a:rPr lang="en-US" altLang="en-US" sz="1600" b="1" i="1" dirty="0"/>
              <a:t> n</a:t>
            </a:r>
            <a:r>
              <a:rPr lang="en-US" altLang="en-US" sz="1600" dirty="0"/>
              <a:t>, if </a:t>
            </a:r>
            <a:r>
              <a:rPr lang="en-US" altLang="en-US" sz="1600" b="1" i="1" dirty="0" err="1"/>
              <a:t>Allocation</a:t>
            </a:r>
            <a:r>
              <a:rPr lang="en-US" altLang="en-US" sz="1600" b="1" i="1" baseline="-25000" dirty="0" err="1"/>
              <a:t>i</a:t>
            </a:r>
            <a:r>
              <a:rPr lang="en-US" altLang="en-US" sz="1600" b="1" dirty="0"/>
              <a:t> </a:t>
            </a:r>
            <a:r>
              <a:rPr lang="en-US" altLang="en-US" sz="1600" b="1" dirty="0">
                <a:sym typeface="Symbol" pitchFamily="18" charset="2"/>
              </a:rPr>
              <a:t> 0</a:t>
            </a:r>
            <a:r>
              <a:rPr lang="en-US" altLang="en-US" sz="1600" dirty="0">
                <a:sym typeface="Symbol" pitchFamily="18" charset="2"/>
              </a:rPr>
              <a:t>, then </a:t>
            </a:r>
            <a:br>
              <a:rPr lang="en-US" altLang="en-US" sz="1600" dirty="0">
                <a:sym typeface="Symbol" pitchFamily="18" charset="2"/>
              </a:rPr>
            </a:br>
            <a:r>
              <a:rPr lang="en-US" altLang="en-US" sz="1600" b="1" i="1" dirty="0">
                <a:sym typeface="Symbol" pitchFamily="18" charset="2"/>
              </a:rPr>
              <a:t>Finish</a:t>
            </a:r>
            <a:r>
              <a:rPr lang="en-US" altLang="en-US" sz="1600" b="1" dirty="0">
                <a:sym typeface="Symbol" pitchFamily="18" charset="2"/>
              </a:rPr>
              <a:t>[</a:t>
            </a:r>
            <a:r>
              <a:rPr lang="en-US" altLang="en-US" sz="1600" b="1" dirty="0" err="1">
                <a:sym typeface="Symbol" pitchFamily="18" charset="2"/>
              </a:rPr>
              <a:t>i</a:t>
            </a:r>
            <a:r>
              <a:rPr lang="en-US" altLang="en-US" sz="1600" b="1" dirty="0">
                <a:sym typeface="Symbol" pitchFamily="18" charset="2"/>
              </a:rPr>
              <a:t>] </a:t>
            </a:r>
            <a:r>
              <a:rPr lang="en-US" altLang="en-US" sz="1600" b="1" i="1" dirty="0">
                <a:sym typeface="Symbol" pitchFamily="18" charset="2"/>
              </a:rPr>
              <a:t>= false</a:t>
            </a:r>
            <a:r>
              <a:rPr lang="en-US" altLang="en-US" sz="1600" dirty="0">
                <a:sym typeface="Symbol" pitchFamily="18" charset="2"/>
              </a:rPr>
              <a:t>; otherwise, </a:t>
            </a:r>
            <a:r>
              <a:rPr lang="en-US" altLang="en-US" sz="1600" b="1" i="1" dirty="0">
                <a:sym typeface="Symbol" pitchFamily="18" charset="2"/>
              </a:rPr>
              <a:t>Finish</a:t>
            </a:r>
            <a:r>
              <a:rPr lang="en-US" altLang="en-US" sz="1600" b="1" dirty="0">
                <a:sym typeface="Symbol" pitchFamily="18" charset="2"/>
              </a:rPr>
              <a:t>[</a:t>
            </a:r>
            <a:r>
              <a:rPr lang="en-US" altLang="en-US" sz="1600" b="1" dirty="0" err="1">
                <a:sym typeface="Symbol" pitchFamily="18" charset="2"/>
              </a:rPr>
              <a:t>i</a:t>
            </a:r>
            <a:r>
              <a:rPr lang="en-US" altLang="en-US" sz="1600" b="1" dirty="0">
                <a:sym typeface="Symbol" pitchFamily="18" charset="2"/>
              </a:rPr>
              <a:t>] = </a:t>
            </a:r>
            <a:r>
              <a:rPr lang="en-US" altLang="en-US" sz="1600" b="1" i="1" dirty="0">
                <a:sym typeface="Symbol" pitchFamily="18" charset="2"/>
              </a:rPr>
              <a:t>true</a:t>
            </a:r>
          </a:p>
          <a:p>
            <a:pPr>
              <a:buFont typeface="Monotype Sorts" pitchFamily="-84" charset="2"/>
              <a:buNone/>
            </a:pPr>
            <a:r>
              <a:rPr lang="en-US" altLang="en-US" sz="2000" dirty="0"/>
              <a:t>2.	Find an index </a:t>
            </a:r>
            <a:r>
              <a:rPr lang="en-US" altLang="en-US" sz="2000" b="1" i="1" dirty="0" err="1"/>
              <a:t>i</a:t>
            </a:r>
            <a:r>
              <a:rPr lang="en-US" altLang="en-US" sz="2000" i="1" dirty="0"/>
              <a:t> </a:t>
            </a:r>
            <a:r>
              <a:rPr lang="en-US" altLang="en-US" sz="2000" dirty="0"/>
              <a:t>such that both:</a:t>
            </a:r>
          </a:p>
          <a:p>
            <a:pPr marL="850900" lvl="1" indent="-393700">
              <a:buFont typeface="Monotype Sorts" pitchFamily="-84" charset="2"/>
              <a:buNone/>
            </a:pPr>
            <a:r>
              <a:rPr lang="en-US" altLang="en-US" sz="1600" dirty="0"/>
              <a:t>(a)	</a:t>
            </a:r>
            <a:r>
              <a:rPr lang="en-US" altLang="en-US" sz="1600" b="1" i="1" dirty="0"/>
              <a:t>Finish</a:t>
            </a:r>
            <a:r>
              <a:rPr lang="en-US" altLang="en-US" sz="1600" b="1" dirty="0"/>
              <a:t>[</a:t>
            </a:r>
            <a:r>
              <a:rPr lang="en-US" altLang="en-US" sz="1600" b="1" i="1" dirty="0" err="1"/>
              <a:t>i</a:t>
            </a:r>
            <a:r>
              <a:rPr lang="en-US" altLang="en-US" sz="1600" b="1" dirty="0"/>
              <a:t>] == </a:t>
            </a:r>
            <a:r>
              <a:rPr lang="en-US" altLang="en-US" sz="1600" b="1" i="1" dirty="0"/>
              <a:t>false</a:t>
            </a:r>
            <a:endParaRPr lang="en-US" altLang="en-US" sz="1600" b="1" dirty="0"/>
          </a:p>
          <a:p>
            <a:pPr marL="850900" lvl="1" indent="-393700">
              <a:buFont typeface="Monotype Sorts" pitchFamily="-84" charset="2"/>
              <a:buNone/>
            </a:pPr>
            <a:r>
              <a:rPr lang="en-US" altLang="en-US" sz="1600" dirty="0"/>
              <a:t>(b)	</a:t>
            </a:r>
            <a:r>
              <a:rPr lang="en-US" altLang="en-US" sz="1600" b="1" i="1" dirty="0" err="1"/>
              <a:t>Request</a:t>
            </a:r>
            <a:r>
              <a:rPr lang="en-US" altLang="en-US" sz="1600" b="1" i="1" baseline="-25000" dirty="0" err="1"/>
              <a:t>i</a:t>
            </a:r>
            <a:r>
              <a:rPr lang="en-US" altLang="en-US" sz="1600" b="1" dirty="0"/>
              <a:t> </a:t>
            </a:r>
            <a:r>
              <a:rPr lang="en-US" altLang="en-US" sz="1600" b="1" dirty="0">
                <a:sym typeface="Symbol" pitchFamily="18" charset="2"/>
              </a:rPr>
              <a:t> </a:t>
            </a:r>
            <a:r>
              <a:rPr lang="en-US" altLang="en-US" sz="1600" b="1" i="1" dirty="0">
                <a:sym typeface="Symbol" pitchFamily="18" charset="2"/>
              </a:rPr>
              <a:t>Work</a:t>
            </a:r>
            <a:br>
              <a:rPr lang="en-US" altLang="en-US" sz="1600" b="1" i="1" dirty="0">
                <a:sym typeface="Symbol" pitchFamily="18" charset="2"/>
              </a:rPr>
            </a:br>
            <a:r>
              <a:rPr lang="en-US" altLang="en-US" sz="1600" dirty="0">
                <a:sym typeface="Symbol" pitchFamily="18" charset="2"/>
              </a:rPr>
              <a:t>If no such </a:t>
            </a:r>
            <a:r>
              <a:rPr lang="en-US" altLang="en-US" sz="1600" b="1" i="1" dirty="0" err="1">
                <a:sym typeface="Symbol" pitchFamily="18" charset="2"/>
              </a:rPr>
              <a:t>i</a:t>
            </a:r>
            <a:r>
              <a:rPr lang="en-US" altLang="en-US" sz="1600" b="1" dirty="0">
                <a:sym typeface="Symbol" pitchFamily="18" charset="2"/>
              </a:rPr>
              <a:t> </a:t>
            </a:r>
            <a:r>
              <a:rPr lang="en-US" altLang="en-US" sz="1600" dirty="0">
                <a:sym typeface="Symbol" pitchFamily="18" charset="2"/>
              </a:rPr>
              <a:t>exists, go to step 4</a:t>
            </a:r>
          </a:p>
          <a:p>
            <a:pPr>
              <a:lnSpc>
                <a:spcPct val="90000"/>
              </a:lnSpc>
              <a:buFont typeface="Monotype Sorts" pitchFamily="-84" charset="2"/>
              <a:buNone/>
            </a:pPr>
            <a:r>
              <a:rPr lang="en-US" altLang="en-US" sz="2000" dirty="0"/>
              <a:t>3.	</a:t>
            </a:r>
            <a:r>
              <a:rPr lang="en-US" altLang="en-US" sz="2000" b="1" i="1" dirty="0"/>
              <a:t>Work</a:t>
            </a:r>
            <a:r>
              <a:rPr lang="en-US" altLang="en-US" sz="2000" b="1" dirty="0"/>
              <a:t> = </a:t>
            </a:r>
            <a:r>
              <a:rPr lang="en-US" altLang="en-US" sz="2000" b="1" i="1" dirty="0"/>
              <a:t>Work</a:t>
            </a:r>
            <a:r>
              <a:rPr lang="en-US" altLang="en-US" sz="2000" b="1" dirty="0"/>
              <a:t> + </a:t>
            </a:r>
            <a:r>
              <a:rPr lang="en-US" altLang="en-US" sz="2000" b="1" i="1" dirty="0" err="1"/>
              <a:t>Allocation</a:t>
            </a:r>
            <a:r>
              <a:rPr lang="en-US" altLang="en-US" sz="2000" b="1" i="1" baseline="-25000" dirty="0" err="1"/>
              <a:t>i</a:t>
            </a:r>
            <a:br>
              <a:rPr lang="en-US" altLang="en-US" sz="2000" b="1" dirty="0"/>
            </a:br>
            <a:r>
              <a:rPr lang="en-US" altLang="en-US" sz="2000" b="1" i="1" dirty="0"/>
              <a:t>Finish</a:t>
            </a:r>
            <a:r>
              <a:rPr lang="en-US" altLang="en-US" sz="2000" b="1" dirty="0"/>
              <a:t>[</a:t>
            </a:r>
            <a:r>
              <a:rPr lang="en-US" altLang="en-US" sz="2000" b="1" i="1" dirty="0" err="1"/>
              <a:t>i</a:t>
            </a:r>
            <a:r>
              <a:rPr lang="en-US" altLang="en-US" sz="2000" b="1" dirty="0"/>
              <a:t>] = </a:t>
            </a:r>
            <a:r>
              <a:rPr lang="en-US" altLang="en-US" sz="2000" b="1" i="1" dirty="0"/>
              <a:t>true</a:t>
            </a:r>
            <a:br>
              <a:rPr lang="en-US" altLang="en-US" sz="2000" b="1" dirty="0"/>
            </a:br>
            <a:r>
              <a:rPr lang="en-US" altLang="en-US" sz="2000" dirty="0"/>
              <a:t>go to step 2</a:t>
            </a:r>
          </a:p>
          <a:p>
            <a:pPr algn="just">
              <a:lnSpc>
                <a:spcPct val="90000"/>
              </a:lnSpc>
              <a:buFont typeface="Monotype Sorts" pitchFamily="-84" charset="2"/>
              <a:buNone/>
            </a:pPr>
            <a:r>
              <a:rPr lang="en-US" altLang="en-US" sz="2000" dirty="0"/>
              <a:t>4.	If </a:t>
            </a:r>
            <a:r>
              <a:rPr lang="en-US" altLang="en-US" sz="2000" b="1" i="1" dirty="0"/>
              <a:t>Finish[</a:t>
            </a:r>
            <a:r>
              <a:rPr lang="en-US" altLang="en-US" sz="2000" b="1" i="1" dirty="0" err="1"/>
              <a:t>i</a:t>
            </a:r>
            <a:r>
              <a:rPr lang="en-US" altLang="en-US" sz="2000" b="1" i="1" dirty="0"/>
              <a:t>] == false</a:t>
            </a:r>
            <a:r>
              <a:rPr lang="en-US" altLang="en-US" sz="2000" dirty="0"/>
              <a:t>, for some </a:t>
            </a:r>
            <a:r>
              <a:rPr lang="en-US" altLang="en-US" sz="2000" b="1" i="1" dirty="0" err="1"/>
              <a:t>i</a:t>
            </a:r>
            <a:r>
              <a:rPr lang="en-US" altLang="en-US" sz="2000" dirty="0"/>
              <a:t>, 1 </a:t>
            </a:r>
            <a:r>
              <a:rPr lang="en-US" altLang="en-US" sz="2000" dirty="0">
                <a:sym typeface="Symbol" pitchFamily="18" charset="2"/>
              </a:rPr>
              <a:t> </a:t>
            </a:r>
            <a:r>
              <a:rPr lang="en-US" altLang="en-US" sz="2000" b="1" i="1" dirty="0" err="1">
                <a:sym typeface="Symbol" pitchFamily="18" charset="2"/>
              </a:rPr>
              <a:t>i</a:t>
            </a:r>
            <a:r>
              <a:rPr lang="en-US" altLang="en-US" sz="2000" dirty="0">
                <a:sym typeface="Symbol" pitchFamily="18" charset="2"/>
              </a:rPr>
              <a:t>   </a:t>
            </a:r>
            <a:r>
              <a:rPr lang="en-US" altLang="en-US" sz="2000" b="1" i="1" dirty="0">
                <a:sym typeface="Symbol" pitchFamily="18" charset="2"/>
              </a:rPr>
              <a:t>n</a:t>
            </a:r>
            <a:r>
              <a:rPr lang="en-US" altLang="en-US" sz="2000" dirty="0">
                <a:sym typeface="Symbol" pitchFamily="18" charset="2"/>
              </a:rPr>
              <a:t>, then the system is in deadlock state. Moreover, if </a:t>
            </a:r>
            <a:r>
              <a:rPr lang="en-US" altLang="en-US" sz="2000" b="1" i="1" dirty="0">
                <a:sym typeface="Symbol" pitchFamily="18" charset="2"/>
              </a:rPr>
              <a:t>Finish</a:t>
            </a:r>
            <a:r>
              <a:rPr lang="en-US" altLang="en-US" sz="2000" b="1" dirty="0">
                <a:sym typeface="Symbol" pitchFamily="18" charset="2"/>
              </a:rPr>
              <a:t>[</a:t>
            </a:r>
            <a:r>
              <a:rPr lang="en-US" altLang="en-US" sz="2000" b="1" i="1" dirty="0" err="1">
                <a:sym typeface="Symbol" pitchFamily="18" charset="2"/>
              </a:rPr>
              <a:t>i</a:t>
            </a:r>
            <a:r>
              <a:rPr lang="en-US" altLang="en-US" sz="2000" b="1" dirty="0">
                <a:sym typeface="Symbol" pitchFamily="18" charset="2"/>
              </a:rPr>
              <a:t>] == </a:t>
            </a:r>
            <a:r>
              <a:rPr lang="en-US" altLang="en-US" sz="2000" b="1" i="1" dirty="0">
                <a:sym typeface="Symbol" pitchFamily="18" charset="2"/>
              </a:rPr>
              <a:t>false</a:t>
            </a:r>
            <a:r>
              <a:rPr lang="en-US" altLang="en-US" sz="2000" dirty="0">
                <a:sym typeface="Symbol" pitchFamily="18" charset="2"/>
              </a:rPr>
              <a:t>, then </a:t>
            </a:r>
            <a:r>
              <a:rPr lang="en-US" altLang="en-US" sz="2000" b="1" i="1" dirty="0">
                <a:sym typeface="Symbol" pitchFamily="18" charset="2"/>
              </a:rPr>
              <a:t>P</a:t>
            </a:r>
            <a:r>
              <a:rPr lang="en-US" altLang="en-US" sz="2000" b="1" i="1" baseline="-25000" dirty="0">
                <a:sym typeface="Symbol" pitchFamily="18" charset="2"/>
              </a:rPr>
              <a:t>i</a:t>
            </a:r>
            <a:r>
              <a:rPr lang="en-US" altLang="en-US" sz="2000" dirty="0">
                <a:sym typeface="Symbol" pitchFamily="18" charset="2"/>
              </a:rPr>
              <a:t> is deadlocked</a:t>
            </a:r>
          </a:p>
          <a:p>
            <a:pPr>
              <a:lnSpc>
                <a:spcPct val="90000"/>
              </a:lnSpc>
              <a:buFont typeface="Monotype Sorts" pitchFamily="-84" charset="2"/>
              <a:buNone/>
            </a:pPr>
            <a:r>
              <a:rPr lang="en-US" altLang="en-US" sz="2000" dirty="0">
                <a:sym typeface="Symbol" pitchFamily="18" charset="2"/>
              </a:rPr>
              <a:t>	</a:t>
            </a:r>
            <a:endParaRPr lang="en-US" altLang="en-US" sz="2000" dirty="0"/>
          </a:p>
          <a:p>
            <a:pPr marL="850900" lvl="1" indent="-393700">
              <a:buFont typeface="Monotype Sorts" pitchFamily="-84" charset="2"/>
              <a:buNone/>
            </a:pPr>
            <a:endParaRPr lang="en-US" altLang="en-US" sz="1600" dirty="0">
              <a:sym typeface="Symbol" pitchFamily="18" charset="2"/>
            </a:endParaRPr>
          </a:p>
          <a:p>
            <a:pPr marL="850900" lvl="1" indent="-393700">
              <a:buFont typeface="Monotype Sorts" pitchFamily="-84" charset="2"/>
              <a:buNone/>
            </a:pPr>
            <a:endParaRPr lang="en-US" altLang="en-US" sz="1600" dirty="0"/>
          </a:p>
        </p:txBody>
      </p:sp>
      <p:sp>
        <p:nvSpPr>
          <p:cNvPr id="4" name="Text Box 4"/>
          <p:cNvSpPr txBox="1">
            <a:spLocks noChangeArrowheads="1"/>
          </p:cNvSpPr>
          <p:nvPr/>
        </p:nvSpPr>
        <p:spPr bwMode="auto">
          <a:xfrm>
            <a:off x="1043608" y="5733256"/>
            <a:ext cx="7700939"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84" charset="0"/>
                <a:ea typeface="MS PGothic"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84" charset="0"/>
                <a:ea typeface="MS PGothic"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84" charset="0"/>
                <a:ea typeface="MS PGothic" pitchFamily="34" charset="-128"/>
              </a:defRPr>
            </a:lvl3pPr>
            <a:lvl4pPr marL="1600200" indent="-228600">
              <a:spcBef>
                <a:spcPct val="35000"/>
              </a:spcBef>
              <a:buClr>
                <a:schemeClr val="hlink"/>
              </a:buClr>
              <a:buSzPct val="75000"/>
              <a:buChar char="–"/>
              <a:defRPr kumimoji="1">
                <a:solidFill>
                  <a:schemeClr val="tx1"/>
                </a:solidFill>
                <a:latin typeface="Helvetica" pitchFamily="-84" charset="0"/>
                <a:ea typeface="MS PGothic" pitchFamily="34" charset="-128"/>
              </a:defRPr>
            </a:lvl4pPr>
            <a:lvl5pPr marL="2057400" indent="-228600">
              <a:spcBef>
                <a:spcPct val="35000"/>
              </a:spcBef>
              <a:buClr>
                <a:srgbClr val="FF0066"/>
              </a:buClr>
              <a:buSzPct val="75000"/>
              <a:buChar char="»"/>
              <a:defRPr kumimoji="1">
                <a:solidFill>
                  <a:schemeClr val="tx1"/>
                </a:solidFill>
                <a:latin typeface="Helvetica" pitchFamily="-84" charset="0"/>
                <a:ea typeface="MS PGothic"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9pPr>
          </a:lstStyle>
          <a:p>
            <a:pPr>
              <a:spcBef>
                <a:spcPct val="0"/>
              </a:spcBef>
              <a:buClrTx/>
              <a:buSzTx/>
              <a:buFontTx/>
              <a:buNone/>
            </a:pPr>
            <a:r>
              <a:rPr kumimoji="0" lang="en-US" altLang="en-US" b="1" dirty="0">
                <a:solidFill>
                  <a:srgbClr val="FF0066"/>
                </a:solidFill>
                <a:sym typeface="Symbol" pitchFamily="18" charset="2"/>
              </a:rPr>
              <a:t>Algorithm requires an order of O(</a:t>
            </a:r>
            <a:r>
              <a:rPr kumimoji="0" lang="en-US" altLang="en-US" b="1" i="1" dirty="0">
                <a:solidFill>
                  <a:srgbClr val="FF0066"/>
                </a:solidFill>
                <a:sym typeface="Symbol" pitchFamily="18" charset="2"/>
              </a:rPr>
              <a:t>m </a:t>
            </a:r>
            <a:r>
              <a:rPr kumimoji="0" lang="en-US" altLang="en-US" b="1" dirty="0">
                <a:solidFill>
                  <a:srgbClr val="FF0066"/>
                </a:solidFill>
                <a:sym typeface="Symbol" pitchFamily="18" charset="2"/>
              </a:rPr>
              <a:t>x</a:t>
            </a:r>
            <a:r>
              <a:rPr kumimoji="0" lang="en-US" altLang="en-US" b="1" i="1" dirty="0">
                <a:solidFill>
                  <a:srgbClr val="FF0066"/>
                </a:solidFill>
                <a:sym typeface="Symbol" pitchFamily="18" charset="2"/>
              </a:rPr>
              <a:t> n</a:t>
            </a:r>
            <a:r>
              <a:rPr kumimoji="0" lang="en-US" altLang="en-US" b="1" baseline="30000" dirty="0">
                <a:solidFill>
                  <a:srgbClr val="FF0066"/>
                </a:solidFill>
                <a:sym typeface="Symbol" pitchFamily="18" charset="2"/>
              </a:rPr>
              <a:t>2</a:t>
            </a:r>
            <a:r>
              <a:rPr kumimoji="0" lang="en-US" altLang="en-US" b="1" dirty="0">
                <a:solidFill>
                  <a:srgbClr val="FF0066"/>
                </a:solidFill>
                <a:sym typeface="Symbol" pitchFamily="18" charset="2"/>
              </a:rPr>
              <a:t>) operations to detect whether the system is in deadlocked state</a:t>
            </a:r>
            <a:endParaRPr kumimoji="0" lang="en-US" altLang="en-US" dirty="0">
              <a:solidFill>
                <a:srgbClr val="FF0066"/>
              </a:solidFill>
            </a:endParaRPr>
          </a:p>
          <a:p>
            <a:pPr>
              <a:spcBef>
                <a:spcPct val="50000"/>
              </a:spcBef>
              <a:buClrTx/>
              <a:buSzTx/>
              <a:buFontTx/>
              <a:buNone/>
            </a:pPr>
            <a:endParaRPr kumimoji="0" lang="en-US" altLang="en-US" dirty="0">
              <a:solidFill>
                <a:srgbClr val="FF0066"/>
              </a:solidFill>
            </a:endParaRPr>
          </a:p>
        </p:txBody>
      </p:sp>
    </p:spTree>
    <p:extLst>
      <p:ext uri="{BB962C8B-B14F-4D97-AF65-F5344CB8AC3E}">
        <p14:creationId xmlns:p14="http://schemas.microsoft.com/office/powerpoint/2010/main" val="37773438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022350" y="214313"/>
            <a:ext cx="7664450" cy="576262"/>
          </a:xfrm>
        </p:spPr>
        <p:txBody>
          <a:bodyPr>
            <a:normAutofit fontScale="90000"/>
          </a:bodyPr>
          <a:lstStyle/>
          <a:p>
            <a:pPr eaLnBrk="1" hangingPunct="1"/>
            <a:r>
              <a:rPr lang="en-US" altLang="en-US" dirty="0"/>
              <a:t>Example of Detection Algorithm</a:t>
            </a:r>
          </a:p>
        </p:txBody>
      </p:sp>
      <p:sp>
        <p:nvSpPr>
          <p:cNvPr id="43011" name="Rectangle 3"/>
          <p:cNvSpPr>
            <a:spLocks noGrp="1" noChangeArrowheads="1"/>
          </p:cNvSpPr>
          <p:nvPr>
            <p:ph type="body" idx="1"/>
          </p:nvPr>
        </p:nvSpPr>
        <p:spPr>
          <a:xfrm>
            <a:off x="901700" y="1108075"/>
            <a:ext cx="8037513" cy="5121275"/>
          </a:xfrm>
        </p:spPr>
        <p:txBody>
          <a:bodyPr>
            <a:normAutofit fontScale="70000" lnSpcReduction="20000"/>
          </a:bodyPr>
          <a:lstStyle/>
          <a:p>
            <a:pPr>
              <a:tabLst>
                <a:tab pos="1428750" algn="l"/>
                <a:tab pos="2338388" algn="ctr"/>
                <a:tab pos="3594100" algn="ctr"/>
                <a:tab pos="4921250" algn="ctr"/>
              </a:tabLst>
            </a:pPr>
            <a:r>
              <a:rPr lang="en-US" altLang="en-US" dirty="0"/>
              <a:t>Consider a system with Five processes </a:t>
            </a:r>
            <a:r>
              <a:rPr lang="en-US" altLang="en-US" b="1" i="1" dirty="0"/>
              <a:t>P</a:t>
            </a:r>
            <a:r>
              <a:rPr lang="en-US" altLang="en-US" b="1" baseline="-25000" dirty="0"/>
              <a:t>0</a:t>
            </a:r>
            <a:r>
              <a:rPr lang="en-US" altLang="en-US" dirty="0"/>
              <a:t> through </a:t>
            </a:r>
            <a:r>
              <a:rPr lang="en-US" altLang="en-US" b="1" i="1" dirty="0"/>
              <a:t>P</a:t>
            </a:r>
            <a:r>
              <a:rPr lang="en-US" altLang="en-US" b="1" baseline="-25000" dirty="0"/>
              <a:t>4</a:t>
            </a:r>
            <a:r>
              <a:rPr lang="en-US" altLang="en-US" dirty="0"/>
              <a:t>;</a:t>
            </a:r>
            <a:r>
              <a:rPr lang="en-US" altLang="en-US" baseline="-25000" dirty="0"/>
              <a:t> </a:t>
            </a:r>
            <a:r>
              <a:rPr lang="en-US" altLang="en-US" dirty="0"/>
              <a:t>three resource types </a:t>
            </a:r>
            <a:br>
              <a:rPr lang="en-US" altLang="en-US" dirty="0"/>
            </a:br>
            <a:r>
              <a:rPr lang="en-US" altLang="en-US" dirty="0"/>
              <a:t>A (7 instances), </a:t>
            </a:r>
            <a:r>
              <a:rPr lang="en-US" altLang="en-US" i="1" dirty="0"/>
              <a:t>B </a:t>
            </a:r>
            <a:r>
              <a:rPr lang="en-US" altLang="en-US" dirty="0"/>
              <a:t>(2 instances), and </a:t>
            </a:r>
            <a:r>
              <a:rPr lang="en-US" altLang="en-US" i="1" dirty="0"/>
              <a:t>C</a:t>
            </a:r>
            <a:r>
              <a:rPr lang="en-US" altLang="en-US" dirty="0"/>
              <a:t> (6 instances)</a:t>
            </a:r>
          </a:p>
          <a:p>
            <a:pPr>
              <a:buFont typeface="Monotype Sorts" pitchFamily="-84" charset="2"/>
              <a:buNone/>
              <a:tabLst>
                <a:tab pos="1428750" algn="l"/>
                <a:tab pos="2338388" algn="ctr"/>
                <a:tab pos="3594100" algn="ctr"/>
                <a:tab pos="4921250" algn="ctr"/>
              </a:tabLst>
            </a:pPr>
            <a:endParaRPr lang="en-US" altLang="en-US" dirty="0"/>
          </a:p>
          <a:p>
            <a:r>
              <a:rPr lang="en-US" altLang="en-US" dirty="0"/>
              <a:t>Snapshot at time </a:t>
            </a:r>
            <a:r>
              <a:rPr lang="en-US" altLang="en-US" b="1" i="1" dirty="0"/>
              <a:t>T</a:t>
            </a:r>
            <a:r>
              <a:rPr lang="en-US" altLang="en-US" b="1" baseline="-25000" dirty="0"/>
              <a:t>0</a:t>
            </a:r>
            <a:r>
              <a:rPr lang="en-US" altLang="en-US" dirty="0"/>
              <a:t> (</a:t>
            </a:r>
            <a:r>
              <a:rPr lang="en-IN" dirty="0"/>
              <a:t>resource-allocation state</a:t>
            </a:r>
            <a:r>
              <a:rPr lang="en-IN" dirty="0">
                <a:sym typeface="Wingdings" panose="05000000000000000000" pitchFamily="2" charset="2"/>
              </a:rPr>
              <a:t>):</a:t>
            </a:r>
            <a:endParaRPr lang="en-US" altLang="en-US" dirty="0"/>
          </a:p>
          <a:p>
            <a:pPr>
              <a:buFont typeface="Monotype Sorts" pitchFamily="-84" charset="2"/>
              <a:buNone/>
              <a:tabLst>
                <a:tab pos="1428750" algn="l"/>
                <a:tab pos="2338388" algn="ctr"/>
                <a:tab pos="3594100" algn="ctr"/>
                <a:tab pos="4921250" algn="ctr"/>
              </a:tabLst>
            </a:pPr>
            <a:r>
              <a:rPr lang="en-US" altLang="en-US" dirty="0"/>
              <a:t>			 </a:t>
            </a:r>
            <a:r>
              <a:rPr lang="en-US" altLang="en-US" i="1" u="sng" dirty="0"/>
              <a:t>Allocation</a:t>
            </a:r>
            <a:r>
              <a:rPr lang="en-US" altLang="en-US" i="1" dirty="0"/>
              <a:t>	</a:t>
            </a:r>
            <a:r>
              <a:rPr lang="en-US" altLang="en-US" i="1" u="sng" dirty="0"/>
              <a:t>Request</a:t>
            </a:r>
            <a:r>
              <a:rPr lang="en-US" altLang="en-US" i="1" dirty="0"/>
              <a:t>	</a:t>
            </a:r>
            <a:r>
              <a:rPr lang="en-US" altLang="en-US" i="1" u="sng" dirty="0"/>
              <a:t>Available</a:t>
            </a:r>
          </a:p>
          <a:p>
            <a:pPr>
              <a:buFont typeface="Monotype Sorts" pitchFamily="-84" charset="2"/>
              <a:buNone/>
              <a:tabLst>
                <a:tab pos="1428750" algn="l"/>
                <a:tab pos="2338388" algn="ctr"/>
                <a:tab pos="3594100" algn="ctr"/>
                <a:tab pos="4921250" algn="ctr"/>
              </a:tabLst>
            </a:pPr>
            <a:r>
              <a:rPr lang="en-US" altLang="en-US" dirty="0"/>
              <a:t>			</a:t>
            </a:r>
            <a:r>
              <a:rPr lang="en-US" altLang="en-US" i="1" dirty="0"/>
              <a:t>A B C 	  A B C 	A B C</a:t>
            </a:r>
          </a:p>
          <a:p>
            <a:pPr>
              <a:buFont typeface="Monotype Sorts" pitchFamily="-84" charset="2"/>
              <a:buNone/>
              <a:tabLst>
                <a:tab pos="1428750" algn="l"/>
                <a:tab pos="2338388" algn="ctr"/>
                <a:tab pos="3594100" algn="ctr"/>
                <a:tab pos="4921250" algn="ctr"/>
              </a:tabLst>
            </a:pPr>
            <a:r>
              <a:rPr lang="en-US" altLang="en-US" dirty="0"/>
              <a:t>	        </a:t>
            </a:r>
            <a:r>
              <a:rPr lang="en-US" altLang="en-US" i="1" dirty="0"/>
              <a:t>P</a:t>
            </a:r>
            <a:r>
              <a:rPr lang="en-US" altLang="en-US" baseline="-25000" dirty="0"/>
              <a:t>0</a:t>
            </a:r>
            <a:r>
              <a:rPr lang="en-US" altLang="en-US" dirty="0"/>
              <a:t>	          0 1 0             0 0 0 	0 0 0</a:t>
            </a:r>
          </a:p>
          <a:p>
            <a:pPr>
              <a:buFont typeface="Monotype Sorts" pitchFamily="-84" charset="2"/>
              <a:buNone/>
              <a:tabLst>
                <a:tab pos="1428750" algn="l"/>
                <a:tab pos="2338388" algn="ctr"/>
                <a:tab pos="3594100" algn="ctr"/>
                <a:tab pos="4921250" algn="ctr"/>
              </a:tabLst>
            </a:pPr>
            <a:r>
              <a:rPr lang="en-US" altLang="en-US" i="1" dirty="0"/>
              <a:t>             P</a:t>
            </a:r>
            <a:r>
              <a:rPr lang="en-US" altLang="en-US" baseline="-25000" dirty="0"/>
              <a:t>1</a:t>
            </a:r>
            <a:r>
              <a:rPr lang="en-US" altLang="en-US" dirty="0"/>
              <a:t>	          	2 0 0 	   2 0 2</a:t>
            </a:r>
          </a:p>
          <a:p>
            <a:pPr>
              <a:buFont typeface="Monotype Sorts" pitchFamily="-84" charset="2"/>
              <a:buNone/>
              <a:tabLst>
                <a:tab pos="1428750" algn="l"/>
                <a:tab pos="2338388" algn="ctr"/>
                <a:tab pos="3594100" algn="ctr"/>
                <a:tab pos="4921250" algn="ctr"/>
              </a:tabLst>
            </a:pPr>
            <a:r>
              <a:rPr lang="en-US" altLang="en-US" i="1" dirty="0"/>
              <a:t>             P</a:t>
            </a:r>
            <a:r>
              <a:rPr lang="en-US" altLang="en-US" baseline="-25000" dirty="0"/>
              <a:t>2</a:t>
            </a:r>
            <a:r>
              <a:rPr lang="en-US" altLang="en-US" dirty="0"/>
              <a:t>		          3 0 3             0 0 0 </a:t>
            </a:r>
          </a:p>
          <a:p>
            <a:pPr>
              <a:buFont typeface="Monotype Sorts" pitchFamily="-84" charset="2"/>
              <a:buNone/>
              <a:tabLst>
                <a:tab pos="1428750" algn="l"/>
                <a:tab pos="2338388" algn="ctr"/>
                <a:tab pos="3594100" algn="ctr"/>
                <a:tab pos="4921250" algn="ctr"/>
              </a:tabLst>
            </a:pPr>
            <a:r>
              <a:rPr lang="en-US" altLang="en-US" i="1" dirty="0"/>
              <a:t>             P</a:t>
            </a:r>
            <a:r>
              <a:rPr lang="en-US" altLang="en-US" baseline="-25000" dirty="0"/>
              <a:t>3</a:t>
            </a:r>
            <a:r>
              <a:rPr lang="en-US" altLang="en-US" dirty="0"/>
              <a:t>		2 1 1 	   1 0 0 </a:t>
            </a:r>
          </a:p>
          <a:p>
            <a:pPr>
              <a:buFont typeface="Monotype Sorts" pitchFamily="-84" charset="2"/>
              <a:buNone/>
              <a:tabLst>
                <a:tab pos="1428750" algn="l"/>
                <a:tab pos="2338388" algn="ctr"/>
                <a:tab pos="3594100" algn="ctr"/>
                <a:tab pos="4921250" algn="ctr"/>
              </a:tabLst>
            </a:pPr>
            <a:r>
              <a:rPr lang="en-US" altLang="en-US" dirty="0"/>
              <a:t>	       </a:t>
            </a:r>
            <a:r>
              <a:rPr lang="en-US" altLang="en-US" i="1" dirty="0"/>
              <a:t>P</a:t>
            </a:r>
            <a:r>
              <a:rPr lang="en-US" altLang="en-US" baseline="-25000" dirty="0"/>
              <a:t>4	</a:t>
            </a:r>
            <a:r>
              <a:rPr lang="en-US" altLang="en-US" dirty="0"/>
              <a:t>	0 0 2 	   0 0 2</a:t>
            </a:r>
          </a:p>
          <a:p>
            <a:pPr>
              <a:buFont typeface="Monotype Sorts" pitchFamily="-84" charset="2"/>
              <a:buNone/>
              <a:tabLst>
                <a:tab pos="1428750" algn="l"/>
                <a:tab pos="2338388" algn="ctr"/>
                <a:tab pos="3594100" algn="ctr"/>
                <a:tab pos="4921250" algn="ctr"/>
              </a:tabLst>
            </a:pPr>
            <a:endParaRPr lang="en-US" altLang="en-US" dirty="0"/>
          </a:p>
          <a:p>
            <a:pPr>
              <a:tabLst>
                <a:tab pos="1428750" algn="l"/>
                <a:tab pos="2338388" algn="ctr"/>
                <a:tab pos="3594100" algn="ctr"/>
                <a:tab pos="4921250" algn="ctr"/>
              </a:tabLst>
            </a:pPr>
            <a:r>
              <a:rPr lang="en-US" altLang="en-US" b="1" dirty="0">
                <a:solidFill>
                  <a:srgbClr val="00B050"/>
                </a:solidFill>
              </a:rPr>
              <a:t>Sequence &lt;</a:t>
            </a:r>
            <a:r>
              <a:rPr lang="en-US" altLang="en-US" b="1" i="1" dirty="0">
                <a:solidFill>
                  <a:srgbClr val="00B050"/>
                </a:solidFill>
              </a:rPr>
              <a:t>P</a:t>
            </a:r>
            <a:r>
              <a:rPr lang="en-US" altLang="en-US" b="1" i="1" baseline="-25000" dirty="0">
                <a:solidFill>
                  <a:srgbClr val="00B050"/>
                </a:solidFill>
              </a:rPr>
              <a:t>0</a:t>
            </a:r>
            <a:r>
              <a:rPr lang="en-US" altLang="en-US" b="1" i="1" dirty="0">
                <a:solidFill>
                  <a:srgbClr val="00B050"/>
                </a:solidFill>
              </a:rPr>
              <a:t>, P</a:t>
            </a:r>
            <a:r>
              <a:rPr lang="en-US" altLang="en-US" b="1" i="1" baseline="-25000" dirty="0">
                <a:solidFill>
                  <a:srgbClr val="00B050"/>
                </a:solidFill>
              </a:rPr>
              <a:t>2</a:t>
            </a:r>
            <a:r>
              <a:rPr lang="en-US" altLang="en-US" b="1" i="1" dirty="0">
                <a:solidFill>
                  <a:srgbClr val="00B050"/>
                </a:solidFill>
              </a:rPr>
              <a:t>, P</a:t>
            </a:r>
            <a:r>
              <a:rPr lang="en-US" altLang="en-US" b="1" i="1" baseline="-25000" dirty="0">
                <a:solidFill>
                  <a:srgbClr val="00B050"/>
                </a:solidFill>
              </a:rPr>
              <a:t>3</a:t>
            </a:r>
            <a:r>
              <a:rPr lang="en-US" altLang="en-US" b="1" i="1" dirty="0">
                <a:solidFill>
                  <a:srgbClr val="00B050"/>
                </a:solidFill>
              </a:rPr>
              <a:t>, P</a:t>
            </a:r>
            <a:r>
              <a:rPr lang="en-US" altLang="en-US" b="1" i="1" baseline="-25000" dirty="0">
                <a:solidFill>
                  <a:srgbClr val="00B050"/>
                </a:solidFill>
              </a:rPr>
              <a:t>1</a:t>
            </a:r>
            <a:r>
              <a:rPr lang="en-US" altLang="en-US" b="1" i="1" dirty="0">
                <a:solidFill>
                  <a:srgbClr val="00B050"/>
                </a:solidFill>
              </a:rPr>
              <a:t>, P</a:t>
            </a:r>
            <a:r>
              <a:rPr lang="en-US" altLang="en-US" b="1" i="1" baseline="-25000" dirty="0">
                <a:solidFill>
                  <a:srgbClr val="00B050"/>
                </a:solidFill>
              </a:rPr>
              <a:t>4</a:t>
            </a:r>
            <a:r>
              <a:rPr lang="en-US" altLang="en-US" b="1" dirty="0">
                <a:solidFill>
                  <a:srgbClr val="00B050"/>
                </a:solidFill>
              </a:rPr>
              <a:t>&gt; will result in </a:t>
            </a:r>
            <a:r>
              <a:rPr lang="en-US" altLang="en-US" b="1" i="1" dirty="0">
                <a:solidFill>
                  <a:srgbClr val="00B050"/>
                </a:solidFill>
              </a:rPr>
              <a:t>Finish[</a:t>
            </a:r>
            <a:r>
              <a:rPr lang="en-US" altLang="en-US" b="1" i="1" dirty="0" err="1">
                <a:solidFill>
                  <a:srgbClr val="00B050"/>
                </a:solidFill>
              </a:rPr>
              <a:t>i</a:t>
            </a:r>
            <a:r>
              <a:rPr lang="en-US" altLang="en-US" b="1" i="1" dirty="0">
                <a:solidFill>
                  <a:srgbClr val="00B050"/>
                </a:solidFill>
              </a:rPr>
              <a:t>] = true </a:t>
            </a:r>
            <a:r>
              <a:rPr lang="en-US" altLang="en-US" b="1" dirty="0">
                <a:solidFill>
                  <a:srgbClr val="00B050"/>
                </a:solidFill>
              </a:rPr>
              <a:t>for all </a:t>
            </a:r>
            <a:r>
              <a:rPr lang="en-US" altLang="en-US" b="1" dirty="0" err="1">
                <a:solidFill>
                  <a:srgbClr val="00B050"/>
                </a:solidFill>
              </a:rPr>
              <a:t>i</a:t>
            </a:r>
            <a:r>
              <a:rPr lang="en-US" altLang="en-US" b="1" dirty="0">
                <a:solidFill>
                  <a:srgbClr val="00B050"/>
                </a:solidFill>
              </a:rPr>
              <a:t>.</a:t>
            </a:r>
          </a:p>
          <a:p>
            <a:pPr>
              <a:buFont typeface="Monotype Sorts" pitchFamily="-84" charset="2"/>
              <a:buNone/>
              <a:tabLst>
                <a:tab pos="1428750" algn="l"/>
                <a:tab pos="2338388" algn="ctr"/>
                <a:tab pos="3594100" algn="ctr"/>
                <a:tab pos="4921250" algn="ctr"/>
              </a:tabLst>
            </a:pPr>
            <a:r>
              <a:rPr lang="en-US" altLang="en-US" b="1" dirty="0"/>
              <a:t>	Hence, </a:t>
            </a:r>
            <a:r>
              <a:rPr lang="en-US" dirty="0"/>
              <a:t>the system is not in a deadlocked state.</a:t>
            </a:r>
            <a:endParaRPr lang="en-US" altLang="en-US" dirty="0"/>
          </a:p>
        </p:txBody>
      </p:sp>
    </p:spTree>
    <p:extLst>
      <p:ext uri="{BB962C8B-B14F-4D97-AF65-F5344CB8AC3E}">
        <p14:creationId xmlns:p14="http://schemas.microsoft.com/office/powerpoint/2010/main" val="8288077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457200" y="214313"/>
            <a:ext cx="8229600" cy="576262"/>
          </a:xfrm>
        </p:spPr>
        <p:txBody>
          <a:bodyPr>
            <a:noAutofit/>
          </a:bodyPr>
          <a:lstStyle/>
          <a:p>
            <a:r>
              <a:rPr lang="en-US" altLang="en-US" sz="3200" dirty="0"/>
              <a:t>Example of Detection Algorithm(Cont’d)</a:t>
            </a:r>
          </a:p>
        </p:txBody>
      </p:sp>
      <p:sp>
        <p:nvSpPr>
          <p:cNvPr id="44035" name="Rectangle 3"/>
          <p:cNvSpPr>
            <a:spLocks noGrp="1" noChangeArrowheads="1"/>
          </p:cNvSpPr>
          <p:nvPr>
            <p:ph type="body" idx="1"/>
          </p:nvPr>
        </p:nvSpPr>
        <p:spPr>
          <a:xfrm>
            <a:off x="806450" y="1233488"/>
            <a:ext cx="7781925" cy="5037137"/>
          </a:xfrm>
        </p:spPr>
        <p:txBody>
          <a:bodyPr>
            <a:normAutofit fontScale="70000" lnSpcReduction="20000"/>
          </a:bodyPr>
          <a:lstStyle/>
          <a:p>
            <a:r>
              <a:rPr lang="en-US" dirty="0"/>
              <a:t>Suppose now that process </a:t>
            </a:r>
            <a:r>
              <a:rPr lang="en-US" altLang="en-US" b="1" i="1" dirty="0"/>
              <a:t>P</a:t>
            </a:r>
            <a:r>
              <a:rPr lang="en-US" altLang="en-US" b="1" baseline="-25000" dirty="0"/>
              <a:t>2</a:t>
            </a:r>
            <a:r>
              <a:rPr lang="en-US" altLang="en-US" dirty="0"/>
              <a:t> requests an additional instance of type</a:t>
            </a:r>
            <a:r>
              <a:rPr lang="en-US" altLang="en-US" i="1" dirty="0"/>
              <a:t> </a:t>
            </a:r>
            <a:r>
              <a:rPr lang="en-US" altLang="en-US" b="1" i="1" dirty="0"/>
              <a:t>C</a:t>
            </a:r>
          </a:p>
          <a:p>
            <a:pPr lvl="1"/>
            <a:r>
              <a:rPr lang="en-US" b="1" i="1" dirty="0"/>
              <a:t>Request </a:t>
            </a:r>
            <a:r>
              <a:rPr lang="en-US" dirty="0"/>
              <a:t>matrix is modified as follows:</a:t>
            </a:r>
            <a:endParaRPr lang="en-US" altLang="en-US" b="1" dirty="0"/>
          </a:p>
          <a:p>
            <a:pPr>
              <a:buFont typeface="Monotype Sorts" pitchFamily="-84" charset="2"/>
              <a:buNone/>
              <a:tabLst>
                <a:tab pos="2800350" algn="l"/>
                <a:tab pos="3708400" algn="ctr"/>
              </a:tabLst>
            </a:pPr>
            <a:r>
              <a:rPr lang="en-US" altLang="en-US" dirty="0"/>
              <a:t>			</a:t>
            </a:r>
            <a:r>
              <a:rPr lang="en-US" altLang="en-US" i="1" u="sng" dirty="0"/>
              <a:t>Request</a:t>
            </a:r>
            <a:endParaRPr lang="en-US" altLang="en-US" i="1" dirty="0"/>
          </a:p>
          <a:p>
            <a:pPr>
              <a:buFont typeface="Monotype Sorts" pitchFamily="-84" charset="2"/>
              <a:buNone/>
              <a:tabLst>
                <a:tab pos="2800350" algn="l"/>
                <a:tab pos="3708400" algn="ctr"/>
              </a:tabLst>
            </a:pPr>
            <a:r>
              <a:rPr lang="en-US" altLang="en-US" i="1" dirty="0"/>
              <a:t>			A B C</a:t>
            </a:r>
          </a:p>
          <a:p>
            <a:pPr>
              <a:buFont typeface="Monotype Sorts" pitchFamily="-84" charset="2"/>
              <a:buNone/>
              <a:tabLst>
                <a:tab pos="2800350" algn="l"/>
                <a:tab pos="3708400" algn="ctr"/>
              </a:tabLst>
            </a:pPr>
            <a:r>
              <a:rPr lang="en-US" altLang="en-US" dirty="0"/>
              <a:t>		 </a:t>
            </a:r>
            <a:r>
              <a:rPr lang="en-US" altLang="en-US" i="1" dirty="0"/>
              <a:t>P</a:t>
            </a:r>
            <a:r>
              <a:rPr lang="en-US" altLang="en-US" baseline="-25000" dirty="0"/>
              <a:t>0</a:t>
            </a:r>
            <a:r>
              <a:rPr lang="en-US" altLang="en-US" dirty="0"/>
              <a:t>	0 0 0</a:t>
            </a:r>
          </a:p>
          <a:p>
            <a:pPr>
              <a:buFont typeface="Monotype Sorts" pitchFamily="-84" charset="2"/>
              <a:buNone/>
              <a:tabLst>
                <a:tab pos="2800350" algn="l"/>
                <a:tab pos="3708400" algn="ctr"/>
              </a:tabLst>
            </a:pPr>
            <a:r>
              <a:rPr lang="en-US" altLang="en-US" dirty="0"/>
              <a:t>		 </a:t>
            </a:r>
            <a:r>
              <a:rPr lang="en-US" altLang="en-US" i="1" dirty="0"/>
              <a:t>P</a:t>
            </a:r>
            <a:r>
              <a:rPr lang="en-US" altLang="en-US" baseline="-25000" dirty="0"/>
              <a:t>1</a:t>
            </a:r>
            <a:r>
              <a:rPr lang="en-US" altLang="en-US" dirty="0"/>
              <a:t>	2 0 2</a:t>
            </a:r>
          </a:p>
          <a:p>
            <a:pPr>
              <a:buFont typeface="Monotype Sorts" pitchFamily="-84" charset="2"/>
              <a:buNone/>
              <a:tabLst>
                <a:tab pos="2800350" algn="l"/>
                <a:tab pos="3708400" algn="ctr"/>
              </a:tabLst>
            </a:pPr>
            <a:r>
              <a:rPr lang="en-US" altLang="en-US" dirty="0"/>
              <a:t>		 </a:t>
            </a:r>
            <a:r>
              <a:rPr lang="en-US" altLang="en-US" i="1" dirty="0"/>
              <a:t>P</a:t>
            </a:r>
            <a:r>
              <a:rPr lang="en-US" altLang="en-US" baseline="-25000" dirty="0"/>
              <a:t>2</a:t>
            </a:r>
            <a:r>
              <a:rPr lang="en-US" altLang="en-US" dirty="0"/>
              <a:t>	0 0 1</a:t>
            </a:r>
          </a:p>
          <a:p>
            <a:pPr>
              <a:buFont typeface="Monotype Sorts" pitchFamily="-84" charset="2"/>
              <a:buNone/>
              <a:tabLst>
                <a:tab pos="2800350" algn="l"/>
                <a:tab pos="3708400" algn="ctr"/>
              </a:tabLst>
            </a:pPr>
            <a:r>
              <a:rPr lang="en-US" altLang="en-US" dirty="0"/>
              <a:t>		 </a:t>
            </a:r>
            <a:r>
              <a:rPr lang="en-US" altLang="en-US" i="1" dirty="0"/>
              <a:t>P</a:t>
            </a:r>
            <a:r>
              <a:rPr lang="en-US" altLang="en-US" baseline="-25000" dirty="0"/>
              <a:t>3</a:t>
            </a:r>
            <a:r>
              <a:rPr lang="en-US" altLang="en-US" dirty="0"/>
              <a:t>	1 0 0 </a:t>
            </a:r>
          </a:p>
          <a:p>
            <a:pPr>
              <a:buFont typeface="Monotype Sorts" pitchFamily="-84" charset="2"/>
              <a:buNone/>
              <a:tabLst>
                <a:tab pos="2800350" algn="l"/>
                <a:tab pos="3708400" algn="ctr"/>
              </a:tabLst>
            </a:pPr>
            <a:r>
              <a:rPr lang="en-US" altLang="en-US" dirty="0"/>
              <a:t>		 </a:t>
            </a:r>
            <a:r>
              <a:rPr lang="en-US" altLang="en-US" i="1" dirty="0"/>
              <a:t>P</a:t>
            </a:r>
            <a:r>
              <a:rPr lang="en-US" altLang="en-US" baseline="-25000" dirty="0"/>
              <a:t>4</a:t>
            </a:r>
            <a:r>
              <a:rPr lang="en-US" altLang="en-US" dirty="0"/>
              <a:t>	0 0 2</a:t>
            </a:r>
          </a:p>
          <a:p>
            <a:pPr>
              <a:buFont typeface="Monotype Sorts" pitchFamily="-84" charset="2"/>
              <a:buNone/>
              <a:tabLst>
                <a:tab pos="2800350" algn="l"/>
                <a:tab pos="3708400" algn="ctr"/>
              </a:tabLst>
            </a:pPr>
            <a:endParaRPr lang="en-US" altLang="en-US" sz="800" dirty="0"/>
          </a:p>
          <a:p>
            <a:pPr>
              <a:tabLst>
                <a:tab pos="2800350" algn="l"/>
                <a:tab pos="3708400" algn="ctr"/>
              </a:tabLst>
            </a:pPr>
            <a:r>
              <a:rPr lang="en-US" altLang="en-US" dirty="0"/>
              <a:t>State of system?</a:t>
            </a:r>
          </a:p>
          <a:p>
            <a:pPr lvl="1" algn="just">
              <a:tabLst>
                <a:tab pos="2800350" algn="l"/>
                <a:tab pos="3708400" algn="ctr"/>
              </a:tabLst>
            </a:pPr>
            <a:r>
              <a:rPr lang="en-US" altLang="en-US" dirty="0">
                <a:solidFill>
                  <a:srgbClr val="FF0000"/>
                </a:solidFill>
              </a:rPr>
              <a:t>Can reclaim resources held by process </a:t>
            </a:r>
            <a:r>
              <a:rPr lang="en-US" altLang="en-US" b="1" i="1" dirty="0">
                <a:solidFill>
                  <a:srgbClr val="FF0000"/>
                </a:solidFill>
              </a:rPr>
              <a:t>P</a:t>
            </a:r>
            <a:r>
              <a:rPr lang="en-US" altLang="en-US" b="1" baseline="-25000" dirty="0">
                <a:solidFill>
                  <a:srgbClr val="FF0000"/>
                </a:solidFill>
              </a:rPr>
              <a:t>0</a:t>
            </a:r>
            <a:r>
              <a:rPr lang="en-US" altLang="en-US" dirty="0">
                <a:solidFill>
                  <a:srgbClr val="FF0000"/>
                </a:solidFill>
              </a:rPr>
              <a:t>, but insufficient resources to fulfill other processes requests</a:t>
            </a:r>
          </a:p>
          <a:p>
            <a:pPr lvl="1">
              <a:tabLst>
                <a:tab pos="2800350" algn="l"/>
                <a:tab pos="3708400" algn="ctr"/>
              </a:tabLst>
            </a:pPr>
            <a:r>
              <a:rPr lang="en-US" altLang="en-US" b="1" dirty="0">
                <a:solidFill>
                  <a:srgbClr val="00B050"/>
                </a:solidFill>
              </a:rPr>
              <a:t>Deadlock exists</a:t>
            </a:r>
            <a:r>
              <a:rPr lang="en-US" altLang="en-US" dirty="0"/>
              <a:t>, consisting of processes </a:t>
            </a:r>
            <a:r>
              <a:rPr lang="en-US" altLang="en-US" b="1" i="1" dirty="0"/>
              <a:t>P</a:t>
            </a:r>
            <a:r>
              <a:rPr lang="en-US" altLang="en-US" b="1" baseline="-25000" dirty="0"/>
              <a:t>1</a:t>
            </a:r>
            <a:r>
              <a:rPr lang="en-US" altLang="en-US" b="1" dirty="0"/>
              <a:t>, </a:t>
            </a:r>
            <a:r>
              <a:rPr lang="en-US" altLang="en-US" b="1" baseline="-25000" dirty="0"/>
              <a:t> </a:t>
            </a:r>
            <a:r>
              <a:rPr lang="en-US" altLang="en-US" b="1" i="1" dirty="0"/>
              <a:t>P</a:t>
            </a:r>
            <a:r>
              <a:rPr lang="en-US" altLang="en-US" b="1" baseline="-25000" dirty="0"/>
              <a:t>2</a:t>
            </a:r>
            <a:r>
              <a:rPr lang="en-US" altLang="en-US" b="1" dirty="0"/>
              <a:t>, </a:t>
            </a:r>
            <a:r>
              <a:rPr lang="en-US" altLang="en-US" b="1" i="1" dirty="0"/>
              <a:t>P</a:t>
            </a:r>
            <a:r>
              <a:rPr lang="en-US" altLang="en-US" b="1" baseline="-25000" dirty="0"/>
              <a:t>3</a:t>
            </a:r>
            <a:r>
              <a:rPr lang="en-US" altLang="en-US" dirty="0"/>
              <a:t>, and </a:t>
            </a:r>
            <a:r>
              <a:rPr lang="en-US" altLang="en-US" b="1" i="1" dirty="0"/>
              <a:t>P</a:t>
            </a:r>
            <a:r>
              <a:rPr lang="en-US" altLang="en-US" b="1" baseline="-25000" dirty="0"/>
              <a:t>4</a:t>
            </a:r>
            <a:endParaRPr lang="en-US" altLang="en-US" b="1" dirty="0"/>
          </a:p>
        </p:txBody>
      </p:sp>
    </p:spTree>
    <p:extLst>
      <p:ext uri="{BB962C8B-B14F-4D97-AF65-F5344CB8AC3E}">
        <p14:creationId xmlns:p14="http://schemas.microsoft.com/office/powerpoint/2010/main" val="28440964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1100138" y="230188"/>
            <a:ext cx="7586662" cy="576262"/>
          </a:xfrm>
        </p:spPr>
        <p:txBody>
          <a:bodyPr>
            <a:normAutofit fontScale="90000"/>
          </a:bodyPr>
          <a:lstStyle/>
          <a:p>
            <a:pPr eaLnBrk="1" hangingPunct="1"/>
            <a:r>
              <a:rPr lang="en-US" altLang="en-US"/>
              <a:t>Detection-Algorithm Usage</a:t>
            </a:r>
          </a:p>
        </p:txBody>
      </p:sp>
      <p:sp>
        <p:nvSpPr>
          <p:cNvPr id="45059" name="Rectangle 3"/>
          <p:cNvSpPr>
            <a:spLocks noGrp="1" noChangeArrowheads="1"/>
          </p:cNvSpPr>
          <p:nvPr>
            <p:ph type="body" idx="1"/>
          </p:nvPr>
        </p:nvSpPr>
        <p:spPr>
          <a:xfrm>
            <a:off x="869950" y="1122363"/>
            <a:ext cx="7107238" cy="4530725"/>
          </a:xfrm>
        </p:spPr>
        <p:txBody>
          <a:bodyPr>
            <a:normAutofit/>
          </a:bodyPr>
          <a:lstStyle/>
          <a:p>
            <a:pPr algn="just"/>
            <a:r>
              <a:rPr lang="en-US" altLang="en-US" dirty="0"/>
              <a:t>When, and how often, to invoke the algorithm depends on:</a:t>
            </a:r>
          </a:p>
          <a:p>
            <a:pPr lvl="1"/>
            <a:r>
              <a:rPr lang="en-US" altLang="en-US" dirty="0"/>
              <a:t>How often a deadlock is likely to occur?</a:t>
            </a:r>
          </a:p>
          <a:p>
            <a:pPr lvl="1"/>
            <a:r>
              <a:rPr lang="en-US" dirty="0"/>
              <a:t>How </a:t>
            </a:r>
            <a:r>
              <a:rPr lang="en-US" b="1" i="1" dirty="0"/>
              <a:t>many </a:t>
            </a:r>
            <a:r>
              <a:rPr lang="en-US" dirty="0"/>
              <a:t>processes will be affected by deadlock when it happens?</a:t>
            </a:r>
            <a:endParaRPr lang="en-US" altLang="en-US" dirty="0"/>
          </a:p>
          <a:p>
            <a:pPr lvl="2"/>
            <a:r>
              <a:rPr lang="en-US" altLang="en-US" dirty="0"/>
              <a:t>How many processes will need to be rolled back?</a:t>
            </a:r>
          </a:p>
          <a:p>
            <a:pPr lvl="3"/>
            <a:r>
              <a:rPr lang="en-US" altLang="en-US" dirty="0"/>
              <a:t>one for each disjoint cycle</a:t>
            </a:r>
          </a:p>
        </p:txBody>
      </p:sp>
    </p:spTree>
    <p:extLst>
      <p:ext uri="{BB962C8B-B14F-4D97-AF65-F5344CB8AC3E}">
        <p14:creationId xmlns:p14="http://schemas.microsoft.com/office/powerpoint/2010/main" val="20581825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1100138" y="230188"/>
            <a:ext cx="7586662" cy="576262"/>
          </a:xfrm>
        </p:spPr>
        <p:txBody>
          <a:bodyPr>
            <a:noAutofit/>
          </a:bodyPr>
          <a:lstStyle/>
          <a:p>
            <a:pPr eaLnBrk="1" hangingPunct="1"/>
            <a:r>
              <a:rPr lang="en-US" altLang="en-US" sz="3200" dirty="0"/>
              <a:t>Detection-Algorithm Usage (cont’d)</a:t>
            </a:r>
          </a:p>
        </p:txBody>
      </p:sp>
      <p:sp>
        <p:nvSpPr>
          <p:cNvPr id="45059" name="Rectangle 3"/>
          <p:cNvSpPr>
            <a:spLocks noGrp="1" noChangeArrowheads="1"/>
          </p:cNvSpPr>
          <p:nvPr>
            <p:ph type="body" idx="1"/>
          </p:nvPr>
        </p:nvSpPr>
        <p:spPr>
          <a:xfrm>
            <a:off x="869950" y="806450"/>
            <a:ext cx="7374458" cy="5646885"/>
          </a:xfrm>
        </p:spPr>
        <p:txBody>
          <a:bodyPr>
            <a:noAutofit/>
          </a:bodyPr>
          <a:lstStyle/>
          <a:p>
            <a:r>
              <a:rPr lang="en-US" altLang="en-US" sz="1600" dirty="0"/>
              <a:t>If </a:t>
            </a:r>
            <a:r>
              <a:rPr lang="en-US" altLang="en-US" sz="1600" dirty="0">
                <a:solidFill>
                  <a:srgbClr val="FF0000"/>
                </a:solidFill>
              </a:rPr>
              <a:t>deadlocks occur frequently</a:t>
            </a:r>
            <a:r>
              <a:rPr lang="en-US" altLang="en-US" sz="1600" dirty="0"/>
              <a:t>, then the detection algorithm should be invoked frequently</a:t>
            </a:r>
          </a:p>
          <a:p>
            <a:pPr lvl="1"/>
            <a:r>
              <a:rPr lang="en-US" altLang="en-US" sz="1400" dirty="0"/>
              <a:t>Resources allocated to deadlocked processes will be idle until the deadlock can be broken</a:t>
            </a:r>
          </a:p>
          <a:p>
            <a:pPr lvl="1"/>
            <a:r>
              <a:rPr lang="en-US" altLang="en-US" sz="1400" dirty="0"/>
              <a:t>Number of processes involved in the deadlock cycle may grow</a:t>
            </a:r>
          </a:p>
          <a:p>
            <a:r>
              <a:rPr lang="en-US" altLang="en-US" sz="1600" dirty="0"/>
              <a:t>Deadlocks occur only when some process makes a request that cannot be granted immediately. </a:t>
            </a:r>
          </a:p>
          <a:p>
            <a:pPr lvl="1"/>
            <a:r>
              <a:rPr lang="en-US" altLang="en-US" sz="1400" dirty="0">
                <a:solidFill>
                  <a:srgbClr val="FF0000"/>
                </a:solidFill>
              </a:rPr>
              <a:t>This request may be the final request that completes a chain of waiting processes. </a:t>
            </a:r>
          </a:p>
          <a:p>
            <a:r>
              <a:rPr lang="en-US" altLang="en-US" sz="1600" dirty="0"/>
              <a:t>In the extreme case , we can invoke the deadlock detection </a:t>
            </a:r>
            <a:r>
              <a:rPr lang="en-US" altLang="en-US" sz="1600" dirty="0">
                <a:solidFill>
                  <a:srgbClr val="FF0000"/>
                </a:solidFill>
              </a:rPr>
              <a:t>algorithm every time a request for allocation cannot be granted immediately. </a:t>
            </a:r>
          </a:p>
          <a:p>
            <a:pPr lvl="1"/>
            <a:r>
              <a:rPr lang="en-US" altLang="en-US" sz="1400" dirty="0"/>
              <a:t>We can identify not only the deadlocked set of processes but also the specific process that “caused” the deadlock. </a:t>
            </a:r>
          </a:p>
          <a:p>
            <a:pPr lvl="1"/>
            <a:r>
              <a:rPr lang="en-US" altLang="en-US" sz="1400" dirty="0"/>
              <a:t>One request may create many cycles in the resource graph “caused” by the one identifiable process</a:t>
            </a:r>
          </a:p>
          <a:p>
            <a:pPr lvl="2"/>
            <a:r>
              <a:rPr lang="en-US" altLang="en-US" sz="1200" dirty="0"/>
              <a:t>Incurs considerable overhead in computation time. </a:t>
            </a:r>
          </a:p>
          <a:p>
            <a:r>
              <a:rPr lang="en-US" altLang="en-US" sz="1600" dirty="0"/>
              <a:t>Alternatively, </a:t>
            </a:r>
            <a:r>
              <a:rPr lang="en-US" altLang="en-US" sz="1600" dirty="0">
                <a:solidFill>
                  <a:srgbClr val="FF0000"/>
                </a:solidFill>
              </a:rPr>
              <a:t>invoke the algorithm at defined intervals</a:t>
            </a:r>
          </a:p>
          <a:p>
            <a:pPr lvl="1"/>
            <a:r>
              <a:rPr lang="en-US" altLang="en-US" sz="1400" dirty="0"/>
              <a:t>Once per hour or Whenever CPU utilization drops below 40 percent.</a:t>
            </a:r>
          </a:p>
          <a:p>
            <a:r>
              <a:rPr lang="en-US" altLang="en-US" sz="1600" dirty="0"/>
              <a:t>A deadlock eventually cripples system throughput and causes CPU utilization to drop.</a:t>
            </a:r>
          </a:p>
          <a:p>
            <a:pPr algn="just"/>
            <a:r>
              <a:rPr lang="en-US" altLang="en-US" sz="1600" dirty="0"/>
              <a:t>If detection </a:t>
            </a:r>
            <a:r>
              <a:rPr lang="en-US" altLang="en-US" sz="1600" dirty="0">
                <a:solidFill>
                  <a:srgbClr val="FF0000"/>
                </a:solidFill>
              </a:rPr>
              <a:t>algorithm is invoked arbitrarily, there may be many cycles </a:t>
            </a:r>
            <a:r>
              <a:rPr lang="en-US" altLang="en-US" sz="1600" dirty="0"/>
              <a:t>in the resource graph and so we would not be able to tell which of the many deadlocked processes </a:t>
            </a:r>
            <a:r>
              <a:rPr lang="ja-JP" altLang="en-US" sz="1600" dirty="0"/>
              <a:t>“</a:t>
            </a:r>
            <a:r>
              <a:rPr lang="en-US" altLang="ja-JP" sz="1600" dirty="0"/>
              <a:t>caused</a:t>
            </a:r>
            <a:r>
              <a:rPr lang="ja-JP" altLang="en-US" sz="1600" dirty="0"/>
              <a:t>”</a:t>
            </a:r>
            <a:r>
              <a:rPr lang="en-US" altLang="ja-JP" sz="1600" dirty="0"/>
              <a:t> the deadlock.</a:t>
            </a:r>
            <a:endParaRPr lang="en-US" altLang="en-US" sz="1600" dirty="0"/>
          </a:p>
          <a:p>
            <a:endParaRPr lang="en-US" altLang="en-US" sz="1600" dirty="0"/>
          </a:p>
        </p:txBody>
      </p:sp>
    </p:spTree>
    <p:extLst>
      <p:ext uri="{BB962C8B-B14F-4D97-AF65-F5344CB8AC3E}">
        <p14:creationId xmlns:p14="http://schemas.microsoft.com/office/powerpoint/2010/main" val="13180650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1100138" y="230188"/>
            <a:ext cx="7586662" cy="576262"/>
          </a:xfrm>
        </p:spPr>
        <p:txBody>
          <a:bodyPr>
            <a:normAutofit fontScale="90000"/>
          </a:bodyPr>
          <a:lstStyle/>
          <a:p>
            <a:r>
              <a:rPr lang="en-US" altLang="en-US" dirty="0"/>
              <a:t>Recovery from Deadlock</a:t>
            </a:r>
          </a:p>
        </p:txBody>
      </p:sp>
      <p:sp>
        <p:nvSpPr>
          <p:cNvPr id="45059" name="Rectangle 3"/>
          <p:cNvSpPr>
            <a:spLocks noGrp="1" noChangeArrowheads="1"/>
          </p:cNvSpPr>
          <p:nvPr>
            <p:ph type="body" idx="1"/>
          </p:nvPr>
        </p:nvSpPr>
        <p:spPr>
          <a:xfrm>
            <a:off x="869950" y="1122363"/>
            <a:ext cx="7107238" cy="4682901"/>
          </a:xfrm>
        </p:spPr>
        <p:txBody>
          <a:bodyPr>
            <a:normAutofit fontScale="92500" lnSpcReduction="10000"/>
          </a:bodyPr>
          <a:lstStyle/>
          <a:p>
            <a:pPr algn="just"/>
            <a:r>
              <a:rPr lang="en-US" altLang="en-US" dirty="0"/>
              <a:t>When a detection algorithm determines that </a:t>
            </a:r>
            <a:r>
              <a:rPr lang="en-US" altLang="en-US" dirty="0">
                <a:solidFill>
                  <a:srgbClr val="FF0000"/>
                </a:solidFill>
              </a:rPr>
              <a:t>a deadlock exists:</a:t>
            </a:r>
          </a:p>
          <a:p>
            <a:pPr lvl="1" algn="just"/>
            <a:r>
              <a:rPr lang="en-US" altLang="en-US" dirty="0"/>
              <a:t> One possibility is to </a:t>
            </a:r>
            <a:r>
              <a:rPr lang="en-US" altLang="en-US" b="1" dirty="0">
                <a:solidFill>
                  <a:srgbClr val="00B050"/>
                </a:solidFill>
              </a:rPr>
              <a:t>inform the operator </a:t>
            </a:r>
            <a:r>
              <a:rPr lang="en-US" altLang="en-US" dirty="0"/>
              <a:t>that a deadlock has occurred and to let the operator deal with the deadlock </a:t>
            </a:r>
            <a:r>
              <a:rPr lang="en-US" altLang="en-US" b="1" dirty="0">
                <a:solidFill>
                  <a:srgbClr val="00B050"/>
                </a:solidFill>
              </a:rPr>
              <a:t>manually</a:t>
            </a:r>
            <a:r>
              <a:rPr lang="en-US" altLang="en-US" dirty="0"/>
              <a:t>. </a:t>
            </a:r>
          </a:p>
          <a:p>
            <a:pPr lvl="1" algn="just"/>
            <a:r>
              <a:rPr lang="en-US" altLang="en-US" dirty="0"/>
              <a:t>Another possibility is to </a:t>
            </a:r>
            <a:r>
              <a:rPr lang="en-US" altLang="en-US" b="1" dirty="0">
                <a:solidFill>
                  <a:srgbClr val="00B050"/>
                </a:solidFill>
              </a:rPr>
              <a:t>let the system recover from the deadlock automatically. </a:t>
            </a:r>
          </a:p>
          <a:p>
            <a:pPr lvl="2" algn="just"/>
            <a:r>
              <a:rPr lang="en-US" altLang="en-US" dirty="0"/>
              <a:t>There are two options for breaking a deadlock. </a:t>
            </a:r>
          </a:p>
          <a:p>
            <a:pPr lvl="3" algn="just"/>
            <a:r>
              <a:rPr lang="en-US" altLang="en-US" dirty="0">
                <a:solidFill>
                  <a:srgbClr val="FF0000"/>
                </a:solidFill>
              </a:rPr>
              <a:t>Abort one or more processes </a:t>
            </a:r>
            <a:r>
              <a:rPr lang="en-US" altLang="en-US" dirty="0"/>
              <a:t>to break the circular wait. </a:t>
            </a:r>
          </a:p>
          <a:p>
            <a:pPr lvl="3" algn="just"/>
            <a:r>
              <a:rPr lang="en-US" altLang="en-US" dirty="0">
                <a:solidFill>
                  <a:srgbClr val="FF0000"/>
                </a:solidFill>
              </a:rPr>
              <a:t>Preempt some resources </a:t>
            </a:r>
            <a:r>
              <a:rPr lang="en-US" altLang="en-US" dirty="0"/>
              <a:t>from one or more of the deadlocked processes.</a:t>
            </a:r>
          </a:p>
        </p:txBody>
      </p:sp>
    </p:spTree>
    <p:extLst>
      <p:ext uri="{BB962C8B-B14F-4D97-AF65-F5344CB8AC3E}">
        <p14:creationId xmlns:p14="http://schemas.microsoft.com/office/powerpoint/2010/main" val="299499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823913" y="228600"/>
            <a:ext cx="8588375" cy="457200"/>
          </a:xfrm>
        </p:spPr>
        <p:txBody>
          <a:bodyPr/>
          <a:lstStyle/>
          <a:p>
            <a:pPr eaLnBrk="1" hangingPunct="1"/>
            <a:r>
              <a:rPr lang="en-US" altLang="en-US" sz="2400" dirty="0"/>
              <a:t>Recovery from Deadlock:  Process Termination</a:t>
            </a:r>
          </a:p>
        </p:txBody>
      </p:sp>
      <p:sp>
        <p:nvSpPr>
          <p:cNvPr id="46083" name="Rectangle 3"/>
          <p:cNvSpPr>
            <a:spLocks noGrp="1" noChangeArrowheads="1"/>
          </p:cNvSpPr>
          <p:nvPr>
            <p:ph type="body" idx="1"/>
          </p:nvPr>
        </p:nvSpPr>
        <p:spPr>
          <a:xfrm>
            <a:off x="963613" y="685800"/>
            <a:ext cx="7694612" cy="5119463"/>
          </a:xfrm>
        </p:spPr>
        <p:txBody>
          <a:bodyPr>
            <a:noAutofit/>
          </a:bodyPr>
          <a:lstStyle/>
          <a:p>
            <a:pPr marL="514350" indent="-514350">
              <a:buFont typeface="+mj-lt"/>
              <a:buAutoNum type="arabicPeriod"/>
            </a:pPr>
            <a:r>
              <a:rPr lang="en-US" altLang="en-US" sz="1400" b="1" dirty="0">
                <a:solidFill>
                  <a:srgbClr val="00B050"/>
                </a:solidFill>
              </a:rPr>
              <a:t>Abort all deadlocked processes</a:t>
            </a:r>
          </a:p>
          <a:p>
            <a:pPr lvl="1">
              <a:buFont typeface="Arial" panose="020B0604020202020204" pitchFamily="34" charset="0"/>
              <a:buChar char="•"/>
            </a:pPr>
            <a:r>
              <a:rPr lang="en-US" sz="1200" dirty="0"/>
              <a:t>Will break the deadlock cycle, but at great expense. </a:t>
            </a:r>
          </a:p>
          <a:p>
            <a:pPr lvl="1">
              <a:buFont typeface="Arial" panose="020B0604020202020204" pitchFamily="34" charset="0"/>
              <a:buChar char="•"/>
            </a:pPr>
            <a:r>
              <a:rPr lang="en-US" sz="1200" dirty="0"/>
              <a:t>Deadlocked processes may have computed for a long time, and the results of these partial computations must be discarded and probably will have to be recomputed later. </a:t>
            </a:r>
            <a:endParaRPr lang="en-US" altLang="en-US" sz="1200" dirty="0"/>
          </a:p>
          <a:p>
            <a:pPr marL="514350" indent="-514350">
              <a:buFont typeface="+mj-lt"/>
              <a:buAutoNum type="arabicPeriod"/>
            </a:pPr>
            <a:r>
              <a:rPr lang="en-US" altLang="en-US" sz="1400" b="1" dirty="0">
                <a:solidFill>
                  <a:srgbClr val="00B050"/>
                </a:solidFill>
              </a:rPr>
              <a:t>Abort one process at a time until the deadlock cycle is eliminated</a:t>
            </a:r>
          </a:p>
          <a:p>
            <a:pPr lvl="1">
              <a:buFont typeface="Arial" panose="020B0604020202020204" pitchFamily="34" charset="0"/>
              <a:buChar char="•"/>
            </a:pPr>
            <a:r>
              <a:rPr lang="en-US" sz="1200" dirty="0"/>
              <a:t>Incurs considerable overhead, since after each process is aborted, a deadlock-detection algorithm must be invoked to determine whether any </a:t>
            </a:r>
            <a:r>
              <a:rPr lang="en-IN" sz="1200" dirty="0"/>
              <a:t>processes are still deadlocked. </a:t>
            </a:r>
            <a:endParaRPr lang="en-US" altLang="en-US" sz="1200" dirty="0"/>
          </a:p>
          <a:p>
            <a:r>
              <a:rPr lang="en-US" altLang="en-US" sz="1400" dirty="0">
                <a:solidFill>
                  <a:srgbClr val="FF0000"/>
                </a:solidFill>
              </a:rPr>
              <a:t>In which order should we choose to abort? </a:t>
            </a:r>
            <a:r>
              <a:rPr lang="en-US" altLang="en-US" sz="1400" dirty="0"/>
              <a:t>(determine which deadlocked process(</a:t>
            </a:r>
            <a:r>
              <a:rPr lang="en-US" altLang="en-US" sz="1400" dirty="0" err="1"/>
              <a:t>es</a:t>
            </a:r>
            <a:r>
              <a:rPr lang="en-US" altLang="en-US" sz="1400" dirty="0"/>
              <a:t>) to be terminated)</a:t>
            </a:r>
          </a:p>
          <a:p>
            <a:pPr lvl="1"/>
            <a:r>
              <a:rPr lang="en-US" sz="1200" dirty="0"/>
              <a:t>If the process was in the midst of updating a file, terminating it will leave that file in an incorrect state. </a:t>
            </a:r>
          </a:p>
          <a:p>
            <a:pPr lvl="1"/>
            <a:r>
              <a:rPr lang="en-US" sz="1200" dirty="0"/>
              <a:t>If the process was in the midst of printing data on a printer, the system must reset the printer to a correct state before printing the next job.</a:t>
            </a:r>
          </a:p>
          <a:p>
            <a:r>
              <a:rPr lang="en-US" sz="1400" dirty="0"/>
              <a:t>Abort those processes whose termination will incur the minimum cost. </a:t>
            </a:r>
          </a:p>
          <a:p>
            <a:pPr lvl="1"/>
            <a:r>
              <a:rPr lang="en-US" sz="1200" dirty="0"/>
              <a:t>Many factors may affect which process is to be chosen, including:</a:t>
            </a:r>
          </a:p>
          <a:p>
            <a:pPr marL="800100" lvl="1" indent="-342900">
              <a:buFont typeface="Arial" pitchFamily="34" charset="0"/>
              <a:buAutoNum type="arabicPeriod"/>
            </a:pPr>
            <a:r>
              <a:rPr lang="en-US" altLang="en-US" sz="1200" dirty="0"/>
              <a:t>Priority of the process</a:t>
            </a:r>
          </a:p>
          <a:p>
            <a:pPr marL="800100" lvl="1" indent="-342900">
              <a:buFont typeface="Arial" pitchFamily="34" charset="0"/>
              <a:buAutoNum type="arabicPeriod"/>
            </a:pPr>
            <a:r>
              <a:rPr lang="en-US" altLang="en-US" sz="1200" dirty="0"/>
              <a:t>How long process has computed, and how much longer to completion</a:t>
            </a:r>
          </a:p>
          <a:p>
            <a:pPr marL="800100" lvl="1" indent="-342900">
              <a:buFont typeface="Arial" pitchFamily="34" charset="0"/>
              <a:buAutoNum type="arabicPeriod"/>
            </a:pPr>
            <a:r>
              <a:rPr lang="en-US" altLang="en-US" sz="1200" dirty="0"/>
              <a:t>Resources the process has used</a:t>
            </a:r>
          </a:p>
          <a:p>
            <a:pPr marL="800100" lvl="1" indent="-342900">
              <a:buFont typeface="Arial" pitchFamily="34" charset="0"/>
              <a:buAutoNum type="arabicPeriod"/>
            </a:pPr>
            <a:r>
              <a:rPr lang="en-US" altLang="en-US" sz="1200" dirty="0"/>
              <a:t>Resources process needs to complete</a:t>
            </a:r>
          </a:p>
          <a:p>
            <a:pPr marL="800100" lvl="1" indent="-342900">
              <a:buFont typeface="Arial" pitchFamily="34" charset="0"/>
              <a:buAutoNum type="arabicPeriod"/>
            </a:pPr>
            <a:r>
              <a:rPr lang="en-US" altLang="en-US" sz="1200" dirty="0"/>
              <a:t>How many processes will need to be terminated</a:t>
            </a:r>
          </a:p>
          <a:p>
            <a:pPr marL="800100" lvl="1" indent="-342900">
              <a:buFont typeface="Arial" pitchFamily="34" charset="0"/>
              <a:buAutoNum type="arabicPeriod"/>
            </a:pPr>
            <a:r>
              <a:rPr lang="en-US" altLang="en-US" sz="1200" dirty="0"/>
              <a:t>Is process interactive or batch?</a:t>
            </a:r>
          </a:p>
          <a:p>
            <a:pPr marL="800100" lvl="1" indent="-342900">
              <a:buFont typeface="Arial" pitchFamily="34" charset="0"/>
              <a:buAutoNum type="arabicPeriod"/>
            </a:pPr>
            <a:endParaRPr lang="en-US" altLang="en-US" sz="1200" dirty="0"/>
          </a:p>
          <a:p>
            <a:pPr marL="0" indent="0" algn="just">
              <a:buNone/>
            </a:pPr>
            <a:r>
              <a:rPr lang="en-US" sz="1400" dirty="0">
                <a:solidFill>
                  <a:srgbClr val="FF0000"/>
                </a:solidFill>
              </a:rPr>
              <a:t>              The system reclaims all resources allocated to the terminated  </a:t>
            </a:r>
            <a:r>
              <a:rPr lang="en-IN" sz="1400" dirty="0">
                <a:solidFill>
                  <a:srgbClr val="FF0000"/>
                </a:solidFill>
              </a:rPr>
              <a:t>processes.</a:t>
            </a:r>
            <a:endParaRPr lang="en-US" altLang="en-US" sz="1400" dirty="0">
              <a:solidFill>
                <a:srgbClr val="FF0000"/>
              </a:solidFill>
            </a:endParaRPr>
          </a:p>
        </p:txBody>
      </p:sp>
    </p:spTree>
    <p:extLst>
      <p:ext uri="{BB962C8B-B14F-4D97-AF65-F5344CB8AC3E}">
        <p14:creationId xmlns:p14="http://schemas.microsoft.com/office/powerpoint/2010/main" val="19941250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147763" y="255588"/>
            <a:ext cx="8020050" cy="457200"/>
          </a:xfrm>
        </p:spPr>
        <p:txBody>
          <a:bodyPr/>
          <a:lstStyle/>
          <a:p>
            <a:pPr eaLnBrk="1" hangingPunct="1"/>
            <a:r>
              <a:rPr lang="en-US" altLang="en-US" sz="2400" dirty="0"/>
              <a:t>Recovery from Deadlock:  Resource Preemption</a:t>
            </a:r>
          </a:p>
        </p:txBody>
      </p:sp>
      <p:sp>
        <p:nvSpPr>
          <p:cNvPr id="47107" name="Rectangle 3"/>
          <p:cNvSpPr>
            <a:spLocks noGrp="1" noChangeArrowheads="1"/>
          </p:cNvSpPr>
          <p:nvPr>
            <p:ph type="body" idx="1"/>
          </p:nvPr>
        </p:nvSpPr>
        <p:spPr>
          <a:xfrm>
            <a:off x="858838" y="1150938"/>
            <a:ext cx="6802437" cy="4483100"/>
          </a:xfrm>
        </p:spPr>
        <p:txBody>
          <a:bodyPr>
            <a:normAutofit fontScale="70000" lnSpcReduction="20000"/>
          </a:bodyPr>
          <a:lstStyle/>
          <a:p>
            <a:pPr algn="just"/>
            <a:r>
              <a:rPr lang="en-US" dirty="0"/>
              <a:t>To eliminate deadlocks using resource preemption</a:t>
            </a:r>
          </a:p>
          <a:p>
            <a:pPr lvl="1" algn="just"/>
            <a:r>
              <a:rPr lang="en-US" b="1" dirty="0">
                <a:solidFill>
                  <a:srgbClr val="00B050"/>
                </a:solidFill>
              </a:rPr>
              <a:t>successively preempt some resources from processes </a:t>
            </a:r>
            <a:r>
              <a:rPr lang="en-US" dirty="0"/>
              <a:t>and give these resources to other processes until the deadlock cycle is broken.</a:t>
            </a:r>
          </a:p>
          <a:p>
            <a:r>
              <a:rPr lang="en-US" dirty="0"/>
              <a:t>If preemption is required to deal with deadlocks, then </a:t>
            </a:r>
            <a:r>
              <a:rPr lang="en-US" dirty="0">
                <a:solidFill>
                  <a:srgbClr val="00B050"/>
                </a:solidFill>
              </a:rPr>
              <a:t>three issues need to be addressed:</a:t>
            </a:r>
          </a:p>
          <a:p>
            <a:endParaRPr lang="en-US" altLang="en-US" b="1" dirty="0"/>
          </a:p>
          <a:p>
            <a:pPr marL="914400" lvl="1" indent="-514350">
              <a:buFont typeface="+mj-lt"/>
              <a:buAutoNum type="arabicPeriod"/>
            </a:pPr>
            <a:r>
              <a:rPr lang="en-US" altLang="en-US" b="1" dirty="0"/>
              <a:t>Selecting a victim </a:t>
            </a:r>
            <a:r>
              <a:rPr lang="en-US" altLang="en-US" dirty="0"/>
              <a:t>– minimize cost</a:t>
            </a:r>
            <a:br>
              <a:rPr lang="en-US" altLang="en-US" dirty="0"/>
            </a:br>
            <a:endParaRPr lang="en-US" altLang="en-US" dirty="0"/>
          </a:p>
          <a:p>
            <a:pPr marL="914400" lvl="1" indent="-514350">
              <a:buFont typeface="+mj-lt"/>
              <a:buAutoNum type="arabicPeriod"/>
            </a:pPr>
            <a:r>
              <a:rPr lang="en-US" altLang="en-US" b="1" dirty="0"/>
              <a:t>Rollback</a:t>
            </a:r>
            <a:r>
              <a:rPr lang="en-US" altLang="en-US" dirty="0"/>
              <a:t> – return to some safe state or restart process from that state</a:t>
            </a:r>
            <a:br>
              <a:rPr lang="en-US" altLang="en-US" dirty="0"/>
            </a:br>
            <a:endParaRPr lang="en-US" altLang="en-US" dirty="0"/>
          </a:p>
          <a:p>
            <a:pPr marL="914400" lvl="1" indent="-514350" algn="just">
              <a:buFont typeface="+mj-lt"/>
              <a:buAutoNum type="arabicPeriod"/>
            </a:pPr>
            <a:r>
              <a:rPr lang="en-US" altLang="en-US" b="1" dirty="0"/>
              <a:t>Starvation</a:t>
            </a:r>
            <a:r>
              <a:rPr lang="en-US" altLang="en-US" dirty="0"/>
              <a:t> –  same process may always be picked as victim, include number of rollback in cost factor</a:t>
            </a:r>
          </a:p>
        </p:txBody>
      </p:sp>
    </p:spTree>
    <p:extLst>
      <p:ext uri="{BB962C8B-B14F-4D97-AF65-F5344CB8AC3E}">
        <p14:creationId xmlns:p14="http://schemas.microsoft.com/office/powerpoint/2010/main" val="41186884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8614"/>
            <a:ext cx="8229600" cy="634082"/>
          </a:xfrm>
        </p:spPr>
        <p:txBody>
          <a:bodyPr>
            <a:noAutofit/>
          </a:bodyPr>
          <a:lstStyle/>
          <a:p>
            <a:r>
              <a:rPr lang="en-US" altLang="en-US" sz="2800" dirty="0"/>
              <a:t>Recovery from Deadlock:  Resource Preemption</a:t>
            </a:r>
            <a:endParaRPr lang="en-IN" sz="2800" dirty="0"/>
          </a:p>
        </p:txBody>
      </p:sp>
      <p:sp>
        <p:nvSpPr>
          <p:cNvPr id="3" name="Content Placeholder 2"/>
          <p:cNvSpPr>
            <a:spLocks noGrp="1"/>
          </p:cNvSpPr>
          <p:nvPr>
            <p:ph idx="1"/>
          </p:nvPr>
        </p:nvSpPr>
        <p:spPr>
          <a:xfrm>
            <a:off x="457200" y="764704"/>
            <a:ext cx="8229600" cy="5001419"/>
          </a:xfrm>
        </p:spPr>
        <p:txBody>
          <a:bodyPr>
            <a:noAutofit/>
          </a:bodyPr>
          <a:lstStyle/>
          <a:p>
            <a:pPr marL="0" indent="0" algn="just">
              <a:buNone/>
            </a:pPr>
            <a:r>
              <a:rPr lang="en-US" sz="1800" dirty="0">
                <a:solidFill>
                  <a:srgbClr val="FF0000"/>
                </a:solidFill>
              </a:rPr>
              <a:t>1.Selecting a victim </a:t>
            </a:r>
            <a:r>
              <a:rPr lang="en-US" sz="1800" dirty="0"/>
              <a:t>( Which resources and which processes are to be preempted? </a:t>
            </a:r>
            <a:endParaRPr lang="en-US" sz="1600" dirty="0"/>
          </a:p>
          <a:p>
            <a:pPr lvl="1" algn="just"/>
            <a:r>
              <a:rPr lang="en-US" sz="1600" dirty="0"/>
              <a:t>determine the order of  preemption leading to minimize cost.</a:t>
            </a:r>
          </a:p>
          <a:p>
            <a:pPr lvl="1" algn="just"/>
            <a:r>
              <a:rPr lang="en-US" sz="1600" dirty="0"/>
              <a:t>Cost factors may include parameters like as the number of resources a deadlocked process is holding and the amount of time the process has thus far consumed.</a:t>
            </a:r>
          </a:p>
          <a:p>
            <a:pPr marL="0" indent="0" algn="just">
              <a:buNone/>
            </a:pPr>
            <a:r>
              <a:rPr lang="en-US" sz="1800" dirty="0">
                <a:solidFill>
                  <a:srgbClr val="FF0000"/>
                </a:solidFill>
              </a:rPr>
              <a:t>2. Rollback </a:t>
            </a:r>
            <a:r>
              <a:rPr lang="en-US" sz="1800" dirty="0"/>
              <a:t>(If we preempt a resource from a process, what should be done with that process? </a:t>
            </a:r>
          </a:p>
          <a:p>
            <a:pPr lvl="1" algn="just"/>
            <a:r>
              <a:rPr lang="en-US" sz="1600" dirty="0"/>
              <a:t>It cannot continue with its normal execution as it is missing some needed resource </a:t>
            </a:r>
          </a:p>
          <a:p>
            <a:pPr lvl="1" algn="just"/>
            <a:r>
              <a:rPr lang="en-US" sz="1600" dirty="0"/>
              <a:t>Roll back the process to some safe state and restart it from that state</a:t>
            </a:r>
          </a:p>
          <a:p>
            <a:pPr lvl="1" algn="just"/>
            <a:r>
              <a:rPr lang="en-US" sz="1600" dirty="0"/>
              <a:t>It is difficult to determine what a safe state is? </a:t>
            </a:r>
          </a:p>
          <a:p>
            <a:pPr lvl="2" algn="just"/>
            <a:r>
              <a:rPr lang="en-US" sz="1600" dirty="0">
                <a:solidFill>
                  <a:srgbClr val="FF0000"/>
                </a:solidFill>
              </a:rPr>
              <a:t>Solution: Total rollback</a:t>
            </a:r>
            <a:r>
              <a:rPr lang="en-US" sz="1600" dirty="0"/>
              <a:t> - abort the process and then restart</a:t>
            </a:r>
          </a:p>
          <a:p>
            <a:pPr lvl="1" algn="just"/>
            <a:r>
              <a:rPr lang="en-US" sz="1600" dirty="0"/>
              <a:t>Although it is more effective to roll back the process only as far as necessary to break the deadlock, this method requires the system to keep more information about the state of all running processes.</a:t>
            </a:r>
          </a:p>
          <a:p>
            <a:pPr marL="0" indent="0" algn="just">
              <a:buNone/>
            </a:pPr>
            <a:r>
              <a:rPr lang="en-US" sz="1800" dirty="0">
                <a:solidFill>
                  <a:srgbClr val="FF0000"/>
                </a:solidFill>
              </a:rPr>
              <a:t>3. Starvation </a:t>
            </a:r>
            <a:r>
              <a:rPr lang="en-US" sz="1800" dirty="0"/>
              <a:t>(How do we ensure that starvation will not occur? How can we guarantee that resources will not always be preempted from the same process? )</a:t>
            </a:r>
          </a:p>
          <a:p>
            <a:pPr lvl="1" algn="just"/>
            <a:r>
              <a:rPr lang="en-US" sz="1600" dirty="0"/>
              <a:t>If victim selection is based on cost factors:</a:t>
            </a:r>
          </a:p>
          <a:p>
            <a:pPr lvl="2" algn="just"/>
            <a:r>
              <a:rPr lang="en-US" sz="1600" dirty="0"/>
              <a:t>May be the same process is always picked as a victim</a:t>
            </a:r>
          </a:p>
          <a:p>
            <a:pPr lvl="3" algn="just"/>
            <a:r>
              <a:rPr lang="en-US" sz="1200" dirty="0"/>
              <a:t>This process never completes its designated task</a:t>
            </a:r>
          </a:p>
          <a:p>
            <a:pPr lvl="2" algn="just"/>
            <a:r>
              <a:rPr lang="en-US" sz="1600" dirty="0"/>
              <a:t>Solution: ensure that a process can be picked as a victim only a (small) finite number of times. </a:t>
            </a:r>
            <a:r>
              <a:rPr lang="en-US" sz="1600" b="1" dirty="0">
                <a:solidFill>
                  <a:srgbClr val="00B050"/>
                </a:solidFill>
              </a:rPr>
              <a:t>Include the number of rollbacks in the cost factor.</a:t>
            </a:r>
          </a:p>
          <a:p>
            <a:pPr algn="just"/>
            <a:endParaRPr lang="en-IN" sz="1600" dirty="0"/>
          </a:p>
        </p:txBody>
      </p:sp>
    </p:spTree>
    <p:extLst>
      <p:ext uri="{BB962C8B-B14F-4D97-AF65-F5344CB8AC3E}">
        <p14:creationId xmlns:p14="http://schemas.microsoft.com/office/powerpoint/2010/main" val="10393478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4993</TotalTime>
  <Words>5031</Words>
  <Application>Microsoft Office PowerPoint</Application>
  <PresentationFormat>On-screen Show (4:3)</PresentationFormat>
  <Paragraphs>479</Paragraphs>
  <Slides>57</Slides>
  <Notes>45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57</vt:i4>
      </vt:variant>
    </vt:vector>
  </HeadingPairs>
  <TitlesOfParts>
    <vt:vector size="67" baseType="lpstr">
      <vt:lpstr>Arial</vt:lpstr>
      <vt:lpstr>Calibri</vt:lpstr>
      <vt:lpstr>Courier New</vt:lpstr>
      <vt:lpstr>Monotype Sorts</vt:lpstr>
      <vt:lpstr>Symbol</vt:lpstr>
      <vt:lpstr>Times New Roman</vt:lpstr>
      <vt:lpstr>Verdana</vt:lpstr>
      <vt:lpstr>Webdings</vt:lpstr>
      <vt:lpstr>Wingdings</vt:lpstr>
      <vt:lpstr>Office Theme</vt:lpstr>
      <vt:lpstr>Module3_Deadlocks</vt:lpstr>
      <vt:lpstr>Deadlocks- Topics</vt:lpstr>
      <vt:lpstr>The Deadlock Problem</vt:lpstr>
      <vt:lpstr>Bridge Crossing Example</vt:lpstr>
      <vt:lpstr>System Model</vt:lpstr>
      <vt:lpstr>Deadlock Characterization</vt:lpstr>
      <vt:lpstr>Deadlock with Mutex Locks</vt:lpstr>
      <vt:lpstr>Resource-Allocation Graph</vt:lpstr>
      <vt:lpstr>Resource-Allocation Graph (Cont.)</vt:lpstr>
      <vt:lpstr>Example of a Resource Allocation Graph</vt:lpstr>
      <vt:lpstr>Resource Allocation Graph With A Deadlock</vt:lpstr>
      <vt:lpstr>Graph With A Cycle But No Deadlock</vt:lpstr>
      <vt:lpstr>Basic Facts</vt:lpstr>
      <vt:lpstr>Methods for Handling Deadlocks</vt:lpstr>
      <vt:lpstr>Deadlock Prevention</vt:lpstr>
      <vt:lpstr>Deadlock Prevention (Cont.)</vt:lpstr>
      <vt:lpstr>Deadlock Prevention (Cont.)</vt:lpstr>
      <vt:lpstr>Deadlock Example</vt:lpstr>
      <vt:lpstr>Deadlock Example with Lock Ordering</vt:lpstr>
      <vt:lpstr>Deadlock Avoidance</vt:lpstr>
      <vt:lpstr>Safe State</vt:lpstr>
      <vt:lpstr>Basic Facts</vt:lpstr>
      <vt:lpstr>Safe, Unsafe, Deadlock State </vt:lpstr>
      <vt:lpstr>Safe, Unsafe, Deadlock State </vt:lpstr>
      <vt:lpstr>Avoidance Algorithms</vt:lpstr>
      <vt:lpstr>Resource-Allocation Graph Scheme</vt:lpstr>
      <vt:lpstr>Resource-Allocation Graph</vt:lpstr>
      <vt:lpstr>Unsafe State In Resource-Allocation Graph</vt:lpstr>
      <vt:lpstr>Resource-Allocation Graph Algorithm</vt:lpstr>
      <vt:lpstr>Banker’s Algorithm</vt:lpstr>
      <vt:lpstr>Data Structures for the Banker’s Algorithm </vt:lpstr>
      <vt:lpstr>Safety Algorithm</vt:lpstr>
      <vt:lpstr>Resource-Request Algorithm for Process Pi</vt:lpstr>
      <vt:lpstr>PowerPoint Presentation</vt:lpstr>
      <vt:lpstr>xx</vt:lpstr>
      <vt:lpstr>PowerPoint Presentation</vt:lpstr>
      <vt:lpstr>PowerPoint Presentation</vt:lpstr>
      <vt:lpstr>PowerPoint Presentation</vt:lpstr>
      <vt:lpstr>PowerPoint Presentation</vt:lpstr>
      <vt:lpstr>Example of Banker’s Algorithm</vt:lpstr>
      <vt:lpstr>Example (Cont.)</vt:lpstr>
      <vt:lpstr>Example (Cont.)</vt:lpstr>
      <vt:lpstr>Example (cont’d):  P1 Request (1,0,2)</vt:lpstr>
      <vt:lpstr>Example (cont’d)</vt:lpstr>
      <vt:lpstr>Deadlock Detection</vt:lpstr>
      <vt:lpstr>Deadlock Detection - Single Instance of Each Resource Type</vt:lpstr>
      <vt:lpstr>Deadlock Detection – Resource Allocation Graph and  Wait-for Graph</vt:lpstr>
      <vt:lpstr>Deadlock Detection -Several Instances of a Resource Type</vt:lpstr>
      <vt:lpstr>Deadlock Detection Algorithm  - Several Instances of a Resource Type</vt:lpstr>
      <vt:lpstr>Example of Detection Algorithm</vt:lpstr>
      <vt:lpstr>Example of Detection Algorithm(Cont’d)</vt:lpstr>
      <vt:lpstr>Detection-Algorithm Usage</vt:lpstr>
      <vt:lpstr>Detection-Algorithm Usage (cont’d)</vt:lpstr>
      <vt:lpstr>Recovery from Deadlock</vt:lpstr>
      <vt:lpstr>Recovery from Deadlock:  Process Termination</vt:lpstr>
      <vt:lpstr>Recovery from Deadlock:  Resource Preemption</vt:lpstr>
      <vt:lpstr>Recovery from Deadlock:  Resource Preemption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Deadlocks</dc:title>
  <dc:creator>vijaya sherly</dc:creator>
  <cp:lastModifiedBy>Ushus Elizebeth Zachariah</cp:lastModifiedBy>
  <cp:revision>136</cp:revision>
  <dcterms:created xsi:type="dcterms:W3CDTF">2016-08-05T05:05:20Z</dcterms:created>
  <dcterms:modified xsi:type="dcterms:W3CDTF">2026-08-18T03:08:38Z</dcterms:modified>
</cp:coreProperties>
</file>