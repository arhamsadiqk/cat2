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323" r:id="rId2"/>
    <p:sldId id="258" r:id="rId3"/>
    <p:sldId id="259" r:id="rId4"/>
    <p:sldId id="260" r:id="rId5"/>
    <p:sldId id="261" r:id="rId6"/>
    <p:sldId id="262" r:id="rId7"/>
    <p:sldId id="263" r:id="rId8"/>
    <p:sldId id="264" r:id="rId9"/>
    <p:sldId id="265" r:id="rId10"/>
    <p:sldId id="329" r:id="rId11"/>
    <p:sldId id="266" r:id="rId12"/>
    <p:sldId id="267" r:id="rId13"/>
    <p:sldId id="268" r:id="rId14"/>
    <p:sldId id="327" r:id="rId15"/>
    <p:sldId id="269" r:id="rId16"/>
    <p:sldId id="270" r:id="rId17"/>
    <p:sldId id="324"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325" r:id="rId34"/>
    <p:sldId id="326" r:id="rId35"/>
    <p:sldId id="286" r:id="rId36"/>
    <p:sldId id="287" r:id="rId37"/>
    <p:sldId id="288" r:id="rId38"/>
    <p:sldId id="289" r:id="rId39"/>
    <p:sldId id="290" r:id="rId40"/>
    <p:sldId id="330" r:id="rId41"/>
    <p:sldId id="291" r:id="rId42"/>
    <p:sldId id="292" r:id="rId43"/>
    <p:sldId id="293" r:id="rId44"/>
    <p:sldId id="331"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28" r:id="rId59"/>
    <p:sldId id="307" r:id="rId60"/>
    <p:sldId id="308" r:id="rId61"/>
    <p:sldId id="309" r:id="rId62"/>
    <p:sldId id="332"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F451D0-3B6B-4C1B-9AEE-B8CEC0C7C337}" type="datetimeFigureOut">
              <a:rPr lang="en-IN" smtClean="0"/>
              <a:t>06-10-2021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26CCC7-97DE-4EDD-A7BB-493A9428BDF2}" type="slidenum">
              <a:rPr lang="en-IN" smtClean="0"/>
              <a:t>‹#›</a:t>
            </a:fld>
            <a:endParaRPr lang="en-IN"/>
          </a:p>
        </p:txBody>
      </p:sp>
    </p:spTree>
    <p:extLst>
      <p:ext uri="{BB962C8B-B14F-4D97-AF65-F5344CB8AC3E}">
        <p14:creationId xmlns:p14="http://schemas.microsoft.com/office/powerpoint/2010/main" val="3978567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301D5E2-F13E-409E-B752-B614883A8D0E}" type="slidenum">
              <a:rPr lang="en-US" altLang="en-US" smtClean="0">
                <a:latin typeface="Times New Roman" pitchFamily="18" charset="0"/>
              </a:rPr>
              <a:pPr/>
              <a:t>2</a:t>
            </a:fld>
            <a:endParaRPr lang="en-US" altLang="en-US" smtClean="0">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609819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919909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41E0D97-D303-4601-B1B3-556A20F87C20}" type="slidenum">
              <a:rPr lang="en-US" altLang="en-US" smtClean="0">
                <a:latin typeface="Times New Roman" pitchFamily="18" charset="0"/>
              </a:rPr>
              <a:pPr/>
              <a:t>4</a:t>
            </a:fld>
            <a:endParaRPr lang="en-US" altLang="en-US" smtClean="0">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641023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39EB967-34A4-4A89-BA8B-5893F41AF7AF}" type="slidenum">
              <a:rPr lang="en-US" altLang="en-US" smtClean="0">
                <a:latin typeface="Times New Roman" pitchFamily="18" charset="0"/>
              </a:rPr>
              <a:pPr/>
              <a:t>5</a:t>
            </a:fld>
            <a:endParaRPr lang="en-US" altLang="en-US" smtClean="0">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625642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445D0B5-A5DF-486C-9ABE-AD37BF68FA51}" type="slidenum">
              <a:rPr lang="en-US" altLang="en-US" smtClean="0">
                <a:latin typeface="Times New Roman" pitchFamily="18" charset="0"/>
              </a:rPr>
              <a:pPr/>
              <a:t>6</a:t>
            </a:fld>
            <a:endParaRPr lang="en-US" altLang="en-US" smtClean="0">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951367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49E7AD94-3BA7-4112-A242-8F49A93FB4CF}" type="slidenum">
              <a:rPr lang="en-US" altLang="en-US" smtClean="0">
                <a:latin typeface="Times New Roman" pitchFamily="18" charset="0"/>
              </a:rPr>
              <a:pPr/>
              <a:t>7</a:t>
            </a:fld>
            <a:endParaRPr lang="en-US" altLang="en-US" smtClean="0">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444325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9A27277-7AE0-4568-A033-5B8E02EEF950}" type="slidenum">
              <a:rPr lang="en-US" altLang="en-US" smtClean="0">
                <a:latin typeface="Times New Roman" pitchFamily="18" charset="0"/>
              </a:rPr>
              <a:pPr/>
              <a:t>10</a:t>
            </a:fld>
            <a:endParaRPr lang="en-US" altLang="en-US" smtClean="0">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95825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DBA547D3-EC65-4D1B-87BF-A5A2F8BA9B5D}" type="slidenum">
              <a:rPr lang="en-US" altLang="en-US" smtClean="0">
                <a:latin typeface="Times New Roman" pitchFamily="18" charset="0"/>
              </a:rPr>
              <a:pPr/>
              <a:t>11</a:t>
            </a:fld>
            <a:endParaRPr lang="en-US" altLang="en-US" smtClean="0">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472669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9A27277-7AE0-4568-A033-5B8E02EEF950}" type="slidenum">
              <a:rPr lang="en-US" altLang="en-US" smtClean="0">
                <a:latin typeface="Times New Roman" pitchFamily="18" charset="0"/>
              </a:rPr>
              <a:pPr/>
              <a:t>12</a:t>
            </a:fld>
            <a:endParaRPr lang="en-US" altLang="en-US" smtClean="0">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381907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F23ED6D-6DEC-438B-95F1-AA4736F00A46}" type="slidenum">
              <a:rPr lang="en-US" altLang="en-US" smtClean="0">
                <a:latin typeface="Times New Roman" pitchFamily="18" charset="0"/>
              </a:rPr>
              <a:pPr/>
              <a:t>13</a:t>
            </a:fld>
            <a:endParaRPr lang="en-US" altLang="en-US" smtClean="0">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706448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2DD6517-7E05-404C-9F0C-E102495703A5}" type="slidenum">
              <a:rPr lang="en-US" altLang="en-US" smtClean="0">
                <a:latin typeface="Times New Roman" pitchFamily="18" charset="0"/>
              </a:rPr>
              <a:pPr/>
              <a:t>15</a:t>
            </a:fld>
            <a:endParaRPr lang="en-US" altLang="en-US" smtClean="0">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58817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C79D299-8D27-46FD-8F5E-204E9A0DE0E1}" type="slidenum">
              <a:rPr lang="en-US" altLang="en-US" smtClean="0">
                <a:latin typeface="Times New Roman" pitchFamily="18" charset="0"/>
              </a:rPr>
              <a:pPr/>
              <a:t>16</a:t>
            </a:fld>
            <a:endParaRPr lang="en-US" altLang="en-US" smtClean="0">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427595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D8D6C983-ECD1-4917-AF05-6479445033C0}" type="slidenum">
              <a:rPr lang="en-US" altLang="en-US" smtClean="0">
                <a:latin typeface="Times New Roman" pitchFamily="18" charset="0"/>
              </a:rPr>
              <a:pPr/>
              <a:t>17</a:t>
            </a:fld>
            <a:endParaRPr lang="en-US" altLang="en-US" smtClean="0">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4000837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D8D6C983-ECD1-4917-AF05-6479445033C0}" type="slidenum">
              <a:rPr lang="en-US" altLang="en-US" smtClean="0">
                <a:latin typeface="Times New Roman" pitchFamily="18" charset="0"/>
              </a:rPr>
              <a:pPr/>
              <a:t>18</a:t>
            </a:fld>
            <a:endParaRPr lang="en-US" altLang="en-US" smtClean="0">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139302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AC9F1D1-FB7E-4779-970D-F87191CE90B6}" type="slidenum">
              <a:rPr lang="en-US" altLang="en-US" smtClean="0">
                <a:latin typeface="Times New Roman" pitchFamily="18" charset="0"/>
              </a:rPr>
              <a:pPr/>
              <a:t>19</a:t>
            </a:fld>
            <a:endParaRPr lang="en-US" altLang="en-US" smtClean="0">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436353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605153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8175FA92-3CE7-4519-A50E-A5E2FEBA63F3}" type="slidenum">
              <a:rPr lang="en-US" altLang="en-US" smtClean="0">
                <a:latin typeface="Times New Roman" pitchFamily="18" charset="0"/>
              </a:rPr>
              <a:pPr/>
              <a:t>21</a:t>
            </a:fld>
            <a:endParaRPr lang="en-US" altLang="en-US" smtClean="0">
              <a:latin typeface="Times New Roman"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308152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D827C1EF-A6FC-4B9F-A3A1-468558F6089E}" type="slidenum">
              <a:rPr lang="en-US" altLang="en-US" smtClean="0">
                <a:latin typeface="Times New Roman" pitchFamily="18" charset="0"/>
              </a:rPr>
              <a:pPr/>
              <a:t>22</a:t>
            </a:fld>
            <a:endParaRPr lang="en-US" altLang="en-US" smtClean="0">
              <a:latin typeface="Times New Roman"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861454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151A835-84F2-426D-B615-4485AD0D9D2C}" type="slidenum">
              <a:rPr lang="en-US" altLang="en-US" smtClean="0">
                <a:latin typeface="Times New Roman" pitchFamily="18" charset="0"/>
              </a:rPr>
              <a:pPr/>
              <a:t>23</a:t>
            </a:fld>
            <a:endParaRPr lang="en-US" altLang="en-US" smtClean="0">
              <a:latin typeface="Times New Roman"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5073485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80BEB437-37DE-41C3-88CD-F45DA5FF5A05}" type="slidenum">
              <a:rPr lang="en-US" altLang="en-US" smtClean="0">
                <a:latin typeface="Times New Roman" pitchFamily="18" charset="0"/>
              </a:rPr>
              <a:pPr/>
              <a:t>24</a:t>
            </a:fld>
            <a:endParaRPr lang="en-US" altLang="en-US" smtClean="0">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761839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067857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5EBAAF24-03E2-4E96-9B22-B163BD287E98}" type="slidenum">
              <a:rPr lang="en-US" altLang="en-US" smtClean="0">
                <a:latin typeface="Times New Roman" pitchFamily="18" charset="0"/>
              </a:rPr>
              <a:pPr/>
              <a:t>26</a:t>
            </a:fld>
            <a:endParaRPr lang="en-US" altLang="en-US" smtClean="0">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9615896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5D9FEE5-6B95-4A03-A3B5-1EB3ED95F87E}" type="slidenum">
              <a:rPr lang="en-US" altLang="en-US" smtClean="0">
                <a:latin typeface="Times New Roman" pitchFamily="18" charset="0"/>
              </a:rPr>
              <a:pPr/>
              <a:t>28</a:t>
            </a:fld>
            <a:endParaRPr lang="en-US" altLang="en-US" smtClean="0">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398876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CA45DA0-1DFA-44AF-982C-C1D15853DCFE}" type="slidenum">
              <a:rPr lang="en-US" altLang="en-US" smtClean="0">
                <a:latin typeface="Times New Roman" pitchFamily="18" charset="0"/>
              </a:rPr>
              <a:pPr/>
              <a:t>29</a:t>
            </a:fld>
            <a:endParaRPr lang="en-US" altLang="en-US" smtClean="0">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1824212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DDDAAB7-C571-4031-AEFC-40D1D398CF30}" type="slidenum">
              <a:rPr lang="en-US" altLang="en-US" smtClean="0">
                <a:latin typeface="Times New Roman" pitchFamily="18" charset="0"/>
              </a:rPr>
              <a:pPr/>
              <a:t>30</a:t>
            </a:fld>
            <a:endParaRPr lang="en-US" altLang="en-US" smtClean="0">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8658747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FE103025-6A87-416E-98BE-E996C4B13CAE}" type="slidenum">
              <a:rPr lang="en-US" altLang="en-US" smtClean="0">
                <a:latin typeface="Times New Roman" pitchFamily="18" charset="0"/>
              </a:rPr>
              <a:pPr/>
              <a:t>31</a:t>
            </a:fld>
            <a:endParaRPr lang="en-US" altLang="en-US" smtClean="0">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5942612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1600BFF-CDE2-4613-8217-46141DA2A1C6}" type="slidenum">
              <a:rPr lang="en-US" altLang="en-US" smtClean="0">
                <a:latin typeface="Times New Roman" pitchFamily="18" charset="0"/>
              </a:rPr>
              <a:pPr/>
              <a:t>32</a:t>
            </a:fld>
            <a:endParaRPr lang="en-US" altLang="en-US" smtClean="0">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6503717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1600BFF-CDE2-4613-8217-46141DA2A1C6}" type="slidenum">
              <a:rPr lang="en-US" altLang="en-US" smtClean="0">
                <a:latin typeface="Times New Roman" pitchFamily="18" charset="0"/>
              </a:rPr>
              <a:pPr/>
              <a:t>33</a:t>
            </a:fld>
            <a:endParaRPr lang="en-US" altLang="en-US" smtClean="0">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7742142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1600BFF-CDE2-4613-8217-46141DA2A1C6}" type="slidenum">
              <a:rPr lang="en-US" altLang="en-US" smtClean="0">
                <a:latin typeface="Times New Roman" pitchFamily="18" charset="0"/>
              </a:rPr>
              <a:pPr/>
              <a:t>34</a:t>
            </a:fld>
            <a:endParaRPr lang="en-US" altLang="en-US" smtClean="0">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2619336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524F71FF-0027-43A0-8AF9-B4B1131DB031}" type="slidenum">
              <a:rPr lang="en-US" altLang="en-US" smtClean="0">
                <a:latin typeface="Times New Roman" pitchFamily="18" charset="0"/>
              </a:rPr>
              <a:pPr/>
              <a:t>35</a:t>
            </a:fld>
            <a:endParaRPr lang="en-US" altLang="en-US" smtClean="0">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8193781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37C5788-A100-4034-AB32-4D3FF0C0F95C}" type="slidenum">
              <a:rPr lang="en-US" altLang="en-US" smtClean="0">
                <a:latin typeface="Times New Roman" pitchFamily="18" charset="0"/>
              </a:rPr>
              <a:pPr/>
              <a:t>36</a:t>
            </a:fld>
            <a:endParaRPr lang="en-US" altLang="en-US" smtClean="0">
              <a:latin typeface="Times New Roman"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0682387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709E8222-333C-4231-B45B-AA5358E831C4}" type="slidenum">
              <a:rPr lang="en-US" altLang="en-US" smtClean="0">
                <a:latin typeface="Times New Roman" pitchFamily="18" charset="0"/>
              </a:rPr>
              <a:pPr/>
              <a:t>37</a:t>
            </a:fld>
            <a:endParaRPr lang="en-US" altLang="en-US" smtClean="0">
              <a:latin typeface="Times New Roman"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9986767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E8BC01B-E826-4BF4-859A-29A6B3EA4369}" type="slidenum">
              <a:rPr lang="en-US" altLang="en-US" smtClean="0">
                <a:latin typeface="Times New Roman" pitchFamily="18" charset="0"/>
              </a:rPr>
              <a:pPr/>
              <a:t>38</a:t>
            </a:fld>
            <a:endParaRPr lang="en-US" altLang="en-US" smtClean="0">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2823010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4CB6EFE-DF85-45D1-BFDD-533F5C6C6130}" type="slidenum">
              <a:rPr lang="en-US" altLang="en-US" smtClean="0">
                <a:latin typeface="Times New Roman" pitchFamily="18" charset="0"/>
              </a:rPr>
              <a:pPr/>
              <a:t>39</a:t>
            </a:fld>
            <a:endParaRPr lang="en-US" altLang="en-US" smtClean="0">
              <a:latin typeface="Times New Roman"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5855062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B5A616E-41C2-461C-BD58-C34DCAE5094E}" type="slidenum">
              <a:rPr lang="en-US" altLang="en-US" smtClean="0">
                <a:latin typeface="Times New Roman" pitchFamily="18" charset="0"/>
              </a:rPr>
              <a:pPr/>
              <a:t>41</a:t>
            </a:fld>
            <a:endParaRPr lang="en-US" altLang="en-US" smtClean="0">
              <a:latin typeface="Times New Roman"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9007610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7632F15-AF13-41E3-8880-BC228D877F7C}" type="slidenum">
              <a:rPr lang="en-US" altLang="en-US" smtClean="0">
                <a:latin typeface="Times New Roman" pitchFamily="18" charset="0"/>
              </a:rPr>
              <a:pPr/>
              <a:t>42</a:t>
            </a:fld>
            <a:endParaRPr lang="en-US" altLang="en-US" smtClean="0">
              <a:latin typeface="Times New Roman"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935728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F4653A7B-3A46-4AD4-9796-009D3BBB8D23}" type="slidenum">
              <a:rPr lang="en-US" altLang="en-US" smtClean="0">
                <a:latin typeface="Times New Roman" pitchFamily="18" charset="0"/>
              </a:rPr>
              <a:pPr/>
              <a:t>43</a:t>
            </a:fld>
            <a:endParaRPr lang="en-US" altLang="en-US" smtClean="0">
              <a:latin typeface="Times New Roman"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5445993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7632F15-AF13-41E3-8880-BC228D877F7C}" type="slidenum">
              <a:rPr lang="en-US" altLang="en-US" smtClean="0">
                <a:latin typeface="Times New Roman" pitchFamily="18" charset="0"/>
              </a:rPr>
              <a:pPr/>
              <a:t>44</a:t>
            </a:fld>
            <a:endParaRPr lang="en-US" altLang="en-US" smtClean="0">
              <a:latin typeface="Times New Roman"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9357287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4114DCFA-0A22-4DDF-A57C-84A1DE976CB2}" type="slidenum">
              <a:rPr lang="en-US" altLang="en-US" smtClean="0">
                <a:latin typeface="Times New Roman" pitchFamily="18" charset="0"/>
              </a:rPr>
              <a:pPr/>
              <a:t>46</a:t>
            </a:fld>
            <a:endParaRPr lang="en-US" altLang="en-US" smtClean="0">
              <a:latin typeface="Times New Roman"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610013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01802AC-D998-4D70-8F40-6E6AE8743E73}" type="slidenum">
              <a:rPr lang="en-US" altLang="en-US" smtClean="0">
                <a:latin typeface="Times New Roman" pitchFamily="18" charset="0"/>
              </a:rPr>
              <a:pPr/>
              <a:t>47</a:t>
            </a:fld>
            <a:endParaRPr lang="en-US" altLang="en-US" smtClean="0">
              <a:latin typeface="Times New Roman"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1054994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FD8E9C7D-178A-4437-AB81-06D687741ED8}" type="slidenum">
              <a:rPr lang="en-US" altLang="en-US" smtClean="0">
                <a:latin typeface="Times New Roman" pitchFamily="18" charset="0"/>
              </a:rPr>
              <a:pPr/>
              <a:t>48</a:t>
            </a:fld>
            <a:endParaRPr lang="en-US" altLang="en-US" smtClean="0">
              <a:latin typeface="Times New Roman"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7379192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4D99FE-9A86-45D4-A553-02A32823A06D}" type="slidenum">
              <a:rPr lang="en-US" altLang="en-US" smtClean="0">
                <a:latin typeface="Times New Roman" pitchFamily="18" charset="0"/>
              </a:rPr>
              <a:pPr/>
              <a:t>49</a:t>
            </a:fld>
            <a:endParaRPr lang="en-US" altLang="en-US" smtClean="0">
              <a:latin typeface="Times New Roman"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9073280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5E5E385-152B-4619-9853-61DE017A6E7F}" type="slidenum">
              <a:rPr lang="en-US" altLang="en-US" smtClean="0">
                <a:latin typeface="Times New Roman" pitchFamily="18" charset="0"/>
              </a:rPr>
              <a:pPr/>
              <a:t>50</a:t>
            </a:fld>
            <a:endParaRPr lang="en-US" altLang="en-US" smtClean="0">
              <a:latin typeface="Times New Roman"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3801840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F760732F-3F4D-47E3-A4D9-897D7582C617}" type="slidenum">
              <a:rPr lang="en-US" altLang="en-US" smtClean="0">
                <a:latin typeface="Times New Roman" pitchFamily="18" charset="0"/>
              </a:rPr>
              <a:pPr/>
              <a:t>51</a:t>
            </a:fld>
            <a:endParaRPr lang="en-US" altLang="en-US" smtClean="0">
              <a:latin typeface="Times New Roman"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1920311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B81DCF5-3151-4A15-BBC9-5708226FDEBA}" type="slidenum">
              <a:rPr lang="en-US" altLang="en-US" smtClean="0">
                <a:latin typeface="Times New Roman" pitchFamily="18" charset="0"/>
              </a:rPr>
              <a:pPr/>
              <a:t>52</a:t>
            </a:fld>
            <a:endParaRPr lang="en-US" altLang="en-US" smtClean="0">
              <a:latin typeface="Times New Roman"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9431965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DA1A39EC-6DDE-4DC5-BB65-12EBF46B2AB6}" type="slidenum">
              <a:rPr lang="en-US" altLang="en-US" smtClean="0">
                <a:latin typeface="Times New Roman" pitchFamily="18" charset="0"/>
              </a:rPr>
              <a:pPr/>
              <a:t>53</a:t>
            </a:fld>
            <a:endParaRPr lang="en-US" altLang="en-US" smtClean="0">
              <a:latin typeface="Times New Roman"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5136635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4B1CA0B-29B7-47F3-BE99-4EA9DE456721}" type="slidenum">
              <a:rPr lang="en-US" altLang="en-US" smtClean="0">
                <a:latin typeface="Times New Roman" pitchFamily="18" charset="0"/>
              </a:rPr>
              <a:pPr/>
              <a:t>54</a:t>
            </a:fld>
            <a:endParaRPr lang="en-US" altLang="en-US" smtClean="0">
              <a:latin typeface="Times New Roman"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42720488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CD07E2D-F83B-47D7-B023-EC2E0D74A036}" type="slidenum">
              <a:rPr lang="en-US" altLang="en-US" smtClean="0">
                <a:latin typeface="Times New Roman" pitchFamily="18" charset="0"/>
              </a:rPr>
              <a:pPr/>
              <a:t>55</a:t>
            </a:fld>
            <a:endParaRPr lang="en-US" altLang="en-US" smtClean="0">
              <a:latin typeface="Times New Roman"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1358408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FB06329-4FC4-46E6-A8C1-F12284003525}" type="slidenum">
              <a:rPr lang="en-US" altLang="en-US" smtClean="0">
                <a:latin typeface="Times New Roman" pitchFamily="18" charset="0"/>
              </a:rPr>
              <a:pPr/>
              <a:t>56</a:t>
            </a:fld>
            <a:endParaRPr lang="en-US" altLang="en-US" smtClean="0">
              <a:latin typeface="Times New Roman" pitchFamily="18"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5331586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BAEED25D-A8FA-4748-80BD-A2A39A2CD84A}" type="slidenum">
              <a:rPr lang="en-US" altLang="en-US" smtClean="0">
                <a:latin typeface="Times New Roman" pitchFamily="18" charset="0"/>
              </a:rPr>
              <a:pPr/>
              <a:t>57</a:t>
            </a:fld>
            <a:endParaRPr lang="en-US" altLang="en-US" smtClean="0">
              <a:latin typeface="Times New Roman"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8309127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9E4BA1C-0EA5-4701-86D2-3DB6293D3717}" type="slidenum">
              <a:rPr lang="en-US" altLang="en-US" smtClean="0">
                <a:latin typeface="Times New Roman" pitchFamily="18" charset="0"/>
              </a:rPr>
              <a:pPr/>
              <a:t>59</a:t>
            </a:fld>
            <a:endParaRPr lang="en-US" altLang="en-US" smtClean="0">
              <a:latin typeface="Times New Roman"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6133530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1F46541-B599-48D8-837D-8978206D445B}" type="slidenum">
              <a:rPr lang="en-US" altLang="en-US" smtClean="0">
                <a:latin typeface="Times New Roman" pitchFamily="18" charset="0"/>
              </a:rPr>
              <a:pPr/>
              <a:t>60</a:t>
            </a:fld>
            <a:endParaRPr lang="en-US" altLang="en-US" smtClean="0">
              <a:latin typeface="Times New Roman" pitchFamily="18"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9382130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0CCA64F-29FF-487B-9AEC-0E507C3ED9FC}" type="slidenum">
              <a:rPr lang="en-US" altLang="en-US" smtClean="0">
                <a:latin typeface="Times New Roman" pitchFamily="18" charset="0"/>
              </a:rPr>
              <a:pPr/>
              <a:t>61</a:t>
            </a:fld>
            <a:endParaRPr lang="en-US" altLang="en-US" smtClean="0">
              <a:latin typeface="Times New Roman" pitchFamily="18"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1414498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D7D927-81B2-49F1-9392-7783A9B8FCA2}" type="slidenum">
              <a:rPr lang="en-US" altLang="en-US" smtClean="0">
                <a:latin typeface="Times New Roman" pitchFamily="18" charset="0"/>
              </a:rPr>
              <a:pPr/>
              <a:t>64</a:t>
            </a:fld>
            <a:endParaRPr lang="en-US" altLang="en-US" smtClean="0">
              <a:latin typeface="Times New Roman" pitchFamily="18"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0473381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B22AA2D-E6F3-4C86-94EF-F1CE0A472DEA}" type="slidenum">
              <a:rPr lang="en-US" altLang="en-US" smtClean="0">
                <a:latin typeface="Times New Roman" pitchFamily="18" charset="0"/>
              </a:rPr>
              <a:pPr/>
              <a:t>65</a:t>
            </a:fld>
            <a:endParaRPr lang="en-US" altLang="en-US" smtClean="0">
              <a:latin typeface="Times New Roman" pitchFamily="18"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174677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5AC36F9F-D9E5-46C3-A694-6CC466768D1F}" type="slidenum">
              <a:rPr lang="en-US" altLang="en-US" smtClean="0">
                <a:latin typeface="Times New Roman" pitchFamily="18" charset="0"/>
              </a:rPr>
              <a:pPr/>
              <a:t>66</a:t>
            </a:fld>
            <a:endParaRPr lang="en-US" altLang="en-US" smtClean="0">
              <a:latin typeface="Times New Roman" pitchFamily="18"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9237906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21C5527-532A-4C77-BAAA-A8B6322A02D2}" type="slidenum">
              <a:rPr lang="en-US" altLang="en-US" smtClean="0">
                <a:latin typeface="Times New Roman" pitchFamily="18" charset="0"/>
              </a:rPr>
              <a:pPr/>
              <a:t>67</a:t>
            </a:fld>
            <a:endParaRPr lang="en-US" altLang="en-US" smtClean="0">
              <a:latin typeface="Times New Roman" pitchFamily="18"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5379415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C6EB8D-8779-4E91-B073-8BFADF5101FF}" type="slidenum">
              <a:rPr lang="en-US" altLang="en-US" smtClean="0">
                <a:latin typeface="Times New Roman" pitchFamily="18" charset="0"/>
              </a:rPr>
              <a:pPr/>
              <a:t>68</a:t>
            </a:fld>
            <a:endParaRPr lang="en-US" altLang="en-US" smtClean="0">
              <a:latin typeface="Times New Roman"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40204740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A59CDEB9-95E8-4B0C-A179-03DE40D08173}" type="slidenum">
              <a:rPr lang="en-US" altLang="en-US" smtClean="0">
                <a:latin typeface="Times New Roman" pitchFamily="18" charset="0"/>
              </a:rPr>
              <a:pPr/>
              <a:t>69</a:t>
            </a:fld>
            <a:endParaRPr lang="en-US" altLang="en-US" smtClean="0">
              <a:latin typeface="Times New Roman"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1173311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54F97E26-2918-49F2-9ECE-8633EC7018D3}" type="slidenum">
              <a:rPr lang="en-US" altLang="en-US" smtClean="0">
                <a:latin typeface="Times New Roman" pitchFamily="18" charset="0"/>
              </a:rPr>
              <a:pPr/>
              <a:t>70</a:t>
            </a:fld>
            <a:endParaRPr lang="en-US" altLang="en-US" smtClean="0">
              <a:latin typeface="Times New Roman" pitchFamily="18"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7598834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5DEEE31-917D-4F81-9756-09D5E66808DD}" type="slidenum">
              <a:rPr lang="en-US" altLang="en-US" smtClean="0">
                <a:latin typeface="Times New Roman" pitchFamily="18" charset="0"/>
              </a:rPr>
              <a:pPr/>
              <a:t>71</a:t>
            </a:fld>
            <a:endParaRPr lang="en-US" altLang="en-US" smtClean="0">
              <a:latin typeface="Times New Roman" pitchFamily="18"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1896920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A32668C-DE45-4FBF-8346-8AFDFB0B798C}" type="slidenum">
              <a:rPr lang="en-US" altLang="en-US" smtClean="0">
                <a:latin typeface="Times New Roman" pitchFamily="18" charset="0"/>
              </a:rPr>
              <a:pPr/>
              <a:t>72</a:t>
            </a:fld>
            <a:endParaRPr lang="en-US" altLang="en-US" smtClean="0">
              <a:latin typeface="Times New Roman" pitchFamily="18"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033979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1B9507E-ADFF-44D0-B172-A99B7401054B}" type="slidenum">
              <a:rPr lang="en-US" altLang="en-US" smtClean="0">
                <a:latin typeface="Times New Roman" pitchFamily="18" charset="0"/>
              </a:rPr>
              <a:pPr/>
              <a:t>73</a:t>
            </a:fld>
            <a:endParaRPr lang="en-US" altLang="en-US" smtClean="0">
              <a:latin typeface="Times New Roman"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20835080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52E66D8F-7C15-4F89-8725-64FC5324DEA3}" type="slidenum">
              <a:rPr lang="en-US" altLang="en-US" smtClean="0">
                <a:latin typeface="Times New Roman" pitchFamily="18" charset="0"/>
              </a:rPr>
              <a:pPr/>
              <a:t>74</a:t>
            </a:fld>
            <a:endParaRPr lang="en-US" altLang="en-US" smtClean="0">
              <a:latin typeface="Times New Roman" pitchFamily="18"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1586875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09D3A78-7389-4774-9556-3A2536E02EBA}" type="datetimeFigureOut">
              <a:rPr lang="en-IN" smtClean="0"/>
              <a:t>06-10-2021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909580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09D3A78-7389-4774-9556-3A2536E02EBA}" type="datetimeFigureOut">
              <a:rPr lang="en-IN" smtClean="0"/>
              <a:t>06-10-2021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261389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9D3A78-7389-4774-9556-3A2536E02EBA}" type="datetimeFigureOut">
              <a:rPr lang="en-IN" smtClean="0"/>
              <a:t>06-10-2021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631411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09D3A78-7389-4774-9556-3A2536E02EBA}" type="datetimeFigureOut">
              <a:rPr lang="en-IN" smtClean="0"/>
              <a:t>06-10-2021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12981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09D3A78-7389-4774-9556-3A2536E02EBA}" type="datetimeFigureOut">
              <a:rPr lang="en-IN" smtClean="0"/>
              <a:t>06-10-2021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2124134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09D3A78-7389-4774-9556-3A2536E02EBA}" type="datetimeFigureOut">
              <a:rPr lang="en-IN" smtClean="0"/>
              <a:t>06-10-2021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1828149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9D3A78-7389-4774-9556-3A2536E02EBA}" type="datetimeFigureOut">
              <a:rPr lang="en-IN" smtClean="0"/>
              <a:t>06-10-2021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3715848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9D3A78-7389-4774-9556-3A2536E02EBA}" type="datetimeFigureOut">
              <a:rPr lang="en-IN" smtClean="0"/>
              <a:t>06-10-2021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1610830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9D3A78-7389-4774-9556-3A2536E02EBA}" type="datetimeFigureOut">
              <a:rPr lang="en-IN" smtClean="0"/>
              <a:t>06-10-2021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4175811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09D3A78-7389-4774-9556-3A2536E02EBA}" type="datetimeFigureOut">
              <a:rPr lang="en-IN" smtClean="0"/>
              <a:t>06-10-2021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2084747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09D3A78-7389-4774-9556-3A2536E02EBA}" type="datetimeFigureOut">
              <a:rPr lang="en-IN" smtClean="0"/>
              <a:t>06-10-2021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402A8C-6F0E-4E49-8092-831AFA4C4264}" type="slidenum">
              <a:rPr lang="en-IN" smtClean="0"/>
              <a:t>‹#›</a:t>
            </a:fld>
            <a:endParaRPr lang="en-IN"/>
          </a:p>
        </p:txBody>
      </p:sp>
    </p:spTree>
    <p:extLst>
      <p:ext uri="{BB962C8B-B14F-4D97-AF65-F5344CB8AC3E}">
        <p14:creationId xmlns:p14="http://schemas.microsoft.com/office/powerpoint/2010/main" val="978244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5"/>
            <a:ext cx="8229600" cy="5762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06450" y="1233491"/>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7450" y="1233491"/>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45135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9D3A78-7389-4774-9556-3A2536E02EBA}" type="datetimeFigureOut">
              <a:rPr lang="en-IN" smtClean="0"/>
              <a:t>06-10-2021</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402A8C-6F0E-4E49-8092-831AFA4C4264}" type="slidenum">
              <a:rPr lang="en-IN" smtClean="0"/>
              <a:t>‹#›</a:t>
            </a:fld>
            <a:endParaRPr lang="en-IN"/>
          </a:p>
        </p:txBody>
      </p:sp>
    </p:spTree>
    <p:extLst>
      <p:ext uri="{BB962C8B-B14F-4D97-AF65-F5344CB8AC3E}">
        <p14:creationId xmlns:p14="http://schemas.microsoft.com/office/powerpoint/2010/main" val="3951358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dirty="0" smtClean="0"/>
              <a:t>Module4_</a:t>
            </a:r>
            <a:r>
              <a:rPr lang="en-US" altLang="en-US" sz="4000" dirty="0"/>
              <a:t>Process </a:t>
            </a:r>
            <a:r>
              <a:rPr lang="en-US" altLang="en-US" sz="4000" dirty="0" smtClean="0"/>
              <a:t>Synchronization</a:t>
            </a:r>
            <a:endParaRPr lang="en-IN" sz="4000" dirty="0"/>
          </a:p>
        </p:txBody>
      </p:sp>
      <p:sp>
        <p:nvSpPr>
          <p:cNvPr id="4" name="Subtitle 2"/>
          <p:cNvSpPr>
            <a:spLocks noGrp="1"/>
          </p:cNvSpPr>
          <p:nvPr>
            <p:ph type="subTitle" idx="1"/>
          </p:nvPr>
        </p:nvSpPr>
        <p:spPr>
          <a:xfrm>
            <a:off x="1371600" y="3886200"/>
            <a:ext cx="6400800" cy="1752600"/>
          </a:xfrm>
        </p:spPr>
        <p:txBody>
          <a:bodyPr>
            <a:normAutofit fontScale="92500" lnSpcReduction="10000"/>
          </a:bodyPr>
          <a:lstStyle/>
          <a:p>
            <a:pPr algn="just"/>
            <a:r>
              <a:rPr lang="en-US" altLang="en-US" dirty="0"/>
              <a:t>Reference: </a:t>
            </a:r>
            <a:r>
              <a:rPr lang="en-US" altLang="en-US" dirty="0" smtClean="0"/>
              <a:t>“OPERATING </a:t>
            </a:r>
            <a:r>
              <a:rPr lang="en-US" altLang="en-US" dirty="0"/>
              <a:t>SYSTEM </a:t>
            </a:r>
            <a:r>
              <a:rPr lang="en-US" altLang="en-US" dirty="0" smtClean="0"/>
              <a:t>CONCEPTS”, </a:t>
            </a:r>
            <a:r>
              <a:rPr lang="en-US" altLang="en-US" dirty="0"/>
              <a:t>ABRAHAM </a:t>
            </a:r>
            <a:r>
              <a:rPr lang="en-US" altLang="en-US" dirty="0" smtClean="0"/>
              <a:t>SILBERSCHATZ, PETER </a:t>
            </a:r>
            <a:r>
              <a:rPr lang="en-US" altLang="en-US" dirty="0"/>
              <a:t>BAER </a:t>
            </a:r>
            <a:r>
              <a:rPr lang="en-US" altLang="en-US" dirty="0" smtClean="0"/>
              <a:t>GALVIN, GREG </a:t>
            </a:r>
            <a:r>
              <a:rPr lang="en-US" altLang="en-US" dirty="0"/>
              <a:t>GAGNE </a:t>
            </a:r>
            <a:r>
              <a:rPr lang="en-US" altLang="en-US" dirty="0" smtClean="0"/>
              <a:t>, Wiley publications. </a:t>
            </a:r>
            <a:endParaRPr lang="en-IN" dirty="0"/>
          </a:p>
        </p:txBody>
      </p:sp>
    </p:spTree>
    <p:extLst>
      <p:ext uri="{BB962C8B-B14F-4D97-AF65-F5344CB8AC3E}">
        <p14:creationId xmlns:p14="http://schemas.microsoft.com/office/powerpoint/2010/main" val="40885279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271588" y="201613"/>
            <a:ext cx="7707312" cy="576262"/>
          </a:xfrm>
        </p:spPr>
        <p:txBody>
          <a:bodyPr>
            <a:normAutofit fontScale="90000"/>
          </a:bodyPr>
          <a:lstStyle/>
          <a:p>
            <a:pPr eaLnBrk="1" hangingPunct="1"/>
            <a:r>
              <a:rPr lang="en-US" altLang="en-US" smtClean="0"/>
              <a:t>Process </a:t>
            </a:r>
            <a:r>
              <a:rPr lang="en-US" altLang="en-US" dirty="0" smtClean="0"/>
              <a:t>Synchronization</a:t>
            </a:r>
          </a:p>
        </p:txBody>
      </p:sp>
      <p:sp>
        <p:nvSpPr>
          <p:cNvPr id="4099" name="Rectangle 3"/>
          <p:cNvSpPr>
            <a:spLocks noGrp="1" noChangeArrowheads="1"/>
          </p:cNvSpPr>
          <p:nvPr>
            <p:ph idx="1"/>
          </p:nvPr>
        </p:nvSpPr>
        <p:spPr>
          <a:xfrm>
            <a:off x="847725" y="1165224"/>
            <a:ext cx="6028531" cy="4352007"/>
          </a:xfrm>
        </p:spPr>
        <p:txBody>
          <a:bodyPr>
            <a:noAutofit/>
          </a:bodyPr>
          <a:lstStyle/>
          <a:p>
            <a:pPr>
              <a:lnSpc>
                <a:spcPct val="80000"/>
              </a:lnSpc>
            </a:pPr>
            <a:endParaRPr lang="en-US" altLang="en-US" sz="2800" dirty="0" smtClean="0"/>
          </a:p>
          <a:p>
            <a:pPr>
              <a:lnSpc>
                <a:spcPct val="80000"/>
              </a:lnSpc>
            </a:pPr>
            <a:r>
              <a:rPr lang="en-US" altLang="en-US" sz="2800" dirty="0" smtClean="0"/>
              <a:t>Background</a:t>
            </a:r>
          </a:p>
          <a:p>
            <a:pPr>
              <a:lnSpc>
                <a:spcPct val="80000"/>
              </a:lnSpc>
            </a:pPr>
            <a:r>
              <a:rPr lang="en-US" altLang="en-US" sz="2800" dirty="0" smtClean="0"/>
              <a:t>The Critical-Section Problem</a:t>
            </a:r>
          </a:p>
          <a:p>
            <a:pPr>
              <a:lnSpc>
                <a:spcPct val="80000"/>
              </a:lnSpc>
            </a:pPr>
            <a:r>
              <a:rPr lang="en-US" altLang="en-US" sz="2800" dirty="0" smtClean="0"/>
              <a:t>Peterson</a:t>
            </a:r>
            <a:r>
              <a:rPr lang="ja-JP" altLang="en-US" sz="2800" dirty="0" smtClean="0"/>
              <a:t>’</a:t>
            </a:r>
            <a:r>
              <a:rPr lang="en-US" altLang="ja-JP" sz="2800" dirty="0" smtClean="0"/>
              <a:t>s Solution</a:t>
            </a:r>
          </a:p>
          <a:p>
            <a:pPr>
              <a:lnSpc>
                <a:spcPct val="80000"/>
              </a:lnSpc>
            </a:pPr>
            <a:r>
              <a:rPr lang="en-US" altLang="en-US" sz="2800" dirty="0" smtClean="0"/>
              <a:t>Synchronization Hardware</a:t>
            </a:r>
          </a:p>
          <a:p>
            <a:pPr>
              <a:lnSpc>
                <a:spcPct val="80000"/>
              </a:lnSpc>
            </a:pPr>
            <a:r>
              <a:rPr lang="en-US" altLang="en-US" sz="2800" dirty="0" err="1" smtClean="0"/>
              <a:t>Mutex</a:t>
            </a:r>
            <a:r>
              <a:rPr lang="en-US" altLang="en-US" sz="2800" dirty="0" smtClean="0"/>
              <a:t> Locks</a:t>
            </a:r>
          </a:p>
          <a:p>
            <a:pPr>
              <a:lnSpc>
                <a:spcPct val="80000"/>
              </a:lnSpc>
            </a:pPr>
            <a:r>
              <a:rPr lang="en-US" altLang="en-US" sz="2800" dirty="0" smtClean="0"/>
              <a:t>Semaphores</a:t>
            </a:r>
          </a:p>
          <a:p>
            <a:pPr>
              <a:lnSpc>
                <a:spcPct val="80000"/>
              </a:lnSpc>
            </a:pPr>
            <a:r>
              <a:rPr lang="en-US" altLang="en-US" sz="2800" dirty="0" smtClean="0"/>
              <a:t>Classic Problems of Synchronization</a:t>
            </a:r>
          </a:p>
          <a:p>
            <a:pPr>
              <a:lnSpc>
                <a:spcPct val="80000"/>
              </a:lnSpc>
            </a:pPr>
            <a:r>
              <a:rPr lang="en-US" altLang="en-US" sz="2800" dirty="0" smtClean="0"/>
              <a:t>Monitors</a:t>
            </a:r>
          </a:p>
        </p:txBody>
      </p:sp>
      <p:sp>
        <p:nvSpPr>
          <p:cNvPr id="4100" name="Rectangle 5"/>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kumimoji="1" lang="en-US" altLang="en-US">
              <a:latin typeface="Helvetica" pitchFamily="-84" charset="0"/>
            </a:endParaRPr>
          </a:p>
          <a:p>
            <a:endParaRPr kumimoji="1" lang="en-US" altLang="en-US">
              <a:latin typeface="Helvetica" pitchFamily="-84" charset="0"/>
            </a:endParaRPr>
          </a:p>
          <a:p>
            <a:endParaRPr kumimoji="1" lang="en-US" altLang="en-US">
              <a:latin typeface="Helvetica" pitchFamily="-84" charset="0"/>
            </a:endParaRPr>
          </a:p>
        </p:txBody>
      </p:sp>
    </p:spTree>
    <p:extLst>
      <p:ext uri="{BB962C8B-B14F-4D97-AF65-F5344CB8AC3E}">
        <p14:creationId xmlns:p14="http://schemas.microsoft.com/office/powerpoint/2010/main" val="14770943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57200" y="139700"/>
            <a:ext cx="8229600" cy="576263"/>
          </a:xfrm>
        </p:spPr>
        <p:txBody>
          <a:bodyPr>
            <a:normAutofit fontScale="90000"/>
          </a:bodyPr>
          <a:lstStyle/>
          <a:p>
            <a:pPr eaLnBrk="1" hangingPunct="1"/>
            <a:r>
              <a:rPr lang="en-US" altLang="en-US" smtClean="0"/>
              <a:t>Objectives</a:t>
            </a:r>
          </a:p>
        </p:txBody>
      </p:sp>
      <p:sp>
        <p:nvSpPr>
          <p:cNvPr id="5123" name="Content Placeholder 2"/>
          <p:cNvSpPr>
            <a:spLocks noGrp="1"/>
          </p:cNvSpPr>
          <p:nvPr>
            <p:ph idx="1"/>
          </p:nvPr>
        </p:nvSpPr>
        <p:spPr>
          <a:xfrm>
            <a:off x="895350" y="1144588"/>
            <a:ext cx="6737350" cy="4530725"/>
          </a:xfrm>
        </p:spPr>
        <p:txBody>
          <a:bodyPr>
            <a:normAutofit fontScale="85000" lnSpcReduction="10000"/>
          </a:bodyPr>
          <a:lstStyle/>
          <a:p>
            <a:pPr algn="just"/>
            <a:r>
              <a:rPr lang="en-US" altLang="en-US" dirty="0" smtClean="0"/>
              <a:t>To present the concept of process synchronization.</a:t>
            </a:r>
          </a:p>
          <a:p>
            <a:pPr algn="just"/>
            <a:r>
              <a:rPr lang="en-US" altLang="en-US" dirty="0" smtClean="0"/>
              <a:t>To introduce the </a:t>
            </a:r>
            <a:r>
              <a:rPr lang="en-US" altLang="en-US" dirty="0" smtClean="0">
                <a:solidFill>
                  <a:srgbClr val="FF0000"/>
                </a:solidFill>
              </a:rPr>
              <a:t>critical-section problem, </a:t>
            </a:r>
            <a:r>
              <a:rPr lang="en-US" altLang="en-US" dirty="0" smtClean="0"/>
              <a:t>whose solutions can be used to </a:t>
            </a:r>
            <a:r>
              <a:rPr lang="en-US" altLang="en-US" dirty="0" smtClean="0">
                <a:solidFill>
                  <a:srgbClr val="FF0000"/>
                </a:solidFill>
              </a:rPr>
              <a:t>ensure the consistency of shared data</a:t>
            </a:r>
          </a:p>
          <a:p>
            <a:pPr algn="just"/>
            <a:r>
              <a:rPr lang="en-US" altLang="en-US" dirty="0" smtClean="0"/>
              <a:t>To present both </a:t>
            </a:r>
            <a:r>
              <a:rPr lang="en-US" altLang="en-US" dirty="0" smtClean="0">
                <a:solidFill>
                  <a:srgbClr val="FF0000"/>
                </a:solidFill>
              </a:rPr>
              <a:t>software and hardware solutions </a:t>
            </a:r>
            <a:r>
              <a:rPr lang="en-US" altLang="en-US" dirty="0" smtClean="0"/>
              <a:t>of the critical-section problem</a:t>
            </a:r>
          </a:p>
          <a:p>
            <a:pPr algn="just"/>
            <a:r>
              <a:rPr lang="en-US" altLang="en-US" dirty="0" smtClean="0"/>
              <a:t>To examine several </a:t>
            </a:r>
            <a:r>
              <a:rPr lang="en-US" altLang="en-US" dirty="0" smtClean="0">
                <a:solidFill>
                  <a:srgbClr val="FF0000"/>
                </a:solidFill>
              </a:rPr>
              <a:t>classical process-synchronization problems</a:t>
            </a:r>
          </a:p>
          <a:p>
            <a:pPr algn="just"/>
            <a:r>
              <a:rPr lang="en-US" altLang="en-US" dirty="0" smtClean="0"/>
              <a:t>To explore several </a:t>
            </a:r>
            <a:r>
              <a:rPr lang="en-US" altLang="en-US" dirty="0" smtClean="0">
                <a:solidFill>
                  <a:srgbClr val="FF0000"/>
                </a:solidFill>
              </a:rPr>
              <a:t>tools</a:t>
            </a:r>
            <a:r>
              <a:rPr lang="en-US" altLang="en-US" dirty="0" smtClean="0"/>
              <a:t> that are used to solve process synchronization problems</a:t>
            </a:r>
          </a:p>
        </p:txBody>
      </p:sp>
    </p:spTree>
    <p:extLst>
      <p:ext uri="{BB962C8B-B14F-4D97-AF65-F5344CB8AC3E}">
        <p14:creationId xmlns:p14="http://schemas.microsoft.com/office/powerpoint/2010/main" val="5757365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a:xfrm>
            <a:off x="784225" y="187325"/>
            <a:ext cx="7902575" cy="576263"/>
          </a:xfrm>
        </p:spPr>
        <p:txBody>
          <a:bodyPr>
            <a:normAutofit fontScale="90000"/>
          </a:bodyPr>
          <a:lstStyle/>
          <a:p>
            <a:pPr eaLnBrk="1" hangingPunct="1"/>
            <a:r>
              <a:rPr lang="en-US" altLang="en-US" smtClean="0"/>
              <a:t>Background</a:t>
            </a:r>
          </a:p>
        </p:txBody>
      </p:sp>
      <p:sp>
        <p:nvSpPr>
          <p:cNvPr id="6147" name="Rectangle 5"/>
          <p:cNvSpPr>
            <a:spLocks noGrp="1" noChangeArrowheads="1"/>
          </p:cNvSpPr>
          <p:nvPr>
            <p:ph type="body" idx="1"/>
          </p:nvPr>
        </p:nvSpPr>
        <p:spPr>
          <a:xfrm>
            <a:off x="857250" y="1125538"/>
            <a:ext cx="6892925" cy="4860925"/>
          </a:xfrm>
        </p:spPr>
        <p:txBody>
          <a:bodyPr>
            <a:normAutofit fontScale="62500" lnSpcReduction="20000"/>
          </a:bodyPr>
          <a:lstStyle/>
          <a:p>
            <a:pPr algn="just"/>
            <a:r>
              <a:rPr lang="en-US" dirty="0"/>
              <a:t>A </a:t>
            </a:r>
            <a:r>
              <a:rPr lang="en-US" b="1" dirty="0"/>
              <a:t>cooperating process </a:t>
            </a:r>
            <a:r>
              <a:rPr lang="en-US" dirty="0"/>
              <a:t>is one that can affect or be affected by other </a:t>
            </a:r>
            <a:r>
              <a:rPr lang="en-US" dirty="0" smtClean="0"/>
              <a:t>processes </a:t>
            </a:r>
            <a:r>
              <a:rPr lang="en-IN" dirty="0" smtClean="0"/>
              <a:t>executing </a:t>
            </a:r>
            <a:r>
              <a:rPr lang="en-IN" dirty="0"/>
              <a:t>in the system.</a:t>
            </a:r>
            <a:endParaRPr lang="en-US" altLang="en-US" dirty="0" smtClean="0"/>
          </a:p>
          <a:p>
            <a:pPr algn="just"/>
            <a:r>
              <a:rPr lang="en-US" altLang="en-US" dirty="0" smtClean="0"/>
              <a:t>Processes can execute concurrently</a:t>
            </a:r>
          </a:p>
          <a:p>
            <a:pPr lvl="1" algn="just"/>
            <a:r>
              <a:rPr lang="en-US" altLang="en-US" dirty="0" smtClean="0"/>
              <a:t>May be interrupted at any time, partially completing execution</a:t>
            </a:r>
          </a:p>
          <a:p>
            <a:pPr algn="just"/>
            <a:r>
              <a:rPr lang="en-US" altLang="en-US" dirty="0" smtClean="0">
                <a:solidFill>
                  <a:srgbClr val="FF0000"/>
                </a:solidFill>
              </a:rPr>
              <a:t>Concurrent access to shared data may result in data inconsistency</a:t>
            </a:r>
          </a:p>
          <a:p>
            <a:pPr algn="just"/>
            <a:r>
              <a:rPr lang="en-US" altLang="en-US" dirty="0" smtClean="0"/>
              <a:t>Maintaining data consistency requires mechanisms to </a:t>
            </a:r>
            <a:r>
              <a:rPr lang="en-US" altLang="en-US" dirty="0" smtClean="0">
                <a:solidFill>
                  <a:srgbClr val="FF0000"/>
                </a:solidFill>
              </a:rPr>
              <a:t>ensure the orderly execution of cooperating processes</a:t>
            </a:r>
          </a:p>
          <a:p>
            <a:r>
              <a:rPr lang="en-US" altLang="en-US" dirty="0" smtClean="0"/>
              <a:t>Illustration of the problem:</a:t>
            </a:r>
          </a:p>
          <a:p>
            <a:pPr marL="0" indent="0" algn="just">
              <a:buNone/>
            </a:pPr>
            <a:r>
              <a:rPr lang="en-US" altLang="en-US" dirty="0" smtClean="0"/>
              <a:t>	Suppose that we wanted to provide a solution to the </a:t>
            </a:r>
            <a:r>
              <a:rPr lang="en-US" altLang="en-US" b="1" dirty="0" smtClean="0">
                <a:solidFill>
                  <a:srgbClr val="00B050"/>
                </a:solidFill>
              </a:rPr>
              <a:t>Producer-Consumer</a:t>
            </a:r>
            <a:r>
              <a:rPr lang="en-US" altLang="en-US" dirty="0" smtClean="0"/>
              <a:t> problem that </a:t>
            </a:r>
            <a:r>
              <a:rPr lang="en-US" altLang="en-US" b="1" dirty="0" smtClean="0">
                <a:solidFill>
                  <a:srgbClr val="FF0000"/>
                </a:solidFill>
              </a:rPr>
              <a:t>fills </a:t>
            </a:r>
            <a:r>
              <a:rPr lang="en-US" altLang="en-US" b="1" i="1" dirty="0" smtClean="0">
                <a:solidFill>
                  <a:srgbClr val="FF0000"/>
                </a:solidFill>
              </a:rPr>
              <a:t>all</a:t>
            </a:r>
            <a:r>
              <a:rPr lang="en-US" altLang="en-US" b="1" dirty="0" smtClean="0">
                <a:solidFill>
                  <a:srgbClr val="FF0000"/>
                </a:solidFill>
              </a:rPr>
              <a:t> the buffers.</a:t>
            </a:r>
            <a:r>
              <a:rPr lang="en-US" altLang="en-US" dirty="0" smtClean="0"/>
              <a:t> We can do so by having </a:t>
            </a:r>
            <a:r>
              <a:rPr lang="en-US" altLang="en-US" b="1" dirty="0" smtClean="0">
                <a:solidFill>
                  <a:srgbClr val="00B050"/>
                </a:solidFill>
              </a:rPr>
              <a:t>an integer </a:t>
            </a:r>
            <a:r>
              <a:rPr lang="en-US" altLang="en-US" b="1" dirty="0" smtClean="0">
                <a:solidFill>
                  <a:srgbClr val="FF0000"/>
                </a:solidFill>
                <a:latin typeface="Courier" pitchFamily="-84" charset="0"/>
              </a:rPr>
              <a:t>counter</a:t>
            </a:r>
            <a:r>
              <a:rPr lang="en-US" altLang="en-US" b="1" dirty="0" smtClean="0">
                <a:solidFill>
                  <a:srgbClr val="FF0000"/>
                </a:solidFill>
              </a:rPr>
              <a:t> </a:t>
            </a:r>
            <a:r>
              <a:rPr lang="en-US" altLang="en-US" b="1" dirty="0" smtClean="0">
                <a:solidFill>
                  <a:srgbClr val="00B050"/>
                </a:solidFill>
              </a:rPr>
              <a:t>that keeps track of the number of full buffers</a:t>
            </a:r>
            <a:r>
              <a:rPr lang="en-US" altLang="en-US" dirty="0" smtClean="0"/>
              <a:t>.  Initially, </a:t>
            </a:r>
            <a:r>
              <a:rPr lang="en-US" altLang="en-US" b="1" dirty="0" smtClean="0">
                <a:latin typeface="Courier" pitchFamily="-84" charset="0"/>
              </a:rPr>
              <a:t>counter</a:t>
            </a:r>
            <a:r>
              <a:rPr lang="en-US" altLang="en-US" dirty="0" smtClean="0">
                <a:latin typeface="Courier" pitchFamily="-84" charset="0"/>
              </a:rPr>
              <a:t> </a:t>
            </a:r>
            <a:r>
              <a:rPr lang="en-US" altLang="en-US" dirty="0" smtClean="0"/>
              <a:t>is set to 0. It is incremented by the producer after it produces a new buffer and is decremented by the consumer after it consumes a buffer.</a:t>
            </a:r>
          </a:p>
        </p:txBody>
      </p:sp>
    </p:spTree>
    <p:extLst>
      <p:ext uri="{BB962C8B-B14F-4D97-AF65-F5344CB8AC3E}">
        <p14:creationId xmlns:p14="http://schemas.microsoft.com/office/powerpoint/2010/main" val="34443251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87325"/>
            <a:ext cx="8229600" cy="576263"/>
          </a:xfrm>
        </p:spPr>
        <p:txBody>
          <a:bodyPr>
            <a:normAutofit fontScale="90000"/>
          </a:bodyPr>
          <a:lstStyle/>
          <a:p>
            <a:pPr eaLnBrk="1" hangingPunct="1"/>
            <a:r>
              <a:rPr lang="en-US" altLang="en-US" smtClean="0"/>
              <a:t>Producer </a:t>
            </a:r>
          </a:p>
        </p:txBody>
      </p:sp>
      <p:sp>
        <p:nvSpPr>
          <p:cNvPr id="7171" name="Rectangle 3"/>
          <p:cNvSpPr>
            <a:spLocks noGrp="1" noChangeArrowheads="1"/>
          </p:cNvSpPr>
          <p:nvPr>
            <p:ph type="body" idx="1"/>
          </p:nvPr>
        </p:nvSpPr>
        <p:spPr>
          <a:xfrm>
            <a:off x="1181100" y="1258888"/>
            <a:ext cx="6732588" cy="4557712"/>
          </a:xfrm>
        </p:spPr>
        <p:txBody>
          <a:bodyPr>
            <a:noAutofit/>
          </a:bodyPr>
          <a:lstStyle/>
          <a:p>
            <a:pPr marL="0" indent="0">
              <a:buFont typeface="Monotype Sorts" pitchFamily="-84" charset="2"/>
              <a:buNone/>
            </a:pPr>
            <a:r>
              <a:rPr lang="en-US" altLang="en-US" sz="2400" dirty="0" smtClean="0">
                <a:latin typeface="Courier New" pitchFamily="49" charset="0"/>
                <a:cs typeface="Courier New" pitchFamily="49" charset="0"/>
              </a:rPr>
              <a:t>while (true) {</a:t>
            </a:r>
            <a:br>
              <a:rPr lang="en-US" altLang="en-US" sz="2400" dirty="0" smtClean="0">
                <a:latin typeface="Courier New" pitchFamily="49" charset="0"/>
                <a:cs typeface="Courier New" pitchFamily="49" charset="0"/>
              </a:rPr>
            </a:br>
            <a:r>
              <a:rPr lang="en-US" altLang="en-US" sz="2400" dirty="0" smtClean="0">
                <a:latin typeface="Courier New" pitchFamily="49" charset="0"/>
                <a:cs typeface="Courier New" pitchFamily="49" charset="0"/>
              </a:rPr>
              <a:t>	</a:t>
            </a:r>
            <a:r>
              <a:rPr lang="en-US" altLang="en-US" sz="1800" dirty="0" smtClean="0">
                <a:latin typeface="Courier New" pitchFamily="49" charset="0"/>
                <a:cs typeface="Courier New" pitchFamily="49" charset="0"/>
              </a:rPr>
              <a:t>/* produce an item in </a:t>
            </a:r>
            <a:r>
              <a:rPr lang="en-US" altLang="en-US" sz="1800" dirty="0" err="1" smtClean="0">
                <a:latin typeface="Courier New" pitchFamily="49" charset="0"/>
                <a:cs typeface="Courier New" pitchFamily="49" charset="0"/>
              </a:rPr>
              <a:t>next_produced</a:t>
            </a:r>
            <a:r>
              <a:rPr lang="en-US" altLang="en-US" sz="1800" dirty="0" smtClean="0">
                <a:latin typeface="Courier New" pitchFamily="49" charset="0"/>
                <a:cs typeface="Courier New" pitchFamily="49" charset="0"/>
              </a:rPr>
              <a:t> */ </a:t>
            </a:r>
            <a:endParaRPr lang="en-US" altLang="en-US" sz="2400" dirty="0" smtClean="0">
              <a:latin typeface="Courier New" pitchFamily="49" charset="0"/>
              <a:cs typeface="Courier New" pitchFamily="49" charset="0"/>
            </a:endParaRPr>
          </a:p>
          <a:p>
            <a:pPr marL="0" indent="0">
              <a:buFont typeface="Monotype Sorts" pitchFamily="-84" charset="2"/>
              <a:buNone/>
            </a:pPr>
            <a:r>
              <a:rPr lang="en-US" altLang="en-US" sz="2400" dirty="0" smtClean="0">
                <a:latin typeface="Courier New" pitchFamily="49" charset="0"/>
                <a:cs typeface="Courier New" pitchFamily="49" charset="0"/>
              </a:rPr>
              <a:t>	</a:t>
            </a:r>
          </a:p>
          <a:p>
            <a:pPr marL="0" indent="0">
              <a:buFont typeface="Monotype Sorts" pitchFamily="-84" charset="2"/>
              <a:buNone/>
            </a:pPr>
            <a:r>
              <a:rPr lang="en-US" altLang="en-US" sz="2400" dirty="0">
                <a:latin typeface="Courier New" pitchFamily="49" charset="0"/>
                <a:cs typeface="Courier New" pitchFamily="49" charset="0"/>
              </a:rPr>
              <a:t> </a:t>
            </a:r>
            <a:r>
              <a:rPr lang="en-US" altLang="en-US" sz="2400" dirty="0" smtClean="0">
                <a:latin typeface="Courier New" pitchFamily="49" charset="0"/>
                <a:cs typeface="Courier New" pitchFamily="49" charset="0"/>
              </a:rPr>
              <a:t>  while (counter == BUFFER_SIZE) ; </a:t>
            </a:r>
          </a:p>
          <a:p>
            <a:pPr marL="0" indent="0">
              <a:buFont typeface="Monotype Sorts" pitchFamily="-84" charset="2"/>
              <a:buNone/>
            </a:pPr>
            <a:r>
              <a:rPr lang="en-US" altLang="en-US" sz="2400" dirty="0" smtClean="0">
                <a:latin typeface="Courier New" pitchFamily="49" charset="0"/>
                <a:cs typeface="Courier New" pitchFamily="49" charset="0"/>
              </a:rPr>
              <a:t>		/* do nothing */ </a:t>
            </a:r>
          </a:p>
          <a:p>
            <a:pPr marL="0" indent="0">
              <a:buFont typeface="Monotype Sorts" pitchFamily="-84" charset="2"/>
              <a:buNone/>
            </a:pPr>
            <a:r>
              <a:rPr lang="en-US" altLang="en-US" sz="2400" dirty="0">
                <a:latin typeface="Courier New" pitchFamily="49" charset="0"/>
                <a:cs typeface="Courier New" pitchFamily="49" charset="0"/>
              </a:rPr>
              <a:t> </a:t>
            </a:r>
            <a:r>
              <a:rPr lang="en-US" altLang="en-US" sz="2400" dirty="0" smtClean="0">
                <a:latin typeface="Courier New" pitchFamily="49" charset="0"/>
                <a:cs typeface="Courier New" pitchFamily="49" charset="0"/>
              </a:rPr>
              <a:t>  buffer[in] = </a:t>
            </a:r>
            <a:r>
              <a:rPr lang="en-US" altLang="en-US" sz="2400" dirty="0" err="1" smtClean="0">
                <a:latin typeface="Courier New" pitchFamily="49" charset="0"/>
                <a:cs typeface="Courier New" pitchFamily="49" charset="0"/>
              </a:rPr>
              <a:t>next_produced</a:t>
            </a:r>
            <a:r>
              <a:rPr lang="en-US" altLang="en-US" sz="2400" dirty="0" smtClean="0">
                <a:latin typeface="Courier New" pitchFamily="49" charset="0"/>
                <a:cs typeface="Courier New" pitchFamily="49" charset="0"/>
              </a:rPr>
              <a:t>; </a:t>
            </a:r>
          </a:p>
          <a:p>
            <a:pPr marL="0" indent="0">
              <a:buFont typeface="Monotype Sorts" pitchFamily="-84" charset="2"/>
              <a:buNone/>
            </a:pPr>
            <a:r>
              <a:rPr lang="en-US" altLang="en-US" sz="2400" dirty="0">
                <a:latin typeface="Courier New" pitchFamily="49" charset="0"/>
                <a:cs typeface="Courier New" pitchFamily="49" charset="0"/>
              </a:rPr>
              <a:t> </a:t>
            </a:r>
            <a:r>
              <a:rPr lang="en-US" altLang="en-US" sz="2400" dirty="0" smtClean="0">
                <a:latin typeface="Courier New" pitchFamily="49" charset="0"/>
                <a:cs typeface="Courier New" pitchFamily="49" charset="0"/>
              </a:rPr>
              <a:t>  in = (in + 1) % BUFFER_SIZE; </a:t>
            </a:r>
          </a:p>
          <a:p>
            <a:pPr marL="0" indent="0">
              <a:buFont typeface="Monotype Sorts" pitchFamily="-84" charset="2"/>
              <a:buNone/>
            </a:pPr>
            <a:r>
              <a:rPr lang="en-US" altLang="en-US" sz="2400" dirty="0">
                <a:latin typeface="Courier New" pitchFamily="49" charset="0"/>
                <a:cs typeface="Courier New" pitchFamily="49" charset="0"/>
              </a:rPr>
              <a:t> </a:t>
            </a:r>
            <a:r>
              <a:rPr lang="en-US" altLang="en-US" sz="2400" dirty="0" smtClean="0">
                <a:latin typeface="Courier New" pitchFamily="49" charset="0"/>
                <a:cs typeface="Courier New" pitchFamily="49" charset="0"/>
              </a:rPr>
              <a:t>  </a:t>
            </a:r>
            <a:r>
              <a:rPr lang="en-US" altLang="en-US" sz="2400" dirty="0" smtClean="0">
                <a:solidFill>
                  <a:srgbClr val="FF0000"/>
                </a:solidFill>
                <a:latin typeface="Courier New" pitchFamily="49" charset="0"/>
                <a:cs typeface="Courier New" pitchFamily="49" charset="0"/>
              </a:rPr>
              <a:t>counter++; </a:t>
            </a:r>
          </a:p>
          <a:p>
            <a:pPr marL="0" indent="0">
              <a:buFont typeface="Monotype Sorts" pitchFamily="-84" charset="2"/>
              <a:buNone/>
            </a:pPr>
            <a:r>
              <a:rPr lang="en-US" altLang="en-US" sz="2400" dirty="0" smtClean="0">
                <a:latin typeface="Courier New" pitchFamily="49" charset="0"/>
                <a:cs typeface="Courier New" pitchFamily="49" charset="0"/>
              </a:rPr>
              <a:t>} </a:t>
            </a:r>
          </a:p>
        </p:txBody>
      </p:sp>
      <p:sp>
        <p:nvSpPr>
          <p:cNvPr id="4" name="TextBox 3"/>
          <p:cNvSpPr txBox="1"/>
          <p:nvPr/>
        </p:nvSpPr>
        <p:spPr>
          <a:xfrm>
            <a:off x="4342111" y="4668384"/>
            <a:ext cx="3542257" cy="1784952"/>
          </a:xfrm>
          <a:prstGeom prst="rect">
            <a:avLst/>
          </a:prstGeom>
          <a:noFill/>
        </p:spPr>
        <p:txBody>
          <a:bodyPr wrap="square" rtlCol="0">
            <a:spAutoFit/>
          </a:bodyPr>
          <a:lstStyle/>
          <a:p>
            <a:pPr>
              <a:buFont typeface="Monotype Sorts" charset="0"/>
              <a:buNone/>
              <a:defRPr/>
            </a:pPr>
            <a:r>
              <a:rPr lang="en-US" sz="1100" dirty="0" smtClean="0">
                <a:solidFill>
                  <a:srgbClr val="FF0000"/>
                </a:solidFill>
                <a:latin typeface="Monaco" charset="0"/>
                <a:ea typeface="ＭＳ Ｐゴシック" charset="0"/>
                <a:cs typeface="ＭＳ Ｐゴシック" charset="0"/>
              </a:rPr>
              <a:t>//Old version of Producer</a:t>
            </a:r>
            <a:endParaRPr lang="en-US" sz="1100" dirty="0">
              <a:solidFill>
                <a:srgbClr val="FF0000"/>
              </a:solidFill>
              <a:latin typeface="Monaco" charset="0"/>
              <a:ea typeface="ＭＳ Ｐゴシック" charset="0"/>
              <a:cs typeface="ＭＳ Ｐゴシック" charset="0"/>
            </a:endParaRPr>
          </a:p>
          <a:p>
            <a:pPr>
              <a:defRPr/>
            </a:pPr>
            <a:r>
              <a:rPr lang="en-US" sz="1100" dirty="0">
                <a:solidFill>
                  <a:srgbClr val="FF0000"/>
                </a:solidFill>
              </a:rPr>
              <a:t>item </a:t>
            </a:r>
            <a:r>
              <a:rPr lang="en-US" sz="1100" dirty="0" err="1">
                <a:solidFill>
                  <a:srgbClr val="FF0000"/>
                </a:solidFill>
              </a:rPr>
              <a:t>next_produced</a:t>
            </a:r>
            <a:r>
              <a:rPr lang="en-US" sz="1100" dirty="0">
                <a:solidFill>
                  <a:srgbClr val="FF0000"/>
                </a:solidFill>
              </a:rPr>
              <a:t>; </a:t>
            </a:r>
          </a:p>
          <a:p>
            <a:pPr>
              <a:defRPr/>
            </a:pPr>
            <a:r>
              <a:rPr lang="en-US" sz="1100" dirty="0">
                <a:solidFill>
                  <a:srgbClr val="FF0000"/>
                </a:solidFill>
              </a:rPr>
              <a:t>while (true) { </a:t>
            </a:r>
          </a:p>
          <a:p>
            <a:pPr>
              <a:defRPr/>
            </a:pPr>
            <a:r>
              <a:rPr lang="en-US" sz="1100" dirty="0">
                <a:solidFill>
                  <a:srgbClr val="FF0000"/>
                </a:solidFill>
              </a:rPr>
              <a:t>	/* produce an item in next produced */ </a:t>
            </a:r>
          </a:p>
          <a:p>
            <a:pPr>
              <a:defRPr/>
            </a:pPr>
            <a:r>
              <a:rPr lang="en-US" sz="1100" dirty="0">
                <a:solidFill>
                  <a:srgbClr val="FF0000"/>
                </a:solidFill>
              </a:rPr>
              <a:t>	while (((in + 1) % BUFFER_SIZE) == out) </a:t>
            </a:r>
          </a:p>
          <a:p>
            <a:pPr>
              <a:defRPr/>
            </a:pPr>
            <a:r>
              <a:rPr lang="en-US" sz="1100" dirty="0">
                <a:solidFill>
                  <a:srgbClr val="FF0000"/>
                </a:solidFill>
              </a:rPr>
              <a:t>		; /* do nothing */ </a:t>
            </a:r>
          </a:p>
          <a:p>
            <a:pPr>
              <a:defRPr/>
            </a:pPr>
            <a:r>
              <a:rPr lang="en-US" sz="1100" dirty="0">
                <a:solidFill>
                  <a:srgbClr val="FF0000"/>
                </a:solidFill>
              </a:rPr>
              <a:t>	buffer[in] = </a:t>
            </a:r>
            <a:r>
              <a:rPr lang="en-US" sz="1100" dirty="0" err="1">
                <a:solidFill>
                  <a:srgbClr val="FF0000"/>
                </a:solidFill>
              </a:rPr>
              <a:t>next_produced</a:t>
            </a:r>
            <a:r>
              <a:rPr lang="en-US" sz="1100" dirty="0">
                <a:solidFill>
                  <a:srgbClr val="FF0000"/>
                </a:solidFill>
              </a:rPr>
              <a:t>; </a:t>
            </a:r>
          </a:p>
          <a:p>
            <a:pPr>
              <a:defRPr/>
            </a:pPr>
            <a:r>
              <a:rPr lang="en-US" sz="1100" dirty="0">
                <a:solidFill>
                  <a:srgbClr val="FF0000"/>
                </a:solidFill>
              </a:rPr>
              <a:t>	in = (in + 1) % BUFFER_SIZE; </a:t>
            </a:r>
          </a:p>
          <a:p>
            <a:pPr>
              <a:defRPr/>
            </a:pPr>
            <a:r>
              <a:rPr lang="en-US" sz="1100" dirty="0">
                <a:solidFill>
                  <a:srgbClr val="FF0000"/>
                </a:solidFill>
              </a:rPr>
              <a:t>} </a:t>
            </a:r>
            <a:endParaRPr lang="en-US" sz="1050" dirty="0">
              <a:solidFill>
                <a:srgbClr val="FF0000"/>
              </a:solidFill>
              <a:ea typeface="ＭＳ Ｐゴシック" charset="0"/>
              <a:cs typeface="ＭＳ Ｐゴシック" charset="0"/>
            </a:endParaRPr>
          </a:p>
          <a:p>
            <a:pPr marL="7168674" lvl="4">
              <a:buFontTx/>
              <a:buNone/>
              <a:defRPr/>
            </a:pPr>
            <a:r>
              <a:rPr lang="en-US" sz="900" dirty="0" smtClean="0">
                <a:solidFill>
                  <a:srgbClr val="FF0000"/>
                </a:solidFill>
                <a:ea typeface="ＭＳ Ｐゴシック" charset="0"/>
              </a:rPr>
              <a:t>x</a:t>
            </a:r>
            <a:endParaRPr lang="en-US" sz="900" dirty="0">
              <a:solidFill>
                <a:srgbClr val="FF0000"/>
              </a:solidFill>
              <a:ea typeface="ＭＳ Ｐゴシック" charset="0"/>
            </a:endParaRPr>
          </a:p>
        </p:txBody>
      </p:sp>
    </p:spTree>
    <p:extLst>
      <p:ext uri="{BB962C8B-B14F-4D97-AF65-F5344CB8AC3E}">
        <p14:creationId xmlns:p14="http://schemas.microsoft.com/office/powerpoint/2010/main" val="4482618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87363" y="142875"/>
            <a:ext cx="8229600" cy="576263"/>
          </a:xfrm>
        </p:spPr>
        <p:txBody>
          <a:bodyPr>
            <a:normAutofit fontScale="90000"/>
          </a:bodyPr>
          <a:lstStyle/>
          <a:p>
            <a:pPr eaLnBrk="1" hangingPunct="1"/>
            <a:r>
              <a:rPr lang="en-US" altLang="en-US" smtClean="0"/>
              <a:t>Consumer</a:t>
            </a:r>
          </a:p>
        </p:txBody>
      </p:sp>
      <p:sp>
        <p:nvSpPr>
          <p:cNvPr id="8195" name="Rectangle 3"/>
          <p:cNvSpPr>
            <a:spLocks noGrp="1" noChangeArrowheads="1"/>
          </p:cNvSpPr>
          <p:nvPr>
            <p:ph type="body" idx="1"/>
          </p:nvPr>
        </p:nvSpPr>
        <p:spPr>
          <a:xfrm>
            <a:off x="977900" y="1262063"/>
            <a:ext cx="6877050" cy="4860925"/>
          </a:xfrm>
        </p:spPr>
        <p:txBody>
          <a:bodyPr>
            <a:normAutofit/>
          </a:bodyPr>
          <a:lstStyle/>
          <a:p>
            <a:pPr marL="0" indent="0">
              <a:buFont typeface="Monotype Sorts" pitchFamily="-84" charset="2"/>
              <a:buNone/>
            </a:pPr>
            <a:r>
              <a:rPr lang="en-US" altLang="en-US" sz="2400" dirty="0" smtClean="0">
                <a:latin typeface="Courier New" pitchFamily="49" charset="0"/>
                <a:cs typeface="Courier New" pitchFamily="49" charset="0"/>
              </a:rPr>
              <a:t>while (true) {</a:t>
            </a:r>
          </a:p>
          <a:p>
            <a:pPr marL="0" indent="0">
              <a:buFont typeface="Monotype Sorts" pitchFamily="-84" charset="2"/>
              <a:buNone/>
            </a:pPr>
            <a:r>
              <a:rPr lang="en-US" altLang="en-US" sz="2400" dirty="0" smtClean="0">
                <a:latin typeface="Courier New" pitchFamily="49" charset="0"/>
                <a:cs typeface="Courier New" pitchFamily="49" charset="0"/>
              </a:rPr>
              <a:t>	while (counter == 0); </a:t>
            </a:r>
          </a:p>
          <a:p>
            <a:pPr marL="0" indent="0">
              <a:buFont typeface="Monotype Sorts" pitchFamily="-84" charset="2"/>
              <a:buNone/>
            </a:pPr>
            <a:r>
              <a:rPr lang="en-US" altLang="en-US" sz="2400" dirty="0" smtClean="0">
                <a:latin typeface="Courier New" pitchFamily="49" charset="0"/>
                <a:cs typeface="Courier New" pitchFamily="49" charset="0"/>
              </a:rPr>
              <a:t>     /* do nothing */ </a:t>
            </a:r>
          </a:p>
          <a:p>
            <a:pPr marL="0" indent="0">
              <a:buFont typeface="Monotype Sorts" pitchFamily="-84" charset="2"/>
              <a:buNone/>
            </a:pPr>
            <a:r>
              <a:rPr lang="en-US" altLang="en-US" sz="2400" dirty="0" smtClean="0">
                <a:latin typeface="Courier New" pitchFamily="49" charset="0"/>
                <a:cs typeface="Courier New" pitchFamily="49" charset="0"/>
              </a:rPr>
              <a:t>	</a:t>
            </a:r>
            <a:r>
              <a:rPr lang="en-US" altLang="en-US" sz="2400" dirty="0" err="1" smtClean="0">
                <a:latin typeface="Courier New" pitchFamily="49" charset="0"/>
                <a:cs typeface="Courier New" pitchFamily="49" charset="0"/>
              </a:rPr>
              <a:t>next_consumed</a:t>
            </a:r>
            <a:r>
              <a:rPr lang="en-US" altLang="en-US" sz="2400" dirty="0" smtClean="0">
                <a:latin typeface="Courier New" pitchFamily="49" charset="0"/>
                <a:cs typeface="Courier New" pitchFamily="49" charset="0"/>
              </a:rPr>
              <a:t> = buffer[out]; </a:t>
            </a:r>
          </a:p>
          <a:p>
            <a:pPr marL="0" indent="0">
              <a:buFont typeface="Monotype Sorts" pitchFamily="-84" charset="2"/>
              <a:buNone/>
            </a:pPr>
            <a:r>
              <a:rPr lang="en-US" altLang="en-US" sz="2400" dirty="0" smtClean="0">
                <a:latin typeface="Courier New" pitchFamily="49" charset="0"/>
                <a:cs typeface="Courier New" pitchFamily="49" charset="0"/>
              </a:rPr>
              <a:t>	out = (out + 1) % BUFFER_SIZE; 	</a:t>
            </a:r>
            <a:r>
              <a:rPr lang="en-US" altLang="en-US" sz="2400" dirty="0" smtClean="0">
                <a:solidFill>
                  <a:srgbClr val="FF0000"/>
                </a:solidFill>
                <a:latin typeface="Courier New" pitchFamily="49" charset="0"/>
                <a:cs typeface="Courier New" pitchFamily="49" charset="0"/>
              </a:rPr>
              <a:t>counter--; </a:t>
            </a:r>
          </a:p>
          <a:p>
            <a:pPr marL="0" indent="0">
              <a:buFont typeface="Monotype Sorts" pitchFamily="-84" charset="2"/>
              <a:buNone/>
            </a:pPr>
            <a:r>
              <a:rPr lang="en-US" altLang="en-US" sz="2400" dirty="0" smtClean="0">
                <a:latin typeface="Courier New" pitchFamily="49" charset="0"/>
                <a:cs typeface="Courier New" pitchFamily="49" charset="0"/>
              </a:rPr>
              <a:t>	</a:t>
            </a:r>
            <a:r>
              <a:rPr lang="en-US" altLang="en-US" sz="1800" dirty="0" smtClean="0">
                <a:latin typeface="Courier New" pitchFamily="49" charset="0"/>
                <a:cs typeface="Courier New" pitchFamily="49" charset="0"/>
              </a:rPr>
              <a:t>/* consume the item in </a:t>
            </a:r>
            <a:r>
              <a:rPr lang="en-US" altLang="en-US" sz="1800" dirty="0" err="1" smtClean="0">
                <a:latin typeface="Courier New" pitchFamily="49" charset="0"/>
                <a:cs typeface="Courier New" pitchFamily="49" charset="0"/>
              </a:rPr>
              <a:t>next_consumed</a:t>
            </a:r>
            <a:r>
              <a:rPr lang="en-US" altLang="en-US" sz="1800" dirty="0" smtClean="0">
                <a:latin typeface="Courier New" pitchFamily="49" charset="0"/>
                <a:cs typeface="Courier New" pitchFamily="49" charset="0"/>
              </a:rPr>
              <a:t> */ </a:t>
            </a:r>
          </a:p>
          <a:p>
            <a:pPr marL="0" indent="0">
              <a:buFont typeface="Monotype Sorts" pitchFamily="-84" charset="2"/>
              <a:buNone/>
            </a:pPr>
            <a:r>
              <a:rPr lang="en-US" altLang="en-US" sz="2400" dirty="0" smtClean="0">
                <a:latin typeface="Courier New" pitchFamily="49" charset="0"/>
                <a:cs typeface="Courier New" pitchFamily="49" charset="0"/>
              </a:rPr>
              <a:t>} </a:t>
            </a:r>
          </a:p>
        </p:txBody>
      </p:sp>
    </p:spTree>
    <p:extLst>
      <p:ext uri="{BB962C8B-B14F-4D97-AF65-F5344CB8AC3E}">
        <p14:creationId xmlns:p14="http://schemas.microsoft.com/office/powerpoint/2010/main" val="2583588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dirty="0" smtClean="0"/>
              <a:t>Race Condition - Example</a:t>
            </a:r>
          </a:p>
        </p:txBody>
      </p:sp>
      <p:sp>
        <p:nvSpPr>
          <p:cNvPr id="9219" name="Rectangle 1027"/>
          <p:cNvSpPr>
            <a:spLocks noGrp="1" noChangeArrowheads="1"/>
          </p:cNvSpPr>
          <p:nvPr>
            <p:ph idx="1"/>
          </p:nvPr>
        </p:nvSpPr>
        <p:spPr>
          <a:xfrm>
            <a:off x="1004888" y="1177925"/>
            <a:ext cx="8067675" cy="5173663"/>
          </a:xfrm>
        </p:spPr>
        <p:txBody>
          <a:bodyPr>
            <a:normAutofit fontScale="92500" lnSpcReduction="20000"/>
          </a:bodyPr>
          <a:lstStyle/>
          <a:p>
            <a:pPr algn="just"/>
            <a:r>
              <a:rPr lang="en-US" altLang="en-US" sz="2100" b="1" dirty="0" smtClean="0">
                <a:solidFill>
                  <a:srgbClr val="000000"/>
                </a:solidFill>
                <a:latin typeface="Courier New" pitchFamily="49" charset="0"/>
                <a:cs typeface="Courier New" pitchFamily="49" charset="0"/>
              </a:rPr>
              <a:t>Race Condition: </a:t>
            </a:r>
            <a:r>
              <a:rPr lang="en-US" altLang="en-US" sz="2100" dirty="0" smtClean="0">
                <a:solidFill>
                  <a:srgbClr val="000000"/>
                </a:solidFill>
                <a:latin typeface="+mj-lt"/>
                <a:cs typeface="Courier New" pitchFamily="49" charset="0"/>
              </a:rPr>
              <a:t>A situation where </a:t>
            </a:r>
            <a:r>
              <a:rPr lang="en-US" sz="2100" dirty="0" smtClean="0"/>
              <a:t>several </a:t>
            </a:r>
            <a:r>
              <a:rPr lang="en-US" sz="2100" dirty="0">
                <a:solidFill>
                  <a:srgbClr val="FF0000"/>
                </a:solidFill>
              </a:rPr>
              <a:t>processes access and manipulate the same data concurrently </a:t>
            </a:r>
            <a:r>
              <a:rPr lang="en-US" sz="2100" dirty="0"/>
              <a:t>and </a:t>
            </a:r>
            <a:r>
              <a:rPr lang="en-US" sz="2100" dirty="0" smtClean="0"/>
              <a:t>the outcome </a:t>
            </a:r>
            <a:r>
              <a:rPr lang="en-US" sz="2100" dirty="0"/>
              <a:t>of the execution depends on the particular order in which the </a:t>
            </a:r>
            <a:r>
              <a:rPr lang="en-US" sz="2100" dirty="0" smtClean="0"/>
              <a:t>access takes </a:t>
            </a:r>
            <a:r>
              <a:rPr lang="en-US" sz="2100" dirty="0"/>
              <a:t>place, is called a </a:t>
            </a:r>
            <a:r>
              <a:rPr lang="en-US" sz="2100" b="1" dirty="0"/>
              <a:t>race condition</a:t>
            </a:r>
            <a:r>
              <a:rPr lang="en-US" sz="2100" dirty="0" smtClean="0"/>
              <a:t>.</a:t>
            </a:r>
          </a:p>
          <a:p>
            <a:pPr lvl="1" algn="just"/>
            <a:r>
              <a:rPr lang="en-US" sz="1700" dirty="0">
                <a:solidFill>
                  <a:srgbClr val="FF0000"/>
                </a:solidFill>
              </a:rPr>
              <a:t>Solution</a:t>
            </a:r>
            <a:r>
              <a:rPr lang="en-US" sz="1700" dirty="0"/>
              <a:t>: </a:t>
            </a:r>
            <a:r>
              <a:rPr lang="en-US" sz="1700" b="1" dirty="0">
                <a:solidFill>
                  <a:srgbClr val="00B050"/>
                </a:solidFill>
              </a:rPr>
              <a:t>Ensure that only one process at a time can be manipulating the variable counter </a:t>
            </a:r>
            <a:r>
              <a:rPr lang="en-US" sz="1700" dirty="0" smtClean="0"/>
              <a:t>which </a:t>
            </a:r>
            <a:r>
              <a:rPr lang="en-US" sz="1700" dirty="0"/>
              <a:t>requires that the processes be synchronized in some way.	</a:t>
            </a:r>
          </a:p>
          <a:p>
            <a:pPr>
              <a:lnSpc>
                <a:spcPct val="90000"/>
              </a:lnSpc>
            </a:pPr>
            <a:r>
              <a:rPr lang="en-US" altLang="en-US" b="1" dirty="0" smtClean="0">
                <a:solidFill>
                  <a:srgbClr val="000000"/>
                </a:solidFill>
                <a:latin typeface="Courier New" pitchFamily="49" charset="0"/>
                <a:cs typeface="Courier New" pitchFamily="49" charset="0"/>
              </a:rPr>
              <a:t>counter++ </a:t>
            </a:r>
            <a:r>
              <a:rPr lang="en-US" altLang="en-US" sz="1600" dirty="0" smtClean="0"/>
              <a:t>could be implemented as</a:t>
            </a:r>
            <a:br>
              <a:rPr lang="en-US" altLang="en-US" sz="1600" dirty="0" smtClean="0"/>
            </a:br>
            <a:r>
              <a:rPr lang="en-US" altLang="en-US" sz="1600" dirty="0" smtClean="0"/>
              <a:t/>
            </a:r>
            <a:br>
              <a:rPr lang="en-US" altLang="en-US" sz="1600" dirty="0" smtClean="0"/>
            </a:br>
            <a:r>
              <a:rPr lang="en-US" altLang="en-US" sz="1600" b="1" dirty="0" smtClean="0">
                <a:latin typeface="Courier New" pitchFamily="49" charset="0"/>
                <a:cs typeface="Courier New" pitchFamily="49" charset="0"/>
              </a:rPr>
              <a:t>     </a:t>
            </a:r>
            <a:r>
              <a:rPr lang="en-US" altLang="en-US" sz="1600" b="1" dirty="0" smtClean="0">
                <a:solidFill>
                  <a:srgbClr val="0000FF"/>
                </a:solidFill>
                <a:latin typeface="Courier New" pitchFamily="49" charset="0"/>
                <a:cs typeface="Courier New" pitchFamily="49" charset="0"/>
              </a:rPr>
              <a:t>register1 = counter</a:t>
            </a:r>
            <a:br>
              <a:rPr lang="en-US" altLang="en-US" sz="1600" b="1" dirty="0" smtClean="0">
                <a:solidFill>
                  <a:srgbClr val="0000FF"/>
                </a:solidFill>
                <a:latin typeface="Courier New" pitchFamily="49" charset="0"/>
                <a:cs typeface="Courier New" pitchFamily="49" charset="0"/>
              </a:rPr>
            </a:br>
            <a:r>
              <a:rPr lang="en-US" altLang="en-US" sz="1600" b="1" dirty="0" smtClean="0">
                <a:solidFill>
                  <a:srgbClr val="0000FF"/>
                </a:solidFill>
                <a:latin typeface="Courier New" pitchFamily="49" charset="0"/>
                <a:cs typeface="Courier New" pitchFamily="49" charset="0"/>
              </a:rPr>
              <a:t>     register1 = register1 + 1</a:t>
            </a:r>
            <a:br>
              <a:rPr lang="en-US" altLang="en-US" sz="1600" b="1" dirty="0" smtClean="0">
                <a:solidFill>
                  <a:srgbClr val="0000FF"/>
                </a:solidFill>
                <a:latin typeface="Courier New" pitchFamily="49" charset="0"/>
                <a:cs typeface="Courier New" pitchFamily="49" charset="0"/>
              </a:rPr>
            </a:br>
            <a:r>
              <a:rPr lang="en-US" altLang="en-US" sz="1600" b="1" dirty="0" smtClean="0">
                <a:solidFill>
                  <a:srgbClr val="0000FF"/>
                </a:solidFill>
                <a:latin typeface="Courier New" pitchFamily="49" charset="0"/>
                <a:cs typeface="Courier New" pitchFamily="49" charset="0"/>
              </a:rPr>
              <a:t>     counter = register1</a:t>
            </a:r>
            <a:endParaRPr lang="en-US" altLang="en-US" sz="800" dirty="0" smtClean="0">
              <a:solidFill>
                <a:srgbClr val="0000FF"/>
              </a:solidFill>
            </a:endParaRPr>
          </a:p>
          <a:p>
            <a:pPr>
              <a:lnSpc>
                <a:spcPct val="90000"/>
              </a:lnSpc>
            </a:pPr>
            <a:r>
              <a:rPr lang="en-US" altLang="en-US" b="1" dirty="0" smtClean="0">
                <a:solidFill>
                  <a:srgbClr val="000000"/>
                </a:solidFill>
                <a:latin typeface="Courier New" pitchFamily="49" charset="0"/>
                <a:cs typeface="Courier New" pitchFamily="49" charset="0"/>
              </a:rPr>
              <a:t>counter--</a:t>
            </a:r>
            <a:r>
              <a:rPr lang="en-US" altLang="en-US" sz="1600" b="1" dirty="0" smtClean="0">
                <a:solidFill>
                  <a:schemeClr val="tx2"/>
                </a:solidFill>
                <a:latin typeface="Courier New" pitchFamily="49" charset="0"/>
                <a:cs typeface="Courier New" pitchFamily="49" charset="0"/>
              </a:rPr>
              <a:t> </a:t>
            </a:r>
            <a:r>
              <a:rPr lang="en-US" altLang="en-US" sz="1600" dirty="0" smtClean="0"/>
              <a:t>could be implemented as</a:t>
            </a:r>
            <a:br>
              <a:rPr lang="en-US" altLang="en-US" sz="1600" dirty="0" smtClean="0"/>
            </a:br>
            <a:r>
              <a:rPr lang="en-US" altLang="en-US" sz="1600" dirty="0" smtClean="0"/>
              <a:t/>
            </a:r>
            <a:br>
              <a:rPr lang="en-US" altLang="en-US" sz="1600" dirty="0" smtClean="0"/>
            </a:br>
            <a:r>
              <a:rPr lang="en-US" altLang="en-US" sz="1600" b="1" dirty="0" smtClean="0">
                <a:latin typeface="Courier New" pitchFamily="49" charset="0"/>
                <a:cs typeface="Courier New" pitchFamily="49" charset="0"/>
              </a:rPr>
              <a:t>     </a:t>
            </a:r>
            <a:r>
              <a:rPr lang="en-US" altLang="en-US" sz="1600" b="1" dirty="0" smtClean="0">
                <a:solidFill>
                  <a:srgbClr val="FF0000"/>
                </a:solidFill>
                <a:latin typeface="Courier New" pitchFamily="49" charset="0"/>
                <a:cs typeface="Courier New" pitchFamily="49" charset="0"/>
              </a:rPr>
              <a:t>register2 = counter</a:t>
            </a:r>
            <a:br>
              <a:rPr lang="en-US" altLang="en-US" sz="1600" b="1" dirty="0" smtClean="0">
                <a:solidFill>
                  <a:srgbClr val="FF0000"/>
                </a:solidFill>
                <a:latin typeface="Courier New" pitchFamily="49" charset="0"/>
                <a:cs typeface="Courier New" pitchFamily="49" charset="0"/>
              </a:rPr>
            </a:br>
            <a:r>
              <a:rPr lang="en-US" altLang="en-US" sz="1600" b="1" dirty="0" smtClean="0">
                <a:solidFill>
                  <a:srgbClr val="FF0000"/>
                </a:solidFill>
                <a:latin typeface="Courier New" pitchFamily="49" charset="0"/>
                <a:cs typeface="Courier New" pitchFamily="49" charset="0"/>
              </a:rPr>
              <a:t>     register2 = register2 - 1</a:t>
            </a:r>
            <a:br>
              <a:rPr lang="en-US" altLang="en-US" sz="1600" b="1" dirty="0" smtClean="0">
                <a:solidFill>
                  <a:srgbClr val="FF0000"/>
                </a:solidFill>
                <a:latin typeface="Courier New" pitchFamily="49" charset="0"/>
                <a:cs typeface="Courier New" pitchFamily="49" charset="0"/>
              </a:rPr>
            </a:br>
            <a:r>
              <a:rPr lang="en-US" altLang="en-US" sz="1600" b="1" dirty="0" smtClean="0">
                <a:solidFill>
                  <a:srgbClr val="FF0000"/>
                </a:solidFill>
                <a:latin typeface="Courier New" pitchFamily="49" charset="0"/>
                <a:cs typeface="Courier New" pitchFamily="49" charset="0"/>
              </a:rPr>
              <a:t>     counter = register2</a:t>
            </a:r>
          </a:p>
          <a:p>
            <a:pPr>
              <a:lnSpc>
                <a:spcPct val="90000"/>
              </a:lnSpc>
              <a:buFont typeface="Monotype Sorts" pitchFamily="-84" charset="2"/>
              <a:buNone/>
            </a:pPr>
            <a:endParaRPr lang="en-US" altLang="en-US" sz="800" dirty="0" smtClean="0">
              <a:solidFill>
                <a:srgbClr val="FF0000"/>
              </a:solidFill>
            </a:endParaRPr>
          </a:p>
          <a:p>
            <a:pPr>
              <a:lnSpc>
                <a:spcPct val="90000"/>
              </a:lnSpc>
            </a:pPr>
            <a:r>
              <a:rPr lang="en-US" altLang="en-US" sz="1600" dirty="0" smtClean="0"/>
              <a:t>Consider this execution interleaving with </a:t>
            </a:r>
            <a:r>
              <a:rPr lang="ja-JP" altLang="en-US" sz="1600" dirty="0" smtClean="0"/>
              <a:t>“</a:t>
            </a:r>
            <a:r>
              <a:rPr lang="en-US" altLang="ja-JP" sz="1600" dirty="0" smtClean="0"/>
              <a:t>counter = 5</a:t>
            </a:r>
            <a:r>
              <a:rPr lang="ja-JP" altLang="en-US" sz="1600" dirty="0" smtClean="0"/>
              <a:t>”</a:t>
            </a:r>
            <a:r>
              <a:rPr lang="en-US" altLang="ja-JP" sz="1600" dirty="0" smtClean="0"/>
              <a:t> initially:</a:t>
            </a:r>
          </a:p>
          <a:p>
            <a:pPr lvl="1">
              <a:lnSpc>
                <a:spcPct val="90000"/>
              </a:lnSpc>
              <a:buFont typeface="Monotype Sorts" pitchFamily="-84" charset="2"/>
              <a:buNone/>
            </a:pPr>
            <a:r>
              <a:rPr lang="en-US" altLang="en-US" sz="1600" dirty="0" smtClean="0"/>
              <a:t>	T0: producer executes </a:t>
            </a:r>
            <a:r>
              <a:rPr lang="en-US" altLang="en-US" sz="1600" b="1" dirty="0" smtClean="0">
                <a:solidFill>
                  <a:srgbClr val="0000FF"/>
                </a:solidFill>
                <a:latin typeface="Courier New" pitchFamily="49" charset="0"/>
              </a:rPr>
              <a:t>register1 = counter</a:t>
            </a:r>
            <a:r>
              <a:rPr lang="en-US" altLang="en-US" sz="1600" b="1" dirty="0" smtClean="0">
                <a:latin typeface="Courier New" pitchFamily="49" charset="0"/>
              </a:rPr>
              <a:t>         </a:t>
            </a:r>
            <a:r>
              <a:rPr lang="en-US" altLang="en-US" sz="1600" dirty="0" smtClean="0"/>
              <a:t>{register1 = 5}</a:t>
            </a:r>
            <a:br>
              <a:rPr lang="en-US" altLang="en-US" sz="1600" dirty="0" smtClean="0"/>
            </a:br>
            <a:r>
              <a:rPr lang="en-US" altLang="en-US" sz="1600" dirty="0" smtClean="0"/>
              <a:t>T1: producer executes </a:t>
            </a:r>
            <a:r>
              <a:rPr lang="en-US" altLang="en-US" sz="1600" b="1" dirty="0" smtClean="0">
                <a:solidFill>
                  <a:srgbClr val="0000FF"/>
                </a:solidFill>
                <a:latin typeface="Courier New" pitchFamily="49" charset="0"/>
              </a:rPr>
              <a:t>register1 = register1 + 1   </a:t>
            </a:r>
            <a:r>
              <a:rPr lang="en-US" altLang="en-US" sz="1600" dirty="0" smtClean="0"/>
              <a:t>{register1 = 6} </a:t>
            </a:r>
            <a:br>
              <a:rPr lang="en-US" altLang="en-US" sz="1600" dirty="0" smtClean="0"/>
            </a:br>
            <a:r>
              <a:rPr lang="en-US" altLang="en-US" sz="1600" dirty="0" smtClean="0"/>
              <a:t>T2: consumer executes </a:t>
            </a:r>
            <a:r>
              <a:rPr lang="en-US" altLang="en-US" sz="1600" b="1" dirty="0" smtClean="0">
                <a:solidFill>
                  <a:srgbClr val="FF0000"/>
                </a:solidFill>
                <a:latin typeface="Courier New" pitchFamily="49" charset="0"/>
              </a:rPr>
              <a:t>register2 = counter        </a:t>
            </a:r>
            <a:r>
              <a:rPr lang="en-US" altLang="en-US" sz="1600" dirty="0" smtClean="0"/>
              <a:t>{register2 = 5} </a:t>
            </a:r>
            <a:br>
              <a:rPr lang="en-US" altLang="en-US" sz="1600" dirty="0" smtClean="0"/>
            </a:br>
            <a:r>
              <a:rPr lang="en-US" altLang="en-US" sz="1600" dirty="0" smtClean="0"/>
              <a:t>T3: consumer executes </a:t>
            </a:r>
            <a:r>
              <a:rPr lang="en-US" altLang="en-US" sz="1600" b="1" dirty="0" smtClean="0">
                <a:solidFill>
                  <a:srgbClr val="FF0000"/>
                </a:solidFill>
                <a:latin typeface="Courier New" pitchFamily="49" charset="0"/>
              </a:rPr>
              <a:t>register2 = register2 – 1  </a:t>
            </a:r>
            <a:r>
              <a:rPr lang="en-US" altLang="en-US" sz="1600" dirty="0" smtClean="0"/>
              <a:t>{register2 = 4} </a:t>
            </a:r>
            <a:br>
              <a:rPr lang="en-US" altLang="en-US" sz="1600" dirty="0" smtClean="0"/>
            </a:br>
            <a:r>
              <a:rPr lang="en-US" altLang="en-US" sz="1600" dirty="0" smtClean="0"/>
              <a:t>T4: producer executes </a:t>
            </a:r>
            <a:r>
              <a:rPr lang="en-US" altLang="en-US" sz="1600" b="1" dirty="0" smtClean="0">
                <a:solidFill>
                  <a:srgbClr val="0000FF"/>
                </a:solidFill>
                <a:latin typeface="Courier New" pitchFamily="49" charset="0"/>
              </a:rPr>
              <a:t>counter = register1         </a:t>
            </a:r>
            <a:r>
              <a:rPr lang="en-US" altLang="en-US" sz="1600" dirty="0" smtClean="0"/>
              <a:t>{counter = 6 } </a:t>
            </a:r>
            <a:br>
              <a:rPr lang="en-US" altLang="en-US" sz="1600" dirty="0" smtClean="0"/>
            </a:br>
            <a:r>
              <a:rPr lang="en-US" altLang="en-US" sz="1600" dirty="0" smtClean="0"/>
              <a:t>T5: consumer executes </a:t>
            </a:r>
            <a:r>
              <a:rPr lang="en-US" altLang="en-US" sz="1600" b="1" dirty="0" smtClean="0">
                <a:solidFill>
                  <a:srgbClr val="FF0000"/>
                </a:solidFill>
                <a:latin typeface="Courier New" pitchFamily="49" charset="0"/>
              </a:rPr>
              <a:t>counter = register2        </a:t>
            </a:r>
            <a:r>
              <a:rPr lang="en-US" altLang="en-US" sz="1600" dirty="0" smtClean="0"/>
              <a:t>{counter = 4}</a:t>
            </a:r>
          </a:p>
          <a:p>
            <a:pPr lvl="1">
              <a:lnSpc>
                <a:spcPct val="90000"/>
              </a:lnSpc>
              <a:buFont typeface="Monotype Sorts" pitchFamily="-84" charset="2"/>
              <a:buNone/>
            </a:pPr>
            <a:endParaRPr lang="en-US" altLang="en-US" dirty="0" smtClean="0"/>
          </a:p>
        </p:txBody>
      </p:sp>
    </p:spTree>
    <p:extLst>
      <p:ext uri="{BB962C8B-B14F-4D97-AF65-F5344CB8AC3E}">
        <p14:creationId xmlns:p14="http://schemas.microsoft.com/office/powerpoint/2010/main" val="193138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01613"/>
            <a:ext cx="8229600" cy="576262"/>
          </a:xfrm>
        </p:spPr>
        <p:txBody>
          <a:bodyPr>
            <a:normAutofit fontScale="90000"/>
          </a:bodyPr>
          <a:lstStyle/>
          <a:p>
            <a:r>
              <a:rPr lang="en-US" altLang="en-US" dirty="0" smtClean="0"/>
              <a:t>Critical Section Problem</a:t>
            </a:r>
          </a:p>
        </p:txBody>
      </p:sp>
      <p:sp>
        <p:nvSpPr>
          <p:cNvPr id="10243" name="Content Placeholder 2"/>
          <p:cNvSpPr>
            <a:spLocks noGrp="1"/>
          </p:cNvSpPr>
          <p:nvPr>
            <p:ph idx="1"/>
          </p:nvPr>
        </p:nvSpPr>
        <p:spPr>
          <a:xfrm>
            <a:off x="908050" y="777876"/>
            <a:ext cx="6940550" cy="5531444"/>
          </a:xfrm>
        </p:spPr>
        <p:txBody>
          <a:bodyPr>
            <a:noAutofit/>
          </a:bodyPr>
          <a:lstStyle/>
          <a:p>
            <a:pPr algn="just"/>
            <a:r>
              <a:rPr lang="en-US" altLang="en-US" sz="2400" dirty="0" smtClean="0"/>
              <a:t>Consider system of </a:t>
            </a:r>
            <a:r>
              <a:rPr lang="en-US" altLang="en-US" sz="2400" b="1" i="1" dirty="0" smtClean="0"/>
              <a:t>n</a:t>
            </a:r>
            <a:r>
              <a:rPr lang="en-US" altLang="en-US" sz="2400" b="1" dirty="0" smtClean="0"/>
              <a:t> </a:t>
            </a:r>
            <a:r>
              <a:rPr lang="en-US" altLang="en-US" sz="2400" dirty="0" smtClean="0"/>
              <a:t>processes {</a:t>
            </a:r>
            <a:r>
              <a:rPr lang="en-US" altLang="en-US" sz="2400" b="1" i="1" dirty="0" smtClean="0"/>
              <a:t>p</a:t>
            </a:r>
            <a:r>
              <a:rPr lang="en-US" altLang="en-US" sz="2400" b="1" i="1" baseline="-25000" dirty="0" smtClean="0"/>
              <a:t>0</a:t>
            </a:r>
            <a:r>
              <a:rPr lang="en-US" altLang="en-US" sz="2400" b="1" i="1" dirty="0" smtClean="0"/>
              <a:t>, p</a:t>
            </a:r>
            <a:r>
              <a:rPr lang="en-US" altLang="en-US" sz="2400" b="1" i="1" baseline="-25000" dirty="0" smtClean="0"/>
              <a:t>1</a:t>
            </a:r>
            <a:r>
              <a:rPr lang="en-US" altLang="en-US" sz="2400" b="1" i="1" dirty="0" smtClean="0"/>
              <a:t>, … p</a:t>
            </a:r>
            <a:r>
              <a:rPr lang="en-US" altLang="en-US" sz="2400" b="1" i="1" baseline="-25000" dirty="0" smtClean="0"/>
              <a:t>n-1</a:t>
            </a:r>
            <a:r>
              <a:rPr lang="en-US" altLang="en-US" sz="2400" dirty="0" smtClean="0"/>
              <a:t>}</a:t>
            </a:r>
          </a:p>
          <a:p>
            <a:pPr algn="just"/>
            <a:r>
              <a:rPr lang="en-US" altLang="en-US" sz="2400" dirty="0" smtClean="0"/>
              <a:t>Each process has </a:t>
            </a:r>
            <a:r>
              <a:rPr lang="en-US" altLang="en-US" sz="2400" b="1" dirty="0" smtClean="0">
                <a:solidFill>
                  <a:srgbClr val="3366FF"/>
                </a:solidFill>
              </a:rPr>
              <a:t>critical section </a:t>
            </a:r>
            <a:r>
              <a:rPr lang="en-US" altLang="en-US" sz="2400" dirty="0" smtClean="0"/>
              <a:t>segment of code</a:t>
            </a:r>
          </a:p>
          <a:p>
            <a:pPr lvl="1" algn="just"/>
            <a:r>
              <a:rPr lang="en-US" altLang="en-US" sz="2000" dirty="0" smtClean="0">
                <a:solidFill>
                  <a:srgbClr val="FF0000"/>
                </a:solidFill>
              </a:rPr>
              <a:t>Process may be </a:t>
            </a:r>
          </a:p>
          <a:p>
            <a:pPr lvl="2" algn="just"/>
            <a:r>
              <a:rPr lang="en-US" altLang="en-US" sz="1600" dirty="0" smtClean="0">
                <a:solidFill>
                  <a:srgbClr val="FF0000"/>
                </a:solidFill>
              </a:rPr>
              <a:t>changing common variables</a:t>
            </a:r>
          </a:p>
          <a:p>
            <a:pPr lvl="2" algn="just"/>
            <a:r>
              <a:rPr lang="en-US" altLang="en-US" sz="1600" dirty="0" smtClean="0">
                <a:solidFill>
                  <a:srgbClr val="FF0000"/>
                </a:solidFill>
              </a:rPr>
              <a:t>Updating a shared memory block</a:t>
            </a:r>
          </a:p>
          <a:p>
            <a:pPr lvl="2" algn="just"/>
            <a:r>
              <a:rPr lang="en-US" altLang="en-US" sz="1600" dirty="0" smtClean="0">
                <a:solidFill>
                  <a:srgbClr val="FF0000"/>
                </a:solidFill>
              </a:rPr>
              <a:t>updating table</a:t>
            </a:r>
          </a:p>
          <a:p>
            <a:pPr lvl="2" algn="just"/>
            <a:r>
              <a:rPr lang="en-US" altLang="en-US" sz="1600" dirty="0" smtClean="0">
                <a:solidFill>
                  <a:srgbClr val="FF0000"/>
                </a:solidFill>
              </a:rPr>
              <a:t>writing file, … </a:t>
            </a:r>
            <a:r>
              <a:rPr lang="en-US" altLang="en-US" sz="1600" dirty="0" err="1" smtClean="0">
                <a:solidFill>
                  <a:srgbClr val="FF0000"/>
                </a:solidFill>
              </a:rPr>
              <a:t>etc</a:t>
            </a:r>
            <a:endParaRPr lang="en-US" altLang="en-US" sz="1600" dirty="0" smtClean="0">
              <a:solidFill>
                <a:srgbClr val="FF0000"/>
              </a:solidFill>
            </a:endParaRPr>
          </a:p>
          <a:p>
            <a:pPr lvl="1" algn="just"/>
            <a:r>
              <a:rPr lang="en-US" altLang="en-US" sz="2000" dirty="0" smtClean="0"/>
              <a:t>When one process is in critical section, no other may be in its critical section</a:t>
            </a:r>
          </a:p>
          <a:p>
            <a:pPr lvl="2" algn="just"/>
            <a:r>
              <a:rPr lang="en-US" sz="1600" b="1" dirty="0" smtClean="0">
                <a:solidFill>
                  <a:srgbClr val="00B050"/>
                </a:solidFill>
              </a:rPr>
              <a:t>no two processes are executing in their critical sections at the same time.</a:t>
            </a:r>
            <a:endParaRPr lang="en-US" altLang="en-US" sz="5400" b="1" dirty="0" smtClean="0">
              <a:solidFill>
                <a:srgbClr val="00B050"/>
              </a:solidFill>
            </a:endParaRPr>
          </a:p>
          <a:p>
            <a:pPr algn="just"/>
            <a:r>
              <a:rPr lang="en-US" altLang="en-US" sz="2400" b="1" i="1" dirty="0" smtClean="0"/>
              <a:t>Critical section problem </a:t>
            </a:r>
            <a:r>
              <a:rPr lang="en-US" altLang="en-US" sz="2400" dirty="0" smtClean="0"/>
              <a:t>is to design protocol </a:t>
            </a:r>
            <a:r>
              <a:rPr lang="en-US" sz="2400" dirty="0" smtClean="0"/>
              <a:t>that </a:t>
            </a:r>
            <a:r>
              <a:rPr lang="en-US" sz="2400" dirty="0"/>
              <a:t>the processes can use to cooperate</a:t>
            </a:r>
            <a:endParaRPr lang="en-US" altLang="en-US" sz="2400" dirty="0" smtClean="0"/>
          </a:p>
          <a:p>
            <a:pPr algn="just"/>
            <a:r>
              <a:rPr lang="en-US" altLang="en-US" sz="2400" dirty="0" smtClean="0"/>
              <a:t>Each process must ask permission to enter </a:t>
            </a:r>
            <a:r>
              <a:rPr lang="en-US" altLang="en-US" sz="2400" b="1" dirty="0" smtClean="0">
                <a:solidFill>
                  <a:srgbClr val="0070C0"/>
                </a:solidFill>
              </a:rPr>
              <a:t>critical section</a:t>
            </a:r>
            <a:r>
              <a:rPr lang="en-US" altLang="en-US" sz="2400" dirty="0" smtClean="0"/>
              <a:t> in </a:t>
            </a:r>
            <a:r>
              <a:rPr lang="en-US" altLang="en-US" sz="2400" b="1" dirty="0" smtClean="0">
                <a:solidFill>
                  <a:srgbClr val="3366FF"/>
                </a:solidFill>
              </a:rPr>
              <a:t>entry section</a:t>
            </a:r>
            <a:r>
              <a:rPr lang="en-US" altLang="en-US" sz="2400" dirty="0" smtClean="0"/>
              <a:t>, may follow critical section with </a:t>
            </a:r>
            <a:r>
              <a:rPr lang="en-US" altLang="en-US" sz="2400" b="1" dirty="0" smtClean="0">
                <a:solidFill>
                  <a:srgbClr val="3366FF"/>
                </a:solidFill>
              </a:rPr>
              <a:t>exit section</a:t>
            </a:r>
            <a:r>
              <a:rPr lang="en-US" altLang="en-US" sz="2400" dirty="0" smtClean="0"/>
              <a:t>, then </a:t>
            </a:r>
            <a:r>
              <a:rPr lang="en-US" altLang="en-US" sz="2400" b="1" dirty="0" smtClean="0">
                <a:solidFill>
                  <a:srgbClr val="3366FF"/>
                </a:solidFill>
              </a:rPr>
              <a:t>remainder section</a:t>
            </a:r>
          </a:p>
          <a:p>
            <a:pPr algn="just"/>
            <a:endParaRPr lang="en-US" altLang="en-US" sz="2400" b="1" dirty="0" smtClean="0">
              <a:solidFill>
                <a:srgbClr val="3366FF"/>
              </a:solidFill>
            </a:endParaRPr>
          </a:p>
          <a:p>
            <a:pPr algn="just">
              <a:buFont typeface="Monotype Sorts" pitchFamily="-84" charset="2"/>
              <a:buNone/>
            </a:pPr>
            <a:endParaRPr lang="en-US" altLang="en-US" sz="2400" dirty="0" smtClean="0"/>
          </a:p>
        </p:txBody>
      </p:sp>
    </p:spTree>
    <p:extLst>
      <p:ext uri="{BB962C8B-B14F-4D97-AF65-F5344CB8AC3E}">
        <p14:creationId xmlns:p14="http://schemas.microsoft.com/office/powerpoint/2010/main" val="18503823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332458"/>
            <a:ext cx="8229600" cy="576262"/>
          </a:xfrm>
        </p:spPr>
        <p:txBody>
          <a:bodyPr>
            <a:normAutofit fontScale="90000"/>
          </a:bodyPr>
          <a:lstStyle/>
          <a:p>
            <a:r>
              <a:rPr lang="en-US" altLang="en-US" dirty="0" smtClean="0"/>
              <a:t>Critical Section</a:t>
            </a:r>
          </a:p>
        </p:txBody>
      </p:sp>
      <p:sp>
        <p:nvSpPr>
          <p:cNvPr id="11267" name="Content Placeholder 2"/>
          <p:cNvSpPr>
            <a:spLocks noGrp="1"/>
          </p:cNvSpPr>
          <p:nvPr>
            <p:ph idx="1"/>
          </p:nvPr>
        </p:nvSpPr>
        <p:spPr/>
        <p:txBody>
          <a:bodyPr/>
          <a:lstStyle/>
          <a:p>
            <a:r>
              <a:rPr lang="en-US" altLang="en-US" smtClean="0"/>
              <a:t>General structure of process </a:t>
            </a:r>
            <a:r>
              <a:rPr lang="en-US" altLang="en-US" b="1" i="1" smtClean="0"/>
              <a:t>P</a:t>
            </a:r>
            <a:r>
              <a:rPr lang="en-US" altLang="en-US" b="1" i="1" baseline="-25000" smtClean="0"/>
              <a:t>i  </a:t>
            </a:r>
            <a:endParaRPr lang="en-US" altLang="en-US" smtClean="0"/>
          </a:p>
          <a:p>
            <a:endParaRPr lang="en-US" altLang="en-US" b="1" smtClean="0">
              <a:solidFill>
                <a:srgbClr val="0000FF"/>
              </a:solidFill>
            </a:endParaRPr>
          </a:p>
        </p:txBody>
      </p:sp>
      <p:pic>
        <p:nvPicPr>
          <p:cNvPr id="1126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74913" y="2322364"/>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77899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77925" y="195263"/>
            <a:ext cx="7724775" cy="576262"/>
          </a:xfrm>
        </p:spPr>
        <p:txBody>
          <a:bodyPr>
            <a:normAutofit fontScale="90000"/>
          </a:bodyPr>
          <a:lstStyle/>
          <a:p>
            <a:pPr eaLnBrk="1" hangingPunct="1"/>
            <a:r>
              <a:rPr lang="en-US" altLang="en-US" dirty="0" smtClean="0"/>
              <a:t>Solution to Critical-Section Problem</a:t>
            </a:r>
          </a:p>
        </p:txBody>
      </p:sp>
      <p:sp>
        <p:nvSpPr>
          <p:cNvPr id="13315" name="Rectangle 3"/>
          <p:cNvSpPr>
            <a:spLocks noGrp="1" noChangeArrowheads="1"/>
          </p:cNvSpPr>
          <p:nvPr>
            <p:ph idx="1"/>
          </p:nvPr>
        </p:nvSpPr>
        <p:spPr>
          <a:xfrm>
            <a:off x="1022350" y="980728"/>
            <a:ext cx="6862018" cy="5256584"/>
          </a:xfrm>
        </p:spPr>
        <p:txBody>
          <a:bodyPr>
            <a:noAutofit/>
          </a:bodyPr>
          <a:lstStyle/>
          <a:p>
            <a:pPr marL="0" indent="0" algn="just">
              <a:buNone/>
            </a:pPr>
            <a:r>
              <a:rPr lang="en-US" sz="1800" dirty="0"/>
              <a:t>A solution to the critical-section problem must </a:t>
            </a:r>
            <a:r>
              <a:rPr lang="en-US" sz="1800" dirty="0">
                <a:solidFill>
                  <a:srgbClr val="FF0000"/>
                </a:solidFill>
              </a:rPr>
              <a:t>satisfy the following </a:t>
            </a:r>
            <a:r>
              <a:rPr lang="en-US" sz="1800" dirty="0" smtClean="0">
                <a:solidFill>
                  <a:srgbClr val="FF0000"/>
                </a:solidFill>
              </a:rPr>
              <a:t>three </a:t>
            </a:r>
            <a:r>
              <a:rPr lang="en-IN" sz="1800" dirty="0" smtClean="0">
                <a:solidFill>
                  <a:srgbClr val="FF0000"/>
                </a:solidFill>
              </a:rPr>
              <a:t>requirements</a:t>
            </a:r>
            <a:r>
              <a:rPr lang="en-IN" sz="1800" dirty="0">
                <a:solidFill>
                  <a:srgbClr val="FF0000"/>
                </a:solidFill>
              </a:rPr>
              <a:t>:</a:t>
            </a:r>
            <a:endParaRPr lang="en-US" altLang="en-US" sz="1800" b="1" dirty="0" smtClean="0">
              <a:solidFill>
                <a:srgbClr val="FF0000"/>
              </a:solidFill>
            </a:endParaRPr>
          </a:p>
          <a:p>
            <a:pPr marL="514350" indent="-514350" algn="just">
              <a:buFont typeface="Monotype Sorts" pitchFamily="-84" charset="2"/>
              <a:buAutoNum type="arabicPeriod"/>
            </a:pPr>
            <a:r>
              <a:rPr lang="en-US" altLang="en-US" sz="1800" b="1" dirty="0" smtClean="0">
                <a:solidFill>
                  <a:srgbClr val="3366FF"/>
                </a:solidFill>
              </a:rPr>
              <a:t>Mutual Exclusion </a:t>
            </a:r>
            <a:r>
              <a:rPr lang="en-US" altLang="en-US" sz="1800" dirty="0" smtClean="0"/>
              <a:t>- If process </a:t>
            </a:r>
            <a:r>
              <a:rPr lang="en-US" altLang="en-US" sz="1800" b="1" i="1" dirty="0" smtClean="0"/>
              <a:t>P</a:t>
            </a:r>
            <a:r>
              <a:rPr lang="en-US" altLang="en-US" sz="1800" b="1" i="1" baseline="-25000" dirty="0" smtClean="0"/>
              <a:t>i</a:t>
            </a:r>
            <a:r>
              <a:rPr lang="en-US" altLang="en-US" sz="1800" b="1" dirty="0" smtClean="0"/>
              <a:t> </a:t>
            </a:r>
            <a:r>
              <a:rPr lang="en-US" altLang="en-US" sz="1800" dirty="0" smtClean="0"/>
              <a:t>is executing in its critical section, then no other processes can be executing in their critical sections</a:t>
            </a:r>
          </a:p>
          <a:p>
            <a:pPr marL="514350" indent="-514350" algn="just">
              <a:buFont typeface="Monotype Sorts" pitchFamily="-84" charset="2"/>
              <a:buAutoNum type="arabicPeriod"/>
            </a:pPr>
            <a:r>
              <a:rPr lang="en-US" altLang="en-US" sz="1800" b="1" dirty="0" smtClean="0">
                <a:solidFill>
                  <a:srgbClr val="3366FF"/>
                </a:solidFill>
              </a:rPr>
              <a:t>Progress</a:t>
            </a:r>
            <a:r>
              <a:rPr lang="en-US" altLang="en-US" sz="1800" b="1" dirty="0" smtClean="0"/>
              <a:t> </a:t>
            </a:r>
            <a:r>
              <a:rPr lang="en-US" altLang="en-US" sz="1800" dirty="0" smtClean="0"/>
              <a:t>- If no process is executing in its critical section and there exist some processes that wish to enter their critical section, then the selection of the processes that will enter the critical section next cannot be postponed indefinitely.</a:t>
            </a:r>
          </a:p>
          <a:p>
            <a:pPr lvl="1"/>
            <a:r>
              <a:rPr lang="en-IN" sz="1400" dirty="0" smtClean="0"/>
              <a:t>Only </a:t>
            </a:r>
            <a:r>
              <a:rPr lang="en-IN" sz="1400" dirty="0"/>
              <a:t>those </a:t>
            </a:r>
            <a:r>
              <a:rPr lang="en-IN" sz="1400" dirty="0" smtClean="0"/>
              <a:t>processes </a:t>
            </a:r>
            <a:r>
              <a:rPr lang="en-US" sz="1400" dirty="0" smtClean="0"/>
              <a:t>that </a:t>
            </a:r>
            <a:r>
              <a:rPr lang="en-US" sz="1400" dirty="0"/>
              <a:t>are not executing in their remainder sections can participate </a:t>
            </a:r>
            <a:r>
              <a:rPr lang="en-US" sz="1400" dirty="0" smtClean="0"/>
              <a:t>in deciding </a:t>
            </a:r>
            <a:r>
              <a:rPr lang="en-US" sz="1400" dirty="0"/>
              <a:t>which will enter its critical section </a:t>
            </a:r>
            <a:r>
              <a:rPr lang="en-US" sz="1400" dirty="0" smtClean="0"/>
              <a:t>next</a:t>
            </a:r>
            <a:endParaRPr lang="en-US" altLang="en-US" sz="1400" dirty="0" smtClean="0"/>
          </a:p>
          <a:p>
            <a:pPr algn="just">
              <a:buFont typeface="Monotype Sorts" pitchFamily="-84" charset="2"/>
              <a:buNone/>
            </a:pPr>
            <a:r>
              <a:rPr lang="en-US" altLang="en-US" sz="1800" dirty="0" smtClean="0"/>
              <a:t>3.  </a:t>
            </a:r>
            <a:r>
              <a:rPr lang="en-US" altLang="en-US" sz="1800" b="1" dirty="0" smtClean="0">
                <a:solidFill>
                  <a:srgbClr val="3366FF"/>
                </a:solidFill>
              </a:rPr>
              <a:t>Bounded Waiting </a:t>
            </a:r>
            <a:r>
              <a:rPr lang="en-US" altLang="en-US" sz="1800" dirty="0" smtClean="0"/>
              <a:t>-  A bound must exist on the number of times that other processes are allowed to enter their critical sections after a process has made a request to enter its critical section and before that request is granted.</a:t>
            </a:r>
          </a:p>
          <a:p>
            <a:pPr marL="457200" lvl="1" indent="0" algn="just">
              <a:buSzPct val="125000"/>
              <a:buNone/>
            </a:pPr>
            <a:endParaRPr lang="en-US" altLang="en-US" sz="1400" dirty="0" smtClean="0"/>
          </a:p>
          <a:p>
            <a:pPr marL="457200" lvl="1" indent="0" algn="just">
              <a:buSzPct val="125000"/>
              <a:buNone/>
            </a:pPr>
            <a:endParaRPr lang="en-US" altLang="en-US" sz="1400" dirty="0"/>
          </a:p>
          <a:p>
            <a:pPr marL="795338" lvl="1" indent="-338138" algn="just">
              <a:buSzPct val="125000"/>
              <a:buFont typeface="Wingdings 2" pitchFamily="18" charset="2"/>
              <a:buChar char=""/>
            </a:pPr>
            <a:r>
              <a:rPr lang="en-US" altLang="en-US" sz="1400" dirty="0" smtClean="0"/>
              <a:t>Assume that each process executes at a nonzero speed </a:t>
            </a:r>
          </a:p>
          <a:p>
            <a:pPr marL="795338" lvl="1" indent="-338138" algn="just">
              <a:buSzPct val="125000"/>
              <a:buFont typeface="Wingdings 2" pitchFamily="18" charset="2"/>
              <a:buChar char=""/>
            </a:pPr>
            <a:r>
              <a:rPr lang="en-US" altLang="en-US" sz="1400" dirty="0" smtClean="0"/>
              <a:t>No assumption concerning </a:t>
            </a:r>
            <a:r>
              <a:rPr lang="en-US" altLang="en-US" sz="1400" b="1" dirty="0" smtClean="0">
                <a:solidFill>
                  <a:srgbClr val="3366FF"/>
                </a:solidFill>
              </a:rPr>
              <a:t>relative speed </a:t>
            </a:r>
            <a:r>
              <a:rPr lang="en-US" altLang="en-US" sz="1400" dirty="0" smtClean="0"/>
              <a:t>of the</a:t>
            </a:r>
            <a:r>
              <a:rPr lang="en-US" altLang="en-US" sz="1400" b="1" dirty="0" smtClean="0"/>
              <a:t> </a:t>
            </a:r>
            <a:r>
              <a:rPr lang="en-US" altLang="en-US" sz="1400" b="1" i="1" dirty="0" smtClean="0">
                <a:solidFill>
                  <a:srgbClr val="000000"/>
                </a:solidFill>
              </a:rPr>
              <a:t>n</a:t>
            </a:r>
            <a:r>
              <a:rPr lang="en-US" altLang="en-US" sz="1400" b="1" dirty="0" smtClean="0">
                <a:solidFill>
                  <a:srgbClr val="000000"/>
                </a:solidFill>
              </a:rPr>
              <a:t> </a:t>
            </a:r>
            <a:r>
              <a:rPr lang="en-US" altLang="en-US" sz="1400" dirty="0" smtClean="0"/>
              <a:t>processes</a:t>
            </a:r>
          </a:p>
        </p:txBody>
      </p:sp>
    </p:spTree>
    <p:extLst>
      <p:ext uri="{BB962C8B-B14F-4D97-AF65-F5344CB8AC3E}">
        <p14:creationId xmlns:p14="http://schemas.microsoft.com/office/powerpoint/2010/main" val="13142733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779588" y="1965325"/>
            <a:ext cx="2271712" cy="4270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7" name="Rectangle 6"/>
          <p:cNvSpPr/>
          <p:nvPr/>
        </p:nvSpPr>
        <p:spPr bwMode="auto">
          <a:xfrm>
            <a:off x="1795463" y="2809875"/>
            <a:ext cx="1203325"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2292" name="Rectangle 2"/>
          <p:cNvSpPr>
            <a:spLocks noGrp="1" noChangeArrowheads="1"/>
          </p:cNvSpPr>
          <p:nvPr>
            <p:ph type="title"/>
          </p:nvPr>
        </p:nvSpPr>
        <p:spPr>
          <a:xfrm>
            <a:off x="457200" y="277813"/>
            <a:ext cx="8291513" cy="576262"/>
          </a:xfrm>
        </p:spPr>
        <p:txBody>
          <a:bodyPr>
            <a:normAutofit fontScale="90000"/>
          </a:bodyPr>
          <a:lstStyle/>
          <a:p>
            <a:pPr eaLnBrk="1" hangingPunct="1"/>
            <a:r>
              <a:rPr lang="en-US" altLang="en-US" smtClean="0"/>
              <a:t>Algorithm for Process P</a:t>
            </a:r>
            <a:r>
              <a:rPr lang="en-US" altLang="en-US" baseline="-25000" smtClean="0">
                <a:solidFill>
                  <a:srgbClr val="0000FF"/>
                </a:solidFill>
              </a:rPr>
              <a:t>i</a:t>
            </a:r>
          </a:p>
        </p:txBody>
      </p:sp>
      <p:sp>
        <p:nvSpPr>
          <p:cNvPr id="12293" name="Rectangle 3"/>
          <p:cNvSpPr>
            <a:spLocks noGrp="1" noChangeArrowheads="1"/>
          </p:cNvSpPr>
          <p:nvPr>
            <p:ph idx="1"/>
          </p:nvPr>
        </p:nvSpPr>
        <p:spPr>
          <a:xfrm>
            <a:off x="820738" y="1311275"/>
            <a:ext cx="7742237" cy="4770438"/>
          </a:xfrm>
        </p:spPr>
        <p:txBody>
          <a:bodyPr/>
          <a:lstStyle/>
          <a:p>
            <a:pPr>
              <a:buFont typeface="Monotype Sorts" pitchFamily="-84" charset="2"/>
              <a:buNone/>
            </a:pPr>
            <a:r>
              <a:rPr lang="en-US" altLang="en-US" b="1" dirty="0" smtClean="0">
                <a:solidFill>
                  <a:srgbClr val="000000"/>
                </a:solidFill>
                <a:latin typeface="Courier New" pitchFamily="49" charset="0"/>
                <a:cs typeface="Courier New" pitchFamily="49" charset="0"/>
              </a:rPr>
              <a:t>	</a:t>
            </a:r>
            <a:r>
              <a:rPr lang="en-US" altLang="en-US" sz="1600" b="1" dirty="0" smtClean="0">
                <a:solidFill>
                  <a:srgbClr val="000000"/>
                </a:solidFill>
                <a:latin typeface="Courier New" pitchFamily="49" charset="0"/>
                <a:cs typeface="Courier New" pitchFamily="49" charset="0"/>
              </a:rPr>
              <a:t>do {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while (turn == j); </a:t>
            </a:r>
          </a:p>
          <a:p>
            <a:pPr>
              <a:buFont typeface="Monotype Sorts" pitchFamily="-84" charset="2"/>
              <a:buNone/>
            </a:pPr>
            <a:endParaRPr lang="en-US" altLang="en-US" sz="400" b="1" dirty="0" smtClean="0">
              <a:solidFill>
                <a:srgbClr val="000000"/>
              </a:solidFill>
              <a:latin typeface="Courier New" pitchFamily="49" charset="0"/>
              <a:cs typeface="Courier New" pitchFamily="49" charset="0"/>
            </a:endParaRP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turn = j; </a:t>
            </a:r>
          </a:p>
          <a:p>
            <a:pPr>
              <a:buFont typeface="Monotype Sorts" pitchFamily="-84" charset="2"/>
              <a:buNone/>
            </a:pPr>
            <a:endParaRPr lang="en-US" altLang="en-US" sz="400" b="1" dirty="0" smtClean="0">
              <a:solidFill>
                <a:srgbClr val="000000"/>
              </a:solidFill>
              <a:latin typeface="Courier New" pitchFamily="49" charset="0"/>
              <a:cs typeface="Courier New" pitchFamily="49" charset="0"/>
            </a:endParaRP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dirty="0" smtClean="0">
              <a:solidFill>
                <a:srgbClr val="0000FF"/>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2072357124"/>
              </p:ext>
            </p:extLst>
          </p:nvPr>
        </p:nvGraphicFramePr>
        <p:xfrm>
          <a:off x="4499992" y="4093934"/>
          <a:ext cx="4248472" cy="2656070"/>
        </p:xfrm>
        <a:graphic>
          <a:graphicData uri="http://schemas.openxmlformats.org/drawingml/2006/table">
            <a:tbl>
              <a:tblPr firstRow="1" firstCol="1" bandRow="1">
                <a:tableStyleId>{5C22544A-7EE6-4342-B048-85BDC9FD1C3A}</a:tableStyleId>
              </a:tblPr>
              <a:tblGrid>
                <a:gridCol w="2122362"/>
                <a:gridCol w="2126110"/>
              </a:tblGrid>
              <a:tr h="130961">
                <a:tc>
                  <a:txBody>
                    <a:bodyPr/>
                    <a:lstStyle/>
                    <a:p>
                      <a:pPr>
                        <a:lnSpc>
                          <a:spcPct val="107000"/>
                        </a:lnSpc>
                        <a:spcAft>
                          <a:spcPts val="0"/>
                        </a:spcAft>
                      </a:pPr>
                      <a:r>
                        <a:rPr lang="en-IN" sz="1200" b="0" dirty="0" smtClean="0">
                          <a:solidFill>
                            <a:srgbClr val="00B050"/>
                          </a:solidFill>
                          <a:effectLst/>
                        </a:rPr>
                        <a:t>Process 0, P0</a:t>
                      </a:r>
                      <a:endParaRPr lang="en-IN" sz="1200" b="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200" b="0" dirty="0">
                          <a:solidFill>
                            <a:srgbClr val="00B050"/>
                          </a:solidFill>
                          <a:effectLst/>
                        </a:rPr>
                        <a:t>Process </a:t>
                      </a:r>
                      <a:r>
                        <a:rPr lang="en-IN" sz="1200" b="0" dirty="0" smtClean="0">
                          <a:solidFill>
                            <a:srgbClr val="00B050"/>
                          </a:solidFill>
                          <a:effectLst/>
                        </a:rPr>
                        <a:t>1, P1</a:t>
                      </a:r>
                      <a:endParaRPr lang="en-IN" sz="1200" b="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r h="2460363">
                <a:tc>
                  <a:txBody>
                    <a:bodyPr/>
                    <a:lstStyle/>
                    <a:p>
                      <a:pPr>
                        <a:lnSpc>
                          <a:spcPct val="107000"/>
                        </a:lnSpc>
                        <a:spcAft>
                          <a:spcPts val="0"/>
                        </a:spcAft>
                      </a:pPr>
                      <a:r>
                        <a:rPr lang="en-US" sz="1200" dirty="0">
                          <a:solidFill>
                            <a:srgbClr val="FF0000"/>
                          </a:solidFill>
                          <a:effectLst/>
                        </a:rPr>
                        <a:t>	do { </a:t>
                      </a:r>
                      <a:endParaRPr lang="en-IN" sz="1200" dirty="0">
                        <a:solidFill>
                          <a:srgbClr val="FF0000"/>
                        </a:solidFill>
                        <a:effectLst/>
                      </a:endParaRPr>
                    </a:p>
                    <a:p>
                      <a:pPr>
                        <a:lnSpc>
                          <a:spcPct val="107000"/>
                        </a:lnSpc>
                        <a:spcAft>
                          <a:spcPts val="0"/>
                        </a:spcAft>
                      </a:pPr>
                      <a:r>
                        <a:rPr lang="en-US" sz="1200" dirty="0">
                          <a:solidFill>
                            <a:srgbClr val="FF0000"/>
                          </a:solidFill>
                          <a:effectLst/>
                        </a:rPr>
                        <a:t>		</a:t>
                      </a:r>
                      <a:endParaRPr lang="en-IN" sz="1200" dirty="0">
                        <a:solidFill>
                          <a:srgbClr val="FF0000"/>
                        </a:solidFill>
                        <a:effectLst/>
                      </a:endParaRPr>
                    </a:p>
                    <a:p>
                      <a:pPr>
                        <a:lnSpc>
                          <a:spcPct val="107000"/>
                        </a:lnSpc>
                        <a:spcAft>
                          <a:spcPts val="0"/>
                        </a:spcAft>
                      </a:pPr>
                      <a:r>
                        <a:rPr lang="en-US" sz="1200" dirty="0">
                          <a:solidFill>
                            <a:srgbClr val="FF0000"/>
                          </a:solidFill>
                          <a:effectLst/>
                        </a:rPr>
                        <a:t>	while (turn </a:t>
                      </a:r>
                      <a:r>
                        <a:rPr lang="en-US" sz="1200" dirty="0" smtClean="0">
                          <a:solidFill>
                            <a:srgbClr val="FF0000"/>
                          </a:solidFill>
                          <a:effectLst/>
                        </a:rPr>
                        <a:t>==1); </a:t>
                      </a:r>
                      <a:endParaRPr lang="en-IN" sz="1200" dirty="0">
                        <a:solidFill>
                          <a:srgbClr val="FF0000"/>
                        </a:solidFill>
                        <a:effectLst/>
                      </a:endParaRPr>
                    </a:p>
                    <a:p>
                      <a:pPr>
                        <a:lnSpc>
                          <a:spcPct val="107000"/>
                        </a:lnSpc>
                        <a:spcAft>
                          <a:spcPts val="0"/>
                        </a:spcAft>
                      </a:pPr>
                      <a:r>
                        <a:rPr lang="en-US" sz="1200" dirty="0">
                          <a:solidFill>
                            <a:srgbClr val="FF0000"/>
                          </a:solidFill>
                          <a:effectLst/>
                        </a:rPr>
                        <a:t>			critical section </a:t>
                      </a:r>
                      <a:endParaRPr lang="en-IN" sz="1200" dirty="0">
                        <a:solidFill>
                          <a:srgbClr val="FF0000"/>
                        </a:solidFill>
                        <a:effectLst/>
                      </a:endParaRPr>
                    </a:p>
                    <a:p>
                      <a:pPr>
                        <a:lnSpc>
                          <a:spcPct val="107000"/>
                        </a:lnSpc>
                        <a:spcAft>
                          <a:spcPts val="0"/>
                        </a:spcAft>
                      </a:pPr>
                      <a:r>
                        <a:rPr lang="en-US" sz="1200" dirty="0">
                          <a:solidFill>
                            <a:srgbClr val="FF0000"/>
                          </a:solidFill>
                          <a:effectLst/>
                        </a:rPr>
                        <a:t>		</a:t>
                      </a:r>
                      <a:r>
                        <a:rPr lang="en-US" sz="1200" dirty="0" smtClean="0">
                          <a:solidFill>
                            <a:srgbClr val="FF0000"/>
                          </a:solidFill>
                          <a:effectLst/>
                        </a:rPr>
                        <a:t>turn =1; </a:t>
                      </a:r>
                      <a:endParaRPr lang="en-IN" sz="1200" dirty="0">
                        <a:solidFill>
                          <a:srgbClr val="FF0000"/>
                        </a:solidFill>
                        <a:effectLst/>
                      </a:endParaRPr>
                    </a:p>
                    <a:p>
                      <a:pPr>
                        <a:lnSpc>
                          <a:spcPct val="107000"/>
                        </a:lnSpc>
                        <a:spcAft>
                          <a:spcPts val="0"/>
                        </a:spcAft>
                      </a:pPr>
                      <a:r>
                        <a:rPr lang="en-US" sz="1200" dirty="0">
                          <a:solidFill>
                            <a:srgbClr val="FF0000"/>
                          </a:solidFill>
                          <a:effectLst/>
                        </a:rPr>
                        <a:t>	</a:t>
                      </a:r>
                      <a:r>
                        <a:rPr lang="en-US" sz="1200" dirty="0" smtClean="0">
                          <a:solidFill>
                            <a:srgbClr val="FF0000"/>
                          </a:solidFill>
                          <a:effectLst/>
                        </a:rPr>
                        <a:t>		remainder    </a:t>
                      </a:r>
                    </a:p>
                    <a:p>
                      <a:pPr>
                        <a:lnSpc>
                          <a:spcPct val="107000"/>
                        </a:lnSpc>
                        <a:spcAft>
                          <a:spcPts val="0"/>
                        </a:spcAft>
                      </a:pPr>
                      <a:r>
                        <a:rPr lang="en-US" sz="1200" dirty="0" smtClean="0">
                          <a:solidFill>
                            <a:srgbClr val="FF0000"/>
                          </a:solidFill>
                          <a:effectLst/>
                        </a:rPr>
                        <a:t>                           section </a:t>
                      </a:r>
                      <a:endParaRPr lang="en-IN" sz="1200" dirty="0">
                        <a:solidFill>
                          <a:srgbClr val="FF0000"/>
                        </a:solidFill>
                        <a:effectLst/>
                      </a:endParaRPr>
                    </a:p>
                    <a:p>
                      <a:pPr>
                        <a:lnSpc>
                          <a:spcPct val="107000"/>
                        </a:lnSpc>
                        <a:spcAft>
                          <a:spcPts val="0"/>
                        </a:spcAft>
                      </a:pPr>
                      <a:r>
                        <a:rPr lang="en-US" sz="1200" baseline="0" dirty="0">
                          <a:solidFill>
                            <a:srgbClr val="FF0000"/>
                          </a:solidFill>
                          <a:effectLst/>
                        </a:rPr>
                        <a:t> </a:t>
                      </a:r>
                      <a:r>
                        <a:rPr lang="en-US" sz="1200" baseline="0" dirty="0" smtClean="0">
                          <a:solidFill>
                            <a:srgbClr val="FF0000"/>
                          </a:solidFill>
                          <a:effectLst/>
                        </a:rPr>
                        <a:t>                    </a:t>
                      </a:r>
                      <a:r>
                        <a:rPr lang="en-US" sz="1200" dirty="0" smtClean="0">
                          <a:solidFill>
                            <a:srgbClr val="FF0000"/>
                          </a:solidFill>
                          <a:effectLst/>
                        </a:rPr>
                        <a:t>} </a:t>
                      </a:r>
                      <a:r>
                        <a:rPr lang="en-US" sz="1200" dirty="0">
                          <a:solidFill>
                            <a:srgbClr val="FF0000"/>
                          </a:solidFill>
                          <a:effectLst/>
                        </a:rPr>
                        <a:t>while (true); </a:t>
                      </a:r>
                      <a:endParaRPr lang="en-IN" sz="1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US" sz="1200" dirty="0">
                          <a:solidFill>
                            <a:schemeClr val="tx1"/>
                          </a:solidFill>
                          <a:effectLst/>
                        </a:rPr>
                        <a:t>	do { </a:t>
                      </a:r>
                      <a:endParaRPr lang="en-IN" sz="1200" dirty="0">
                        <a:solidFill>
                          <a:schemeClr val="tx1"/>
                        </a:solidFill>
                        <a:effectLst/>
                      </a:endParaRPr>
                    </a:p>
                    <a:p>
                      <a:pPr>
                        <a:lnSpc>
                          <a:spcPct val="107000"/>
                        </a:lnSpc>
                        <a:spcAft>
                          <a:spcPts val="0"/>
                        </a:spcAft>
                      </a:pPr>
                      <a:r>
                        <a:rPr lang="en-US" sz="1200" dirty="0">
                          <a:solidFill>
                            <a:schemeClr val="tx1"/>
                          </a:solidFill>
                          <a:effectLst/>
                        </a:rPr>
                        <a:t>		</a:t>
                      </a:r>
                      <a:endParaRPr lang="en-IN" sz="1200" dirty="0">
                        <a:solidFill>
                          <a:schemeClr val="tx1"/>
                        </a:solidFill>
                        <a:effectLst/>
                      </a:endParaRPr>
                    </a:p>
                    <a:p>
                      <a:pPr>
                        <a:lnSpc>
                          <a:spcPct val="107000"/>
                        </a:lnSpc>
                        <a:spcAft>
                          <a:spcPts val="0"/>
                        </a:spcAft>
                      </a:pPr>
                      <a:r>
                        <a:rPr lang="en-US" sz="1200" dirty="0">
                          <a:solidFill>
                            <a:schemeClr val="tx1"/>
                          </a:solidFill>
                          <a:effectLst/>
                        </a:rPr>
                        <a:t>	while (turn == </a:t>
                      </a:r>
                      <a:r>
                        <a:rPr lang="en-US" sz="1200" dirty="0" smtClean="0">
                          <a:solidFill>
                            <a:schemeClr val="tx1"/>
                          </a:solidFill>
                          <a:effectLst/>
                        </a:rPr>
                        <a:t>0); </a:t>
                      </a:r>
                      <a:endParaRPr lang="en-IN" sz="1200" dirty="0">
                        <a:solidFill>
                          <a:schemeClr val="tx1"/>
                        </a:solidFill>
                        <a:effectLst/>
                      </a:endParaRPr>
                    </a:p>
                    <a:p>
                      <a:pPr>
                        <a:lnSpc>
                          <a:spcPct val="107000"/>
                        </a:lnSpc>
                        <a:spcAft>
                          <a:spcPts val="0"/>
                        </a:spcAft>
                      </a:pPr>
                      <a:r>
                        <a:rPr lang="en-US" sz="1200" dirty="0">
                          <a:solidFill>
                            <a:schemeClr val="tx1"/>
                          </a:solidFill>
                          <a:effectLst/>
                        </a:rPr>
                        <a:t>			critical section </a:t>
                      </a:r>
                      <a:endParaRPr lang="en-IN" sz="1200" dirty="0">
                        <a:solidFill>
                          <a:schemeClr val="tx1"/>
                        </a:solidFill>
                        <a:effectLst/>
                      </a:endParaRPr>
                    </a:p>
                    <a:p>
                      <a:pPr>
                        <a:lnSpc>
                          <a:spcPct val="107000"/>
                        </a:lnSpc>
                        <a:spcAft>
                          <a:spcPts val="0"/>
                        </a:spcAft>
                      </a:pPr>
                      <a:r>
                        <a:rPr lang="en-US" sz="1200" dirty="0">
                          <a:solidFill>
                            <a:schemeClr val="tx1"/>
                          </a:solidFill>
                          <a:effectLst/>
                        </a:rPr>
                        <a:t>		turn = </a:t>
                      </a:r>
                      <a:r>
                        <a:rPr lang="en-US" sz="1200" dirty="0" smtClean="0">
                          <a:solidFill>
                            <a:schemeClr val="tx1"/>
                          </a:solidFill>
                          <a:effectLst/>
                        </a:rPr>
                        <a:t>0; </a:t>
                      </a:r>
                      <a:endParaRPr lang="en-IN" sz="1200" dirty="0">
                        <a:solidFill>
                          <a:schemeClr val="tx1"/>
                        </a:solidFill>
                        <a:effectLst/>
                      </a:endParaRPr>
                    </a:p>
                    <a:p>
                      <a:pPr>
                        <a:lnSpc>
                          <a:spcPct val="107000"/>
                        </a:lnSpc>
                        <a:spcAft>
                          <a:spcPts val="0"/>
                        </a:spcAft>
                      </a:pPr>
                      <a:r>
                        <a:rPr lang="en-US" sz="1200" dirty="0">
                          <a:solidFill>
                            <a:schemeClr val="tx1"/>
                          </a:solidFill>
                          <a:effectLst/>
                        </a:rPr>
                        <a:t>			remainder </a:t>
                      </a:r>
                      <a:r>
                        <a:rPr lang="en-US" sz="1200" dirty="0" smtClean="0">
                          <a:solidFill>
                            <a:schemeClr val="tx1"/>
                          </a:solidFill>
                          <a:effectLst/>
                        </a:rPr>
                        <a:t> </a:t>
                      </a:r>
                    </a:p>
                    <a:p>
                      <a:pPr>
                        <a:lnSpc>
                          <a:spcPct val="107000"/>
                        </a:lnSpc>
                        <a:spcAft>
                          <a:spcPts val="0"/>
                        </a:spcAft>
                      </a:pPr>
                      <a:r>
                        <a:rPr lang="en-US" sz="1200" dirty="0" smtClean="0">
                          <a:solidFill>
                            <a:schemeClr val="tx1"/>
                          </a:solidFill>
                          <a:effectLst/>
                        </a:rPr>
                        <a:t>                           section </a:t>
                      </a:r>
                      <a:endParaRPr lang="en-IN" sz="1200" dirty="0">
                        <a:solidFill>
                          <a:schemeClr val="tx1"/>
                        </a:solidFill>
                        <a:effectLst/>
                      </a:endParaRPr>
                    </a:p>
                    <a:p>
                      <a:pPr>
                        <a:lnSpc>
                          <a:spcPct val="107000"/>
                        </a:lnSpc>
                        <a:spcAft>
                          <a:spcPts val="0"/>
                        </a:spcAft>
                      </a:pPr>
                      <a:r>
                        <a:rPr lang="en-US" sz="1200" baseline="0" dirty="0">
                          <a:solidFill>
                            <a:schemeClr val="tx1"/>
                          </a:solidFill>
                          <a:effectLst/>
                        </a:rPr>
                        <a:t> </a:t>
                      </a:r>
                      <a:r>
                        <a:rPr lang="en-US" sz="1200" baseline="0" dirty="0" smtClean="0">
                          <a:solidFill>
                            <a:schemeClr val="tx1"/>
                          </a:solidFill>
                          <a:effectLst/>
                        </a:rPr>
                        <a:t>                      </a:t>
                      </a:r>
                      <a:r>
                        <a:rPr lang="en-US" sz="1200" dirty="0" smtClean="0">
                          <a:solidFill>
                            <a:schemeClr val="tx1"/>
                          </a:solidFill>
                          <a:effectLst/>
                        </a:rPr>
                        <a:t>} </a:t>
                      </a:r>
                      <a:r>
                        <a:rPr lang="en-US" sz="1200" dirty="0">
                          <a:solidFill>
                            <a:schemeClr val="tx1"/>
                          </a:solidFill>
                          <a:effectLst/>
                        </a:rPr>
                        <a:t>while (true); </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bl>
          </a:graphicData>
        </a:graphic>
      </p:graphicFrame>
    </p:spTree>
    <p:extLst>
      <p:ext uri="{BB962C8B-B14F-4D97-AF65-F5344CB8AC3E}">
        <p14:creationId xmlns:p14="http://schemas.microsoft.com/office/powerpoint/2010/main" val="32858264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77925" y="195263"/>
            <a:ext cx="7724775" cy="576262"/>
          </a:xfrm>
        </p:spPr>
        <p:txBody>
          <a:bodyPr>
            <a:normAutofit fontScale="90000"/>
          </a:bodyPr>
          <a:lstStyle/>
          <a:p>
            <a:pPr eaLnBrk="1" hangingPunct="1"/>
            <a:r>
              <a:rPr lang="en-US" altLang="en-US" dirty="0" smtClean="0"/>
              <a:t>Solution to Critical-Section Problem</a:t>
            </a:r>
          </a:p>
        </p:txBody>
      </p:sp>
      <p:sp>
        <p:nvSpPr>
          <p:cNvPr id="13315" name="Rectangle 3"/>
          <p:cNvSpPr>
            <a:spLocks noGrp="1" noChangeArrowheads="1"/>
          </p:cNvSpPr>
          <p:nvPr>
            <p:ph idx="1"/>
          </p:nvPr>
        </p:nvSpPr>
        <p:spPr>
          <a:xfrm>
            <a:off x="1022350" y="980728"/>
            <a:ext cx="6862018" cy="5256584"/>
          </a:xfrm>
        </p:spPr>
        <p:txBody>
          <a:bodyPr>
            <a:noAutofit/>
          </a:bodyPr>
          <a:lstStyle/>
          <a:p>
            <a:pPr marL="0" indent="0" algn="just">
              <a:buNone/>
            </a:pPr>
            <a:r>
              <a:rPr lang="en-US" sz="1800" dirty="0"/>
              <a:t>A solution to the critical-section problem must </a:t>
            </a:r>
            <a:r>
              <a:rPr lang="en-US" sz="1800" dirty="0">
                <a:solidFill>
                  <a:srgbClr val="FF0000"/>
                </a:solidFill>
              </a:rPr>
              <a:t>satisfy the following </a:t>
            </a:r>
            <a:r>
              <a:rPr lang="en-US" sz="1800" dirty="0" smtClean="0">
                <a:solidFill>
                  <a:srgbClr val="FF0000"/>
                </a:solidFill>
              </a:rPr>
              <a:t>three </a:t>
            </a:r>
            <a:r>
              <a:rPr lang="en-IN" sz="1800" dirty="0" smtClean="0">
                <a:solidFill>
                  <a:srgbClr val="FF0000"/>
                </a:solidFill>
              </a:rPr>
              <a:t>requirements</a:t>
            </a:r>
            <a:r>
              <a:rPr lang="en-IN" sz="1800" dirty="0">
                <a:solidFill>
                  <a:srgbClr val="FF0000"/>
                </a:solidFill>
              </a:rPr>
              <a:t>:</a:t>
            </a:r>
            <a:endParaRPr lang="en-US" altLang="en-US" sz="1800" b="1" dirty="0" smtClean="0">
              <a:solidFill>
                <a:srgbClr val="FF0000"/>
              </a:solidFill>
            </a:endParaRPr>
          </a:p>
          <a:p>
            <a:pPr marL="514350" indent="-514350" algn="just">
              <a:buFont typeface="Monotype Sorts" pitchFamily="-84" charset="2"/>
              <a:buAutoNum type="arabicPeriod"/>
            </a:pPr>
            <a:r>
              <a:rPr lang="en-US" altLang="en-US" sz="1800" b="1" dirty="0" smtClean="0">
                <a:solidFill>
                  <a:srgbClr val="3366FF"/>
                </a:solidFill>
              </a:rPr>
              <a:t>Mutual Exclusion </a:t>
            </a:r>
            <a:r>
              <a:rPr lang="en-US" altLang="en-US" sz="1800" dirty="0" smtClean="0"/>
              <a:t>- If process </a:t>
            </a:r>
            <a:r>
              <a:rPr lang="en-US" altLang="en-US" sz="1800" b="1" i="1" dirty="0" smtClean="0"/>
              <a:t>P</a:t>
            </a:r>
            <a:r>
              <a:rPr lang="en-US" altLang="en-US" sz="1800" b="1" i="1" baseline="-25000" dirty="0" smtClean="0"/>
              <a:t>i</a:t>
            </a:r>
            <a:r>
              <a:rPr lang="en-US" altLang="en-US" sz="1800" b="1" dirty="0" smtClean="0"/>
              <a:t> </a:t>
            </a:r>
            <a:r>
              <a:rPr lang="en-US" altLang="en-US" sz="1800" dirty="0" smtClean="0"/>
              <a:t>is executing in its critical section, then no other processes can be executing in their critical sections</a:t>
            </a:r>
          </a:p>
          <a:p>
            <a:pPr marL="514350" indent="-514350" algn="just">
              <a:buFont typeface="Monotype Sorts" pitchFamily="-84" charset="2"/>
              <a:buAutoNum type="arabicPeriod"/>
            </a:pPr>
            <a:r>
              <a:rPr lang="en-US" altLang="en-US" sz="1800" b="1" dirty="0" smtClean="0">
                <a:solidFill>
                  <a:srgbClr val="3366FF"/>
                </a:solidFill>
              </a:rPr>
              <a:t>Progress</a:t>
            </a:r>
            <a:r>
              <a:rPr lang="en-US" altLang="en-US" sz="1800" b="1" dirty="0" smtClean="0"/>
              <a:t> </a:t>
            </a:r>
            <a:r>
              <a:rPr lang="en-US" altLang="en-US" sz="1800" dirty="0" smtClean="0"/>
              <a:t>- If no process is executing in its critical section and there exist some processes that wish to enter their critical section, then the selection of the processes that will enter the critical section next cannot be postponed indefinitely.</a:t>
            </a:r>
          </a:p>
          <a:p>
            <a:pPr lvl="1"/>
            <a:r>
              <a:rPr lang="en-IN" sz="1400" dirty="0" smtClean="0"/>
              <a:t>Only </a:t>
            </a:r>
            <a:r>
              <a:rPr lang="en-IN" sz="1400" dirty="0"/>
              <a:t>those </a:t>
            </a:r>
            <a:r>
              <a:rPr lang="en-IN" sz="1400" dirty="0" smtClean="0"/>
              <a:t>processes </a:t>
            </a:r>
            <a:r>
              <a:rPr lang="en-US" sz="1400" dirty="0" smtClean="0"/>
              <a:t>that </a:t>
            </a:r>
            <a:r>
              <a:rPr lang="en-US" sz="1400" dirty="0"/>
              <a:t>are not executing in their remainder sections can participate </a:t>
            </a:r>
            <a:r>
              <a:rPr lang="en-US" sz="1400" dirty="0" smtClean="0"/>
              <a:t>in deciding </a:t>
            </a:r>
            <a:r>
              <a:rPr lang="en-US" sz="1400" dirty="0"/>
              <a:t>which will enter its critical section </a:t>
            </a:r>
            <a:r>
              <a:rPr lang="en-US" sz="1400" dirty="0" smtClean="0"/>
              <a:t>next</a:t>
            </a:r>
            <a:endParaRPr lang="en-US" altLang="en-US" sz="1400" dirty="0" smtClean="0"/>
          </a:p>
          <a:p>
            <a:pPr algn="just">
              <a:buFont typeface="Monotype Sorts" pitchFamily="-84" charset="2"/>
              <a:buNone/>
            </a:pPr>
            <a:r>
              <a:rPr lang="en-US" altLang="en-US" sz="1800" dirty="0" smtClean="0"/>
              <a:t>3.  </a:t>
            </a:r>
            <a:r>
              <a:rPr lang="en-US" altLang="en-US" sz="1800" b="1" dirty="0" smtClean="0">
                <a:solidFill>
                  <a:srgbClr val="3366FF"/>
                </a:solidFill>
              </a:rPr>
              <a:t>Bounded Waiting </a:t>
            </a:r>
            <a:r>
              <a:rPr lang="en-US" altLang="en-US" sz="1800" dirty="0" smtClean="0"/>
              <a:t>-  A bound must exist on the number of times that other processes are allowed to enter their critical sections after a process has made a request to enter its critical section and before that request is granted.</a:t>
            </a:r>
          </a:p>
          <a:p>
            <a:pPr marL="457200" lvl="1" indent="0" algn="just">
              <a:buSzPct val="125000"/>
              <a:buNone/>
            </a:pPr>
            <a:endParaRPr lang="en-US" altLang="en-US" sz="1400" dirty="0" smtClean="0"/>
          </a:p>
          <a:p>
            <a:pPr marL="457200" lvl="1" indent="0" algn="just">
              <a:buSzPct val="125000"/>
              <a:buNone/>
            </a:pPr>
            <a:endParaRPr lang="en-US" altLang="en-US" sz="1400" dirty="0"/>
          </a:p>
          <a:p>
            <a:pPr marL="795338" lvl="1" indent="-338138" algn="just">
              <a:buSzPct val="125000"/>
              <a:buFont typeface="Wingdings 2" pitchFamily="18" charset="2"/>
              <a:buChar char=""/>
            </a:pPr>
            <a:r>
              <a:rPr lang="en-US" altLang="en-US" sz="1400" dirty="0" smtClean="0"/>
              <a:t>Assume that each process executes at a nonzero speed </a:t>
            </a:r>
          </a:p>
          <a:p>
            <a:pPr marL="795338" lvl="1" indent="-338138" algn="just">
              <a:buSzPct val="125000"/>
              <a:buFont typeface="Wingdings 2" pitchFamily="18" charset="2"/>
              <a:buChar char=""/>
            </a:pPr>
            <a:r>
              <a:rPr lang="en-US" altLang="en-US" sz="1400" dirty="0" smtClean="0"/>
              <a:t>No assumption concerning </a:t>
            </a:r>
            <a:r>
              <a:rPr lang="en-US" altLang="en-US" sz="1400" b="1" dirty="0" smtClean="0">
                <a:solidFill>
                  <a:srgbClr val="3366FF"/>
                </a:solidFill>
              </a:rPr>
              <a:t>relative speed </a:t>
            </a:r>
            <a:r>
              <a:rPr lang="en-US" altLang="en-US" sz="1400" dirty="0" smtClean="0"/>
              <a:t>of the</a:t>
            </a:r>
            <a:r>
              <a:rPr lang="en-US" altLang="en-US" sz="1400" b="1" dirty="0" smtClean="0"/>
              <a:t> </a:t>
            </a:r>
            <a:r>
              <a:rPr lang="en-US" altLang="en-US" sz="1400" b="1" i="1" dirty="0" smtClean="0">
                <a:solidFill>
                  <a:srgbClr val="000000"/>
                </a:solidFill>
              </a:rPr>
              <a:t>n</a:t>
            </a:r>
            <a:r>
              <a:rPr lang="en-US" altLang="en-US" sz="1400" b="1" dirty="0" smtClean="0">
                <a:solidFill>
                  <a:srgbClr val="000000"/>
                </a:solidFill>
              </a:rPr>
              <a:t> </a:t>
            </a:r>
            <a:r>
              <a:rPr lang="en-US" altLang="en-US" sz="1400" dirty="0" smtClean="0"/>
              <a:t>processes</a:t>
            </a:r>
          </a:p>
        </p:txBody>
      </p:sp>
    </p:spTree>
    <p:extLst>
      <p:ext uri="{BB962C8B-B14F-4D97-AF65-F5344CB8AC3E}">
        <p14:creationId xmlns:p14="http://schemas.microsoft.com/office/powerpoint/2010/main" val="3752827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139825" y="176213"/>
            <a:ext cx="7724775" cy="576262"/>
          </a:xfrm>
        </p:spPr>
        <p:txBody>
          <a:bodyPr>
            <a:normAutofit fontScale="90000"/>
          </a:bodyPr>
          <a:lstStyle/>
          <a:p>
            <a:pPr eaLnBrk="1" hangingPunct="1"/>
            <a:r>
              <a:rPr lang="en-US" altLang="en-US" smtClean="0"/>
              <a:t>Critical-Section Handling in OS </a:t>
            </a:r>
          </a:p>
        </p:txBody>
      </p:sp>
      <p:sp>
        <p:nvSpPr>
          <p:cNvPr id="14339" name="Rectangle 3"/>
          <p:cNvSpPr>
            <a:spLocks noGrp="1" noChangeArrowheads="1"/>
          </p:cNvSpPr>
          <p:nvPr>
            <p:ph idx="1"/>
          </p:nvPr>
        </p:nvSpPr>
        <p:spPr>
          <a:xfrm>
            <a:off x="768350" y="1103313"/>
            <a:ext cx="6991350" cy="4530725"/>
          </a:xfrm>
        </p:spPr>
        <p:txBody>
          <a:bodyPr/>
          <a:lstStyle/>
          <a:p>
            <a:pPr algn="just">
              <a:buFont typeface="Monotype Sorts" pitchFamily="-84" charset="2"/>
              <a:buNone/>
            </a:pPr>
            <a:r>
              <a:rPr lang="en-US" altLang="en-US" smtClean="0"/>
              <a:t>     Two approaches depending on if kernel is preemptive or non-  preemptive </a:t>
            </a:r>
          </a:p>
          <a:p>
            <a:pPr marL="795338" lvl="1" indent="-338138">
              <a:buSzPct val="125000"/>
            </a:pPr>
            <a:r>
              <a:rPr lang="en-US" altLang="en-US" b="1" smtClean="0">
                <a:solidFill>
                  <a:srgbClr val="3366FF"/>
                </a:solidFill>
              </a:rPr>
              <a:t>Preemptive</a:t>
            </a:r>
            <a:r>
              <a:rPr lang="en-US" altLang="en-US" sz="1400" smtClean="0"/>
              <a:t> </a:t>
            </a:r>
            <a:r>
              <a:rPr lang="en-US" altLang="en-US" smtClean="0"/>
              <a:t>– allows preemption of process when running in kernel mode</a:t>
            </a:r>
          </a:p>
          <a:p>
            <a:pPr marL="795338" lvl="1" indent="-338138">
              <a:buSzPct val="125000"/>
            </a:pPr>
            <a:r>
              <a:rPr lang="en-US" altLang="en-US" b="1" smtClean="0">
                <a:solidFill>
                  <a:srgbClr val="3366FF"/>
                </a:solidFill>
              </a:rPr>
              <a:t>Non-preemptive </a:t>
            </a:r>
            <a:r>
              <a:rPr lang="en-US" altLang="en-US" smtClean="0"/>
              <a:t>– runs until exits kernel mode, blocks, or voluntarily yields CPU</a:t>
            </a:r>
          </a:p>
          <a:p>
            <a:pPr marL="996950" lvl="2" indent="-198438">
              <a:buSzPct val="125000"/>
            </a:pPr>
            <a:r>
              <a:rPr lang="en-US" altLang="en-US" smtClean="0"/>
              <a:t>Essentially free of race conditions in kernel mode</a:t>
            </a:r>
          </a:p>
        </p:txBody>
      </p:sp>
    </p:spTree>
    <p:extLst>
      <p:ext uri="{BB962C8B-B14F-4D97-AF65-F5344CB8AC3E}">
        <p14:creationId xmlns:p14="http://schemas.microsoft.com/office/powerpoint/2010/main" val="40808356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9"/>
          </a:xfrm>
        </p:spPr>
        <p:txBody>
          <a:bodyPr>
            <a:normAutofit fontScale="90000"/>
          </a:bodyPr>
          <a:lstStyle/>
          <a:p>
            <a:r>
              <a:rPr lang="en-US" dirty="0"/>
              <a:t>Dekker's </a:t>
            </a:r>
            <a:r>
              <a:rPr lang="en-US" dirty="0" smtClean="0"/>
              <a:t>Algorithm</a:t>
            </a:r>
            <a:endParaRPr lang="en-IN" dirty="0"/>
          </a:p>
        </p:txBody>
      </p:sp>
      <p:sp>
        <p:nvSpPr>
          <p:cNvPr id="3" name="Content Placeholder 2"/>
          <p:cNvSpPr>
            <a:spLocks noGrp="1"/>
          </p:cNvSpPr>
          <p:nvPr>
            <p:ph idx="1"/>
          </p:nvPr>
        </p:nvSpPr>
        <p:spPr>
          <a:xfrm>
            <a:off x="457200" y="908720"/>
            <a:ext cx="8229600" cy="5472608"/>
          </a:xfrm>
        </p:spPr>
        <p:txBody>
          <a:bodyPr>
            <a:normAutofit/>
          </a:bodyPr>
          <a:lstStyle/>
          <a:p>
            <a:pPr algn="just"/>
            <a:r>
              <a:rPr lang="en-US" sz="1800" dirty="0"/>
              <a:t>Dekker's </a:t>
            </a:r>
            <a:r>
              <a:rPr lang="en-US" sz="1800" dirty="0" smtClean="0"/>
              <a:t>algorithm is </a:t>
            </a:r>
            <a:r>
              <a:rPr lang="en-US" sz="1800" dirty="0"/>
              <a:t>the first known correct solution to the mutual exclusion </a:t>
            </a:r>
            <a:r>
              <a:rPr lang="en-US" sz="1800" dirty="0" smtClean="0"/>
              <a:t>problem. The </a:t>
            </a:r>
            <a:r>
              <a:rPr lang="en-US" sz="1800" dirty="0"/>
              <a:t>solution is attributed to </a:t>
            </a:r>
            <a:r>
              <a:rPr lang="en-US" sz="1800" dirty="0">
                <a:solidFill>
                  <a:srgbClr val="FF0000"/>
                </a:solidFill>
              </a:rPr>
              <a:t>Dutch mathematician Th. J. Dekker </a:t>
            </a:r>
            <a:r>
              <a:rPr lang="en-US" sz="1800" b="1" dirty="0">
                <a:solidFill>
                  <a:srgbClr val="00B050"/>
                </a:solidFill>
              </a:rPr>
              <a:t>by </a:t>
            </a:r>
            <a:r>
              <a:rPr lang="en-US" sz="1800" b="1" dirty="0" err="1">
                <a:solidFill>
                  <a:srgbClr val="00B050"/>
                </a:solidFill>
              </a:rPr>
              <a:t>Edsger</a:t>
            </a:r>
            <a:r>
              <a:rPr lang="en-US" sz="1800" b="1" dirty="0">
                <a:solidFill>
                  <a:srgbClr val="00B050"/>
                </a:solidFill>
              </a:rPr>
              <a:t> W. </a:t>
            </a:r>
            <a:r>
              <a:rPr lang="en-US" sz="1800" b="1" dirty="0" smtClean="0">
                <a:solidFill>
                  <a:srgbClr val="00B050"/>
                </a:solidFill>
              </a:rPr>
              <a:t>Dijkstra.</a:t>
            </a:r>
            <a:endParaRPr lang="en-US" sz="1800" b="1" dirty="0">
              <a:solidFill>
                <a:srgbClr val="00B050"/>
              </a:solidFill>
            </a:endParaRPr>
          </a:p>
          <a:p>
            <a:pPr lvl="1"/>
            <a:r>
              <a:rPr lang="en-US" sz="1600" dirty="0" smtClean="0"/>
              <a:t>Variables</a:t>
            </a:r>
            <a:endParaRPr lang="en-US" sz="1600" dirty="0"/>
          </a:p>
          <a:p>
            <a:pPr marL="1314450" lvl="3" indent="0">
              <a:buNone/>
            </a:pPr>
            <a:r>
              <a:rPr lang="en-US" sz="1100" dirty="0">
                <a:solidFill>
                  <a:srgbClr val="FF0000"/>
                </a:solidFill>
              </a:rPr>
              <a:t>        </a:t>
            </a:r>
            <a:r>
              <a:rPr lang="en-US" sz="1100" dirty="0" err="1">
                <a:solidFill>
                  <a:srgbClr val="FF0000"/>
                </a:solidFill>
              </a:rPr>
              <a:t>wants_to_enter</a:t>
            </a:r>
            <a:r>
              <a:rPr lang="en-US" sz="1100" dirty="0">
                <a:solidFill>
                  <a:srgbClr val="FF0000"/>
                </a:solidFill>
              </a:rPr>
              <a:t> : array of 2 </a:t>
            </a:r>
            <a:r>
              <a:rPr lang="en-US" sz="1100" dirty="0" err="1">
                <a:solidFill>
                  <a:srgbClr val="FF0000"/>
                </a:solidFill>
              </a:rPr>
              <a:t>booleans</a:t>
            </a:r>
            <a:endParaRPr lang="en-US" sz="1100" dirty="0">
              <a:solidFill>
                <a:srgbClr val="FF0000"/>
              </a:solidFill>
            </a:endParaRPr>
          </a:p>
          <a:p>
            <a:pPr marL="1314450" lvl="3" indent="0">
              <a:buNone/>
            </a:pPr>
            <a:r>
              <a:rPr lang="en-US" sz="1100" dirty="0">
                <a:solidFill>
                  <a:srgbClr val="FF0000"/>
                </a:solidFill>
              </a:rPr>
              <a:t>        turn : integer</a:t>
            </a:r>
          </a:p>
          <a:p>
            <a:pPr marL="1314450" lvl="3" indent="0">
              <a:buNone/>
            </a:pPr>
            <a:r>
              <a:rPr lang="en-US" sz="1100" dirty="0" smtClean="0"/>
              <a:t>  </a:t>
            </a:r>
            <a:r>
              <a:rPr lang="en-US" sz="1100" dirty="0" err="1" smtClean="0"/>
              <a:t>wants_to_enter</a:t>
            </a:r>
            <a:r>
              <a:rPr lang="en-US" sz="1100" dirty="0" smtClean="0"/>
              <a:t>[0</a:t>
            </a:r>
            <a:r>
              <a:rPr lang="en-US" sz="1100" dirty="0"/>
              <a:t>] ← false</a:t>
            </a:r>
          </a:p>
          <a:p>
            <a:pPr marL="1314450" lvl="3" indent="0">
              <a:buNone/>
            </a:pPr>
            <a:r>
              <a:rPr lang="en-US" sz="1100" dirty="0" smtClean="0"/>
              <a:t>  </a:t>
            </a:r>
            <a:r>
              <a:rPr lang="en-US" sz="1100" dirty="0" err="1"/>
              <a:t>wants_to_enter</a:t>
            </a:r>
            <a:r>
              <a:rPr lang="en-US" sz="1100" dirty="0"/>
              <a:t>[1] ← </a:t>
            </a:r>
            <a:r>
              <a:rPr lang="en-US" sz="1100" dirty="0" smtClean="0"/>
              <a:t>false</a:t>
            </a:r>
          </a:p>
          <a:p>
            <a:pPr marL="1314450" lvl="3" indent="0">
              <a:buNone/>
            </a:pPr>
            <a:r>
              <a:rPr lang="en-US" sz="1100" dirty="0" smtClean="0"/>
              <a:t>   </a:t>
            </a:r>
            <a:r>
              <a:rPr lang="en-US" sz="1100" dirty="0"/>
              <a:t>turn ← 0   // or </a:t>
            </a:r>
            <a:r>
              <a:rPr lang="en-US" sz="1100" dirty="0" smtClean="0"/>
              <a:t>1</a:t>
            </a:r>
          </a:p>
          <a:p>
            <a:pPr lvl="1"/>
            <a:endParaRPr lang="en-IN" sz="1600" dirty="0"/>
          </a:p>
        </p:txBody>
      </p:sp>
      <p:pic>
        <p:nvPicPr>
          <p:cNvPr id="4" name="Picture 3"/>
          <p:cNvPicPr>
            <a:picLocks noChangeAspect="1"/>
          </p:cNvPicPr>
          <p:nvPr/>
        </p:nvPicPr>
        <p:blipFill>
          <a:blip r:embed="rId2"/>
          <a:stretch>
            <a:fillRect/>
          </a:stretch>
        </p:blipFill>
        <p:spPr>
          <a:xfrm>
            <a:off x="1187624" y="3140968"/>
            <a:ext cx="7058025" cy="3448050"/>
          </a:xfrm>
          <a:prstGeom prst="rect">
            <a:avLst/>
          </a:prstGeom>
        </p:spPr>
      </p:pic>
    </p:spTree>
    <p:extLst>
      <p:ext uri="{BB962C8B-B14F-4D97-AF65-F5344CB8AC3E}">
        <p14:creationId xmlns:p14="http://schemas.microsoft.com/office/powerpoint/2010/main" val="22992951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98538" y="214313"/>
            <a:ext cx="7688262" cy="576262"/>
          </a:xfrm>
        </p:spPr>
        <p:txBody>
          <a:bodyPr>
            <a:normAutofit fontScale="90000"/>
          </a:bodyPr>
          <a:lstStyle/>
          <a:p>
            <a:pPr eaLnBrk="1" hangingPunct="1"/>
            <a:r>
              <a:rPr lang="en-US" altLang="en-US" smtClean="0"/>
              <a:t>Peterson</a:t>
            </a:r>
            <a:r>
              <a:rPr lang="ja-JP" altLang="en-US" smtClean="0"/>
              <a:t>’</a:t>
            </a:r>
            <a:r>
              <a:rPr lang="en-US" altLang="ja-JP" smtClean="0"/>
              <a:t>s Solution</a:t>
            </a:r>
            <a:endParaRPr lang="en-US" altLang="en-US" smtClean="0"/>
          </a:p>
        </p:txBody>
      </p:sp>
      <p:sp>
        <p:nvSpPr>
          <p:cNvPr id="15363" name="Rectangle 3"/>
          <p:cNvSpPr>
            <a:spLocks noGrp="1" noChangeArrowheads="1"/>
          </p:cNvSpPr>
          <p:nvPr>
            <p:ph idx="1"/>
          </p:nvPr>
        </p:nvSpPr>
        <p:spPr>
          <a:xfrm>
            <a:off x="946150" y="1182688"/>
            <a:ext cx="7118350" cy="4422775"/>
          </a:xfrm>
        </p:spPr>
        <p:txBody>
          <a:bodyPr>
            <a:normAutofit fontScale="92500" lnSpcReduction="20000"/>
          </a:bodyPr>
          <a:lstStyle/>
          <a:p>
            <a:pPr algn="just">
              <a:lnSpc>
                <a:spcPct val="90000"/>
              </a:lnSpc>
              <a:tabLst>
                <a:tab pos="739775" algn="l"/>
                <a:tab pos="1020763" algn="l"/>
                <a:tab pos="1257300" algn="l"/>
              </a:tabLst>
            </a:pPr>
            <a:r>
              <a:rPr lang="en-US" altLang="en-US" dirty="0" smtClean="0"/>
              <a:t>Good algorithmic  description of solving the problem</a:t>
            </a:r>
            <a:endParaRPr lang="en-US" altLang="en-US" sz="800" dirty="0" smtClean="0"/>
          </a:p>
          <a:p>
            <a:pPr algn="just">
              <a:lnSpc>
                <a:spcPct val="90000"/>
              </a:lnSpc>
              <a:tabLst>
                <a:tab pos="739775" algn="l"/>
                <a:tab pos="1020763" algn="l"/>
                <a:tab pos="1257300" algn="l"/>
              </a:tabLst>
            </a:pPr>
            <a:r>
              <a:rPr lang="en-US" altLang="en-US" dirty="0" smtClean="0">
                <a:solidFill>
                  <a:srgbClr val="FF0000"/>
                </a:solidFill>
              </a:rPr>
              <a:t>Two process solution</a:t>
            </a:r>
            <a:endParaRPr lang="en-US" altLang="en-US" sz="800" dirty="0" smtClean="0">
              <a:solidFill>
                <a:srgbClr val="FF0000"/>
              </a:solidFill>
            </a:endParaRPr>
          </a:p>
          <a:p>
            <a:pPr algn="just">
              <a:lnSpc>
                <a:spcPct val="90000"/>
              </a:lnSpc>
              <a:tabLst>
                <a:tab pos="739775" algn="l"/>
                <a:tab pos="1020763" algn="l"/>
                <a:tab pos="1257300" algn="l"/>
              </a:tabLst>
            </a:pPr>
            <a:r>
              <a:rPr lang="en-US" altLang="en-US" dirty="0" smtClean="0">
                <a:solidFill>
                  <a:srgbClr val="000000"/>
                </a:solidFill>
              </a:rPr>
              <a:t>The two processes share two variables:</a:t>
            </a:r>
          </a:p>
          <a:p>
            <a:pPr lvl="1" algn="just">
              <a:lnSpc>
                <a:spcPct val="90000"/>
              </a:lnSpc>
              <a:tabLst>
                <a:tab pos="739775" algn="l"/>
                <a:tab pos="1020763" algn="l"/>
                <a:tab pos="1257300" algn="l"/>
              </a:tabLst>
            </a:pPr>
            <a:r>
              <a:rPr lang="en-US" altLang="en-US" sz="1600" b="1" dirty="0" err="1" smtClean="0">
                <a:latin typeface="Courier New" pitchFamily="49" charset="0"/>
              </a:rPr>
              <a:t>int</a:t>
            </a:r>
            <a:r>
              <a:rPr lang="en-US" altLang="en-US" sz="1600" b="1" dirty="0" smtClean="0">
                <a:latin typeface="Courier New" pitchFamily="49" charset="0"/>
              </a:rPr>
              <a:t> turn; </a:t>
            </a:r>
          </a:p>
          <a:p>
            <a:pPr lvl="1" algn="just">
              <a:lnSpc>
                <a:spcPct val="90000"/>
              </a:lnSpc>
              <a:tabLst>
                <a:tab pos="739775" algn="l"/>
                <a:tab pos="1020763" algn="l"/>
                <a:tab pos="1257300" algn="l"/>
              </a:tabLst>
            </a:pPr>
            <a:r>
              <a:rPr lang="en-US" altLang="en-US" sz="1600" b="1" dirty="0" smtClean="0">
                <a:latin typeface="Courier New" pitchFamily="49" charset="0"/>
              </a:rPr>
              <a:t>Boolean flag[2]</a:t>
            </a:r>
          </a:p>
          <a:p>
            <a:pPr lvl="1" algn="just">
              <a:lnSpc>
                <a:spcPct val="90000"/>
              </a:lnSpc>
              <a:tabLst>
                <a:tab pos="739775" algn="l"/>
                <a:tab pos="1020763" algn="l"/>
                <a:tab pos="1257300" algn="l"/>
              </a:tabLst>
            </a:pPr>
            <a:endParaRPr lang="en-US" altLang="en-US" sz="800" b="1" dirty="0" smtClean="0">
              <a:solidFill>
                <a:srgbClr val="000000"/>
              </a:solidFill>
            </a:endParaRPr>
          </a:p>
          <a:p>
            <a:pPr algn="just">
              <a:lnSpc>
                <a:spcPct val="90000"/>
              </a:lnSpc>
              <a:tabLst>
                <a:tab pos="739775" algn="l"/>
                <a:tab pos="1020763" algn="l"/>
                <a:tab pos="1257300" algn="l"/>
              </a:tabLst>
            </a:pPr>
            <a:r>
              <a:rPr lang="en-US" altLang="en-US" dirty="0" smtClean="0">
                <a:solidFill>
                  <a:srgbClr val="000000"/>
                </a:solidFill>
              </a:rPr>
              <a:t>The variable </a:t>
            </a:r>
            <a:r>
              <a:rPr lang="en-US" altLang="en-US" sz="1600" dirty="0" smtClean="0">
                <a:solidFill>
                  <a:srgbClr val="00B050"/>
                </a:solidFill>
                <a:latin typeface="Courier New" pitchFamily="49" charset="0"/>
                <a:cs typeface="Courier New" pitchFamily="49" charset="0"/>
              </a:rPr>
              <a:t>turn</a:t>
            </a:r>
            <a:r>
              <a:rPr lang="en-US" altLang="en-US" dirty="0" smtClean="0">
                <a:solidFill>
                  <a:srgbClr val="00B050"/>
                </a:solidFill>
              </a:rPr>
              <a:t> </a:t>
            </a:r>
            <a:r>
              <a:rPr lang="en-US" altLang="en-US" dirty="0" smtClean="0">
                <a:solidFill>
                  <a:srgbClr val="000000"/>
                </a:solidFill>
              </a:rPr>
              <a:t>indicates </a:t>
            </a:r>
            <a:r>
              <a:rPr lang="en-US" altLang="en-US" dirty="0" smtClean="0">
                <a:solidFill>
                  <a:srgbClr val="FF0000"/>
                </a:solidFill>
              </a:rPr>
              <a:t>whose turn it is to enter the critical section</a:t>
            </a:r>
            <a:endParaRPr lang="en-US" altLang="en-US" sz="800" dirty="0" smtClean="0">
              <a:solidFill>
                <a:srgbClr val="FF0000"/>
              </a:solidFill>
            </a:endParaRPr>
          </a:p>
          <a:p>
            <a:pPr algn="just">
              <a:lnSpc>
                <a:spcPct val="90000"/>
              </a:lnSpc>
              <a:tabLst>
                <a:tab pos="739775" algn="l"/>
                <a:tab pos="1020763" algn="l"/>
                <a:tab pos="1257300" algn="l"/>
              </a:tabLst>
            </a:pPr>
            <a:r>
              <a:rPr lang="en-US" altLang="en-US" dirty="0" smtClean="0">
                <a:solidFill>
                  <a:srgbClr val="000000"/>
                </a:solidFill>
              </a:rPr>
              <a:t>The </a:t>
            </a:r>
            <a:r>
              <a:rPr lang="en-US" altLang="en-US" sz="1600" dirty="0" smtClean="0">
                <a:solidFill>
                  <a:srgbClr val="00B050"/>
                </a:solidFill>
                <a:latin typeface="Courier New" pitchFamily="49" charset="0"/>
                <a:cs typeface="Courier New" pitchFamily="49" charset="0"/>
              </a:rPr>
              <a:t>flag</a:t>
            </a:r>
            <a:r>
              <a:rPr lang="en-US" altLang="en-US" b="1" dirty="0" smtClean="0">
                <a:solidFill>
                  <a:srgbClr val="00B050"/>
                </a:solidFill>
                <a:latin typeface="Courier New" pitchFamily="49" charset="0"/>
                <a:cs typeface="Courier New" pitchFamily="49" charset="0"/>
              </a:rPr>
              <a:t> </a:t>
            </a:r>
            <a:r>
              <a:rPr lang="en-US" altLang="en-US" dirty="0" smtClean="0">
                <a:solidFill>
                  <a:srgbClr val="000000"/>
                </a:solidFill>
              </a:rPr>
              <a:t>array is used to indicate </a:t>
            </a:r>
            <a:r>
              <a:rPr lang="en-US" altLang="en-US" dirty="0" smtClean="0">
                <a:solidFill>
                  <a:srgbClr val="FF0000"/>
                </a:solidFill>
              </a:rPr>
              <a:t>if a process is ready to enter the critical section</a:t>
            </a:r>
            <a:r>
              <a:rPr lang="en-US" altLang="en-US" dirty="0" smtClean="0">
                <a:solidFill>
                  <a:srgbClr val="000000"/>
                </a:solidFill>
              </a:rPr>
              <a:t>. </a:t>
            </a:r>
            <a:r>
              <a:rPr lang="en-US" altLang="en-US" sz="1600" b="1" dirty="0" smtClean="0">
                <a:latin typeface="Courier New" pitchFamily="49" charset="0"/>
                <a:cs typeface="Courier New" pitchFamily="49" charset="0"/>
              </a:rPr>
              <a:t>flag[</a:t>
            </a:r>
            <a:r>
              <a:rPr lang="en-US" altLang="en-US" sz="1600" b="1" dirty="0" err="1" smtClean="0">
                <a:latin typeface="Courier New" pitchFamily="49" charset="0"/>
                <a:cs typeface="Courier New" pitchFamily="49" charset="0"/>
              </a:rPr>
              <a:t>i</a:t>
            </a:r>
            <a:r>
              <a:rPr lang="en-US" altLang="en-US" sz="1600" b="1" dirty="0" smtClean="0">
                <a:latin typeface="Courier New" pitchFamily="49" charset="0"/>
                <a:cs typeface="Courier New" pitchFamily="49" charset="0"/>
              </a:rPr>
              <a:t>] = </a:t>
            </a:r>
            <a:r>
              <a:rPr lang="en-US" altLang="en-US" sz="1600" b="1" i="1" dirty="0" smtClean="0">
                <a:latin typeface="Courier New" pitchFamily="49" charset="0"/>
                <a:cs typeface="Courier New" pitchFamily="49" charset="0"/>
              </a:rPr>
              <a:t>true</a:t>
            </a:r>
            <a:r>
              <a:rPr lang="en-US" altLang="en-US" sz="1600" dirty="0" smtClean="0">
                <a:solidFill>
                  <a:srgbClr val="000000"/>
                </a:solidFill>
              </a:rPr>
              <a:t>  </a:t>
            </a:r>
            <a:r>
              <a:rPr lang="en-US" altLang="en-US" dirty="0" smtClean="0">
                <a:solidFill>
                  <a:srgbClr val="000000"/>
                </a:solidFill>
              </a:rPr>
              <a:t>implies that process </a:t>
            </a:r>
            <a:r>
              <a:rPr lang="en-US" altLang="en-US" sz="2000" b="1" dirty="0" smtClean="0">
                <a:solidFill>
                  <a:srgbClr val="000000"/>
                </a:solidFill>
                <a:latin typeface="Courier New" pitchFamily="49" charset="0"/>
                <a:cs typeface="Courier New" pitchFamily="49" charset="0"/>
              </a:rPr>
              <a:t>P</a:t>
            </a:r>
            <a:r>
              <a:rPr lang="en-US" altLang="en-US" sz="2000" b="1" baseline="-25000" dirty="0" smtClean="0">
                <a:solidFill>
                  <a:srgbClr val="000000"/>
                </a:solidFill>
                <a:latin typeface="Courier New" pitchFamily="49" charset="0"/>
                <a:cs typeface="Courier New" pitchFamily="49" charset="0"/>
              </a:rPr>
              <a:t>i</a:t>
            </a:r>
            <a:r>
              <a:rPr lang="en-US" altLang="en-US" dirty="0" smtClean="0">
                <a:solidFill>
                  <a:srgbClr val="000000"/>
                </a:solidFill>
              </a:rPr>
              <a:t> is ready.</a:t>
            </a:r>
          </a:p>
        </p:txBody>
      </p:sp>
    </p:spTree>
    <p:extLst>
      <p:ext uri="{BB962C8B-B14F-4D97-AF65-F5344CB8AC3E}">
        <p14:creationId xmlns:p14="http://schemas.microsoft.com/office/powerpoint/2010/main" val="27662141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682750" y="1704975"/>
            <a:ext cx="3889375" cy="9620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7" name="Rectangle 6"/>
          <p:cNvSpPr/>
          <p:nvPr/>
        </p:nvSpPr>
        <p:spPr bwMode="auto">
          <a:xfrm>
            <a:off x="1700213" y="2968625"/>
            <a:ext cx="2162175" cy="38735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6388" name="Rectangle 2"/>
          <p:cNvSpPr>
            <a:spLocks noGrp="1" noChangeArrowheads="1"/>
          </p:cNvSpPr>
          <p:nvPr>
            <p:ph type="title"/>
          </p:nvPr>
        </p:nvSpPr>
        <p:spPr>
          <a:xfrm>
            <a:off x="457200" y="277813"/>
            <a:ext cx="8291513" cy="576262"/>
          </a:xfrm>
        </p:spPr>
        <p:txBody>
          <a:bodyPr>
            <a:normAutofit fontScale="90000"/>
          </a:bodyPr>
          <a:lstStyle/>
          <a:p>
            <a:pPr eaLnBrk="1" hangingPunct="1"/>
            <a:r>
              <a:rPr lang="en-US" altLang="en-US" smtClean="0"/>
              <a:t>Algorithm for Process </a:t>
            </a:r>
            <a:r>
              <a:rPr lang="en-US" altLang="en-US" smtClean="0">
                <a:solidFill>
                  <a:srgbClr val="0000FF"/>
                </a:solidFill>
              </a:rPr>
              <a:t>P</a:t>
            </a:r>
            <a:r>
              <a:rPr lang="en-US" altLang="en-US" baseline="-25000" smtClean="0">
                <a:solidFill>
                  <a:srgbClr val="0000FF"/>
                </a:solidFill>
              </a:rPr>
              <a:t>i</a:t>
            </a:r>
          </a:p>
        </p:txBody>
      </p:sp>
      <p:sp>
        <p:nvSpPr>
          <p:cNvPr id="16389" name="Rectangle 3"/>
          <p:cNvSpPr>
            <a:spLocks noGrp="1" noChangeArrowheads="1"/>
          </p:cNvSpPr>
          <p:nvPr>
            <p:ph idx="1"/>
          </p:nvPr>
        </p:nvSpPr>
        <p:spPr>
          <a:xfrm>
            <a:off x="820738" y="1311275"/>
            <a:ext cx="7742237" cy="4770438"/>
          </a:xfrm>
        </p:spPr>
        <p:txBody>
          <a:bodyPr/>
          <a:lstStyle/>
          <a:p>
            <a:pPr>
              <a:buFont typeface="Monotype Sorts" pitchFamily="-84" charset="2"/>
              <a:buNone/>
            </a:pPr>
            <a:r>
              <a:rPr lang="en-US" altLang="en-US" b="1" smtClean="0">
                <a:solidFill>
                  <a:srgbClr val="000000"/>
                </a:solidFill>
                <a:latin typeface="Courier New" pitchFamily="49" charset="0"/>
                <a:cs typeface="Courier New" pitchFamily="49" charset="0"/>
              </a:rPr>
              <a:t>	do </a:t>
            </a:r>
            <a:r>
              <a:rPr lang="en-US" altLang="en-US" sz="1600" b="1" smtClean="0">
                <a:solidFill>
                  <a:srgbClr val="000000"/>
                </a:solidFill>
                <a:latin typeface="Courier New" pitchFamily="49" charset="0"/>
                <a:cs typeface="Courier New" pitchFamily="49" charset="0"/>
              </a:rPr>
              <a:t>{ </a:t>
            </a:r>
          </a:p>
          <a:p>
            <a:pPr>
              <a:buFont typeface="Monotype Sorts" pitchFamily="-84" charset="2"/>
              <a:buNone/>
            </a:pPr>
            <a:r>
              <a:rPr lang="en-US" altLang="en-US" sz="1600" b="1" smtClean="0">
                <a:solidFill>
                  <a:srgbClr val="000000"/>
                </a:solidFill>
                <a:latin typeface="Courier New" pitchFamily="49" charset="0"/>
                <a:cs typeface="Courier New" pitchFamily="49" charset="0"/>
              </a:rPr>
              <a:t>		flag[i] = true; </a:t>
            </a:r>
          </a:p>
          <a:p>
            <a:pPr>
              <a:buFont typeface="Monotype Sorts" pitchFamily="-84" charset="2"/>
              <a:buNone/>
            </a:pPr>
            <a:r>
              <a:rPr lang="en-US" altLang="en-US" sz="1600" b="1" smtClean="0">
                <a:solidFill>
                  <a:srgbClr val="000000"/>
                </a:solidFill>
                <a:latin typeface="Courier New" pitchFamily="49" charset="0"/>
                <a:cs typeface="Courier New" pitchFamily="49" charset="0"/>
              </a:rPr>
              <a:t>		turn = j; </a:t>
            </a:r>
          </a:p>
          <a:p>
            <a:pPr>
              <a:buFont typeface="Monotype Sorts" pitchFamily="-84" charset="2"/>
              <a:buNone/>
            </a:pPr>
            <a:r>
              <a:rPr lang="en-US" altLang="en-US" sz="1600" b="1" smtClean="0">
                <a:solidFill>
                  <a:srgbClr val="000000"/>
                </a:solidFill>
                <a:latin typeface="Courier New" pitchFamily="49" charset="0"/>
                <a:cs typeface="Courier New" pitchFamily="49" charset="0"/>
              </a:rPr>
              <a:t>		while (flag[j] &amp;&amp; turn = = j); </a:t>
            </a:r>
          </a:p>
          <a:p>
            <a:pPr>
              <a:buFont typeface="Monotype Sorts" pitchFamily="-84" charset="2"/>
              <a:buNone/>
            </a:pPr>
            <a:r>
              <a:rPr lang="en-US" altLang="en-US" sz="1600" b="1" smtClean="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smtClean="0">
                <a:solidFill>
                  <a:srgbClr val="000000"/>
                </a:solidFill>
                <a:latin typeface="Courier New" pitchFamily="49" charset="0"/>
                <a:cs typeface="Courier New" pitchFamily="49" charset="0"/>
              </a:rPr>
              <a:t>		flag[i] = false; </a:t>
            </a:r>
          </a:p>
          <a:p>
            <a:pPr>
              <a:buFont typeface="Monotype Sorts" pitchFamily="-84" charset="2"/>
              <a:buNone/>
            </a:pPr>
            <a:r>
              <a:rPr lang="en-US" altLang="en-US" sz="1600" b="1" smtClean="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smtClean="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smtClean="0">
              <a:solidFill>
                <a:srgbClr val="0000FF"/>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438882295"/>
              </p:ext>
            </p:extLst>
          </p:nvPr>
        </p:nvGraphicFramePr>
        <p:xfrm>
          <a:off x="4499992" y="4093934"/>
          <a:ext cx="4248472" cy="2656070"/>
        </p:xfrm>
        <a:graphic>
          <a:graphicData uri="http://schemas.openxmlformats.org/drawingml/2006/table">
            <a:tbl>
              <a:tblPr firstRow="1" firstCol="1" bandRow="1">
                <a:tableStyleId>{5C22544A-7EE6-4342-B048-85BDC9FD1C3A}</a:tableStyleId>
              </a:tblPr>
              <a:tblGrid>
                <a:gridCol w="2122362"/>
                <a:gridCol w="2126110"/>
              </a:tblGrid>
              <a:tr h="130961">
                <a:tc>
                  <a:txBody>
                    <a:bodyPr/>
                    <a:lstStyle/>
                    <a:p>
                      <a:pPr>
                        <a:lnSpc>
                          <a:spcPct val="107000"/>
                        </a:lnSpc>
                        <a:spcAft>
                          <a:spcPts val="0"/>
                        </a:spcAft>
                      </a:pPr>
                      <a:r>
                        <a:rPr lang="en-IN" sz="1200" b="0" dirty="0" smtClean="0">
                          <a:solidFill>
                            <a:srgbClr val="00B050"/>
                          </a:solidFill>
                          <a:effectLst/>
                        </a:rPr>
                        <a:t>Process </a:t>
                      </a:r>
                      <a:r>
                        <a:rPr lang="en-IN" sz="1200" b="0" dirty="0">
                          <a:solidFill>
                            <a:srgbClr val="00B050"/>
                          </a:solidFill>
                          <a:effectLst/>
                        </a:rPr>
                        <a:t>i</a:t>
                      </a:r>
                      <a:r>
                        <a:rPr lang="en-IN" sz="1200" b="0" dirty="0" smtClean="0">
                          <a:solidFill>
                            <a:srgbClr val="00B050"/>
                          </a:solidFill>
                          <a:effectLst/>
                        </a:rPr>
                        <a:t>, Pi</a:t>
                      </a:r>
                      <a:endParaRPr lang="en-IN" sz="1200" b="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200" b="0" dirty="0">
                          <a:solidFill>
                            <a:srgbClr val="00B050"/>
                          </a:solidFill>
                          <a:effectLst/>
                        </a:rPr>
                        <a:t>Process </a:t>
                      </a:r>
                      <a:r>
                        <a:rPr lang="en-IN" sz="1200" b="0" dirty="0" smtClean="0">
                          <a:solidFill>
                            <a:srgbClr val="00B050"/>
                          </a:solidFill>
                          <a:effectLst/>
                        </a:rPr>
                        <a:t>j, </a:t>
                      </a:r>
                      <a:r>
                        <a:rPr lang="en-IN" sz="1200" b="0" dirty="0" err="1" smtClean="0">
                          <a:solidFill>
                            <a:srgbClr val="00B050"/>
                          </a:solidFill>
                          <a:effectLst/>
                        </a:rPr>
                        <a:t>Pj</a:t>
                      </a:r>
                      <a:endParaRPr lang="en-IN" sz="1200" b="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r h="2460363">
                <a:tc>
                  <a:txBody>
                    <a:bodyPr/>
                    <a:lstStyle/>
                    <a:p>
                      <a:pPr>
                        <a:buFont typeface="Monotype Sorts" pitchFamily="-84" charset="2"/>
                        <a:buNone/>
                      </a:pPr>
                      <a:r>
                        <a:rPr lang="en-US" sz="1200" dirty="0">
                          <a:solidFill>
                            <a:srgbClr val="FF0000"/>
                          </a:solidFill>
                          <a:effectLst/>
                        </a:rPr>
                        <a:t>	</a:t>
                      </a:r>
                      <a:r>
                        <a:rPr lang="en-US" altLang="en-US" sz="1200" b="1" dirty="0" smtClean="0">
                          <a:solidFill>
                            <a:srgbClr val="FF0000"/>
                          </a:solidFill>
                          <a:latin typeface="Courier New" pitchFamily="49" charset="0"/>
                          <a:cs typeface="Courier New" pitchFamily="49" charset="0"/>
                        </a:rPr>
                        <a:t>do { </a:t>
                      </a:r>
                    </a:p>
                    <a:p>
                      <a:pPr>
                        <a:buFont typeface="Monotype Sorts" pitchFamily="-84" charset="2"/>
                        <a:buNone/>
                      </a:pPr>
                      <a:r>
                        <a:rPr lang="en-US" altLang="en-US" sz="1200" b="1" dirty="0" smtClean="0">
                          <a:solidFill>
                            <a:srgbClr val="FF0000"/>
                          </a:solidFill>
                          <a:latin typeface="Courier New" pitchFamily="49" charset="0"/>
                          <a:cs typeface="Courier New" pitchFamily="49" charset="0"/>
                        </a:rPr>
                        <a:t>flag[</a:t>
                      </a:r>
                      <a:r>
                        <a:rPr lang="en-US" altLang="en-US" sz="1200" b="1" dirty="0" err="1" smtClean="0">
                          <a:solidFill>
                            <a:srgbClr val="FF0000"/>
                          </a:solidFill>
                          <a:latin typeface="Courier New" pitchFamily="49" charset="0"/>
                          <a:cs typeface="Courier New" pitchFamily="49" charset="0"/>
                        </a:rPr>
                        <a:t>i</a:t>
                      </a:r>
                      <a:r>
                        <a:rPr lang="en-US" altLang="en-US" sz="1200" b="1" dirty="0" smtClean="0">
                          <a:solidFill>
                            <a:srgbClr val="FF0000"/>
                          </a:solidFill>
                          <a:latin typeface="Courier New" pitchFamily="49" charset="0"/>
                          <a:cs typeface="Courier New" pitchFamily="49" charset="0"/>
                        </a:rPr>
                        <a:t>] = true; </a:t>
                      </a:r>
                    </a:p>
                    <a:p>
                      <a:pPr>
                        <a:buFont typeface="Monotype Sorts" pitchFamily="-84" charset="2"/>
                        <a:buNone/>
                      </a:pPr>
                      <a:r>
                        <a:rPr lang="en-US" altLang="en-US" sz="1200" b="1" dirty="0" smtClean="0">
                          <a:solidFill>
                            <a:srgbClr val="FF0000"/>
                          </a:solidFill>
                          <a:latin typeface="Courier New" pitchFamily="49" charset="0"/>
                          <a:cs typeface="Courier New" pitchFamily="49" charset="0"/>
                        </a:rPr>
                        <a:t>	turn = j; </a:t>
                      </a:r>
                    </a:p>
                    <a:p>
                      <a:pPr>
                        <a:buFont typeface="Monotype Sorts" pitchFamily="-84" charset="2"/>
                        <a:buNone/>
                      </a:pPr>
                      <a:r>
                        <a:rPr lang="en-US" altLang="en-US" sz="1200" b="1" dirty="0" smtClean="0">
                          <a:solidFill>
                            <a:srgbClr val="FF0000"/>
                          </a:solidFill>
                          <a:latin typeface="Courier New" pitchFamily="49" charset="0"/>
                          <a:cs typeface="Courier New" pitchFamily="49" charset="0"/>
                        </a:rPr>
                        <a:t>while (flag[j] &amp;&amp; turn = = j); </a:t>
                      </a:r>
                    </a:p>
                    <a:p>
                      <a:pPr>
                        <a:buFont typeface="Monotype Sorts" pitchFamily="-84" charset="2"/>
                        <a:buNone/>
                      </a:pPr>
                      <a:r>
                        <a:rPr lang="en-US" altLang="en-US" sz="1200" b="1" dirty="0" smtClean="0">
                          <a:solidFill>
                            <a:srgbClr val="FF0000"/>
                          </a:solidFill>
                          <a:latin typeface="Courier New" pitchFamily="49" charset="0"/>
                          <a:cs typeface="Courier New" pitchFamily="49" charset="0"/>
                        </a:rPr>
                        <a:t>critical section </a:t>
                      </a:r>
                    </a:p>
                    <a:p>
                      <a:pPr>
                        <a:buFont typeface="Monotype Sorts" pitchFamily="-84" charset="2"/>
                        <a:buNone/>
                      </a:pPr>
                      <a:r>
                        <a:rPr lang="en-US" altLang="en-US" sz="1200" b="1" dirty="0" smtClean="0">
                          <a:solidFill>
                            <a:srgbClr val="FF0000"/>
                          </a:solidFill>
                          <a:latin typeface="Courier New" pitchFamily="49" charset="0"/>
                          <a:cs typeface="Courier New" pitchFamily="49" charset="0"/>
                        </a:rPr>
                        <a:t>flag[</a:t>
                      </a:r>
                      <a:r>
                        <a:rPr lang="en-US" altLang="en-US" sz="1200" b="1" dirty="0" err="1" smtClean="0">
                          <a:solidFill>
                            <a:srgbClr val="FF0000"/>
                          </a:solidFill>
                          <a:latin typeface="Courier New" pitchFamily="49" charset="0"/>
                          <a:cs typeface="Courier New" pitchFamily="49" charset="0"/>
                        </a:rPr>
                        <a:t>i</a:t>
                      </a:r>
                      <a:r>
                        <a:rPr lang="en-US" altLang="en-US" sz="1200" b="1" dirty="0" smtClean="0">
                          <a:solidFill>
                            <a:srgbClr val="FF0000"/>
                          </a:solidFill>
                          <a:latin typeface="Courier New" pitchFamily="49" charset="0"/>
                          <a:cs typeface="Courier New" pitchFamily="49" charset="0"/>
                        </a:rPr>
                        <a:t>] = false; </a:t>
                      </a:r>
                    </a:p>
                    <a:p>
                      <a:pPr>
                        <a:buFont typeface="Monotype Sorts" pitchFamily="-84" charset="2"/>
                        <a:buNone/>
                      </a:pPr>
                      <a:r>
                        <a:rPr lang="en-US" altLang="en-US" sz="1200" b="1" dirty="0" smtClean="0">
                          <a:solidFill>
                            <a:srgbClr val="FF0000"/>
                          </a:solidFill>
                          <a:latin typeface="Courier New" pitchFamily="49" charset="0"/>
                          <a:cs typeface="Courier New" pitchFamily="49" charset="0"/>
                        </a:rPr>
                        <a:t>remainder section </a:t>
                      </a:r>
                    </a:p>
                    <a:p>
                      <a:pPr>
                        <a:buFont typeface="Monotype Sorts" pitchFamily="-84" charset="2"/>
                        <a:buNone/>
                      </a:pPr>
                      <a:r>
                        <a:rPr lang="en-US" altLang="en-US" sz="1200" b="1" dirty="0" smtClean="0">
                          <a:solidFill>
                            <a:srgbClr val="FF0000"/>
                          </a:solidFill>
                          <a:latin typeface="Courier New" pitchFamily="49" charset="0"/>
                          <a:cs typeface="Courier New" pitchFamily="49" charset="0"/>
                        </a:rPr>
                        <a:t>} while (true); </a:t>
                      </a:r>
                    </a:p>
                    <a:p>
                      <a:pPr>
                        <a:buFont typeface="Monotype Sorts" pitchFamily="-84" charset="2"/>
                        <a:buNone/>
                      </a:pPr>
                      <a:endParaRPr lang="en-US" altLang="en-US" sz="1200" dirty="0" smtClean="0">
                        <a:solidFill>
                          <a:srgbClr val="0000FF"/>
                        </a:solidFill>
                      </a:endParaRPr>
                    </a:p>
                  </a:txBody>
                  <a:tcPr marL="68580" marR="68580" marT="0" marB="0">
                    <a:noFill/>
                  </a:tcPr>
                </a:tc>
                <a:tc>
                  <a:txBody>
                    <a:bodyPr/>
                    <a:lstStyle/>
                    <a:p>
                      <a:pPr>
                        <a:buFont typeface="Monotype Sorts" pitchFamily="-84" charset="2"/>
                        <a:buNone/>
                      </a:pPr>
                      <a:r>
                        <a:rPr lang="en-US" altLang="en-US" sz="1200" b="1" dirty="0" smtClean="0">
                          <a:solidFill>
                            <a:srgbClr val="000000"/>
                          </a:solidFill>
                          <a:latin typeface="Courier New" pitchFamily="49" charset="0"/>
                          <a:cs typeface="Courier New" pitchFamily="49" charset="0"/>
                        </a:rPr>
                        <a:t>do { </a:t>
                      </a:r>
                    </a:p>
                    <a:p>
                      <a:pPr>
                        <a:buFont typeface="Monotype Sorts" pitchFamily="-84" charset="2"/>
                        <a:buNone/>
                      </a:pPr>
                      <a:r>
                        <a:rPr lang="en-US" altLang="en-US" sz="1200" b="1" dirty="0" smtClean="0">
                          <a:solidFill>
                            <a:srgbClr val="000000"/>
                          </a:solidFill>
                          <a:latin typeface="Courier New" pitchFamily="49" charset="0"/>
                          <a:cs typeface="Courier New" pitchFamily="49" charset="0"/>
                        </a:rPr>
                        <a:t>flag[j] = true; </a:t>
                      </a:r>
                    </a:p>
                    <a:p>
                      <a:pPr>
                        <a:buFont typeface="Monotype Sorts" pitchFamily="-84" charset="2"/>
                        <a:buNone/>
                      </a:pPr>
                      <a:r>
                        <a:rPr lang="en-US" altLang="en-US" sz="1200" b="1" dirty="0" smtClean="0">
                          <a:solidFill>
                            <a:srgbClr val="000000"/>
                          </a:solidFill>
                          <a:latin typeface="Courier New" pitchFamily="49" charset="0"/>
                          <a:cs typeface="Courier New" pitchFamily="49" charset="0"/>
                        </a:rPr>
                        <a:t>	turn = </a:t>
                      </a:r>
                      <a:r>
                        <a:rPr lang="en-US" altLang="en-US" sz="1200" b="1" dirty="0" err="1" smtClean="0">
                          <a:solidFill>
                            <a:srgbClr val="000000"/>
                          </a:solidFill>
                          <a:latin typeface="Courier New" pitchFamily="49" charset="0"/>
                          <a:cs typeface="Courier New" pitchFamily="49" charset="0"/>
                        </a:rPr>
                        <a:t>i</a:t>
                      </a:r>
                      <a:r>
                        <a:rPr lang="en-US" altLang="en-US" sz="1200" b="1" dirty="0" smtClean="0">
                          <a:solidFill>
                            <a:srgbClr val="000000"/>
                          </a:solidFill>
                          <a:latin typeface="Courier New" pitchFamily="49" charset="0"/>
                          <a:cs typeface="Courier New" pitchFamily="49" charset="0"/>
                        </a:rPr>
                        <a:t>; </a:t>
                      </a:r>
                    </a:p>
                    <a:p>
                      <a:pPr>
                        <a:buFont typeface="Monotype Sorts" pitchFamily="-84" charset="2"/>
                        <a:buNone/>
                      </a:pPr>
                      <a:r>
                        <a:rPr lang="en-US" altLang="en-US" sz="1200" b="1" dirty="0" smtClean="0">
                          <a:solidFill>
                            <a:srgbClr val="000000"/>
                          </a:solidFill>
                          <a:latin typeface="Courier New" pitchFamily="49" charset="0"/>
                          <a:cs typeface="Courier New" pitchFamily="49" charset="0"/>
                        </a:rPr>
                        <a:t>while (flag[</a:t>
                      </a:r>
                      <a:r>
                        <a:rPr lang="en-US" altLang="en-US" sz="1200" b="1" dirty="0" err="1" smtClean="0">
                          <a:solidFill>
                            <a:srgbClr val="000000"/>
                          </a:solidFill>
                          <a:latin typeface="Courier New" pitchFamily="49" charset="0"/>
                          <a:cs typeface="Courier New" pitchFamily="49" charset="0"/>
                        </a:rPr>
                        <a:t>i</a:t>
                      </a:r>
                      <a:r>
                        <a:rPr lang="en-US" altLang="en-US" sz="1200" b="1" dirty="0" smtClean="0">
                          <a:solidFill>
                            <a:srgbClr val="000000"/>
                          </a:solidFill>
                          <a:latin typeface="Courier New" pitchFamily="49" charset="0"/>
                          <a:cs typeface="Courier New" pitchFamily="49" charset="0"/>
                        </a:rPr>
                        <a:t>] &amp;&amp; turn = = </a:t>
                      </a:r>
                      <a:r>
                        <a:rPr lang="en-US" altLang="en-US" sz="1200" b="1" dirty="0" err="1" smtClean="0">
                          <a:solidFill>
                            <a:srgbClr val="000000"/>
                          </a:solidFill>
                          <a:latin typeface="Courier New" pitchFamily="49" charset="0"/>
                          <a:cs typeface="Courier New" pitchFamily="49" charset="0"/>
                        </a:rPr>
                        <a:t>i</a:t>
                      </a:r>
                      <a:r>
                        <a:rPr lang="en-US" altLang="en-US" sz="1200" b="1" dirty="0" smtClean="0">
                          <a:solidFill>
                            <a:srgbClr val="000000"/>
                          </a:solidFill>
                          <a:latin typeface="Courier New" pitchFamily="49" charset="0"/>
                          <a:cs typeface="Courier New" pitchFamily="49" charset="0"/>
                        </a:rPr>
                        <a:t>); </a:t>
                      </a:r>
                    </a:p>
                    <a:p>
                      <a:pPr>
                        <a:buFont typeface="Monotype Sorts" pitchFamily="-84" charset="2"/>
                        <a:buNone/>
                      </a:pPr>
                      <a:r>
                        <a:rPr lang="en-US" altLang="en-US" sz="1200" b="1" dirty="0" smtClean="0">
                          <a:solidFill>
                            <a:srgbClr val="000000"/>
                          </a:solidFill>
                          <a:latin typeface="Courier New" pitchFamily="49" charset="0"/>
                          <a:cs typeface="Courier New" pitchFamily="49" charset="0"/>
                        </a:rPr>
                        <a:t>critical section </a:t>
                      </a:r>
                    </a:p>
                    <a:p>
                      <a:pPr>
                        <a:buFont typeface="Monotype Sorts" pitchFamily="-84" charset="2"/>
                        <a:buNone/>
                      </a:pPr>
                      <a:r>
                        <a:rPr lang="en-US" altLang="en-US" sz="1200" b="1" dirty="0" smtClean="0">
                          <a:solidFill>
                            <a:srgbClr val="000000"/>
                          </a:solidFill>
                          <a:latin typeface="Courier New" pitchFamily="49" charset="0"/>
                          <a:cs typeface="Courier New" pitchFamily="49" charset="0"/>
                        </a:rPr>
                        <a:t>flag[j] = false; </a:t>
                      </a:r>
                    </a:p>
                    <a:p>
                      <a:pPr>
                        <a:buFont typeface="Monotype Sorts" pitchFamily="-84" charset="2"/>
                        <a:buNone/>
                      </a:pPr>
                      <a:r>
                        <a:rPr lang="en-US" altLang="en-US" sz="1200" b="1" dirty="0" smtClean="0">
                          <a:solidFill>
                            <a:srgbClr val="000000"/>
                          </a:solidFill>
                          <a:latin typeface="Courier New" pitchFamily="49" charset="0"/>
                          <a:cs typeface="Courier New" pitchFamily="49" charset="0"/>
                        </a:rPr>
                        <a:t>remainder section </a:t>
                      </a:r>
                    </a:p>
                    <a:p>
                      <a:pPr>
                        <a:buFont typeface="Monotype Sorts" pitchFamily="-84" charset="2"/>
                        <a:buNone/>
                      </a:pPr>
                      <a:r>
                        <a:rPr lang="en-US" altLang="en-US" sz="1200" b="1" dirty="0" smtClean="0">
                          <a:solidFill>
                            <a:srgbClr val="000000"/>
                          </a:solidFill>
                          <a:latin typeface="Courier New" pitchFamily="49" charset="0"/>
                          <a:cs typeface="Courier New" pitchFamily="49" charset="0"/>
                        </a:rPr>
                        <a:t>} while (true); </a:t>
                      </a:r>
                    </a:p>
                    <a:p>
                      <a:pPr>
                        <a:lnSpc>
                          <a:spcPct val="107000"/>
                        </a:lnSpc>
                        <a:spcAft>
                          <a:spcPts val="0"/>
                        </a:spcAft>
                      </a:pP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bl>
          </a:graphicData>
        </a:graphic>
      </p:graphicFrame>
    </p:spTree>
    <p:extLst>
      <p:ext uri="{BB962C8B-B14F-4D97-AF65-F5344CB8AC3E}">
        <p14:creationId xmlns:p14="http://schemas.microsoft.com/office/powerpoint/2010/main" val="34614351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00138" y="277813"/>
            <a:ext cx="7586662" cy="576262"/>
          </a:xfrm>
        </p:spPr>
        <p:txBody>
          <a:bodyPr>
            <a:normAutofit fontScale="90000"/>
          </a:bodyPr>
          <a:lstStyle/>
          <a:p>
            <a:pPr eaLnBrk="1" hangingPunct="1"/>
            <a:r>
              <a:rPr lang="en-US" altLang="en-US" smtClean="0"/>
              <a:t>Peterson</a:t>
            </a:r>
            <a:r>
              <a:rPr lang="ja-JP" altLang="en-US" smtClean="0"/>
              <a:t>’</a:t>
            </a:r>
            <a:r>
              <a:rPr lang="en-US" altLang="ja-JP" smtClean="0"/>
              <a:t>s Solution (Cont.)</a:t>
            </a:r>
            <a:endParaRPr lang="en-US" altLang="en-US" smtClean="0"/>
          </a:p>
        </p:txBody>
      </p:sp>
      <p:sp>
        <p:nvSpPr>
          <p:cNvPr id="17411" name="Rectangle 3"/>
          <p:cNvSpPr>
            <a:spLocks noGrp="1" noChangeArrowheads="1"/>
          </p:cNvSpPr>
          <p:nvPr>
            <p:ph idx="1"/>
          </p:nvPr>
        </p:nvSpPr>
        <p:spPr>
          <a:xfrm>
            <a:off x="806450" y="1233488"/>
            <a:ext cx="7623175" cy="4422775"/>
          </a:xfrm>
        </p:spPr>
        <p:txBody>
          <a:bodyPr>
            <a:normAutofit fontScale="85000" lnSpcReduction="20000"/>
          </a:bodyPr>
          <a:lstStyle/>
          <a:p>
            <a:pPr algn="just"/>
            <a:r>
              <a:rPr lang="en-US" dirty="0"/>
              <a:t>To enter the critical section, process </a:t>
            </a:r>
            <a:r>
              <a:rPr lang="en-US" i="1" dirty="0"/>
              <a:t>Pi </a:t>
            </a:r>
            <a:r>
              <a:rPr lang="en-US" dirty="0"/>
              <a:t>first sets flag[</a:t>
            </a:r>
            <a:r>
              <a:rPr lang="en-US" dirty="0" err="1"/>
              <a:t>i</a:t>
            </a:r>
            <a:r>
              <a:rPr lang="en-US" dirty="0"/>
              <a:t>] to be true </a:t>
            </a:r>
            <a:r>
              <a:rPr lang="en-US" dirty="0" smtClean="0"/>
              <a:t>and then </a:t>
            </a:r>
            <a:r>
              <a:rPr lang="en-US" dirty="0"/>
              <a:t>sets turn to the value j, thereby asserting that if the other process </a:t>
            </a:r>
            <a:r>
              <a:rPr lang="en-US" dirty="0" smtClean="0"/>
              <a:t>wishes to </a:t>
            </a:r>
            <a:r>
              <a:rPr lang="en-US" dirty="0"/>
              <a:t>enter the critical section, it can do so. </a:t>
            </a:r>
            <a:endParaRPr lang="en-US" dirty="0" smtClean="0"/>
          </a:p>
          <a:p>
            <a:pPr algn="just"/>
            <a:r>
              <a:rPr lang="en-US" dirty="0" smtClean="0">
                <a:solidFill>
                  <a:srgbClr val="FF0000"/>
                </a:solidFill>
              </a:rPr>
              <a:t>If </a:t>
            </a:r>
            <a:r>
              <a:rPr lang="en-US" dirty="0">
                <a:solidFill>
                  <a:srgbClr val="FF0000"/>
                </a:solidFill>
              </a:rPr>
              <a:t>both processes try to enter at the </a:t>
            </a:r>
            <a:r>
              <a:rPr lang="en-US" dirty="0" smtClean="0">
                <a:solidFill>
                  <a:srgbClr val="FF0000"/>
                </a:solidFill>
              </a:rPr>
              <a:t>same time</a:t>
            </a:r>
            <a:r>
              <a:rPr lang="en-US" dirty="0">
                <a:solidFill>
                  <a:srgbClr val="FF0000"/>
                </a:solidFill>
              </a:rPr>
              <a:t>, turn will be set to both </a:t>
            </a:r>
            <a:r>
              <a:rPr lang="en-US" dirty="0" err="1">
                <a:solidFill>
                  <a:srgbClr val="FF0000"/>
                </a:solidFill>
              </a:rPr>
              <a:t>i</a:t>
            </a:r>
            <a:r>
              <a:rPr lang="en-US" dirty="0">
                <a:solidFill>
                  <a:srgbClr val="FF0000"/>
                </a:solidFill>
              </a:rPr>
              <a:t> and j at roughly the same time. </a:t>
            </a:r>
            <a:endParaRPr lang="en-US" dirty="0" smtClean="0">
              <a:solidFill>
                <a:srgbClr val="FF0000"/>
              </a:solidFill>
            </a:endParaRPr>
          </a:p>
          <a:p>
            <a:pPr lvl="1" algn="just"/>
            <a:r>
              <a:rPr lang="en-US" b="1" dirty="0" smtClean="0">
                <a:solidFill>
                  <a:srgbClr val="00B050"/>
                </a:solidFill>
              </a:rPr>
              <a:t>Only </a:t>
            </a:r>
            <a:r>
              <a:rPr lang="en-US" b="1" dirty="0">
                <a:solidFill>
                  <a:srgbClr val="00B050"/>
                </a:solidFill>
              </a:rPr>
              <a:t>one of </a:t>
            </a:r>
            <a:r>
              <a:rPr lang="en-US" b="1" dirty="0" smtClean="0">
                <a:solidFill>
                  <a:srgbClr val="00B050"/>
                </a:solidFill>
              </a:rPr>
              <a:t>these assignments </a:t>
            </a:r>
            <a:r>
              <a:rPr lang="en-US" b="1" dirty="0">
                <a:solidFill>
                  <a:srgbClr val="00B050"/>
                </a:solidFill>
              </a:rPr>
              <a:t>will last; </a:t>
            </a:r>
            <a:r>
              <a:rPr lang="en-US" dirty="0"/>
              <a:t>the other will occur but will be overwritten immediately.</a:t>
            </a:r>
          </a:p>
          <a:p>
            <a:pPr algn="just"/>
            <a:r>
              <a:rPr lang="en-US" dirty="0"/>
              <a:t>The eventual value of turn determines which of the two processes is </a:t>
            </a:r>
            <a:r>
              <a:rPr lang="en-US" dirty="0" smtClean="0"/>
              <a:t>allowed to </a:t>
            </a:r>
            <a:r>
              <a:rPr lang="en-US" dirty="0"/>
              <a:t>enter its critical section first.</a:t>
            </a:r>
            <a:endParaRPr lang="en-US" altLang="en-US" dirty="0" smtClean="0"/>
          </a:p>
        </p:txBody>
      </p:sp>
    </p:spTree>
    <p:extLst>
      <p:ext uri="{BB962C8B-B14F-4D97-AF65-F5344CB8AC3E}">
        <p14:creationId xmlns:p14="http://schemas.microsoft.com/office/powerpoint/2010/main" val="41804739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00138" y="277813"/>
            <a:ext cx="7586662" cy="576262"/>
          </a:xfrm>
        </p:spPr>
        <p:txBody>
          <a:bodyPr>
            <a:normAutofit fontScale="90000"/>
          </a:bodyPr>
          <a:lstStyle/>
          <a:p>
            <a:pPr eaLnBrk="1" hangingPunct="1"/>
            <a:r>
              <a:rPr lang="en-US" altLang="en-US" dirty="0" smtClean="0"/>
              <a:t>Peterson</a:t>
            </a:r>
            <a:r>
              <a:rPr lang="ja-JP" altLang="en-US" dirty="0" smtClean="0"/>
              <a:t>’</a:t>
            </a:r>
            <a:r>
              <a:rPr lang="en-US" altLang="ja-JP" dirty="0" smtClean="0"/>
              <a:t>s Solution (Cont.)</a:t>
            </a:r>
            <a:endParaRPr lang="en-US" altLang="en-US" dirty="0" smtClean="0"/>
          </a:p>
        </p:txBody>
      </p:sp>
      <p:sp>
        <p:nvSpPr>
          <p:cNvPr id="17411" name="Rectangle 3"/>
          <p:cNvSpPr>
            <a:spLocks noGrp="1" noChangeArrowheads="1"/>
          </p:cNvSpPr>
          <p:nvPr>
            <p:ph idx="1"/>
          </p:nvPr>
        </p:nvSpPr>
        <p:spPr>
          <a:xfrm>
            <a:off x="806451" y="980728"/>
            <a:ext cx="7509966" cy="5616624"/>
          </a:xfrm>
        </p:spPr>
        <p:txBody>
          <a:bodyPr>
            <a:noAutofit/>
          </a:bodyPr>
          <a:lstStyle/>
          <a:p>
            <a:pPr algn="just"/>
            <a:r>
              <a:rPr lang="en-US" altLang="en-US" sz="2000" dirty="0" smtClean="0">
                <a:solidFill>
                  <a:srgbClr val="000000"/>
                </a:solidFill>
              </a:rPr>
              <a:t>Provable that the three  CS requirements are met:</a:t>
            </a:r>
          </a:p>
          <a:p>
            <a:pPr algn="just">
              <a:buFont typeface="Monotype Sorts" pitchFamily="-84" charset="2"/>
              <a:buNone/>
            </a:pPr>
            <a:r>
              <a:rPr lang="en-US" altLang="en-US" sz="2000" dirty="0" smtClean="0">
                <a:solidFill>
                  <a:srgbClr val="000000"/>
                </a:solidFill>
              </a:rPr>
              <a:t>        1.   Mutual exclusion is preserved</a:t>
            </a:r>
          </a:p>
          <a:p>
            <a:pPr algn="just">
              <a:buFont typeface="Monotype Sorts" pitchFamily="-84" charset="2"/>
              <a:buNone/>
            </a:pPr>
            <a:r>
              <a:rPr lang="en-US" altLang="en-US" sz="2000" dirty="0" smtClean="0">
                <a:solidFill>
                  <a:srgbClr val="000000"/>
                </a:solidFill>
              </a:rPr>
              <a:t>                </a:t>
            </a:r>
            <a:r>
              <a:rPr lang="en-US" altLang="en-US" sz="1200" b="1" dirty="0" smtClean="0">
                <a:solidFill>
                  <a:srgbClr val="000000"/>
                </a:solidFill>
                <a:latin typeface="Courier New" pitchFamily="49" charset="0"/>
                <a:cs typeface="Courier New" pitchFamily="49" charset="0"/>
              </a:rPr>
              <a:t>P</a:t>
            </a:r>
            <a:r>
              <a:rPr lang="en-US" altLang="en-US" sz="1200" b="1" baseline="-25000" dirty="0" smtClean="0">
                <a:solidFill>
                  <a:srgbClr val="000000"/>
                </a:solidFill>
                <a:latin typeface="Courier New" pitchFamily="49" charset="0"/>
                <a:cs typeface="Courier New" pitchFamily="49" charset="0"/>
              </a:rPr>
              <a:t>i</a:t>
            </a:r>
            <a:r>
              <a:rPr lang="en-US" altLang="en-US" sz="2000" b="1" dirty="0" smtClean="0">
                <a:solidFill>
                  <a:srgbClr val="000000"/>
                </a:solidFill>
                <a:latin typeface="Courier New" pitchFamily="49" charset="0"/>
                <a:cs typeface="Courier New" pitchFamily="49" charset="0"/>
              </a:rPr>
              <a:t> </a:t>
            </a:r>
            <a:r>
              <a:rPr lang="en-US" altLang="en-US" sz="2000" dirty="0" smtClean="0">
                <a:solidFill>
                  <a:srgbClr val="000000"/>
                </a:solidFill>
              </a:rPr>
              <a:t>enters CS only if:</a:t>
            </a:r>
          </a:p>
          <a:p>
            <a:pPr algn="just">
              <a:buFont typeface="Monotype Sorts" pitchFamily="-84" charset="2"/>
              <a:buNone/>
            </a:pPr>
            <a:r>
              <a:rPr lang="en-US" altLang="en-US" sz="2000" dirty="0" smtClean="0">
                <a:solidFill>
                  <a:srgbClr val="000000"/>
                </a:solidFill>
              </a:rPr>
              <a:t>                      </a:t>
            </a:r>
            <a:r>
              <a:rPr lang="en-US" altLang="en-US" sz="1200" dirty="0" smtClean="0">
                <a:solidFill>
                  <a:srgbClr val="000000"/>
                </a:solidFill>
              </a:rPr>
              <a:t>either </a:t>
            </a:r>
            <a:r>
              <a:rPr lang="en-US" altLang="en-US" sz="1200" b="1" dirty="0" smtClean="0">
                <a:solidFill>
                  <a:srgbClr val="000000"/>
                </a:solidFill>
                <a:latin typeface="Courier New" pitchFamily="49" charset="0"/>
                <a:cs typeface="Courier New" pitchFamily="49" charset="0"/>
              </a:rPr>
              <a:t>flag[j] = false </a:t>
            </a:r>
            <a:r>
              <a:rPr lang="en-US" altLang="en-US" sz="1200" dirty="0" smtClean="0">
                <a:solidFill>
                  <a:srgbClr val="000000"/>
                </a:solidFill>
              </a:rPr>
              <a:t>or</a:t>
            </a:r>
            <a:r>
              <a:rPr lang="en-US" altLang="en-US" sz="1200" b="1" dirty="0" smtClean="0">
                <a:solidFill>
                  <a:srgbClr val="000000"/>
                </a:solidFill>
                <a:latin typeface="Courier New" pitchFamily="49" charset="0"/>
                <a:cs typeface="Courier New" pitchFamily="49" charset="0"/>
              </a:rPr>
              <a:t> turn = </a:t>
            </a:r>
            <a:r>
              <a:rPr lang="en-US" altLang="en-US" sz="1200" b="1" dirty="0" err="1" smtClean="0">
                <a:solidFill>
                  <a:srgbClr val="000000"/>
                </a:solidFill>
                <a:latin typeface="Courier New" pitchFamily="49" charset="0"/>
                <a:cs typeface="Courier New" pitchFamily="49" charset="0"/>
              </a:rPr>
              <a:t>i</a:t>
            </a:r>
            <a:endParaRPr lang="en-US" altLang="en-US" sz="2000" dirty="0" smtClean="0">
              <a:solidFill>
                <a:srgbClr val="000000"/>
              </a:solidFill>
            </a:endParaRPr>
          </a:p>
          <a:p>
            <a:pPr algn="just">
              <a:buFont typeface="Monotype Sorts" pitchFamily="-84" charset="2"/>
              <a:buNone/>
            </a:pPr>
            <a:r>
              <a:rPr lang="en-US" altLang="en-US" sz="2000" dirty="0" smtClean="0">
                <a:solidFill>
                  <a:srgbClr val="000000"/>
                </a:solidFill>
              </a:rPr>
              <a:t>        2.   Progress requirement is satisfied:</a:t>
            </a:r>
          </a:p>
          <a:p>
            <a:pPr lvl="1" algn="just"/>
            <a:r>
              <a:rPr lang="en-US" sz="1600" dirty="0" smtClean="0"/>
              <a:t>Process </a:t>
            </a:r>
            <a:r>
              <a:rPr lang="en-US" sz="1600" i="1" dirty="0"/>
              <a:t>Pi </a:t>
            </a:r>
            <a:r>
              <a:rPr lang="en-US" sz="1600" dirty="0"/>
              <a:t>can be prevented </a:t>
            </a:r>
            <a:r>
              <a:rPr lang="en-US" sz="1600" dirty="0" smtClean="0"/>
              <a:t>from entering the critical section only if it is stuck in the while loop with the condition flag[j</a:t>
            </a:r>
            <a:r>
              <a:rPr lang="en-US" sz="1600" dirty="0"/>
              <a:t>] == true and turn == j; this loop is the only one possible. </a:t>
            </a:r>
            <a:endParaRPr lang="en-US" sz="1600" dirty="0" smtClean="0"/>
          </a:p>
          <a:p>
            <a:pPr lvl="1" algn="just"/>
            <a:r>
              <a:rPr lang="en-US" sz="1600" dirty="0" smtClean="0"/>
              <a:t>If </a:t>
            </a:r>
            <a:r>
              <a:rPr lang="en-US" sz="1600" i="1" dirty="0" err="1"/>
              <a:t>Pj</a:t>
            </a:r>
            <a:r>
              <a:rPr lang="en-US" sz="1600" i="1" dirty="0"/>
              <a:t> </a:t>
            </a:r>
            <a:r>
              <a:rPr lang="en-US" sz="1600" dirty="0"/>
              <a:t>is </a:t>
            </a:r>
            <a:r>
              <a:rPr lang="en-US" sz="1600" dirty="0" smtClean="0"/>
              <a:t>not ready </a:t>
            </a:r>
            <a:r>
              <a:rPr lang="en-US" sz="1600" dirty="0"/>
              <a:t>to enter the critical section, then flag[j] == false, and </a:t>
            </a:r>
            <a:r>
              <a:rPr lang="en-US" sz="1600" i="1" dirty="0"/>
              <a:t>Pi </a:t>
            </a:r>
            <a:r>
              <a:rPr lang="en-US" sz="1600" dirty="0"/>
              <a:t>can enter </a:t>
            </a:r>
            <a:r>
              <a:rPr lang="en-US" sz="1600" dirty="0" smtClean="0"/>
              <a:t>its critical </a:t>
            </a:r>
            <a:r>
              <a:rPr lang="en-US" sz="1600" dirty="0"/>
              <a:t>section</a:t>
            </a:r>
            <a:r>
              <a:rPr lang="en-US" sz="1600" dirty="0" smtClean="0"/>
              <a:t>.</a:t>
            </a:r>
          </a:p>
          <a:p>
            <a:pPr lvl="1" algn="just"/>
            <a:r>
              <a:rPr lang="en-US" sz="1600" dirty="0" smtClean="0"/>
              <a:t>If </a:t>
            </a:r>
            <a:r>
              <a:rPr lang="en-US" sz="1600" i="1" dirty="0" err="1"/>
              <a:t>Pj</a:t>
            </a:r>
            <a:r>
              <a:rPr lang="en-US" sz="1600" i="1" dirty="0"/>
              <a:t> </a:t>
            </a:r>
            <a:r>
              <a:rPr lang="en-US" sz="1600" dirty="0"/>
              <a:t>has set flag[j] to true and is also executing in its </a:t>
            </a:r>
            <a:r>
              <a:rPr lang="en-US" sz="1600" dirty="0" smtClean="0"/>
              <a:t>while statement</a:t>
            </a:r>
            <a:r>
              <a:rPr lang="en-US" sz="1600" dirty="0"/>
              <a:t>, then either turn == </a:t>
            </a:r>
            <a:r>
              <a:rPr lang="en-US" sz="1600" dirty="0" err="1"/>
              <a:t>i</a:t>
            </a:r>
            <a:r>
              <a:rPr lang="en-US" sz="1600" dirty="0"/>
              <a:t> or turn == j. If turn == </a:t>
            </a:r>
            <a:r>
              <a:rPr lang="en-US" sz="1600" dirty="0" err="1"/>
              <a:t>i</a:t>
            </a:r>
            <a:r>
              <a:rPr lang="en-US" sz="1600" dirty="0"/>
              <a:t>, then </a:t>
            </a:r>
            <a:r>
              <a:rPr lang="en-US" sz="1600" i="1" dirty="0"/>
              <a:t>Pi </a:t>
            </a:r>
            <a:r>
              <a:rPr lang="en-US" sz="1600" dirty="0"/>
              <a:t>will </a:t>
            </a:r>
            <a:r>
              <a:rPr lang="en-US" sz="1600" dirty="0" smtClean="0"/>
              <a:t>enter the </a:t>
            </a:r>
            <a:r>
              <a:rPr lang="en-US" sz="1600" dirty="0"/>
              <a:t>critical section. If turn == j, then </a:t>
            </a:r>
            <a:r>
              <a:rPr lang="en-US" sz="1600" i="1" dirty="0" err="1"/>
              <a:t>Pj</a:t>
            </a:r>
            <a:r>
              <a:rPr lang="en-US" sz="1600" i="1" dirty="0"/>
              <a:t> </a:t>
            </a:r>
            <a:r>
              <a:rPr lang="en-US" sz="1600" dirty="0"/>
              <a:t>will enter the critical section. However</a:t>
            </a:r>
            <a:r>
              <a:rPr lang="en-US" sz="1600" dirty="0" smtClean="0"/>
              <a:t>, once </a:t>
            </a:r>
            <a:r>
              <a:rPr lang="en-US" sz="1600" i="1" dirty="0" err="1"/>
              <a:t>Pj</a:t>
            </a:r>
            <a:r>
              <a:rPr lang="en-US" sz="1600" i="1" dirty="0"/>
              <a:t> </a:t>
            </a:r>
            <a:r>
              <a:rPr lang="en-US" sz="1600" dirty="0"/>
              <a:t>exits its critical section, it will reset flag[j] to false, allowing </a:t>
            </a:r>
            <a:r>
              <a:rPr lang="en-US" sz="1600" i="1" dirty="0"/>
              <a:t>Pi </a:t>
            </a:r>
            <a:r>
              <a:rPr lang="en-US" sz="1600" dirty="0" smtClean="0"/>
              <a:t>to enter </a:t>
            </a:r>
            <a:r>
              <a:rPr lang="en-US" sz="1600" dirty="0"/>
              <a:t>its critical section. </a:t>
            </a:r>
            <a:endParaRPr lang="en-US" sz="1600" dirty="0" smtClean="0"/>
          </a:p>
          <a:p>
            <a:pPr lvl="1" algn="just"/>
            <a:r>
              <a:rPr lang="en-US" altLang="en-US" sz="2000" dirty="0" smtClean="0">
                <a:solidFill>
                  <a:srgbClr val="000000"/>
                </a:solidFill>
              </a:rPr>
              <a:t>3.   Bounded-waiting requirement is met</a:t>
            </a:r>
          </a:p>
          <a:p>
            <a:pPr lvl="2" algn="just"/>
            <a:r>
              <a:rPr lang="en-US" sz="1600" dirty="0"/>
              <a:t>If </a:t>
            </a:r>
            <a:r>
              <a:rPr lang="en-US" sz="1600" i="1" dirty="0" err="1"/>
              <a:t>Pj</a:t>
            </a:r>
            <a:r>
              <a:rPr lang="en-US" sz="1600" i="1" dirty="0"/>
              <a:t> </a:t>
            </a:r>
            <a:r>
              <a:rPr lang="en-US" sz="1600" dirty="0"/>
              <a:t>resets flag[j] to true, it must also set turn to </a:t>
            </a:r>
            <a:r>
              <a:rPr lang="en-US" sz="1600" dirty="0" err="1"/>
              <a:t>i</a:t>
            </a:r>
            <a:r>
              <a:rPr lang="en-US" sz="1600" dirty="0"/>
              <a:t>. Thus, </a:t>
            </a:r>
            <a:r>
              <a:rPr lang="en-US" sz="1600" b="1" dirty="0">
                <a:solidFill>
                  <a:srgbClr val="00B050"/>
                </a:solidFill>
              </a:rPr>
              <a:t>since </a:t>
            </a:r>
            <a:r>
              <a:rPr lang="en-US" sz="1600" b="1" i="1" dirty="0">
                <a:solidFill>
                  <a:srgbClr val="00B050"/>
                </a:solidFill>
              </a:rPr>
              <a:t>Pi </a:t>
            </a:r>
            <a:r>
              <a:rPr lang="en-US" sz="1600" b="1" dirty="0">
                <a:solidFill>
                  <a:srgbClr val="00B050"/>
                </a:solidFill>
              </a:rPr>
              <a:t>does not change the value of the variable turn while executing the while statement, </a:t>
            </a:r>
            <a:r>
              <a:rPr lang="en-US" sz="1600" b="1" i="1" dirty="0">
                <a:solidFill>
                  <a:srgbClr val="00B050"/>
                </a:solidFill>
              </a:rPr>
              <a:t>Pi </a:t>
            </a:r>
            <a:r>
              <a:rPr lang="en-US" sz="1600" b="1" dirty="0">
                <a:solidFill>
                  <a:srgbClr val="00B050"/>
                </a:solidFill>
              </a:rPr>
              <a:t>will enter the critical section (progress) </a:t>
            </a:r>
            <a:r>
              <a:rPr lang="en-US" sz="1600" dirty="0"/>
              <a:t>after at most one entry by </a:t>
            </a:r>
            <a:r>
              <a:rPr lang="en-US" sz="1600" i="1" dirty="0" err="1"/>
              <a:t>Pj</a:t>
            </a:r>
            <a:r>
              <a:rPr lang="en-US" sz="1600" i="1" dirty="0"/>
              <a:t> </a:t>
            </a:r>
            <a:r>
              <a:rPr lang="en-US" sz="1600" dirty="0"/>
              <a:t>(bounded waiting).</a:t>
            </a:r>
            <a:endParaRPr lang="en-US" altLang="en-US" sz="1600" dirty="0">
              <a:solidFill>
                <a:srgbClr val="000000"/>
              </a:solidFill>
            </a:endParaRPr>
          </a:p>
          <a:p>
            <a:pPr lvl="1" algn="just"/>
            <a:endParaRPr lang="en-US" altLang="en-US" sz="1000" dirty="0" smtClean="0">
              <a:solidFill>
                <a:srgbClr val="000000"/>
              </a:solidFill>
            </a:endParaRPr>
          </a:p>
          <a:p>
            <a:pPr algn="just">
              <a:lnSpc>
                <a:spcPct val="90000"/>
              </a:lnSpc>
            </a:pPr>
            <a:endParaRPr lang="en-US" altLang="en-US" sz="2000" dirty="0" smtClean="0"/>
          </a:p>
        </p:txBody>
      </p:sp>
    </p:spTree>
    <p:extLst>
      <p:ext uri="{BB962C8B-B14F-4D97-AF65-F5344CB8AC3E}">
        <p14:creationId xmlns:p14="http://schemas.microsoft.com/office/powerpoint/2010/main" val="25300859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100138" y="277813"/>
            <a:ext cx="7586662" cy="576262"/>
          </a:xfrm>
        </p:spPr>
        <p:txBody>
          <a:bodyPr>
            <a:normAutofit fontScale="90000"/>
          </a:bodyPr>
          <a:lstStyle/>
          <a:p>
            <a:pPr eaLnBrk="1" hangingPunct="1"/>
            <a:r>
              <a:rPr lang="en-US" altLang="en-US" smtClean="0"/>
              <a:t>Synchronization Hardware</a:t>
            </a:r>
          </a:p>
        </p:txBody>
      </p:sp>
      <p:sp>
        <p:nvSpPr>
          <p:cNvPr id="18435" name="Rectangle 3"/>
          <p:cNvSpPr>
            <a:spLocks noGrp="1" noChangeArrowheads="1"/>
          </p:cNvSpPr>
          <p:nvPr>
            <p:ph idx="1"/>
          </p:nvPr>
        </p:nvSpPr>
        <p:spPr>
          <a:xfrm>
            <a:off x="908050" y="1233488"/>
            <a:ext cx="7161213" cy="4422775"/>
          </a:xfrm>
        </p:spPr>
        <p:txBody>
          <a:bodyPr>
            <a:normAutofit fontScale="70000" lnSpcReduction="20000"/>
          </a:bodyPr>
          <a:lstStyle/>
          <a:p>
            <a:pPr algn="just">
              <a:lnSpc>
                <a:spcPct val="90000"/>
              </a:lnSpc>
              <a:tabLst>
                <a:tab pos="739775" algn="l"/>
                <a:tab pos="1020763" algn="l"/>
                <a:tab pos="1257300" algn="l"/>
              </a:tabLst>
            </a:pPr>
            <a:r>
              <a:rPr lang="en-US" altLang="en-US" dirty="0" smtClean="0"/>
              <a:t>Many systems provide hardware support for implementing the critical section code.</a:t>
            </a:r>
          </a:p>
          <a:p>
            <a:pPr algn="just">
              <a:lnSpc>
                <a:spcPct val="90000"/>
              </a:lnSpc>
              <a:tabLst>
                <a:tab pos="739775" algn="l"/>
                <a:tab pos="1020763" algn="l"/>
                <a:tab pos="1257300" algn="l"/>
              </a:tabLst>
            </a:pPr>
            <a:r>
              <a:rPr lang="en-US" altLang="en-US" dirty="0" smtClean="0"/>
              <a:t>All solutions are based on idea of </a:t>
            </a:r>
            <a:r>
              <a:rPr lang="en-US" altLang="en-US" b="1" dirty="0" smtClean="0">
                <a:solidFill>
                  <a:srgbClr val="3366FF"/>
                </a:solidFill>
              </a:rPr>
              <a:t>locking</a:t>
            </a:r>
          </a:p>
          <a:p>
            <a:pPr lvl="1" algn="just">
              <a:lnSpc>
                <a:spcPct val="90000"/>
              </a:lnSpc>
              <a:tabLst>
                <a:tab pos="739775" algn="l"/>
                <a:tab pos="1020763" algn="l"/>
                <a:tab pos="1257300" algn="l"/>
              </a:tabLst>
            </a:pPr>
            <a:r>
              <a:rPr lang="en-US" altLang="en-US" dirty="0" smtClean="0"/>
              <a:t>Protecting critical regions via locks</a:t>
            </a:r>
          </a:p>
          <a:p>
            <a:pPr algn="just"/>
            <a:r>
              <a:rPr lang="en-US" b="1" dirty="0" smtClean="0">
                <a:solidFill>
                  <a:srgbClr val="00B050"/>
                </a:solidFill>
              </a:rPr>
              <a:t>Hardware </a:t>
            </a:r>
            <a:r>
              <a:rPr lang="en-US" b="1" dirty="0">
                <a:solidFill>
                  <a:srgbClr val="00B050"/>
                </a:solidFill>
              </a:rPr>
              <a:t>features can make any programming </a:t>
            </a:r>
            <a:r>
              <a:rPr lang="en-US" b="1" dirty="0" smtClean="0">
                <a:solidFill>
                  <a:srgbClr val="00B050"/>
                </a:solidFill>
              </a:rPr>
              <a:t>task easier </a:t>
            </a:r>
            <a:r>
              <a:rPr lang="en-US" b="1" dirty="0">
                <a:solidFill>
                  <a:srgbClr val="00B050"/>
                </a:solidFill>
              </a:rPr>
              <a:t>and improve system efficiency.</a:t>
            </a:r>
            <a:endParaRPr lang="en-US" altLang="en-US" b="1" dirty="0" smtClean="0">
              <a:solidFill>
                <a:srgbClr val="00B050"/>
              </a:solidFill>
            </a:endParaRPr>
          </a:p>
          <a:p>
            <a:pPr algn="just">
              <a:lnSpc>
                <a:spcPct val="90000"/>
              </a:lnSpc>
              <a:tabLst>
                <a:tab pos="739775" algn="l"/>
                <a:tab pos="1020763" algn="l"/>
                <a:tab pos="1257300" algn="l"/>
              </a:tabLst>
            </a:pPr>
            <a:r>
              <a:rPr lang="en-US" altLang="en-US" dirty="0" smtClean="0">
                <a:solidFill>
                  <a:srgbClr val="FF0000"/>
                </a:solidFill>
              </a:rPr>
              <a:t>Uniprocessors</a:t>
            </a:r>
            <a:r>
              <a:rPr lang="en-US" altLang="en-US" dirty="0" smtClean="0"/>
              <a:t> – could disable interrupts</a:t>
            </a:r>
          </a:p>
          <a:p>
            <a:pPr lvl="1" algn="just">
              <a:lnSpc>
                <a:spcPct val="90000"/>
              </a:lnSpc>
              <a:tabLst>
                <a:tab pos="739775" algn="l"/>
                <a:tab pos="1020763" algn="l"/>
                <a:tab pos="1257300" algn="l"/>
              </a:tabLst>
            </a:pPr>
            <a:r>
              <a:rPr lang="en-US" altLang="en-US" dirty="0" smtClean="0"/>
              <a:t>Currently running code would execute without preemption</a:t>
            </a:r>
          </a:p>
          <a:p>
            <a:pPr lvl="1" algn="just">
              <a:lnSpc>
                <a:spcPct val="90000"/>
              </a:lnSpc>
              <a:tabLst>
                <a:tab pos="739775" algn="l"/>
                <a:tab pos="1020763" algn="l"/>
                <a:tab pos="1257300" algn="l"/>
              </a:tabLst>
            </a:pPr>
            <a:r>
              <a:rPr lang="en-US" altLang="en-US" dirty="0" smtClean="0"/>
              <a:t>Generally too inefficient on </a:t>
            </a:r>
            <a:r>
              <a:rPr lang="en-US" altLang="en-US" dirty="0" smtClean="0">
                <a:solidFill>
                  <a:srgbClr val="FF0000"/>
                </a:solidFill>
              </a:rPr>
              <a:t>multiprocessor systems</a:t>
            </a:r>
          </a:p>
          <a:p>
            <a:pPr lvl="2" algn="just">
              <a:lnSpc>
                <a:spcPct val="90000"/>
              </a:lnSpc>
              <a:tabLst>
                <a:tab pos="739775" algn="l"/>
                <a:tab pos="1020763" algn="l"/>
                <a:tab pos="1257300" algn="l"/>
              </a:tabLst>
            </a:pPr>
            <a:r>
              <a:rPr lang="en-US" altLang="en-US" dirty="0" smtClean="0"/>
              <a:t>Operating systems using this not broadly scalable</a:t>
            </a:r>
          </a:p>
          <a:p>
            <a:pPr algn="just">
              <a:lnSpc>
                <a:spcPct val="90000"/>
              </a:lnSpc>
              <a:tabLst>
                <a:tab pos="739775" algn="l"/>
                <a:tab pos="1020763" algn="l"/>
                <a:tab pos="1257300" algn="l"/>
              </a:tabLst>
            </a:pPr>
            <a:r>
              <a:rPr lang="en-US" altLang="en-US" dirty="0" smtClean="0"/>
              <a:t>Modern machines </a:t>
            </a:r>
            <a:r>
              <a:rPr lang="en-US" altLang="en-US" dirty="0" smtClean="0">
                <a:solidFill>
                  <a:srgbClr val="FF0000"/>
                </a:solidFill>
              </a:rPr>
              <a:t>provide special atomic hardware instructions</a:t>
            </a:r>
          </a:p>
          <a:p>
            <a:pPr lvl="2" algn="just">
              <a:lnSpc>
                <a:spcPct val="90000"/>
              </a:lnSpc>
              <a:tabLst>
                <a:tab pos="739775" algn="l"/>
                <a:tab pos="1020763" algn="l"/>
                <a:tab pos="1257300" algn="l"/>
              </a:tabLst>
            </a:pPr>
            <a:r>
              <a:rPr lang="en-US" altLang="en-US" b="1" dirty="0" smtClean="0">
                <a:solidFill>
                  <a:srgbClr val="3366FF"/>
                </a:solidFill>
              </a:rPr>
              <a:t>Atomic</a:t>
            </a:r>
            <a:r>
              <a:rPr lang="en-US" altLang="en-US" dirty="0" smtClean="0"/>
              <a:t> = non-interruptible</a:t>
            </a:r>
          </a:p>
          <a:p>
            <a:pPr lvl="1" algn="just">
              <a:lnSpc>
                <a:spcPct val="90000"/>
              </a:lnSpc>
              <a:tabLst>
                <a:tab pos="739775" algn="l"/>
                <a:tab pos="1020763" algn="l"/>
                <a:tab pos="1257300" algn="l"/>
              </a:tabLst>
            </a:pPr>
            <a:r>
              <a:rPr lang="en-US" altLang="en-US" dirty="0" smtClean="0"/>
              <a:t>Either </a:t>
            </a:r>
            <a:r>
              <a:rPr lang="en-US" altLang="en-US" dirty="0" smtClean="0">
                <a:solidFill>
                  <a:srgbClr val="FF0000"/>
                </a:solidFill>
              </a:rPr>
              <a:t>test</a:t>
            </a:r>
            <a:r>
              <a:rPr lang="en-US" altLang="en-US" dirty="0" smtClean="0"/>
              <a:t> memory word and </a:t>
            </a:r>
            <a:r>
              <a:rPr lang="en-US" altLang="en-US" dirty="0" smtClean="0">
                <a:solidFill>
                  <a:srgbClr val="FF0000"/>
                </a:solidFill>
              </a:rPr>
              <a:t>set</a:t>
            </a:r>
            <a:r>
              <a:rPr lang="en-US" altLang="en-US" dirty="0" smtClean="0"/>
              <a:t> value</a:t>
            </a:r>
          </a:p>
          <a:p>
            <a:pPr lvl="1" algn="just">
              <a:lnSpc>
                <a:spcPct val="90000"/>
              </a:lnSpc>
              <a:tabLst>
                <a:tab pos="739775" algn="l"/>
                <a:tab pos="1020763" algn="l"/>
                <a:tab pos="1257300" algn="l"/>
              </a:tabLst>
            </a:pPr>
            <a:r>
              <a:rPr lang="en-US" altLang="en-US" dirty="0" smtClean="0"/>
              <a:t>Or </a:t>
            </a:r>
            <a:r>
              <a:rPr lang="en-US" altLang="en-US" dirty="0" smtClean="0">
                <a:solidFill>
                  <a:srgbClr val="FF0000"/>
                </a:solidFill>
              </a:rPr>
              <a:t>swap contents </a:t>
            </a:r>
            <a:r>
              <a:rPr lang="en-US" altLang="en-US" dirty="0" smtClean="0"/>
              <a:t>of two memory words</a:t>
            </a:r>
          </a:p>
        </p:txBody>
      </p:sp>
    </p:spTree>
    <p:extLst>
      <p:ext uri="{BB962C8B-B14F-4D97-AF65-F5344CB8AC3E}">
        <p14:creationId xmlns:p14="http://schemas.microsoft.com/office/powerpoint/2010/main" val="40981615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1898650" y="2058988"/>
            <a:ext cx="1674813" cy="376237"/>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p:cNvSpPr/>
          <p:nvPr/>
        </p:nvSpPr>
        <p:spPr bwMode="auto">
          <a:xfrm>
            <a:off x="1906588" y="1419225"/>
            <a:ext cx="1674812"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9460" name="Title 1"/>
          <p:cNvSpPr>
            <a:spLocks noGrp="1"/>
          </p:cNvSpPr>
          <p:nvPr>
            <p:ph type="title"/>
          </p:nvPr>
        </p:nvSpPr>
        <p:spPr>
          <a:xfrm>
            <a:off x="1193800" y="119063"/>
            <a:ext cx="8154988" cy="576262"/>
          </a:xfrm>
        </p:spPr>
        <p:txBody>
          <a:bodyPr/>
          <a:lstStyle/>
          <a:p>
            <a:r>
              <a:rPr lang="en-US" altLang="en-US" sz="2400" dirty="0" smtClean="0"/>
              <a:t>Solution to Critical-section Problem Using Locks</a:t>
            </a:r>
          </a:p>
        </p:txBody>
      </p:sp>
      <p:sp>
        <p:nvSpPr>
          <p:cNvPr id="19461" name="Content Placeholder 2"/>
          <p:cNvSpPr>
            <a:spLocks noGrp="1"/>
          </p:cNvSpPr>
          <p:nvPr>
            <p:ph idx="1"/>
          </p:nvPr>
        </p:nvSpPr>
        <p:spPr>
          <a:xfrm>
            <a:off x="996950" y="1103313"/>
            <a:ext cx="7727950" cy="4530725"/>
          </a:xfrm>
        </p:spPr>
        <p:txBody>
          <a:bodyPr/>
          <a:lstStyle/>
          <a:p>
            <a:pPr>
              <a:buFont typeface="Monotype Sorts" pitchFamily="-84" charset="2"/>
              <a:buNone/>
            </a:pPr>
            <a:r>
              <a:rPr lang="en-US" altLang="en-US" sz="1400" b="1" dirty="0" smtClean="0">
                <a:solidFill>
                  <a:srgbClr val="000000"/>
                </a:solidFill>
                <a:latin typeface="Courier New" pitchFamily="49" charset="0"/>
                <a:cs typeface="Courier New" pitchFamily="49" charset="0"/>
              </a:rPr>
              <a:t>	</a:t>
            </a:r>
            <a:r>
              <a:rPr lang="en-US" altLang="en-US" sz="1600" b="1" dirty="0" smtClean="0">
                <a:solidFill>
                  <a:srgbClr val="000000"/>
                </a:solidFill>
                <a:latin typeface="Courier New" pitchFamily="49" charset="0"/>
                <a:cs typeface="Courier New" pitchFamily="49" charset="0"/>
              </a:rPr>
              <a:t>do {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acquire lock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release lock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a:t>
            </a:r>
          </a:p>
          <a:p>
            <a:pPr>
              <a:buFont typeface="Monotype Sorts" pitchFamily="-84" charset="2"/>
              <a:buNone/>
            </a:pPr>
            <a:r>
              <a:rPr lang="en-US" altLang="en-US" sz="1600" b="1" dirty="0">
                <a:solidFill>
                  <a:srgbClr val="000000"/>
                </a:solidFill>
                <a:latin typeface="Courier New" pitchFamily="49" charset="0"/>
                <a:cs typeface="Courier New" pitchFamily="49" charset="0"/>
              </a:rPr>
              <a:t>	</a:t>
            </a:r>
            <a:r>
              <a:rPr lang="en-US" altLang="en-US" sz="1600" b="1" dirty="0" smtClean="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b="1" dirty="0">
              <a:solidFill>
                <a:srgbClr val="000000"/>
              </a:solidFill>
              <a:latin typeface="Courier New" pitchFamily="49" charset="0"/>
              <a:cs typeface="Courier New" pitchFamily="49" charset="0"/>
            </a:endParaRPr>
          </a:p>
          <a:p>
            <a:pPr>
              <a:buFont typeface="Monotype Sorts" pitchFamily="-84" charset="2"/>
              <a:buNone/>
            </a:pPr>
            <a:r>
              <a:rPr lang="en-US" altLang="en-US" sz="1600" b="1" dirty="0" smtClean="0">
                <a:solidFill>
                  <a:srgbClr val="000000"/>
                </a:solidFill>
                <a:latin typeface="Courier New" pitchFamily="49" charset="0"/>
                <a:cs typeface="Courier New" pitchFamily="49" charset="0"/>
              </a:rPr>
              <a:t>//General flow as given above</a:t>
            </a:r>
          </a:p>
        </p:txBody>
      </p:sp>
    </p:spTree>
    <p:extLst>
      <p:ext uri="{BB962C8B-B14F-4D97-AF65-F5344CB8AC3E}">
        <p14:creationId xmlns:p14="http://schemas.microsoft.com/office/powerpoint/2010/main" val="11959883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87463" y="161925"/>
            <a:ext cx="7399337" cy="576263"/>
          </a:xfrm>
        </p:spPr>
        <p:txBody>
          <a:bodyPr>
            <a:normAutofit fontScale="90000"/>
          </a:bodyPr>
          <a:lstStyle/>
          <a:p>
            <a:pPr eaLnBrk="1" hangingPunct="1"/>
            <a:r>
              <a:rPr lang="en-US" altLang="en-US" smtClean="0"/>
              <a:t>test_and_set  Instruction </a:t>
            </a:r>
          </a:p>
        </p:txBody>
      </p:sp>
      <p:sp>
        <p:nvSpPr>
          <p:cNvPr id="20483" name="Rectangle 3"/>
          <p:cNvSpPr>
            <a:spLocks noGrp="1" noChangeArrowheads="1"/>
          </p:cNvSpPr>
          <p:nvPr>
            <p:ph idx="1"/>
          </p:nvPr>
        </p:nvSpPr>
        <p:spPr>
          <a:xfrm>
            <a:off x="806450" y="827088"/>
            <a:ext cx="7408863" cy="4422775"/>
          </a:xfrm>
        </p:spPr>
        <p:txBody>
          <a:bodyPr>
            <a:normAutofit fontScale="85000" lnSpcReduction="10000"/>
          </a:bodyPr>
          <a:lstStyle/>
          <a:p>
            <a:pPr>
              <a:lnSpc>
                <a:spcPct val="90000"/>
              </a:lnSpc>
              <a:buFont typeface="Monotype Sorts" pitchFamily="-84" charset="2"/>
              <a:buNone/>
              <a:tabLst>
                <a:tab pos="739775" algn="l"/>
                <a:tab pos="1020763" algn="l"/>
                <a:tab pos="1257300" algn="l"/>
              </a:tabLst>
            </a:pPr>
            <a:endParaRPr lang="en-US" altLang="en-US" dirty="0" smtClean="0"/>
          </a:p>
          <a:p>
            <a:pPr>
              <a:lnSpc>
                <a:spcPct val="90000"/>
              </a:lnSpc>
              <a:buFont typeface="Monotype Sorts" pitchFamily="-84" charset="2"/>
              <a:buNone/>
              <a:tabLst>
                <a:tab pos="739775" algn="l"/>
                <a:tab pos="1020763" algn="l"/>
                <a:tab pos="1257300" algn="l"/>
              </a:tabLst>
            </a:pPr>
            <a:r>
              <a:rPr lang="en-US" altLang="en-US" dirty="0" smtClean="0"/>
              <a:t>Definition:</a:t>
            </a:r>
            <a:endParaRPr lang="en-US" altLang="en-US" b="1" dirty="0" smtClean="0">
              <a:solidFill>
                <a:srgbClr val="000000"/>
              </a:solidFill>
              <a:latin typeface="Courier New" pitchFamily="49" charset="0"/>
              <a:cs typeface="Courier New" pitchFamily="49" charset="0"/>
            </a:endParaRPr>
          </a:p>
          <a:p>
            <a:pPr>
              <a:lnSpc>
                <a:spcPct val="90000"/>
              </a:lnSpc>
              <a:buFont typeface="Monotype Sorts" pitchFamily="-84" charset="2"/>
              <a:buNone/>
              <a:tabLst>
                <a:tab pos="739775" algn="l"/>
                <a:tab pos="1020763" algn="l"/>
                <a:tab pos="1257300" algn="l"/>
              </a:tabLst>
            </a:pPr>
            <a:r>
              <a:rPr lang="en-US" altLang="en-US" b="1" dirty="0" smtClean="0">
                <a:solidFill>
                  <a:srgbClr val="000000"/>
                </a:solidFill>
                <a:latin typeface="Courier New" pitchFamily="49" charset="0"/>
                <a:cs typeface="Courier New" pitchFamily="49" charset="0"/>
              </a:rPr>
              <a:t>     </a:t>
            </a:r>
            <a:r>
              <a:rPr lang="en-US" altLang="en-US" sz="2400" b="1" dirty="0" err="1" smtClean="0">
                <a:solidFill>
                  <a:srgbClr val="000000"/>
                </a:solidFill>
                <a:latin typeface="Courier New" pitchFamily="49" charset="0"/>
                <a:cs typeface="Courier New" pitchFamily="49" charset="0"/>
              </a:rPr>
              <a:t>boolean</a:t>
            </a:r>
            <a:r>
              <a:rPr lang="en-US" altLang="en-US" sz="2400" b="1" dirty="0" smtClean="0">
                <a:solidFill>
                  <a:srgbClr val="000000"/>
                </a:solidFill>
                <a:latin typeface="Courier New" pitchFamily="49" charset="0"/>
                <a:cs typeface="Courier New" pitchFamily="49" charset="0"/>
              </a:rPr>
              <a:t> </a:t>
            </a:r>
            <a:r>
              <a:rPr lang="en-US" altLang="en-US" sz="2400" b="1" dirty="0" err="1" smtClean="0">
                <a:solidFill>
                  <a:srgbClr val="000000"/>
                </a:solidFill>
                <a:latin typeface="Courier New" pitchFamily="49" charset="0"/>
                <a:cs typeface="Courier New" pitchFamily="49" charset="0"/>
              </a:rPr>
              <a:t>test_and_set</a:t>
            </a:r>
            <a:r>
              <a:rPr lang="en-US" altLang="en-US" sz="2400" b="1" dirty="0" smtClean="0">
                <a:solidFill>
                  <a:srgbClr val="000000"/>
                </a:solidFill>
                <a:latin typeface="Courier New" pitchFamily="49" charset="0"/>
                <a:cs typeface="Courier New" pitchFamily="49" charset="0"/>
              </a:rPr>
              <a:t> (</a:t>
            </a:r>
            <a:r>
              <a:rPr lang="en-US" altLang="en-US" sz="2400" b="1" dirty="0" err="1" smtClean="0">
                <a:solidFill>
                  <a:srgbClr val="000000"/>
                </a:solidFill>
                <a:latin typeface="Courier New" pitchFamily="49" charset="0"/>
                <a:cs typeface="Courier New" pitchFamily="49" charset="0"/>
              </a:rPr>
              <a:t>boolean</a:t>
            </a:r>
            <a:r>
              <a:rPr lang="en-US" altLang="en-US" sz="2400" b="1" dirty="0" smtClean="0">
                <a:solidFill>
                  <a:srgbClr val="000000"/>
                </a:solidFill>
                <a:latin typeface="Courier New" pitchFamily="49" charset="0"/>
                <a:cs typeface="Courier New" pitchFamily="49" charset="0"/>
              </a:rPr>
              <a:t> *target)</a:t>
            </a:r>
          </a:p>
          <a:p>
            <a:pPr>
              <a:lnSpc>
                <a:spcPct val="90000"/>
              </a:lnSpc>
              <a:buFont typeface="Monotype Sorts" pitchFamily="-84" charset="2"/>
              <a:buNone/>
              <a:tabLst>
                <a:tab pos="739775" algn="l"/>
                <a:tab pos="1020763" algn="l"/>
                <a:tab pos="1257300" algn="l"/>
              </a:tabLst>
            </a:pPr>
            <a:r>
              <a:rPr lang="en-US" altLang="en-US" sz="2400" b="1" dirty="0" smtClean="0">
                <a:solidFill>
                  <a:srgbClr val="000000"/>
                </a:solidFill>
                <a:latin typeface="Courier New" pitchFamily="49" charset="0"/>
                <a:cs typeface="Courier New" pitchFamily="49" charset="0"/>
              </a:rPr>
              <a:t>          {</a:t>
            </a:r>
          </a:p>
          <a:p>
            <a:pPr>
              <a:lnSpc>
                <a:spcPct val="90000"/>
              </a:lnSpc>
              <a:buFont typeface="Monotype Sorts" pitchFamily="-84" charset="2"/>
              <a:buNone/>
              <a:tabLst>
                <a:tab pos="739775" algn="l"/>
                <a:tab pos="1020763" algn="l"/>
                <a:tab pos="1257300" algn="l"/>
              </a:tabLst>
            </a:pPr>
            <a:r>
              <a:rPr lang="en-US" altLang="en-US" sz="2400" b="1" dirty="0" smtClean="0">
                <a:solidFill>
                  <a:srgbClr val="000000"/>
                </a:solidFill>
                <a:latin typeface="Courier New" pitchFamily="49" charset="0"/>
                <a:cs typeface="Courier New" pitchFamily="49" charset="0"/>
              </a:rPr>
              <a:t>               </a:t>
            </a:r>
            <a:r>
              <a:rPr lang="en-US" altLang="en-US" sz="2400" b="1" dirty="0" err="1" smtClean="0">
                <a:solidFill>
                  <a:srgbClr val="000000"/>
                </a:solidFill>
                <a:latin typeface="Courier New" pitchFamily="49" charset="0"/>
                <a:cs typeface="Courier New" pitchFamily="49" charset="0"/>
              </a:rPr>
              <a:t>boolean</a:t>
            </a:r>
            <a:r>
              <a:rPr lang="en-US" altLang="en-US" sz="2400" b="1" dirty="0" smtClean="0">
                <a:solidFill>
                  <a:srgbClr val="000000"/>
                </a:solidFill>
                <a:latin typeface="Courier New" pitchFamily="49" charset="0"/>
                <a:cs typeface="Courier New" pitchFamily="49" charset="0"/>
              </a:rPr>
              <a:t> </a:t>
            </a:r>
            <a:r>
              <a:rPr lang="en-US" altLang="en-US" sz="2400" b="1" dirty="0" err="1" smtClean="0">
                <a:solidFill>
                  <a:srgbClr val="000000"/>
                </a:solidFill>
                <a:latin typeface="Courier New" pitchFamily="49" charset="0"/>
                <a:cs typeface="Courier New" pitchFamily="49" charset="0"/>
              </a:rPr>
              <a:t>rv</a:t>
            </a:r>
            <a:r>
              <a:rPr lang="en-US" altLang="en-US" sz="2400" b="1" dirty="0" smtClean="0">
                <a:solidFill>
                  <a:srgbClr val="000000"/>
                </a:solidFill>
                <a:latin typeface="Courier New" pitchFamily="49" charset="0"/>
                <a:cs typeface="Courier New" pitchFamily="49" charset="0"/>
              </a:rPr>
              <a:t> = *target;</a:t>
            </a:r>
          </a:p>
          <a:p>
            <a:pPr>
              <a:lnSpc>
                <a:spcPct val="90000"/>
              </a:lnSpc>
              <a:buFont typeface="Monotype Sorts" pitchFamily="-84" charset="2"/>
              <a:buNone/>
              <a:tabLst>
                <a:tab pos="739775" algn="l"/>
                <a:tab pos="1020763" algn="l"/>
                <a:tab pos="1257300" algn="l"/>
              </a:tabLst>
            </a:pPr>
            <a:r>
              <a:rPr lang="en-US" altLang="en-US" sz="2400" b="1" dirty="0" smtClean="0">
                <a:solidFill>
                  <a:srgbClr val="000000"/>
                </a:solidFill>
                <a:latin typeface="Courier New" pitchFamily="49" charset="0"/>
                <a:cs typeface="Courier New" pitchFamily="49" charset="0"/>
              </a:rPr>
              <a:t>               *target = TRUE;</a:t>
            </a:r>
          </a:p>
          <a:p>
            <a:pPr>
              <a:lnSpc>
                <a:spcPct val="90000"/>
              </a:lnSpc>
              <a:buFont typeface="Monotype Sorts" pitchFamily="-84" charset="2"/>
              <a:buNone/>
              <a:tabLst>
                <a:tab pos="739775" algn="l"/>
                <a:tab pos="1020763" algn="l"/>
                <a:tab pos="1257300" algn="l"/>
              </a:tabLst>
            </a:pPr>
            <a:r>
              <a:rPr lang="en-US" altLang="en-US" sz="2400" b="1" dirty="0" smtClean="0">
                <a:solidFill>
                  <a:srgbClr val="000000"/>
                </a:solidFill>
                <a:latin typeface="Courier New" pitchFamily="49" charset="0"/>
                <a:cs typeface="Courier New" pitchFamily="49" charset="0"/>
              </a:rPr>
              <a:t>               return </a:t>
            </a:r>
            <a:r>
              <a:rPr lang="en-US" altLang="en-US" sz="2400" b="1" dirty="0" err="1" smtClean="0">
                <a:solidFill>
                  <a:srgbClr val="000000"/>
                </a:solidFill>
                <a:latin typeface="Courier New" pitchFamily="49" charset="0"/>
                <a:cs typeface="Courier New" pitchFamily="49" charset="0"/>
              </a:rPr>
              <a:t>rv</a:t>
            </a:r>
            <a:r>
              <a:rPr lang="en-US" altLang="en-US" sz="2400" b="1" dirty="0" smtClean="0">
                <a:solidFill>
                  <a:srgbClr val="000000"/>
                </a:solidFill>
                <a:latin typeface="Courier New" pitchFamily="49" charset="0"/>
                <a:cs typeface="Courier New" pitchFamily="49" charset="0"/>
              </a:rPr>
              <a:t>:</a:t>
            </a:r>
          </a:p>
          <a:p>
            <a:pPr>
              <a:lnSpc>
                <a:spcPct val="90000"/>
              </a:lnSpc>
              <a:buFont typeface="Monotype Sorts" pitchFamily="-84" charset="2"/>
              <a:buNone/>
              <a:tabLst>
                <a:tab pos="739775" algn="l"/>
                <a:tab pos="1020763" algn="l"/>
                <a:tab pos="1257300" algn="l"/>
              </a:tabLst>
            </a:pPr>
            <a:r>
              <a:rPr lang="en-US" altLang="en-US" sz="2400" b="1" dirty="0" smtClean="0">
                <a:solidFill>
                  <a:srgbClr val="000000"/>
                </a:solidFill>
                <a:latin typeface="Courier New" pitchFamily="49" charset="0"/>
                <a:cs typeface="Courier New" pitchFamily="49" charset="0"/>
              </a:rPr>
              <a:t>          }</a:t>
            </a:r>
            <a:endParaRPr lang="en-US" altLang="en-US" sz="2400" dirty="0" smtClean="0">
              <a:solidFill>
                <a:srgbClr val="0000FF"/>
              </a:solidFill>
            </a:endParaRPr>
          </a:p>
          <a:p>
            <a:pPr>
              <a:lnSpc>
                <a:spcPct val="90000"/>
              </a:lnSpc>
              <a:buFont typeface="Monotype Sorts" pitchFamily="-84" charset="2"/>
              <a:buAutoNum type="arabicPeriod"/>
              <a:tabLst>
                <a:tab pos="739775" algn="l"/>
                <a:tab pos="1020763" algn="l"/>
                <a:tab pos="1257300" algn="l"/>
              </a:tabLst>
            </a:pPr>
            <a:r>
              <a:rPr lang="en-US" altLang="en-US" dirty="0" smtClean="0">
                <a:solidFill>
                  <a:srgbClr val="FF0000"/>
                </a:solidFill>
              </a:rPr>
              <a:t>Executed atomically</a:t>
            </a:r>
          </a:p>
          <a:p>
            <a:pPr>
              <a:lnSpc>
                <a:spcPct val="90000"/>
              </a:lnSpc>
              <a:buFont typeface="Monotype Sorts" pitchFamily="-84" charset="2"/>
              <a:buAutoNum type="arabicPeriod"/>
              <a:tabLst>
                <a:tab pos="739775" algn="l"/>
                <a:tab pos="1020763" algn="l"/>
                <a:tab pos="1257300" algn="l"/>
              </a:tabLst>
            </a:pPr>
            <a:r>
              <a:rPr lang="en-US" altLang="en-US" dirty="0" smtClean="0"/>
              <a:t>Returns the original value of passed parameter</a:t>
            </a:r>
          </a:p>
          <a:p>
            <a:pPr algn="just">
              <a:lnSpc>
                <a:spcPct val="90000"/>
              </a:lnSpc>
              <a:buFont typeface="Monotype Sorts" pitchFamily="-84" charset="2"/>
              <a:buAutoNum type="arabicPeriod"/>
              <a:tabLst>
                <a:tab pos="739775" algn="l"/>
                <a:tab pos="1020763" algn="l"/>
                <a:tab pos="1257300" algn="l"/>
              </a:tabLst>
            </a:pPr>
            <a:r>
              <a:rPr lang="en-US" altLang="en-US" dirty="0" smtClean="0"/>
              <a:t>Set the new value of passed parameter to “TRUE”.</a:t>
            </a:r>
          </a:p>
          <a:p>
            <a:pPr>
              <a:lnSpc>
                <a:spcPct val="90000"/>
              </a:lnSpc>
              <a:buFont typeface="Monotype Sorts" pitchFamily="-84" charset="2"/>
              <a:buAutoNum type="arabicPeriod"/>
              <a:tabLst>
                <a:tab pos="739775" algn="l"/>
                <a:tab pos="1020763" algn="l"/>
                <a:tab pos="1257300" algn="l"/>
              </a:tabLst>
            </a:pPr>
            <a:endParaRPr lang="en-US" altLang="en-US" dirty="0" smtClean="0">
              <a:solidFill>
                <a:srgbClr val="0000FF"/>
              </a:solidFill>
            </a:endParaRPr>
          </a:p>
        </p:txBody>
      </p:sp>
    </p:spTree>
    <p:extLst>
      <p:ext uri="{BB962C8B-B14F-4D97-AF65-F5344CB8AC3E}">
        <p14:creationId xmlns:p14="http://schemas.microsoft.com/office/powerpoint/2010/main" val="11947740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49313" y="161925"/>
            <a:ext cx="7837487" cy="576263"/>
          </a:xfrm>
        </p:spPr>
        <p:txBody>
          <a:bodyPr>
            <a:normAutofit fontScale="90000"/>
          </a:bodyPr>
          <a:lstStyle/>
          <a:p>
            <a:pPr eaLnBrk="1" hangingPunct="1"/>
            <a:r>
              <a:rPr lang="en-US" altLang="en-US" dirty="0" smtClean="0"/>
              <a:t>Solution using </a:t>
            </a:r>
            <a:r>
              <a:rPr lang="en-US" altLang="en-US" dirty="0" err="1" smtClean="0"/>
              <a:t>test_and_set</a:t>
            </a:r>
            <a:r>
              <a:rPr lang="en-US" altLang="en-US" dirty="0" smtClean="0"/>
              <a:t>()</a:t>
            </a:r>
          </a:p>
        </p:txBody>
      </p:sp>
      <p:sp>
        <p:nvSpPr>
          <p:cNvPr id="18435" name="Rectangle 3"/>
          <p:cNvSpPr>
            <a:spLocks noGrp="1" noChangeArrowheads="1"/>
          </p:cNvSpPr>
          <p:nvPr>
            <p:ph idx="1"/>
          </p:nvPr>
        </p:nvSpPr>
        <p:spPr>
          <a:xfrm>
            <a:off x="869950" y="1193800"/>
            <a:ext cx="6865938" cy="4683472"/>
          </a:xfrm>
        </p:spPr>
        <p:txBody>
          <a:bodyPr>
            <a:normAutofit fontScale="55000" lnSpcReduction="20000"/>
          </a:bodyPr>
          <a:lstStyle/>
          <a:p>
            <a:pPr marL="342866" indent="-342866">
              <a:lnSpc>
                <a:spcPct val="90000"/>
              </a:lnSpc>
              <a:buFont typeface="Monotype Sorts" charset="0"/>
              <a:buChar char="n"/>
              <a:tabLst>
                <a:tab pos="742278" algn="l"/>
                <a:tab pos="1023411" algn="l"/>
                <a:tab pos="1258984" algn="l"/>
              </a:tabLst>
              <a:defRPr/>
            </a:pPr>
            <a:r>
              <a:rPr lang="en-US" sz="4400" dirty="0">
                <a:ea typeface="ＭＳ Ｐゴシック" charset="0"/>
                <a:cs typeface="ＭＳ Ｐゴシック" charset="0"/>
              </a:rPr>
              <a:t>Shared </a:t>
            </a:r>
            <a:r>
              <a:rPr lang="en-US" sz="4400" dirty="0" smtClean="0">
                <a:ea typeface="ＭＳ Ｐゴシック" charset="0"/>
                <a:cs typeface="ＭＳ Ｐゴシック" charset="0"/>
              </a:rPr>
              <a:t>Boolean </a:t>
            </a:r>
            <a:r>
              <a:rPr lang="en-US" sz="4400" dirty="0">
                <a:ea typeface="ＭＳ Ｐゴシック" charset="0"/>
                <a:cs typeface="ＭＳ Ｐゴシック" charset="0"/>
              </a:rPr>
              <a:t>variable </a:t>
            </a:r>
            <a:r>
              <a:rPr lang="en-US" sz="4400" b="1" dirty="0">
                <a:solidFill>
                  <a:srgbClr val="00B050"/>
                </a:solidFill>
                <a:ea typeface="ＭＳ Ｐゴシック" charset="0"/>
                <a:cs typeface="ＭＳ Ｐゴシック" charset="0"/>
              </a:rPr>
              <a:t>lock, initialized to </a:t>
            </a:r>
            <a:r>
              <a:rPr lang="en-US" sz="4400" b="1" dirty="0" smtClean="0">
                <a:solidFill>
                  <a:srgbClr val="00B050"/>
                </a:solidFill>
                <a:ea typeface="ＭＳ Ｐゴシック" charset="0"/>
                <a:cs typeface="ＭＳ Ｐゴシック" charset="0"/>
              </a:rPr>
              <a:t>FALSE</a:t>
            </a:r>
            <a:endParaRPr lang="en-US" sz="4400" b="1" dirty="0">
              <a:solidFill>
                <a:srgbClr val="00B050"/>
              </a:solidFill>
              <a:ea typeface="ＭＳ Ｐゴシック" charset="0"/>
              <a:cs typeface="ＭＳ Ｐゴシック" charset="0"/>
            </a:endParaRPr>
          </a:p>
          <a:p>
            <a:pPr marL="342866" indent="-342866">
              <a:lnSpc>
                <a:spcPct val="90000"/>
              </a:lnSpc>
              <a:buFont typeface="Monotype Sorts" charset="0"/>
              <a:buChar char="n"/>
              <a:tabLst>
                <a:tab pos="742278" algn="l"/>
                <a:tab pos="1023411" algn="l"/>
                <a:tab pos="1258984" algn="l"/>
              </a:tabLst>
              <a:defRPr/>
            </a:pPr>
            <a:r>
              <a:rPr lang="en-US" sz="4400" dirty="0" smtClean="0">
                <a:ea typeface="ＭＳ Ｐゴシック" charset="0"/>
                <a:cs typeface="ＭＳ Ｐゴシック" charset="0"/>
              </a:rPr>
              <a:t>Solution - </a:t>
            </a:r>
            <a:r>
              <a:rPr lang="en-US" sz="3300" b="1" dirty="0">
                <a:solidFill>
                  <a:srgbClr val="00B050"/>
                </a:solidFill>
              </a:rPr>
              <a:t>Mutual-exclusion implementation with test and set</a:t>
            </a:r>
            <a:r>
              <a:rPr lang="en-US" sz="3300" b="1" dirty="0" smtClean="0">
                <a:solidFill>
                  <a:srgbClr val="00B050"/>
                </a:solidFill>
              </a:rPr>
              <a:t>():</a:t>
            </a:r>
            <a:endParaRPr lang="en-US" sz="1800" b="1" dirty="0">
              <a:solidFill>
                <a:srgbClr val="00B050"/>
              </a:solidFill>
              <a:latin typeface="Courier New"/>
              <a:ea typeface="ＭＳ Ｐゴシック" charset="0"/>
              <a:cs typeface="Courier New"/>
            </a:endParaRPr>
          </a:p>
          <a:p>
            <a:pPr marL="0" indent="0">
              <a:buFont typeface="Monotype Sorts" pitchFamily="-84" charset="2"/>
              <a:buNone/>
              <a:defRPr/>
            </a:pPr>
            <a:r>
              <a:rPr lang="en-US" sz="2000" b="1" dirty="0" smtClean="0">
                <a:solidFill>
                  <a:srgbClr val="00B050"/>
                </a:solidFill>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p>
          <a:p>
            <a:pPr marL="0" indent="0">
              <a:buFont typeface="Monotype Sorts" pitchFamily="-84" charset="2"/>
              <a:buNone/>
              <a:defRPr/>
            </a:pPr>
            <a:r>
              <a:rPr lang="en-US" altLang="en-US" sz="2000" b="1" dirty="0">
                <a:solidFill>
                  <a:srgbClr val="000000"/>
                </a:solidFill>
                <a:latin typeface="Courier New"/>
                <a:ea typeface="ＭＳ Ｐゴシック" pitchFamily="-84" charset="-128"/>
                <a:cs typeface="Courier New"/>
              </a:rPr>
              <a:t> </a:t>
            </a:r>
            <a:r>
              <a:rPr lang="en-US" altLang="en-US" sz="2000" b="1" dirty="0" smtClean="0">
                <a:solidFill>
                  <a:srgbClr val="000000"/>
                </a:solidFill>
                <a:latin typeface="Courier New"/>
                <a:ea typeface="ＭＳ Ｐゴシック" pitchFamily="-84" charset="-128"/>
                <a:cs typeface="Courier New"/>
              </a:rPr>
              <a:t>     </a:t>
            </a:r>
          </a:p>
          <a:p>
            <a:pPr marL="0" indent="0">
              <a:buFont typeface="Monotype Sorts" pitchFamily="-84" charset="2"/>
              <a:buNone/>
              <a:defRPr/>
            </a:pPr>
            <a:r>
              <a:rPr lang="en-US" altLang="en-US" sz="2000" b="1" dirty="0">
                <a:solidFill>
                  <a:srgbClr val="000000"/>
                </a:solidFill>
                <a:latin typeface="Courier New"/>
                <a:ea typeface="ＭＳ Ｐゴシック" pitchFamily="-84" charset="-128"/>
                <a:cs typeface="Courier New"/>
              </a:rPr>
              <a:t> </a:t>
            </a:r>
            <a:r>
              <a:rPr lang="en-US" altLang="en-US" sz="2000" b="1" dirty="0" smtClean="0">
                <a:solidFill>
                  <a:srgbClr val="000000"/>
                </a:solidFill>
                <a:latin typeface="Courier New"/>
                <a:ea typeface="ＭＳ Ｐゴシック" pitchFamily="-84" charset="-128"/>
                <a:cs typeface="Courier New"/>
              </a:rPr>
              <a:t>      </a:t>
            </a:r>
            <a:r>
              <a:rPr lang="en-US" altLang="en-US" sz="4400" b="1" dirty="0" smtClean="0">
                <a:solidFill>
                  <a:srgbClr val="000000"/>
                </a:solidFill>
                <a:latin typeface="Courier New" pitchFamily="49" charset="0"/>
                <a:cs typeface="Courier New" pitchFamily="49" charset="0"/>
              </a:rPr>
              <a:t>do {</a:t>
            </a:r>
            <a:br>
              <a:rPr lang="en-US" altLang="en-US" sz="4400" b="1" dirty="0" smtClean="0">
                <a:solidFill>
                  <a:srgbClr val="000000"/>
                </a:solidFill>
                <a:latin typeface="Courier New" pitchFamily="49" charset="0"/>
                <a:cs typeface="Courier New" pitchFamily="49" charset="0"/>
              </a:rPr>
            </a:br>
            <a:r>
              <a:rPr lang="en-US" altLang="en-US" sz="4400" b="1" dirty="0" smtClean="0">
                <a:solidFill>
                  <a:srgbClr val="000000"/>
                </a:solidFill>
                <a:latin typeface="Courier New" pitchFamily="49" charset="0"/>
                <a:cs typeface="Courier New" pitchFamily="49" charset="0"/>
              </a:rPr>
              <a:t>         while (</a:t>
            </a:r>
            <a:r>
              <a:rPr lang="en-US" altLang="en-US" sz="4400" b="1" dirty="0" err="1" smtClean="0">
                <a:solidFill>
                  <a:srgbClr val="000000"/>
                </a:solidFill>
                <a:latin typeface="Courier New" pitchFamily="49" charset="0"/>
                <a:cs typeface="Courier New" pitchFamily="49" charset="0"/>
              </a:rPr>
              <a:t>test_and_set</a:t>
            </a:r>
            <a:r>
              <a:rPr lang="en-US" altLang="en-US" sz="4400" b="1" dirty="0" smtClean="0">
                <a:solidFill>
                  <a:srgbClr val="000000"/>
                </a:solidFill>
                <a:latin typeface="Courier New" pitchFamily="49" charset="0"/>
                <a:cs typeface="Courier New" pitchFamily="49" charset="0"/>
              </a:rPr>
              <a:t>(</a:t>
            </a:r>
            <a:r>
              <a:rPr lang="en-US" altLang="en-US" sz="4400" b="1" dirty="0" smtClean="0">
                <a:solidFill>
                  <a:srgbClr val="FF0000"/>
                </a:solidFill>
                <a:latin typeface="Courier New" pitchFamily="49" charset="0"/>
                <a:cs typeface="Courier New" pitchFamily="49" charset="0"/>
              </a:rPr>
              <a:t>&amp;lock</a:t>
            </a:r>
            <a:r>
              <a:rPr lang="en-US" altLang="en-US" sz="4400" b="1" dirty="0" smtClean="0">
                <a:solidFill>
                  <a:srgbClr val="000000"/>
                </a:solidFill>
                <a:latin typeface="Courier New" pitchFamily="49" charset="0"/>
                <a:cs typeface="Courier New" pitchFamily="49" charset="0"/>
              </a:rPr>
              <a:t>)) </a:t>
            </a:r>
          </a:p>
          <a:p>
            <a:pPr marL="0" indent="0">
              <a:buFont typeface="Monotype Sorts" pitchFamily="-84" charset="2"/>
              <a:buNone/>
              <a:defRPr/>
            </a:pPr>
            <a:r>
              <a:rPr lang="en-US" altLang="en-US" sz="4400" b="1" dirty="0" err="1" smtClean="0">
                <a:solidFill>
                  <a:srgbClr val="000000"/>
                </a:solidFill>
                <a:latin typeface="Courier New" pitchFamily="49" charset="0"/>
                <a:cs typeface="Courier New" pitchFamily="49" charset="0"/>
              </a:rPr>
              <a:t>             ; /* do nothing */ </a:t>
            </a:r>
          </a:p>
          <a:p>
            <a:pPr marL="0" indent="0">
              <a:buFont typeface="Monotype Sorts" pitchFamily="-84" charset="2"/>
              <a:buNone/>
              <a:defRPr/>
            </a:pPr>
            <a:r>
              <a:rPr lang="en-US" altLang="en-US" sz="4400" b="1" dirty="0" smtClean="0">
                <a:solidFill>
                  <a:srgbClr val="000000"/>
                </a:solidFill>
                <a:latin typeface="Courier New" pitchFamily="49" charset="0"/>
                <a:cs typeface="Courier New" pitchFamily="49" charset="0"/>
              </a:rPr>
              <a:t>         </a:t>
            </a:r>
            <a:r>
              <a:rPr lang="en-US" altLang="en-US" sz="4400" b="1" dirty="0" smtClean="0">
                <a:solidFill>
                  <a:srgbClr val="FF0000"/>
                </a:solidFill>
                <a:latin typeface="Courier New" pitchFamily="49" charset="0"/>
                <a:cs typeface="Courier New" pitchFamily="49" charset="0"/>
              </a:rPr>
              <a:t>/* critical section */ </a:t>
            </a:r>
          </a:p>
          <a:p>
            <a:pPr marL="0" indent="0">
              <a:buFont typeface="Monotype Sorts" pitchFamily="-84" charset="2"/>
              <a:buNone/>
              <a:defRPr/>
            </a:pPr>
            <a:r>
              <a:rPr lang="en-US" altLang="en-US" sz="4400" b="1" dirty="0" smtClean="0">
                <a:solidFill>
                  <a:srgbClr val="000000"/>
                </a:solidFill>
                <a:latin typeface="Courier New" pitchFamily="49" charset="0"/>
                <a:cs typeface="Courier New" pitchFamily="49" charset="0"/>
              </a:rPr>
              <a:t>         lock = false; </a:t>
            </a:r>
          </a:p>
          <a:p>
            <a:pPr marL="0" indent="0">
              <a:buFont typeface="Monotype Sorts" pitchFamily="-84" charset="2"/>
              <a:buNone/>
              <a:defRPr/>
            </a:pPr>
            <a:r>
              <a:rPr lang="en-US" altLang="en-US" sz="4400" b="1" dirty="0" smtClean="0">
                <a:solidFill>
                  <a:srgbClr val="000000"/>
                </a:solidFill>
                <a:latin typeface="Courier New" pitchFamily="49" charset="0"/>
                <a:cs typeface="Courier New" pitchFamily="49" charset="0"/>
              </a:rPr>
              <a:t>         /* remainder section */ </a:t>
            </a:r>
          </a:p>
          <a:p>
            <a:pPr marL="0" indent="0">
              <a:buFont typeface="Monotype Sorts" pitchFamily="-84" charset="2"/>
              <a:buNone/>
              <a:defRPr/>
            </a:pPr>
            <a:r>
              <a:rPr lang="en-US" altLang="en-US" sz="4400" b="1" dirty="0" smtClean="0">
                <a:solidFill>
                  <a:srgbClr val="000000"/>
                </a:solidFill>
                <a:latin typeface="Courier New" pitchFamily="49" charset="0"/>
                <a:cs typeface="Courier New" pitchFamily="49" charset="0"/>
              </a:rPr>
              <a:t>   } while (true);</a:t>
            </a:r>
            <a:r>
              <a:rPr lang="en-US" altLang="en-US" sz="7300" b="1" dirty="0" smtClean="0">
                <a:solidFill>
                  <a:srgbClr val="000000"/>
                </a:solidFill>
                <a:latin typeface="Courier New" pitchFamily="49" charset="0"/>
                <a:cs typeface="Courier New" pitchFamily="49" charset="0"/>
              </a:rPr>
              <a:t> </a:t>
            </a:r>
          </a:p>
          <a:p>
            <a:pPr marL="0" indent="0">
              <a:lnSpc>
                <a:spcPct val="90000"/>
              </a:lnSpc>
              <a:buFont typeface="Monotype Sorts" pitchFamily="-84" charset="2"/>
              <a:buNone/>
              <a:tabLst>
                <a:tab pos="742278" algn="l"/>
                <a:tab pos="1023411" algn="l"/>
                <a:tab pos="1258984" algn="l"/>
              </a:tabLst>
              <a:defRPr/>
            </a:pPr>
            <a:endParaRPr lang="en-US" dirty="0">
              <a:solidFill>
                <a:srgbClr val="0000FF"/>
              </a:solidFill>
              <a:ea typeface="ＭＳ Ｐゴシック" charset="0"/>
              <a:cs typeface="ＭＳ Ｐゴシック" charset="0"/>
            </a:endParaRPr>
          </a:p>
          <a:p>
            <a:pPr marL="0" indent="0">
              <a:lnSpc>
                <a:spcPct val="90000"/>
              </a:lnSpc>
              <a:buFont typeface="Monotype Sorts" pitchFamily="-84" charset="2"/>
              <a:buNone/>
              <a:tabLst>
                <a:tab pos="742278" algn="l"/>
                <a:tab pos="1023411" algn="l"/>
                <a:tab pos="1258984" algn="l"/>
              </a:tabLst>
              <a:defRPr/>
            </a:pPr>
            <a:r>
              <a:rPr lang="en-US" dirty="0" smtClean="0">
                <a:ea typeface="ＭＳ Ｐゴシック" charset="0"/>
                <a:cs typeface="ＭＳ Ｐゴシック" charset="0"/>
              </a:rPr>
              <a:t>               </a:t>
            </a:r>
            <a:endParaRPr lang="en-US" dirty="0">
              <a:ea typeface="ＭＳ Ｐゴシック" charset="0"/>
              <a:cs typeface="ＭＳ Ｐゴシック" charset="0"/>
            </a:endParaRPr>
          </a:p>
        </p:txBody>
      </p:sp>
      <p:sp>
        <p:nvSpPr>
          <p:cNvPr id="2" name="TextBox 1"/>
          <p:cNvSpPr txBox="1"/>
          <p:nvPr/>
        </p:nvSpPr>
        <p:spPr>
          <a:xfrm>
            <a:off x="5004048" y="4738382"/>
            <a:ext cx="3600400" cy="1440394"/>
          </a:xfrm>
          <a:prstGeom prst="rect">
            <a:avLst/>
          </a:prstGeom>
          <a:noFill/>
        </p:spPr>
        <p:txBody>
          <a:bodyPr wrap="square" rtlCol="0">
            <a:spAutoFit/>
          </a:bodyPr>
          <a:lstStyle/>
          <a:p>
            <a:pPr>
              <a:lnSpc>
                <a:spcPct val="90000"/>
              </a:lnSpc>
              <a:buFont typeface="Monotype Sorts" pitchFamily="-84" charset="2"/>
              <a:buNone/>
              <a:tabLst>
                <a:tab pos="739775" algn="l"/>
                <a:tab pos="1020763" algn="l"/>
                <a:tab pos="1257300" algn="l"/>
              </a:tabLst>
            </a:pPr>
            <a:r>
              <a:rPr lang="en-US" altLang="en-US" sz="1200" b="1" dirty="0" err="1">
                <a:solidFill>
                  <a:srgbClr val="000000"/>
                </a:solidFill>
                <a:latin typeface="Courier New" pitchFamily="49" charset="0"/>
                <a:cs typeface="Courier New" pitchFamily="49" charset="0"/>
              </a:rPr>
              <a:t>boolean</a:t>
            </a:r>
            <a:r>
              <a:rPr lang="en-US" altLang="en-US" sz="1200" b="1" dirty="0">
                <a:solidFill>
                  <a:srgbClr val="000000"/>
                </a:solidFill>
                <a:latin typeface="Courier New" pitchFamily="49" charset="0"/>
                <a:cs typeface="Courier New" pitchFamily="49" charset="0"/>
              </a:rPr>
              <a:t> </a:t>
            </a:r>
            <a:r>
              <a:rPr lang="en-US" altLang="en-US" sz="1200" b="1" dirty="0" err="1">
                <a:solidFill>
                  <a:srgbClr val="000000"/>
                </a:solidFill>
                <a:latin typeface="Courier New" pitchFamily="49" charset="0"/>
                <a:cs typeface="Courier New" pitchFamily="49" charset="0"/>
              </a:rPr>
              <a:t>test_and_set</a:t>
            </a:r>
            <a:r>
              <a:rPr lang="en-US" altLang="en-US" sz="1200" b="1" dirty="0">
                <a:solidFill>
                  <a:srgbClr val="000000"/>
                </a:solidFill>
                <a:latin typeface="Courier New" pitchFamily="49" charset="0"/>
                <a:cs typeface="Courier New" pitchFamily="49" charset="0"/>
              </a:rPr>
              <a:t> (</a:t>
            </a:r>
            <a:r>
              <a:rPr lang="en-US" altLang="en-US" sz="1200" b="1" dirty="0" err="1">
                <a:solidFill>
                  <a:srgbClr val="000000"/>
                </a:solidFill>
                <a:latin typeface="Courier New" pitchFamily="49" charset="0"/>
                <a:cs typeface="Courier New" pitchFamily="49" charset="0"/>
              </a:rPr>
              <a:t>boolean</a:t>
            </a:r>
            <a:r>
              <a:rPr lang="en-US" altLang="en-US" sz="1200" b="1" dirty="0">
                <a:solidFill>
                  <a:srgbClr val="000000"/>
                </a:solidFill>
                <a:latin typeface="Courier New" pitchFamily="49" charset="0"/>
                <a:cs typeface="Courier New" pitchFamily="49" charset="0"/>
              </a:rPr>
              <a:t> *target)</a:t>
            </a:r>
          </a:p>
          <a:p>
            <a:pPr>
              <a:lnSpc>
                <a:spcPct val="90000"/>
              </a:lnSpc>
              <a:buFont typeface="Monotype Sorts" pitchFamily="-84" charset="2"/>
              <a:buNone/>
              <a:tabLst>
                <a:tab pos="739775" algn="l"/>
                <a:tab pos="1020763" algn="l"/>
                <a:tab pos="1257300" algn="l"/>
              </a:tabLst>
            </a:pPr>
            <a:r>
              <a:rPr lang="en-US" altLang="en-US" sz="1200" b="1" dirty="0">
                <a:solidFill>
                  <a:srgbClr val="000000"/>
                </a:solidFill>
                <a:latin typeface="Courier New" pitchFamily="49" charset="0"/>
                <a:cs typeface="Courier New" pitchFamily="49" charset="0"/>
              </a:rPr>
              <a:t>          {</a:t>
            </a:r>
          </a:p>
          <a:p>
            <a:pPr>
              <a:lnSpc>
                <a:spcPct val="90000"/>
              </a:lnSpc>
              <a:buFont typeface="Monotype Sorts" pitchFamily="-84" charset="2"/>
              <a:buNone/>
              <a:tabLst>
                <a:tab pos="739775" algn="l"/>
                <a:tab pos="1020763" algn="l"/>
                <a:tab pos="1257300" algn="l"/>
              </a:tabLst>
            </a:pPr>
            <a:r>
              <a:rPr lang="en-US" altLang="en-US" sz="1200" b="1" dirty="0">
                <a:solidFill>
                  <a:srgbClr val="000000"/>
                </a:solidFill>
                <a:latin typeface="Courier New" pitchFamily="49" charset="0"/>
                <a:cs typeface="Courier New" pitchFamily="49" charset="0"/>
              </a:rPr>
              <a:t>               </a:t>
            </a:r>
            <a:r>
              <a:rPr lang="en-US" altLang="en-US" sz="1200" b="1" dirty="0" err="1">
                <a:solidFill>
                  <a:srgbClr val="000000"/>
                </a:solidFill>
                <a:latin typeface="Courier New" pitchFamily="49" charset="0"/>
                <a:cs typeface="Courier New" pitchFamily="49" charset="0"/>
              </a:rPr>
              <a:t>boolean</a:t>
            </a:r>
            <a:r>
              <a:rPr lang="en-US" altLang="en-US" sz="1200" b="1" dirty="0">
                <a:solidFill>
                  <a:srgbClr val="000000"/>
                </a:solidFill>
                <a:latin typeface="Courier New" pitchFamily="49" charset="0"/>
                <a:cs typeface="Courier New" pitchFamily="49" charset="0"/>
              </a:rPr>
              <a:t> </a:t>
            </a:r>
            <a:r>
              <a:rPr lang="en-US" altLang="en-US" sz="1200" b="1" dirty="0" err="1">
                <a:solidFill>
                  <a:srgbClr val="000000"/>
                </a:solidFill>
                <a:latin typeface="Courier New" pitchFamily="49" charset="0"/>
                <a:cs typeface="Courier New" pitchFamily="49" charset="0"/>
              </a:rPr>
              <a:t>rv</a:t>
            </a:r>
            <a:r>
              <a:rPr lang="en-US" altLang="en-US" sz="1200" b="1" dirty="0">
                <a:solidFill>
                  <a:srgbClr val="000000"/>
                </a:solidFill>
                <a:latin typeface="Courier New" pitchFamily="49" charset="0"/>
                <a:cs typeface="Courier New" pitchFamily="49" charset="0"/>
              </a:rPr>
              <a:t> = *target;</a:t>
            </a:r>
          </a:p>
          <a:p>
            <a:pPr>
              <a:lnSpc>
                <a:spcPct val="90000"/>
              </a:lnSpc>
              <a:buFont typeface="Monotype Sorts" pitchFamily="-84" charset="2"/>
              <a:buNone/>
              <a:tabLst>
                <a:tab pos="739775" algn="l"/>
                <a:tab pos="1020763" algn="l"/>
                <a:tab pos="1257300" algn="l"/>
              </a:tabLst>
            </a:pPr>
            <a:r>
              <a:rPr lang="en-US" altLang="en-US" sz="1200" b="1" dirty="0">
                <a:solidFill>
                  <a:srgbClr val="000000"/>
                </a:solidFill>
                <a:latin typeface="Courier New" pitchFamily="49" charset="0"/>
                <a:cs typeface="Courier New" pitchFamily="49" charset="0"/>
              </a:rPr>
              <a:t>               *target = TRUE;</a:t>
            </a:r>
          </a:p>
          <a:p>
            <a:pPr>
              <a:lnSpc>
                <a:spcPct val="90000"/>
              </a:lnSpc>
              <a:buFont typeface="Monotype Sorts" pitchFamily="-84" charset="2"/>
              <a:buNone/>
              <a:tabLst>
                <a:tab pos="739775" algn="l"/>
                <a:tab pos="1020763" algn="l"/>
                <a:tab pos="1257300" algn="l"/>
              </a:tabLst>
            </a:pPr>
            <a:r>
              <a:rPr lang="en-US" altLang="en-US" sz="1200" b="1" dirty="0">
                <a:solidFill>
                  <a:srgbClr val="000000"/>
                </a:solidFill>
                <a:latin typeface="Courier New" pitchFamily="49" charset="0"/>
                <a:cs typeface="Courier New" pitchFamily="49" charset="0"/>
              </a:rPr>
              <a:t>               return </a:t>
            </a:r>
            <a:r>
              <a:rPr lang="en-US" altLang="en-US" sz="1200" b="1" dirty="0" err="1">
                <a:solidFill>
                  <a:srgbClr val="000000"/>
                </a:solidFill>
                <a:latin typeface="Courier New" pitchFamily="49" charset="0"/>
                <a:cs typeface="Courier New" pitchFamily="49" charset="0"/>
              </a:rPr>
              <a:t>rv</a:t>
            </a:r>
            <a:r>
              <a:rPr lang="en-US" altLang="en-US" sz="1200" b="1" dirty="0">
                <a:solidFill>
                  <a:srgbClr val="000000"/>
                </a:solidFill>
                <a:latin typeface="Courier New" pitchFamily="49" charset="0"/>
                <a:cs typeface="Courier New" pitchFamily="49" charset="0"/>
              </a:rPr>
              <a:t>:</a:t>
            </a:r>
          </a:p>
          <a:p>
            <a:pPr>
              <a:lnSpc>
                <a:spcPct val="90000"/>
              </a:lnSpc>
              <a:buFont typeface="Monotype Sorts" pitchFamily="-84" charset="2"/>
              <a:buNone/>
              <a:tabLst>
                <a:tab pos="739775" algn="l"/>
                <a:tab pos="1020763" algn="l"/>
                <a:tab pos="1257300" algn="l"/>
              </a:tabLst>
            </a:pPr>
            <a:r>
              <a:rPr lang="en-US" altLang="en-US" sz="1200" b="1" dirty="0">
                <a:solidFill>
                  <a:srgbClr val="000000"/>
                </a:solidFill>
                <a:latin typeface="Courier New" pitchFamily="49" charset="0"/>
                <a:cs typeface="Courier New" pitchFamily="49" charset="0"/>
              </a:rPr>
              <a:t>          }</a:t>
            </a:r>
            <a:endParaRPr lang="en-US" altLang="en-US" sz="1200" dirty="0">
              <a:solidFill>
                <a:srgbClr val="0000FF"/>
              </a:solidFill>
            </a:endParaRPr>
          </a:p>
          <a:p>
            <a:endParaRPr lang="en-IN" sz="1200" dirty="0"/>
          </a:p>
        </p:txBody>
      </p:sp>
    </p:spTree>
    <p:extLst>
      <p:ext uri="{BB962C8B-B14F-4D97-AF65-F5344CB8AC3E}">
        <p14:creationId xmlns:p14="http://schemas.microsoft.com/office/powerpoint/2010/main" val="35953921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63625" y="277813"/>
            <a:ext cx="7623175" cy="576262"/>
          </a:xfrm>
        </p:spPr>
        <p:txBody>
          <a:bodyPr>
            <a:normAutofit fontScale="90000"/>
          </a:bodyPr>
          <a:lstStyle/>
          <a:p>
            <a:pPr eaLnBrk="1" hangingPunct="1"/>
            <a:r>
              <a:rPr lang="en-US" altLang="en-US" smtClean="0"/>
              <a:t>compare_and_swap Instruction</a:t>
            </a:r>
          </a:p>
        </p:txBody>
      </p:sp>
      <p:sp>
        <p:nvSpPr>
          <p:cNvPr id="22531" name="Rectangle 3"/>
          <p:cNvSpPr>
            <a:spLocks noGrp="1" noChangeArrowheads="1"/>
          </p:cNvSpPr>
          <p:nvPr>
            <p:ph idx="1"/>
          </p:nvPr>
        </p:nvSpPr>
        <p:spPr>
          <a:xfrm>
            <a:off x="806450" y="850900"/>
            <a:ext cx="7916863" cy="4867275"/>
          </a:xfrm>
        </p:spPr>
        <p:txBody>
          <a:bodyPr>
            <a:normAutofit fontScale="92500" lnSpcReduction="20000"/>
          </a:bodyPr>
          <a:lstStyle/>
          <a:p>
            <a:pPr>
              <a:lnSpc>
                <a:spcPct val="90000"/>
              </a:lnSpc>
              <a:buFont typeface="Monotype Sorts" pitchFamily="-84" charset="2"/>
              <a:buNone/>
              <a:tabLst>
                <a:tab pos="741363" algn="l"/>
                <a:tab pos="1022350" algn="l"/>
                <a:tab pos="1258888" algn="l"/>
              </a:tabLst>
            </a:pPr>
            <a:endParaRPr lang="en-US" altLang="en-US" dirty="0" smtClean="0"/>
          </a:p>
          <a:p>
            <a:pPr>
              <a:lnSpc>
                <a:spcPct val="90000"/>
              </a:lnSpc>
              <a:buFont typeface="Monotype Sorts" pitchFamily="-84" charset="2"/>
              <a:buNone/>
              <a:tabLst>
                <a:tab pos="741363" algn="l"/>
                <a:tab pos="1022350" algn="l"/>
                <a:tab pos="1258888" algn="l"/>
              </a:tabLst>
            </a:pPr>
            <a:r>
              <a:rPr lang="en-US" altLang="en-US" sz="2600" dirty="0" smtClean="0"/>
              <a:t>Definition:</a:t>
            </a:r>
          </a:p>
          <a:p>
            <a:pPr>
              <a:buFont typeface="Monotype Sorts" pitchFamily="-84" charset="2"/>
              <a:buNone/>
              <a:tabLst>
                <a:tab pos="741363" algn="l"/>
                <a:tab pos="1022350" algn="l"/>
                <a:tab pos="1258888" algn="l"/>
              </a:tabLst>
            </a:pPr>
            <a:r>
              <a:rPr lang="en-US" altLang="en-US" sz="2600" b="1" dirty="0" smtClean="0">
                <a:latin typeface="Courier New" pitchFamily="49" charset="0"/>
                <a:cs typeface="Courier New" pitchFamily="49" charset="0"/>
              </a:rPr>
              <a:t>  </a:t>
            </a:r>
            <a:r>
              <a:rPr lang="en-US" altLang="en-US" sz="2600" b="1" dirty="0" err="1" smtClean="0">
                <a:latin typeface="Courier New" pitchFamily="49" charset="0"/>
                <a:cs typeface="Courier New" pitchFamily="49" charset="0"/>
              </a:rPr>
              <a:t>int</a:t>
            </a:r>
            <a:r>
              <a:rPr lang="en-US" altLang="en-US" sz="2600" b="1" dirty="0" smtClean="0">
                <a:latin typeface="Courier New" pitchFamily="49" charset="0"/>
                <a:cs typeface="Courier New" pitchFamily="49" charset="0"/>
              </a:rPr>
              <a:t> </a:t>
            </a:r>
            <a:r>
              <a:rPr lang="en-US" altLang="en-US" sz="2600" b="1" dirty="0" err="1" smtClean="0">
                <a:latin typeface="Courier New" pitchFamily="49" charset="0"/>
                <a:cs typeface="Courier New" pitchFamily="49" charset="0"/>
              </a:rPr>
              <a:t>compare_and_swap</a:t>
            </a:r>
            <a:r>
              <a:rPr lang="en-US" altLang="en-US" sz="2600" b="1" dirty="0" smtClean="0">
                <a:latin typeface="Courier New" pitchFamily="49" charset="0"/>
                <a:cs typeface="Courier New" pitchFamily="49" charset="0"/>
              </a:rPr>
              <a:t>(</a:t>
            </a:r>
            <a:r>
              <a:rPr lang="en-US" altLang="en-US" sz="2600" b="1" dirty="0" err="1" smtClean="0">
                <a:latin typeface="Courier New" pitchFamily="49" charset="0"/>
                <a:cs typeface="Courier New" pitchFamily="49" charset="0"/>
              </a:rPr>
              <a:t>int</a:t>
            </a:r>
            <a:r>
              <a:rPr lang="en-US" altLang="en-US" sz="2600" b="1" dirty="0" smtClean="0">
                <a:latin typeface="Courier New" pitchFamily="49" charset="0"/>
                <a:cs typeface="Courier New" pitchFamily="49" charset="0"/>
              </a:rPr>
              <a:t> *value, </a:t>
            </a:r>
            <a:r>
              <a:rPr lang="en-US" altLang="en-US" sz="2600" b="1" dirty="0" err="1" smtClean="0">
                <a:latin typeface="Courier New" pitchFamily="49" charset="0"/>
                <a:cs typeface="Courier New" pitchFamily="49" charset="0"/>
              </a:rPr>
              <a:t>int</a:t>
            </a:r>
            <a:r>
              <a:rPr lang="en-US" altLang="en-US" sz="2600" b="1" dirty="0" smtClean="0">
                <a:latin typeface="Courier New" pitchFamily="49" charset="0"/>
                <a:cs typeface="Courier New" pitchFamily="49" charset="0"/>
              </a:rPr>
              <a:t> expected, </a:t>
            </a:r>
            <a:r>
              <a:rPr lang="en-US" altLang="en-US" sz="2600" b="1" dirty="0" err="1" smtClean="0">
                <a:latin typeface="Courier New" pitchFamily="49" charset="0"/>
                <a:cs typeface="Courier New" pitchFamily="49" charset="0"/>
              </a:rPr>
              <a:t>int</a:t>
            </a:r>
            <a:r>
              <a:rPr lang="en-US" altLang="en-US" sz="2600" b="1" dirty="0" smtClean="0">
                <a:latin typeface="Courier New" pitchFamily="49" charset="0"/>
                <a:cs typeface="Courier New" pitchFamily="49" charset="0"/>
              </a:rPr>
              <a:t> </a:t>
            </a:r>
            <a:r>
              <a:rPr lang="en-US" altLang="en-US" sz="2600" b="1" dirty="0" err="1" smtClean="0">
                <a:latin typeface="Courier New" pitchFamily="49" charset="0"/>
                <a:cs typeface="Courier New" pitchFamily="49" charset="0"/>
              </a:rPr>
              <a:t>new_value</a:t>
            </a:r>
            <a:r>
              <a:rPr lang="en-US" altLang="en-US" sz="2600" b="1" dirty="0" smtClean="0">
                <a:latin typeface="Courier New" pitchFamily="49" charset="0"/>
                <a:cs typeface="Courier New" pitchFamily="49" charset="0"/>
              </a:rPr>
              <a:t>) { </a:t>
            </a:r>
          </a:p>
          <a:p>
            <a:pPr>
              <a:buFont typeface="Monotype Sorts" pitchFamily="-84" charset="2"/>
              <a:buNone/>
              <a:tabLst>
                <a:tab pos="741363" algn="l"/>
                <a:tab pos="1022350" algn="l"/>
                <a:tab pos="1258888" algn="l"/>
              </a:tabLst>
            </a:pPr>
            <a:r>
              <a:rPr lang="en-US" altLang="en-US" sz="2600" b="1" dirty="0" smtClean="0">
                <a:latin typeface="Courier New" pitchFamily="49" charset="0"/>
                <a:cs typeface="Courier New" pitchFamily="49" charset="0"/>
              </a:rPr>
              <a:t>         </a:t>
            </a:r>
            <a:r>
              <a:rPr lang="en-US" altLang="en-US" sz="2600" b="1" dirty="0" err="1" smtClean="0">
                <a:latin typeface="Courier New" pitchFamily="49" charset="0"/>
                <a:cs typeface="Courier New" pitchFamily="49" charset="0"/>
              </a:rPr>
              <a:t>int</a:t>
            </a:r>
            <a:r>
              <a:rPr lang="en-US" altLang="en-US" sz="2600" b="1" dirty="0" smtClean="0">
                <a:latin typeface="Courier New" pitchFamily="49" charset="0"/>
                <a:cs typeface="Courier New" pitchFamily="49" charset="0"/>
              </a:rPr>
              <a:t> temp = *value; </a:t>
            </a:r>
          </a:p>
          <a:p>
            <a:pPr>
              <a:buFont typeface="Monotype Sorts" pitchFamily="-84" charset="2"/>
              <a:buNone/>
              <a:tabLst>
                <a:tab pos="741363" algn="l"/>
                <a:tab pos="1022350" algn="l"/>
                <a:tab pos="1258888" algn="l"/>
              </a:tabLst>
            </a:pPr>
            <a:r>
              <a:rPr lang="en-US" altLang="en-US" sz="2600" b="1" dirty="0" smtClean="0">
                <a:latin typeface="Courier New" pitchFamily="49" charset="0"/>
                <a:cs typeface="Courier New" pitchFamily="49" charset="0"/>
              </a:rPr>
              <a:t>         </a:t>
            </a:r>
            <a:r>
              <a:rPr lang="en-US" altLang="en-US" sz="2600" b="1" dirty="0" smtClean="0">
                <a:solidFill>
                  <a:srgbClr val="FF0000"/>
                </a:solidFill>
                <a:latin typeface="Courier New" pitchFamily="49" charset="0"/>
                <a:cs typeface="Courier New" pitchFamily="49" charset="0"/>
              </a:rPr>
              <a:t>if (*value == expected) </a:t>
            </a:r>
          </a:p>
          <a:p>
            <a:pPr>
              <a:buFont typeface="Monotype Sorts" pitchFamily="-84" charset="2"/>
              <a:buNone/>
              <a:tabLst>
                <a:tab pos="741363" algn="l"/>
                <a:tab pos="1022350" algn="l"/>
                <a:tab pos="1258888" algn="l"/>
              </a:tabLst>
            </a:pPr>
            <a:r>
              <a:rPr lang="en-US" altLang="en-US" sz="2600" b="1" dirty="0" smtClean="0">
                <a:solidFill>
                  <a:srgbClr val="FF0000"/>
                </a:solidFill>
                <a:latin typeface="Courier New" pitchFamily="49" charset="0"/>
                <a:cs typeface="Courier New" pitchFamily="49" charset="0"/>
              </a:rPr>
              <a:t>            *value = </a:t>
            </a:r>
            <a:r>
              <a:rPr lang="en-US" altLang="en-US" sz="2600" b="1" dirty="0" err="1" smtClean="0">
                <a:solidFill>
                  <a:srgbClr val="FF0000"/>
                </a:solidFill>
                <a:latin typeface="Courier New" pitchFamily="49" charset="0"/>
                <a:cs typeface="Courier New" pitchFamily="49" charset="0"/>
              </a:rPr>
              <a:t>new_value</a:t>
            </a:r>
            <a:r>
              <a:rPr lang="en-US" altLang="en-US" sz="2600" b="1" dirty="0" smtClean="0">
                <a:solidFill>
                  <a:srgbClr val="FF0000"/>
                </a:solidFill>
                <a:latin typeface="Courier New" pitchFamily="49" charset="0"/>
                <a:cs typeface="Courier New" pitchFamily="49" charset="0"/>
              </a:rPr>
              <a:t>; </a:t>
            </a:r>
          </a:p>
          <a:p>
            <a:pPr>
              <a:buFont typeface="Monotype Sorts" pitchFamily="-84" charset="2"/>
              <a:buNone/>
              <a:tabLst>
                <a:tab pos="741363" algn="l"/>
                <a:tab pos="1022350" algn="l"/>
                <a:tab pos="1258888" algn="l"/>
              </a:tabLst>
            </a:pPr>
            <a:r>
              <a:rPr lang="en-US" altLang="en-US" sz="2600" b="1" dirty="0" smtClean="0">
                <a:latin typeface="Courier New" pitchFamily="49" charset="0"/>
                <a:cs typeface="Courier New" pitchFamily="49" charset="0"/>
              </a:rPr>
              <a:t>      return temp; </a:t>
            </a:r>
          </a:p>
          <a:p>
            <a:pPr>
              <a:buFont typeface="Monotype Sorts" pitchFamily="-84" charset="2"/>
              <a:buNone/>
              <a:tabLst>
                <a:tab pos="741363" algn="l"/>
                <a:tab pos="1022350" algn="l"/>
                <a:tab pos="1258888" algn="l"/>
              </a:tabLst>
            </a:pPr>
            <a:r>
              <a:rPr lang="en-US" altLang="en-US" sz="2600" b="1" dirty="0" smtClean="0">
                <a:latin typeface="Courier New" pitchFamily="49" charset="0"/>
                <a:cs typeface="Courier New" pitchFamily="49" charset="0"/>
              </a:rPr>
              <a:t>     } </a:t>
            </a:r>
          </a:p>
          <a:p>
            <a:pPr>
              <a:lnSpc>
                <a:spcPct val="90000"/>
              </a:lnSpc>
              <a:buFont typeface="Monotype Sorts" pitchFamily="-84" charset="2"/>
              <a:buAutoNum type="arabicPeriod"/>
              <a:tabLst>
                <a:tab pos="741363" algn="l"/>
                <a:tab pos="1022350" algn="l"/>
                <a:tab pos="1258888" algn="l"/>
              </a:tabLst>
            </a:pPr>
            <a:r>
              <a:rPr lang="en-US" altLang="en-US" sz="2600" b="1" dirty="0" smtClean="0">
                <a:solidFill>
                  <a:srgbClr val="00B050"/>
                </a:solidFill>
              </a:rPr>
              <a:t>Executed atomically</a:t>
            </a:r>
          </a:p>
          <a:p>
            <a:pPr>
              <a:lnSpc>
                <a:spcPct val="90000"/>
              </a:lnSpc>
              <a:buFont typeface="Monotype Sorts" pitchFamily="-84" charset="2"/>
              <a:buAutoNum type="arabicPeriod"/>
              <a:tabLst>
                <a:tab pos="741363" algn="l"/>
                <a:tab pos="1022350" algn="l"/>
                <a:tab pos="1258888" algn="l"/>
              </a:tabLst>
            </a:pPr>
            <a:r>
              <a:rPr lang="en-US" altLang="en-US" sz="2600" dirty="0" smtClean="0"/>
              <a:t>Returns the original value of passed parameter “value”</a:t>
            </a:r>
          </a:p>
          <a:p>
            <a:pPr algn="just">
              <a:lnSpc>
                <a:spcPct val="90000"/>
              </a:lnSpc>
              <a:buFont typeface="Monotype Sorts" pitchFamily="-84" charset="2"/>
              <a:buAutoNum type="arabicPeriod"/>
              <a:tabLst>
                <a:tab pos="741363" algn="l"/>
                <a:tab pos="1022350" algn="l"/>
                <a:tab pos="1258888" algn="l"/>
              </a:tabLst>
            </a:pPr>
            <a:r>
              <a:rPr lang="en-US" altLang="en-US" sz="2600" dirty="0" smtClean="0"/>
              <a:t>Set  the variable “value”  the value of the passed parameter “</a:t>
            </a:r>
            <a:r>
              <a:rPr lang="en-US" altLang="en-US" sz="2600" dirty="0" err="1" smtClean="0"/>
              <a:t>new_value</a:t>
            </a:r>
            <a:r>
              <a:rPr lang="en-US" altLang="en-US" sz="2600" dirty="0" smtClean="0"/>
              <a:t>” but only if “value” ==“expected”. That is, the swap takes place only under this condition.</a:t>
            </a:r>
          </a:p>
          <a:p>
            <a:pPr>
              <a:lnSpc>
                <a:spcPct val="90000"/>
              </a:lnSpc>
              <a:buFont typeface="Monotype Sorts" pitchFamily="-84" charset="2"/>
              <a:buAutoNum type="arabicPeriod"/>
              <a:tabLst>
                <a:tab pos="741363" algn="l"/>
                <a:tab pos="1022350" algn="l"/>
                <a:tab pos="1258888" algn="l"/>
              </a:tabLst>
            </a:pPr>
            <a:endParaRPr lang="en-US" altLang="en-US" sz="2600" dirty="0" smtClean="0">
              <a:solidFill>
                <a:srgbClr val="0000FF"/>
              </a:solidFill>
            </a:endParaRPr>
          </a:p>
        </p:txBody>
      </p:sp>
    </p:spTree>
    <p:extLst>
      <p:ext uri="{BB962C8B-B14F-4D97-AF65-F5344CB8AC3E}">
        <p14:creationId xmlns:p14="http://schemas.microsoft.com/office/powerpoint/2010/main" val="34327145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192213" y="219075"/>
            <a:ext cx="7567612" cy="576263"/>
          </a:xfrm>
        </p:spPr>
        <p:txBody>
          <a:bodyPr>
            <a:normAutofit fontScale="90000"/>
          </a:bodyPr>
          <a:lstStyle/>
          <a:p>
            <a:pPr eaLnBrk="1" hangingPunct="1"/>
            <a:r>
              <a:rPr lang="en-US" altLang="en-US" smtClean="0"/>
              <a:t>Solution using compare_and_swap</a:t>
            </a:r>
          </a:p>
        </p:txBody>
      </p:sp>
      <p:sp>
        <p:nvSpPr>
          <p:cNvPr id="23555" name="Rectangle 3"/>
          <p:cNvSpPr>
            <a:spLocks noGrp="1" noChangeArrowheads="1"/>
          </p:cNvSpPr>
          <p:nvPr>
            <p:ph idx="1"/>
          </p:nvPr>
        </p:nvSpPr>
        <p:spPr>
          <a:xfrm>
            <a:off x="827088" y="1211263"/>
            <a:ext cx="7766050" cy="4882033"/>
          </a:xfrm>
        </p:spPr>
        <p:txBody>
          <a:bodyPr>
            <a:normAutofit fontScale="77500" lnSpcReduction="20000"/>
          </a:bodyPr>
          <a:lstStyle/>
          <a:p>
            <a:pPr>
              <a:lnSpc>
                <a:spcPct val="90000"/>
              </a:lnSpc>
              <a:tabLst>
                <a:tab pos="741363" algn="l"/>
                <a:tab pos="1022350" algn="l"/>
                <a:tab pos="1258888" algn="l"/>
              </a:tabLst>
            </a:pPr>
            <a:r>
              <a:rPr lang="en-US" altLang="en-US" dirty="0" smtClean="0"/>
              <a:t>Shared integer  </a:t>
            </a:r>
            <a:r>
              <a:rPr lang="ja-JP" altLang="en-US" dirty="0" smtClean="0"/>
              <a:t>“</a:t>
            </a:r>
            <a:r>
              <a:rPr lang="en-US" altLang="ja-JP" dirty="0" smtClean="0"/>
              <a:t>lock</a:t>
            </a:r>
            <a:r>
              <a:rPr lang="ja-JP" altLang="en-US" dirty="0" smtClean="0"/>
              <a:t>”</a:t>
            </a:r>
            <a:r>
              <a:rPr lang="en-US" altLang="ja-JP" dirty="0" smtClean="0"/>
              <a:t> is initialized to 0. </a:t>
            </a:r>
          </a:p>
          <a:p>
            <a:pPr algn="just"/>
            <a:r>
              <a:rPr lang="en-US" altLang="en-US" sz="2400" b="1" dirty="0" smtClean="0">
                <a:solidFill>
                  <a:srgbClr val="00B050"/>
                </a:solidFill>
              </a:rPr>
              <a:t>Solution-</a:t>
            </a:r>
            <a:r>
              <a:rPr lang="en-US" sz="2400" b="1" dirty="0" smtClean="0">
                <a:solidFill>
                  <a:srgbClr val="00B050"/>
                </a:solidFill>
              </a:rPr>
              <a:t>Mutual-exclusion </a:t>
            </a:r>
            <a:r>
              <a:rPr lang="en-US" sz="2400" b="1" dirty="0">
                <a:solidFill>
                  <a:srgbClr val="00B050"/>
                </a:solidFill>
              </a:rPr>
              <a:t>implementation with the compare and swap</a:t>
            </a:r>
            <a:r>
              <a:rPr lang="en-US" sz="2400" b="1" dirty="0" smtClean="0">
                <a:solidFill>
                  <a:srgbClr val="00B050"/>
                </a:solidFill>
              </a:rPr>
              <a:t>() </a:t>
            </a:r>
            <a:r>
              <a:rPr lang="en-IN" sz="2400" b="1" dirty="0" smtClean="0">
                <a:solidFill>
                  <a:srgbClr val="00B050"/>
                </a:solidFill>
              </a:rPr>
              <a:t>instruction</a:t>
            </a:r>
            <a:r>
              <a:rPr lang="en-IN" sz="2400" b="1" dirty="0">
                <a:solidFill>
                  <a:srgbClr val="00B050"/>
                </a:solidFill>
              </a:rPr>
              <a:t>:</a:t>
            </a:r>
            <a:endParaRPr lang="en-US" altLang="en-US" sz="2400" b="1" dirty="0" smtClean="0">
              <a:solidFill>
                <a:srgbClr val="00B050"/>
              </a:solidFill>
            </a:endParaRPr>
          </a:p>
          <a:p>
            <a:pPr>
              <a:buFont typeface="Monotype Sorts" pitchFamily="-84" charset="2"/>
              <a:buNone/>
              <a:tabLst>
                <a:tab pos="741363" algn="l"/>
                <a:tab pos="1022350" algn="l"/>
                <a:tab pos="1258888" algn="l"/>
              </a:tabLst>
            </a:pPr>
            <a:r>
              <a:rPr lang="en-US" altLang="en-US" b="1" dirty="0" smtClean="0">
                <a:latin typeface="Courier New" pitchFamily="49" charset="0"/>
                <a:cs typeface="Courier New" pitchFamily="49" charset="0"/>
              </a:rPr>
              <a:t>   </a:t>
            </a:r>
            <a:r>
              <a:rPr lang="en-US" altLang="en-US" sz="2000" b="1" dirty="0" smtClean="0">
                <a:latin typeface="Courier New" pitchFamily="49" charset="0"/>
                <a:cs typeface="Courier New" pitchFamily="49" charset="0"/>
              </a:rPr>
              <a:t>do {</a:t>
            </a:r>
            <a:br>
              <a:rPr lang="en-US" altLang="en-US" sz="2000" b="1" dirty="0" smtClean="0">
                <a:latin typeface="Courier New" pitchFamily="49" charset="0"/>
                <a:cs typeface="Courier New" pitchFamily="49" charset="0"/>
              </a:rPr>
            </a:br>
            <a:r>
              <a:rPr lang="en-US" altLang="en-US" sz="2000" b="1" dirty="0" smtClean="0">
                <a:latin typeface="Courier New" pitchFamily="49" charset="0"/>
                <a:cs typeface="Courier New" pitchFamily="49" charset="0"/>
              </a:rPr>
              <a:t>     while (</a:t>
            </a:r>
            <a:r>
              <a:rPr lang="en-US" altLang="en-US" sz="2000" b="1" dirty="0" err="1" smtClean="0">
                <a:latin typeface="Courier New" pitchFamily="49" charset="0"/>
                <a:cs typeface="Courier New" pitchFamily="49" charset="0"/>
              </a:rPr>
              <a:t>compare_and_swap</a:t>
            </a:r>
            <a:r>
              <a:rPr lang="en-US" altLang="en-US" sz="2000" b="1" dirty="0" smtClean="0">
                <a:latin typeface="Courier New" pitchFamily="49" charset="0"/>
                <a:cs typeface="Courier New" pitchFamily="49" charset="0"/>
              </a:rPr>
              <a:t>(&amp;lock, 0, 1) != 0) </a:t>
            </a:r>
          </a:p>
          <a:p>
            <a:pPr>
              <a:buFont typeface="Monotype Sorts" pitchFamily="-84" charset="2"/>
              <a:buNone/>
              <a:tabLst>
                <a:tab pos="741363" algn="l"/>
                <a:tab pos="1022350" algn="l"/>
                <a:tab pos="1258888" algn="l"/>
              </a:tabLst>
            </a:pPr>
            <a:r>
              <a:rPr lang="en-US" altLang="en-US" sz="2000" b="1" dirty="0" smtClean="0">
                <a:latin typeface="Courier New" pitchFamily="49" charset="0"/>
                <a:cs typeface="Courier New" pitchFamily="49" charset="0"/>
              </a:rPr>
              <a:t>            ; /* do nothing */ </a:t>
            </a:r>
          </a:p>
          <a:p>
            <a:pPr>
              <a:buFont typeface="Monotype Sorts" pitchFamily="-84" charset="2"/>
              <a:buNone/>
              <a:tabLst>
                <a:tab pos="741363" algn="l"/>
                <a:tab pos="1022350" algn="l"/>
                <a:tab pos="1258888" algn="l"/>
              </a:tabLst>
            </a:pPr>
            <a:r>
              <a:rPr lang="en-US" altLang="en-US" sz="2000" b="1" dirty="0" smtClean="0">
                <a:latin typeface="Courier New" pitchFamily="49" charset="0"/>
                <a:cs typeface="Courier New" pitchFamily="49" charset="0"/>
              </a:rPr>
              <a:t>       /* critical section */ </a:t>
            </a:r>
          </a:p>
          <a:p>
            <a:pPr>
              <a:buFont typeface="Monotype Sorts" pitchFamily="-84" charset="2"/>
              <a:buNone/>
              <a:tabLst>
                <a:tab pos="741363" algn="l"/>
                <a:tab pos="1022350" algn="l"/>
                <a:tab pos="1258888" algn="l"/>
              </a:tabLst>
            </a:pPr>
            <a:r>
              <a:rPr lang="en-US" altLang="en-US" sz="2000" b="1" dirty="0" smtClean="0">
                <a:latin typeface="Courier New" pitchFamily="49" charset="0"/>
                <a:cs typeface="Courier New" pitchFamily="49" charset="0"/>
              </a:rPr>
              <a:t>       lock = 0; </a:t>
            </a:r>
          </a:p>
          <a:p>
            <a:pPr>
              <a:buFont typeface="Monotype Sorts" pitchFamily="-84" charset="2"/>
              <a:buNone/>
              <a:tabLst>
                <a:tab pos="741363" algn="l"/>
                <a:tab pos="1022350" algn="l"/>
                <a:tab pos="1258888" algn="l"/>
              </a:tabLst>
            </a:pPr>
            <a:r>
              <a:rPr lang="en-US" altLang="en-US" sz="2000" b="1" dirty="0" smtClean="0">
                <a:latin typeface="Courier New" pitchFamily="49" charset="0"/>
                <a:cs typeface="Courier New" pitchFamily="49" charset="0"/>
              </a:rPr>
              <a:t>       /* remainder section */ </a:t>
            </a:r>
          </a:p>
          <a:p>
            <a:pPr>
              <a:buFont typeface="Monotype Sorts" pitchFamily="-84" charset="2"/>
              <a:buNone/>
              <a:tabLst>
                <a:tab pos="741363" algn="l"/>
                <a:tab pos="1022350" algn="l"/>
                <a:tab pos="1258888" algn="l"/>
              </a:tabLst>
            </a:pPr>
            <a:r>
              <a:rPr lang="en-US" altLang="en-US" sz="2000" b="1" dirty="0" smtClean="0">
                <a:latin typeface="Courier New" pitchFamily="49" charset="0"/>
                <a:cs typeface="Courier New" pitchFamily="49" charset="0"/>
              </a:rPr>
              <a:t>     } while (true); </a:t>
            </a:r>
          </a:p>
          <a:p>
            <a:pPr>
              <a:buFont typeface="Monotype Sorts" pitchFamily="-84" charset="2"/>
              <a:buNone/>
              <a:tabLst>
                <a:tab pos="741363" algn="l"/>
                <a:tab pos="1022350" algn="l"/>
                <a:tab pos="1258888" algn="l"/>
              </a:tabLst>
            </a:pPr>
            <a:endParaRPr lang="en-US" altLang="en-US" sz="2000" b="1" dirty="0" smtClean="0">
              <a:latin typeface="Courier New" pitchFamily="49" charset="0"/>
              <a:cs typeface="Courier New" pitchFamily="49" charset="0"/>
            </a:endParaRPr>
          </a:p>
          <a:p>
            <a:pPr>
              <a:buFont typeface="Monotype Sorts" pitchFamily="-84" charset="2"/>
              <a:buNone/>
              <a:tabLst>
                <a:tab pos="741363" algn="l"/>
                <a:tab pos="1022350" algn="l"/>
                <a:tab pos="1258888" algn="l"/>
              </a:tabLst>
            </a:pPr>
            <a:endParaRPr lang="en-US" altLang="en-US" sz="2000" b="1" dirty="0">
              <a:latin typeface="Courier New" pitchFamily="49" charset="0"/>
              <a:cs typeface="Courier New" pitchFamily="49" charset="0"/>
            </a:endParaRPr>
          </a:p>
          <a:p>
            <a:pPr>
              <a:buFont typeface="Monotype Sorts" pitchFamily="-84" charset="2"/>
              <a:buNone/>
              <a:tabLst>
                <a:tab pos="741363" algn="l"/>
                <a:tab pos="1022350" algn="l"/>
                <a:tab pos="1258888" algn="l"/>
              </a:tabLst>
            </a:pPr>
            <a:r>
              <a:rPr lang="en-US" altLang="en-US" sz="2000" b="1" smtClean="0">
                <a:latin typeface="Courier New" pitchFamily="49" charset="0"/>
                <a:cs typeface="Courier New" pitchFamily="49" charset="0"/>
              </a:rPr>
              <a:t>//////////////////////////////////////////////////////////////</a:t>
            </a:r>
            <a:endParaRPr lang="en-US" altLang="en-US" sz="2000" b="1" dirty="0">
              <a:latin typeface="Courier New" pitchFamily="49" charset="0"/>
              <a:cs typeface="Courier New" pitchFamily="49" charset="0"/>
            </a:endParaRPr>
          </a:p>
          <a:p>
            <a:pPr>
              <a:buFont typeface="Monotype Sorts" pitchFamily="-84" charset="2"/>
              <a:buNone/>
              <a:tabLst>
                <a:tab pos="741363" algn="l"/>
                <a:tab pos="1022350" algn="l"/>
                <a:tab pos="1258888" algn="l"/>
              </a:tabLst>
            </a:pPr>
            <a:r>
              <a:rPr lang="en-US" altLang="en-US" sz="1400" b="1" dirty="0" err="1">
                <a:latin typeface="Courier New" pitchFamily="49" charset="0"/>
                <a:cs typeface="Courier New" pitchFamily="49" charset="0"/>
              </a:rPr>
              <a:t>int</a:t>
            </a:r>
            <a:r>
              <a:rPr lang="en-US" altLang="en-US" sz="1400" b="1" dirty="0">
                <a:latin typeface="Courier New" pitchFamily="49" charset="0"/>
                <a:cs typeface="Courier New" pitchFamily="49" charset="0"/>
              </a:rPr>
              <a:t> </a:t>
            </a:r>
            <a:r>
              <a:rPr lang="en-US" altLang="en-US" sz="1400" b="1" dirty="0" err="1">
                <a:latin typeface="Courier New" pitchFamily="49" charset="0"/>
                <a:cs typeface="Courier New" pitchFamily="49" charset="0"/>
              </a:rPr>
              <a:t>compare_and_swap</a:t>
            </a:r>
            <a:r>
              <a:rPr lang="en-US" altLang="en-US" sz="1400" b="1" dirty="0">
                <a:latin typeface="Courier New" pitchFamily="49" charset="0"/>
                <a:cs typeface="Courier New" pitchFamily="49" charset="0"/>
              </a:rPr>
              <a:t>(</a:t>
            </a:r>
            <a:r>
              <a:rPr lang="en-US" altLang="en-US" sz="1400" b="1" dirty="0" err="1">
                <a:latin typeface="Courier New" pitchFamily="49" charset="0"/>
                <a:cs typeface="Courier New" pitchFamily="49" charset="0"/>
              </a:rPr>
              <a:t>int</a:t>
            </a:r>
            <a:r>
              <a:rPr lang="en-US" altLang="en-US" sz="1400" b="1" dirty="0">
                <a:latin typeface="Courier New" pitchFamily="49" charset="0"/>
                <a:cs typeface="Courier New" pitchFamily="49" charset="0"/>
              </a:rPr>
              <a:t> *value, </a:t>
            </a:r>
            <a:r>
              <a:rPr lang="en-US" altLang="en-US" sz="1400" b="1" dirty="0" err="1">
                <a:latin typeface="Courier New" pitchFamily="49" charset="0"/>
                <a:cs typeface="Courier New" pitchFamily="49" charset="0"/>
              </a:rPr>
              <a:t>int</a:t>
            </a:r>
            <a:r>
              <a:rPr lang="en-US" altLang="en-US" sz="1400" b="1" dirty="0">
                <a:latin typeface="Courier New" pitchFamily="49" charset="0"/>
                <a:cs typeface="Courier New" pitchFamily="49" charset="0"/>
              </a:rPr>
              <a:t> expected, </a:t>
            </a:r>
            <a:r>
              <a:rPr lang="en-US" altLang="en-US" sz="1400" b="1" dirty="0" err="1">
                <a:latin typeface="Courier New" pitchFamily="49" charset="0"/>
                <a:cs typeface="Courier New" pitchFamily="49" charset="0"/>
              </a:rPr>
              <a:t>int</a:t>
            </a:r>
            <a:r>
              <a:rPr lang="en-US" altLang="en-US" sz="1400" b="1" dirty="0">
                <a:latin typeface="Courier New" pitchFamily="49" charset="0"/>
                <a:cs typeface="Courier New" pitchFamily="49" charset="0"/>
              </a:rPr>
              <a:t> </a:t>
            </a:r>
            <a:r>
              <a:rPr lang="en-US" altLang="en-US" sz="1400" b="1" dirty="0" err="1">
                <a:latin typeface="Courier New" pitchFamily="49" charset="0"/>
                <a:cs typeface="Courier New" pitchFamily="49" charset="0"/>
              </a:rPr>
              <a:t>new_value</a:t>
            </a:r>
            <a:r>
              <a:rPr lang="en-US" altLang="en-US" sz="1400" b="1" dirty="0">
                <a:latin typeface="Courier New" pitchFamily="49" charset="0"/>
                <a:cs typeface="Courier New" pitchFamily="49" charset="0"/>
              </a:rPr>
              <a:t>) {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a:t>
            </a:r>
            <a:r>
              <a:rPr lang="en-US" altLang="en-US" sz="1400" b="1" dirty="0" err="1">
                <a:latin typeface="Courier New" pitchFamily="49" charset="0"/>
                <a:cs typeface="Courier New" pitchFamily="49" charset="0"/>
              </a:rPr>
              <a:t>int</a:t>
            </a:r>
            <a:r>
              <a:rPr lang="en-US" altLang="en-US" sz="1400" b="1" dirty="0">
                <a:latin typeface="Courier New" pitchFamily="49" charset="0"/>
                <a:cs typeface="Courier New" pitchFamily="49" charset="0"/>
              </a:rPr>
              <a:t> temp = *value;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a:t>
            </a:r>
            <a:r>
              <a:rPr lang="en-US" altLang="en-US" sz="1400" b="1" dirty="0">
                <a:solidFill>
                  <a:srgbClr val="FF0000"/>
                </a:solidFill>
                <a:latin typeface="Courier New" pitchFamily="49" charset="0"/>
                <a:cs typeface="Courier New" pitchFamily="49" charset="0"/>
              </a:rPr>
              <a:t>if (*value == expected) </a:t>
            </a:r>
          </a:p>
          <a:p>
            <a:pPr>
              <a:buFont typeface="Monotype Sorts" pitchFamily="-84" charset="2"/>
              <a:buNone/>
              <a:tabLst>
                <a:tab pos="741363" algn="l"/>
                <a:tab pos="1022350" algn="l"/>
                <a:tab pos="1258888" algn="l"/>
              </a:tabLst>
            </a:pPr>
            <a:r>
              <a:rPr lang="en-US" altLang="en-US" sz="1400" b="1" dirty="0">
                <a:solidFill>
                  <a:srgbClr val="FF0000"/>
                </a:solidFill>
                <a:latin typeface="Courier New" pitchFamily="49" charset="0"/>
                <a:cs typeface="Courier New" pitchFamily="49" charset="0"/>
              </a:rPr>
              <a:t>            *value = </a:t>
            </a:r>
            <a:r>
              <a:rPr lang="en-US" altLang="en-US" sz="1400" b="1" dirty="0" err="1">
                <a:solidFill>
                  <a:srgbClr val="FF0000"/>
                </a:solidFill>
                <a:latin typeface="Courier New" pitchFamily="49" charset="0"/>
                <a:cs typeface="Courier New" pitchFamily="49" charset="0"/>
              </a:rPr>
              <a:t>new_value</a:t>
            </a:r>
            <a:r>
              <a:rPr lang="en-US" altLang="en-US" sz="1400" b="1" dirty="0">
                <a:solidFill>
                  <a:srgbClr val="FF0000"/>
                </a:solidFill>
                <a:latin typeface="Courier New" pitchFamily="49" charset="0"/>
                <a:cs typeface="Courier New" pitchFamily="49" charset="0"/>
              </a:rPr>
              <a:t>;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return temp;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a:t>
            </a:r>
            <a:endParaRPr lang="en-US" altLang="en-US" sz="1400" b="1" dirty="0" smtClean="0">
              <a:latin typeface="Courier New" pitchFamily="49" charset="0"/>
              <a:cs typeface="Courier New" pitchFamily="49" charset="0"/>
            </a:endParaRPr>
          </a:p>
          <a:p>
            <a:pPr>
              <a:lnSpc>
                <a:spcPct val="90000"/>
              </a:lnSpc>
              <a:buFont typeface="Monotype Sorts" pitchFamily="-84" charset="2"/>
              <a:buNone/>
              <a:tabLst>
                <a:tab pos="741363" algn="l"/>
                <a:tab pos="1022350" algn="l"/>
                <a:tab pos="1258888" algn="l"/>
              </a:tabLst>
            </a:pPr>
            <a:r>
              <a:rPr lang="en-US" altLang="en-US" sz="2000" dirty="0" smtClean="0"/>
              <a:t>               </a:t>
            </a:r>
          </a:p>
        </p:txBody>
      </p:sp>
    </p:spTree>
    <p:extLst>
      <p:ext uri="{BB962C8B-B14F-4D97-AF65-F5344CB8AC3E}">
        <p14:creationId xmlns:p14="http://schemas.microsoft.com/office/powerpoint/2010/main" val="26212233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z="2400" smtClean="0"/>
              <a:t>Bounded-waiting Mutual Exclusion with test_and_set</a:t>
            </a:r>
          </a:p>
        </p:txBody>
      </p:sp>
      <p:sp>
        <p:nvSpPr>
          <p:cNvPr id="24579" name="Content Placeholder 2"/>
          <p:cNvSpPr>
            <a:spLocks noGrp="1"/>
          </p:cNvSpPr>
          <p:nvPr>
            <p:ph sz="half" idx="1"/>
          </p:nvPr>
        </p:nvSpPr>
        <p:spPr/>
        <p:txBody>
          <a:bodyPr>
            <a:noAutofit/>
          </a:bodyPr>
          <a:lstStyle/>
          <a:p>
            <a:pPr marL="0" indent="0">
              <a:buFont typeface="Monotype Sorts" pitchFamily="-84" charset="2"/>
              <a:buNone/>
            </a:pPr>
            <a:r>
              <a:rPr lang="en-US" altLang="en-US" sz="1400" b="1" dirty="0" smtClean="0">
                <a:latin typeface="Courier New" pitchFamily="49" charset="0"/>
                <a:cs typeface="Courier New" pitchFamily="49" charset="0"/>
              </a:rPr>
              <a:t>do {</a:t>
            </a:r>
            <a:br>
              <a:rPr lang="en-US" altLang="en-US" sz="1400" b="1" dirty="0" smtClean="0">
                <a:latin typeface="Courier New" pitchFamily="49" charset="0"/>
                <a:cs typeface="Courier New" pitchFamily="49" charset="0"/>
              </a:rPr>
            </a:br>
            <a:r>
              <a:rPr lang="en-US" altLang="en-US" sz="1400" b="1" dirty="0" smtClean="0">
                <a:latin typeface="Courier New" pitchFamily="49" charset="0"/>
                <a:cs typeface="Courier New" pitchFamily="49" charset="0"/>
              </a:rPr>
              <a:t>   waiting[</a:t>
            </a:r>
            <a:r>
              <a:rPr lang="en-US" altLang="en-US" sz="1400" b="1" dirty="0" err="1" smtClean="0">
                <a:latin typeface="Courier New" pitchFamily="49" charset="0"/>
                <a:cs typeface="Courier New" pitchFamily="49" charset="0"/>
              </a:rPr>
              <a:t>i</a:t>
            </a:r>
            <a:r>
              <a:rPr lang="en-US" altLang="en-US" sz="1400" b="1" dirty="0" smtClean="0">
                <a:latin typeface="Courier New" pitchFamily="49" charset="0"/>
                <a:cs typeface="Courier New" pitchFamily="49" charset="0"/>
              </a:rPr>
              <a:t>] = true;</a:t>
            </a:r>
            <a:br>
              <a:rPr lang="en-US" altLang="en-US" sz="1400" b="1" dirty="0" smtClean="0">
                <a:latin typeface="Courier New" pitchFamily="49" charset="0"/>
                <a:cs typeface="Courier New" pitchFamily="49" charset="0"/>
              </a:rPr>
            </a:br>
            <a:r>
              <a:rPr lang="en-US" altLang="en-US" sz="1400" b="1" dirty="0" smtClean="0">
                <a:latin typeface="Courier New" pitchFamily="49" charset="0"/>
                <a:cs typeface="Courier New" pitchFamily="49" charset="0"/>
              </a:rPr>
              <a:t>   key = true;</a:t>
            </a:r>
            <a:br>
              <a:rPr lang="en-US" altLang="en-US" sz="1400" b="1" dirty="0" smtClean="0">
                <a:latin typeface="Courier New" pitchFamily="49" charset="0"/>
                <a:cs typeface="Courier New" pitchFamily="49" charset="0"/>
              </a:rPr>
            </a:br>
            <a:r>
              <a:rPr lang="en-US" altLang="en-US" sz="1400" b="1" dirty="0" smtClean="0">
                <a:latin typeface="Courier New" pitchFamily="49" charset="0"/>
                <a:cs typeface="Courier New" pitchFamily="49" charset="0"/>
              </a:rPr>
              <a:t>   while (waiting[</a:t>
            </a:r>
            <a:r>
              <a:rPr lang="en-US" altLang="en-US" sz="1400" b="1" dirty="0" err="1" smtClean="0">
                <a:latin typeface="Courier New" pitchFamily="49" charset="0"/>
                <a:cs typeface="Courier New" pitchFamily="49" charset="0"/>
              </a:rPr>
              <a:t>i</a:t>
            </a:r>
            <a:r>
              <a:rPr lang="en-US" altLang="en-US" sz="1400" b="1" dirty="0" smtClean="0">
                <a:latin typeface="Courier New" pitchFamily="49" charset="0"/>
                <a:cs typeface="Courier New" pitchFamily="49" charset="0"/>
              </a:rPr>
              <a:t>] &amp;&amp; key) </a:t>
            </a:r>
          </a:p>
          <a:p>
            <a:pPr marL="0" indent="0">
              <a:buFont typeface="Monotype Sorts" pitchFamily="-84" charset="2"/>
              <a:buNone/>
            </a:pPr>
            <a:r>
              <a:rPr lang="en-US" altLang="en-US" sz="1400" b="1" dirty="0" smtClean="0">
                <a:latin typeface="Courier New" pitchFamily="49" charset="0"/>
                <a:cs typeface="Courier New" pitchFamily="49" charset="0"/>
              </a:rPr>
              <a:t>      key = </a:t>
            </a:r>
            <a:r>
              <a:rPr lang="en-US" altLang="en-US" sz="1400" b="1" dirty="0" err="1" smtClean="0">
                <a:latin typeface="Courier New" pitchFamily="49" charset="0"/>
                <a:cs typeface="Courier New" pitchFamily="49" charset="0"/>
              </a:rPr>
              <a:t>test_and_set</a:t>
            </a:r>
            <a:r>
              <a:rPr lang="en-US" altLang="en-US" sz="1400" b="1" dirty="0" smtClean="0">
                <a:latin typeface="Courier New" pitchFamily="49" charset="0"/>
                <a:cs typeface="Courier New" pitchFamily="49" charset="0"/>
              </a:rPr>
              <a:t>(&amp;lock); </a:t>
            </a:r>
          </a:p>
          <a:p>
            <a:pPr marL="0" indent="0">
              <a:buFont typeface="Monotype Sorts" pitchFamily="-84" charset="2"/>
              <a:buNone/>
            </a:pPr>
            <a:r>
              <a:rPr lang="en-US" altLang="en-US" sz="1400" b="1" dirty="0" smtClean="0">
                <a:latin typeface="Courier New" pitchFamily="49" charset="0"/>
                <a:cs typeface="Courier New" pitchFamily="49" charset="0"/>
              </a:rPr>
              <a:t>   waiting[</a:t>
            </a:r>
            <a:r>
              <a:rPr lang="en-US" altLang="en-US" sz="1400" b="1" dirty="0" err="1" smtClean="0">
                <a:latin typeface="Courier New" pitchFamily="49" charset="0"/>
                <a:cs typeface="Courier New" pitchFamily="49" charset="0"/>
              </a:rPr>
              <a:t>i</a:t>
            </a:r>
            <a:r>
              <a:rPr lang="en-US" altLang="en-US" sz="1400" b="1" dirty="0" smtClean="0">
                <a:latin typeface="Courier New" pitchFamily="49" charset="0"/>
                <a:cs typeface="Courier New" pitchFamily="49" charset="0"/>
              </a:rPr>
              <a:t>] = false; </a:t>
            </a:r>
          </a:p>
          <a:p>
            <a:pPr marL="0" indent="0">
              <a:buFont typeface="Monotype Sorts" pitchFamily="-84" charset="2"/>
              <a:buNone/>
            </a:pPr>
            <a:r>
              <a:rPr lang="en-US" altLang="en-US" sz="1400" b="1" dirty="0" smtClean="0">
                <a:latin typeface="Courier New" pitchFamily="49" charset="0"/>
                <a:cs typeface="Courier New" pitchFamily="49" charset="0"/>
              </a:rPr>
              <a:t>   /* critical section */ </a:t>
            </a:r>
          </a:p>
          <a:p>
            <a:pPr marL="0" indent="0">
              <a:buFont typeface="Monotype Sorts" pitchFamily="-84" charset="2"/>
              <a:buNone/>
            </a:pPr>
            <a:r>
              <a:rPr lang="en-US" altLang="en-US" sz="1400" b="1" dirty="0" smtClean="0">
                <a:latin typeface="Courier New" pitchFamily="49" charset="0"/>
                <a:cs typeface="Courier New" pitchFamily="49" charset="0"/>
              </a:rPr>
              <a:t>   j = (</a:t>
            </a:r>
            <a:r>
              <a:rPr lang="en-US" altLang="en-US" sz="1400" b="1" dirty="0" err="1" smtClean="0">
                <a:latin typeface="Courier New" pitchFamily="49" charset="0"/>
                <a:cs typeface="Courier New" pitchFamily="49" charset="0"/>
              </a:rPr>
              <a:t>i</a:t>
            </a:r>
            <a:r>
              <a:rPr lang="en-US" altLang="en-US" sz="1400" b="1" dirty="0" smtClean="0">
                <a:latin typeface="Courier New" pitchFamily="49" charset="0"/>
                <a:cs typeface="Courier New" pitchFamily="49" charset="0"/>
              </a:rPr>
              <a:t> + 1) % n; </a:t>
            </a:r>
          </a:p>
          <a:p>
            <a:pPr marL="0" indent="0">
              <a:buFont typeface="Monotype Sorts" pitchFamily="-84" charset="2"/>
              <a:buNone/>
            </a:pPr>
            <a:r>
              <a:rPr lang="en-US" altLang="en-US" sz="1400" b="1" dirty="0" smtClean="0">
                <a:latin typeface="Courier New" pitchFamily="49" charset="0"/>
                <a:cs typeface="Courier New" pitchFamily="49" charset="0"/>
              </a:rPr>
              <a:t>   while ((j != </a:t>
            </a:r>
            <a:r>
              <a:rPr lang="en-US" altLang="en-US" sz="1400" b="1" dirty="0" err="1" smtClean="0">
                <a:latin typeface="Courier New" pitchFamily="49" charset="0"/>
                <a:cs typeface="Courier New" pitchFamily="49" charset="0"/>
              </a:rPr>
              <a:t>i</a:t>
            </a:r>
            <a:r>
              <a:rPr lang="en-US" altLang="en-US" sz="1400" b="1" dirty="0" smtClean="0">
                <a:latin typeface="Courier New" pitchFamily="49" charset="0"/>
                <a:cs typeface="Courier New" pitchFamily="49" charset="0"/>
              </a:rPr>
              <a:t>) &amp;&amp; !waiting[j]) </a:t>
            </a:r>
          </a:p>
          <a:p>
            <a:pPr marL="0" indent="0">
              <a:buFont typeface="Monotype Sorts" pitchFamily="-84" charset="2"/>
              <a:buNone/>
            </a:pPr>
            <a:r>
              <a:rPr lang="en-US" altLang="en-US" sz="1400" b="1" dirty="0" smtClean="0">
                <a:latin typeface="Courier New" pitchFamily="49" charset="0"/>
                <a:cs typeface="Courier New" pitchFamily="49" charset="0"/>
              </a:rPr>
              <a:t>      j = (j + 1) % n; </a:t>
            </a:r>
          </a:p>
          <a:p>
            <a:pPr marL="0" indent="0">
              <a:buFont typeface="Monotype Sorts" pitchFamily="-84" charset="2"/>
              <a:buNone/>
            </a:pPr>
            <a:r>
              <a:rPr lang="en-US" altLang="en-US" sz="1400" b="1" dirty="0" smtClean="0">
                <a:latin typeface="Courier New" pitchFamily="49" charset="0"/>
                <a:cs typeface="Courier New" pitchFamily="49" charset="0"/>
              </a:rPr>
              <a:t>   if (j == </a:t>
            </a:r>
            <a:r>
              <a:rPr lang="en-US" altLang="en-US" sz="1400" b="1" dirty="0" err="1" smtClean="0">
                <a:latin typeface="Courier New" pitchFamily="49" charset="0"/>
                <a:cs typeface="Courier New" pitchFamily="49" charset="0"/>
              </a:rPr>
              <a:t>i</a:t>
            </a:r>
            <a:r>
              <a:rPr lang="en-US" altLang="en-US" sz="1400" b="1" dirty="0" smtClean="0">
                <a:latin typeface="Courier New" pitchFamily="49" charset="0"/>
                <a:cs typeface="Courier New" pitchFamily="49" charset="0"/>
              </a:rPr>
              <a:t>) </a:t>
            </a:r>
          </a:p>
          <a:p>
            <a:pPr marL="0" indent="0">
              <a:buFont typeface="Monotype Sorts" pitchFamily="-84" charset="2"/>
              <a:buNone/>
            </a:pPr>
            <a:r>
              <a:rPr lang="en-US" altLang="en-US" sz="1400" b="1" dirty="0" smtClean="0">
                <a:latin typeface="Courier New" pitchFamily="49" charset="0"/>
                <a:cs typeface="Courier New" pitchFamily="49" charset="0"/>
              </a:rPr>
              <a:t>      lock = false; </a:t>
            </a:r>
          </a:p>
          <a:p>
            <a:pPr marL="0" indent="0">
              <a:buFont typeface="Monotype Sorts" pitchFamily="-84" charset="2"/>
              <a:buNone/>
            </a:pPr>
            <a:r>
              <a:rPr lang="en-US" altLang="en-US" sz="1400" b="1" dirty="0" smtClean="0">
                <a:latin typeface="Courier New" pitchFamily="49" charset="0"/>
                <a:cs typeface="Courier New" pitchFamily="49" charset="0"/>
              </a:rPr>
              <a:t>   else </a:t>
            </a:r>
          </a:p>
          <a:p>
            <a:pPr marL="0" indent="0">
              <a:buFont typeface="Monotype Sorts" pitchFamily="-84" charset="2"/>
              <a:buNone/>
            </a:pPr>
            <a:r>
              <a:rPr lang="en-US" altLang="en-US" sz="1400" b="1" dirty="0" smtClean="0">
                <a:latin typeface="Courier New" pitchFamily="49" charset="0"/>
                <a:cs typeface="Courier New" pitchFamily="49" charset="0"/>
              </a:rPr>
              <a:t>      waiting[j] = false; </a:t>
            </a:r>
          </a:p>
          <a:p>
            <a:pPr marL="0" indent="0">
              <a:buFont typeface="Monotype Sorts" pitchFamily="-84" charset="2"/>
              <a:buNone/>
            </a:pPr>
            <a:r>
              <a:rPr lang="en-US" altLang="en-US" sz="1400" b="1" dirty="0" smtClean="0">
                <a:latin typeface="Courier New" pitchFamily="49" charset="0"/>
                <a:cs typeface="Courier New" pitchFamily="49" charset="0"/>
              </a:rPr>
              <a:t>   /* remainder section */ </a:t>
            </a:r>
          </a:p>
          <a:p>
            <a:pPr marL="0" indent="0">
              <a:buFont typeface="Monotype Sorts" pitchFamily="-84" charset="2"/>
              <a:buNone/>
            </a:pPr>
            <a:r>
              <a:rPr lang="en-US" altLang="en-US" sz="1400" b="1" dirty="0" smtClean="0">
                <a:latin typeface="Courier New" pitchFamily="49" charset="0"/>
                <a:cs typeface="Courier New" pitchFamily="49" charset="0"/>
              </a:rPr>
              <a:t>} while (true); </a:t>
            </a:r>
          </a:p>
        </p:txBody>
      </p:sp>
      <p:sp>
        <p:nvSpPr>
          <p:cNvPr id="2" name="Content Placeholder 1"/>
          <p:cNvSpPr>
            <a:spLocks noGrp="1"/>
          </p:cNvSpPr>
          <p:nvPr>
            <p:ph sz="half" idx="2"/>
          </p:nvPr>
        </p:nvSpPr>
        <p:spPr/>
        <p:txBody>
          <a:bodyPr/>
          <a:lstStyle/>
          <a:p>
            <a:pPr marL="0" indent="0">
              <a:buNone/>
            </a:pPr>
            <a:endParaRPr lang="en-IN" dirty="0"/>
          </a:p>
        </p:txBody>
      </p:sp>
    </p:spTree>
    <p:extLst>
      <p:ext uri="{BB962C8B-B14F-4D97-AF65-F5344CB8AC3E}">
        <p14:creationId xmlns:p14="http://schemas.microsoft.com/office/powerpoint/2010/main" val="41413806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90500"/>
            <a:ext cx="8229600" cy="576263"/>
          </a:xfrm>
        </p:spPr>
        <p:txBody>
          <a:bodyPr>
            <a:normAutofit fontScale="90000"/>
          </a:bodyPr>
          <a:lstStyle/>
          <a:p>
            <a:pPr eaLnBrk="1" hangingPunct="1"/>
            <a:r>
              <a:rPr lang="en-US" altLang="en-US" smtClean="0"/>
              <a:t>Mutex Locks</a:t>
            </a:r>
          </a:p>
        </p:txBody>
      </p:sp>
      <p:sp>
        <p:nvSpPr>
          <p:cNvPr id="22531" name="Rectangle 3"/>
          <p:cNvSpPr>
            <a:spLocks noGrp="1" noChangeArrowheads="1"/>
          </p:cNvSpPr>
          <p:nvPr>
            <p:ph idx="1"/>
          </p:nvPr>
        </p:nvSpPr>
        <p:spPr>
          <a:xfrm>
            <a:off x="827088" y="1177925"/>
            <a:ext cx="6869112" cy="5254625"/>
          </a:xfrm>
        </p:spPr>
        <p:txBody>
          <a:bodyPr>
            <a:normAutofit fontScale="85000" lnSpcReduction="20000"/>
          </a:bodyPr>
          <a:lstStyle/>
          <a:p>
            <a:pPr marL="342866" indent="-342866" algn="just">
              <a:lnSpc>
                <a:spcPct val="90000"/>
              </a:lnSpc>
              <a:buFont typeface="Monotype Sorts" charset="0"/>
              <a:buChar char="n"/>
              <a:defRPr/>
            </a:pPr>
            <a:r>
              <a:rPr lang="en-US" dirty="0">
                <a:ea typeface="ＭＳ Ｐゴシック" charset="0"/>
                <a:cs typeface="ＭＳ Ｐゴシック" charset="0"/>
              </a:rPr>
              <a:t>Previous solutions are complicated and generally inaccessible to application programmers</a:t>
            </a:r>
          </a:p>
          <a:p>
            <a:pPr marL="342866" indent="-342866" algn="just">
              <a:lnSpc>
                <a:spcPct val="90000"/>
              </a:lnSpc>
              <a:buFont typeface="Monotype Sorts" charset="0"/>
              <a:buChar char="n"/>
              <a:defRPr/>
            </a:pPr>
            <a:r>
              <a:rPr lang="en-US" dirty="0">
                <a:ea typeface="ＭＳ Ｐゴシック" charset="0"/>
                <a:cs typeface="ＭＳ Ｐゴシック" charset="0"/>
              </a:rPr>
              <a:t>OS designers build software tools to solve critical section problem</a:t>
            </a:r>
          </a:p>
          <a:p>
            <a:pPr marL="342866" indent="-342866" algn="just">
              <a:lnSpc>
                <a:spcPct val="90000"/>
              </a:lnSpc>
              <a:buFont typeface="Monotype Sorts" charset="0"/>
              <a:buChar char="n"/>
              <a:defRPr/>
            </a:pPr>
            <a:r>
              <a:rPr lang="en-US" dirty="0">
                <a:ea typeface="ＭＳ Ｐゴシック" charset="0"/>
                <a:cs typeface="ＭＳ Ｐゴシック" charset="0"/>
              </a:rPr>
              <a:t>Simplest is </a:t>
            </a:r>
            <a:r>
              <a:rPr lang="en-US" sz="2000" dirty="0" err="1">
                <a:ea typeface="ＭＳ Ｐゴシック" charset="0"/>
                <a:cs typeface="ＭＳ Ｐゴシック" charset="0"/>
              </a:rPr>
              <a:t>mutex</a:t>
            </a:r>
            <a:r>
              <a:rPr lang="en-US" dirty="0">
                <a:ea typeface="ＭＳ Ｐゴシック" charset="0"/>
                <a:cs typeface="ＭＳ Ｐゴシック" charset="0"/>
              </a:rPr>
              <a:t> lock</a:t>
            </a:r>
          </a:p>
          <a:p>
            <a:pPr marL="342866" indent="-342866" algn="just">
              <a:lnSpc>
                <a:spcPct val="90000"/>
              </a:lnSpc>
              <a:buFont typeface="Monotype Sorts" charset="0"/>
              <a:buChar char="n"/>
              <a:defRPr/>
            </a:pPr>
            <a:r>
              <a:rPr lang="en-US" dirty="0" smtClean="0">
                <a:ea typeface="ＭＳ Ｐゴシック" charset="0"/>
                <a:cs typeface="ＭＳ Ｐゴシック" charset="0"/>
              </a:rPr>
              <a:t>Protect a critical section  </a:t>
            </a:r>
            <a:r>
              <a:rPr lang="en-US" dirty="0">
                <a:ea typeface="ＭＳ Ｐゴシック" charset="0"/>
                <a:cs typeface="ＭＳ Ｐゴシック" charset="0"/>
              </a:rPr>
              <a:t>by first </a:t>
            </a:r>
            <a:r>
              <a:rPr lang="en-US" sz="2000" b="1" dirty="0">
                <a:latin typeface="Courier New"/>
                <a:ea typeface="ＭＳ Ｐゴシック" charset="0"/>
                <a:cs typeface="Courier New"/>
              </a:rPr>
              <a:t>acquire()</a:t>
            </a:r>
            <a:r>
              <a:rPr lang="en-US" sz="2000" dirty="0">
                <a:ea typeface="ＭＳ Ｐゴシック" charset="0"/>
                <a:cs typeface="ＭＳ Ｐゴシック" charset="0"/>
              </a:rPr>
              <a:t> </a:t>
            </a:r>
            <a:r>
              <a:rPr lang="en-US" dirty="0">
                <a:ea typeface="ＭＳ Ｐゴシック" charset="0"/>
                <a:cs typeface="ＭＳ Ｐゴシック" charset="0"/>
              </a:rPr>
              <a:t>a lock then </a:t>
            </a:r>
            <a:r>
              <a:rPr lang="en-US" sz="2000" b="1" dirty="0">
                <a:latin typeface="Courier New"/>
                <a:ea typeface="ＭＳ Ｐゴシック" charset="0"/>
                <a:cs typeface="Courier New"/>
              </a:rPr>
              <a:t>release()</a:t>
            </a:r>
            <a:r>
              <a:rPr lang="en-US" sz="2000" dirty="0">
                <a:ea typeface="ＭＳ Ｐゴシック" charset="0"/>
                <a:cs typeface="ＭＳ Ｐゴシック" charset="0"/>
              </a:rPr>
              <a:t> </a:t>
            </a:r>
            <a:r>
              <a:rPr lang="en-US" dirty="0" smtClean="0">
                <a:ea typeface="ＭＳ Ｐゴシック" charset="0"/>
                <a:cs typeface="ＭＳ Ｐゴシック" charset="0"/>
              </a:rPr>
              <a:t>the lock</a:t>
            </a:r>
            <a:endParaRPr lang="en-US" dirty="0">
              <a:ea typeface="ＭＳ Ｐゴシック" charset="0"/>
              <a:cs typeface="ＭＳ Ｐゴシック" charset="0"/>
            </a:endParaRPr>
          </a:p>
          <a:p>
            <a:pPr marL="742876" lvl="1" indent="-285722" algn="just">
              <a:lnSpc>
                <a:spcPct val="90000"/>
              </a:lnSpc>
              <a:buFont typeface="Monotype Sorts" charset="0"/>
              <a:buChar char="l"/>
              <a:defRPr/>
            </a:pPr>
            <a:r>
              <a:rPr lang="en-US" dirty="0">
                <a:ea typeface="ＭＳ Ｐゴシック" charset="0"/>
                <a:cs typeface="ＭＳ Ｐゴシック" charset="0"/>
              </a:rPr>
              <a:t>Boolean variable indicating if lock is available or </a:t>
            </a:r>
            <a:r>
              <a:rPr lang="en-US" dirty="0" smtClean="0">
                <a:ea typeface="ＭＳ Ｐゴシック" charset="0"/>
                <a:cs typeface="ＭＳ Ｐゴシック" charset="0"/>
              </a:rPr>
              <a:t>not</a:t>
            </a:r>
            <a:endParaRPr lang="en-US" dirty="0">
              <a:ea typeface="ＭＳ Ｐゴシック" charset="0"/>
              <a:cs typeface="ＭＳ Ｐゴシック" charset="0"/>
            </a:endParaRPr>
          </a:p>
          <a:p>
            <a:pPr marL="342866" indent="-342866" algn="just">
              <a:lnSpc>
                <a:spcPct val="90000"/>
              </a:lnSpc>
              <a:buFont typeface="Monotype Sorts" charset="0"/>
              <a:buChar char="n"/>
              <a:defRPr/>
            </a:pPr>
            <a:r>
              <a:rPr lang="en-US" dirty="0">
                <a:ea typeface="ＭＳ Ｐゴシック" charset="0"/>
                <a:cs typeface="ＭＳ Ｐゴシック" charset="0"/>
              </a:rPr>
              <a:t>Calls to </a:t>
            </a:r>
            <a:r>
              <a:rPr lang="en-US" sz="2000" b="1" dirty="0">
                <a:latin typeface="Courier New"/>
                <a:ea typeface="ＭＳ Ｐゴシック" charset="0"/>
                <a:cs typeface="Courier New"/>
              </a:rPr>
              <a:t>acquire()</a:t>
            </a:r>
            <a:r>
              <a:rPr lang="en-US" sz="2000" dirty="0">
                <a:ea typeface="ＭＳ Ｐゴシック" charset="0"/>
                <a:cs typeface="ＭＳ Ｐゴシック" charset="0"/>
              </a:rPr>
              <a:t> </a:t>
            </a:r>
            <a:r>
              <a:rPr lang="en-US" dirty="0">
                <a:ea typeface="ＭＳ Ｐゴシック" charset="0"/>
                <a:cs typeface="ＭＳ Ｐゴシック" charset="0"/>
              </a:rPr>
              <a:t>and </a:t>
            </a:r>
            <a:r>
              <a:rPr lang="en-US" sz="2000" b="1" dirty="0">
                <a:latin typeface="Courier New"/>
                <a:ea typeface="ＭＳ Ｐゴシック" charset="0"/>
                <a:cs typeface="Courier New"/>
              </a:rPr>
              <a:t>release()</a:t>
            </a:r>
            <a:r>
              <a:rPr lang="en-US" sz="2000" dirty="0">
                <a:ea typeface="ＭＳ Ｐゴシック" charset="0"/>
                <a:cs typeface="ＭＳ Ｐゴシック" charset="0"/>
              </a:rPr>
              <a:t> </a:t>
            </a:r>
            <a:r>
              <a:rPr lang="en-US" dirty="0">
                <a:ea typeface="ＭＳ Ｐゴシック" charset="0"/>
                <a:cs typeface="ＭＳ Ｐゴシック" charset="0"/>
              </a:rPr>
              <a:t>must be atomic</a:t>
            </a:r>
          </a:p>
          <a:p>
            <a:pPr marL="742876" lvl="1" indent="-285722" algn="just">
              <a:lnSpc>
                <a:spcPct val="90000"/>
              </a:lnSpc>
              <a:buFont typeface="Monotype Sorts" charset="0"/>
              <a:buChar char="l"/>
              <a:defRPr/>
            </a:pPr>
            <a:r>
              <a:rPr lang="en-US" dirty="0">
                <a:ea typeface="ＭＳ Ｐゴシック" charset="0"/>
                <a:cs typeface="ＭＳ Ｐゴシック" charset="0"/>
              </a:rPr>
              <a:t>Usually implemented via hardware atomic </a:t>
            </a:r>
            <a:r>
              <a:rPr lang="en-US" dirty="0" smtClean="0">
                <a:ea typeface="ＭＳ Ｐゴシック" charset="0"/>
                <a:cs typeface="ＭＳ Ｐゴシック" charset="0"/>
              </a:rPr>
              <a:t>instructions</a:t>
            </a:r>
            <a:endParaRPr lang="en-US" dirty="0">
              <a:ea typeface="ＭＳ Ｐゴシック" charset="0"/>
              <a:cs typeface="ＭＳ Ｐゴシック" charset="0"/>
            </a:endParaRPr>
          </a:p>
          <a:p>
            <a:pPr marL="342866" indent="-342866" algn="just">
              <a:lnSpc>
                <a:spcPct val="90000"/>
              </a:lnSpc>
              <a:buFont typeface="Monotype Sorts" charset="0"/>
              <a:buChar char="n"/>
              <a:defRPr/>
            </a:pPr>
            <a:r>
              <a:rPr lang="en-US" dirty="0">
                <a:ea typeface="ＭＳ Ｐゴシック" charset="0"/>
                <a:cs typeface="ＭＳ Ｐゴシック" charset="0"/>
              </a:rPr>
              <a:t>But this solution requires </a:t>
            </a:r>
            <a:r>
              <a:rPr lang="en-US" b="1" dirty="0">
                <a:solidFill>
                  <a:srgbClr val="3366FF"/>
                </a:solidFill>
                <a:ea typeface="ＭＳ Ｐゴシック" charset="0"/>
                <a:cs typeface="ＭＳ Ｐゴシック" charset="-128"/>
              </a:rPr>
              <a:t>busy </a:t>
            </a:r>
            <a:r>
              <a:rPr lang="en-US" b="1" dirty="0" smtClean="0">
                <a:solidFill>
                  <a:srgbClr val="3366FF"/>
                </a:solidFill>
                <a:ea typeface="ＭＳ Ｐゴシック" charset="0"/>
                <a:cs typeface="ＭＳ Ｐゴシック" charset="-128"/>
              </a:rPr>
              <a:t>waiting</a:t>
            </a:r>
          </a:p>
          <a:p>
            <a:pPr marL="742896" lvl="1" indent="-342866" algn="just">
              <a:lnSpc>
                <a:spcPct val="90000"/>
              </a:lnSpc>
              <a:buFont typeface="Monotype Sorts" charset="0"/>
              <a:buChar char="n"/>
              <a:defRPr/>
            </a:pPr>
            <a:r>
              <a:rPr lang="en-US" dirty="0" smtClean="0">
                <a:ea typeface="ＭＳ Ｐゴシック" charset="0"/>
                <a:cs typeface="ＭＳ Ｐゴシック" charset="0"/>
              </a:rPr>
              <a:t>This </a:t>
            </a:r>
            <a:r>
              <a:rPr lang="en-US" dirty="0">
                <a:ea typeface="ＭＳ Ｐゴシック" charset="0"/>
                <a:cs typeface="ＭＳ Ｐゴシック" charset="0"/>
              </a:rPr>
              <a:t>lock therefore called a </a:t>
            </a:r>
            <a:r>
              <a:rPr lang="en-US" b="1" dirty="0">
                <a:solidFill>
                  <a:srgbClr val="3366FF"/>
                </a:solidFill>
                <a:ea typeface="ＭＳ Ｐゴシック" charset="0"/>
                <a:cs typeface="ＭＳ Ｐゴシック" charset="-128"/>
              </a:rPr>
              <a:t>spinlock</a:t>
            </a:r>
          </a:p>
          <a:p>
            <a:pPr marL="0" indent="0" algn="just">
              <a:lnSpc>
                <a:spcPct val="90000"/>
              </a:lnSpc>
              <a:buFont typeface="Monotype Sorts" pitchFamily="-84" charset="2"/>
              <a:buNone/>
              <a:defRPr/>
            </a:pPr>
            <a:endParaRPr lang="en-US" sz="1600" dirty="0">
              <a:ea typeface="ＭＳ Ｐゴシック" charset="0"/>
              <a:cs typeface="ＭＳ Ｐゴシック" charset="0"/>
            </a:endParaRPr>
          </a:p>
        </p:txBody>
      </p:sp>
    </p:spTree>
    <p:extLst>
      <p:ext uri="{BB962C8B-B14F-4D97-AF65-F5344CB8AC3E}">
        <p14:creationId xmlns:p14="http://schemas.microsoft.com/office/powerpoint/2010/main" val="5248567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414463" y="4684713"/>
            <a:ext cx="1587500"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4" name="Rectangle 3"/>
          <p:cNvSpPr/>
          <p:nvPr/>
        </p:nvSpPr>
        <p:spPr bwMode="auto">
          <a:xfrm>
            <a:off x="1401763" y="4030663"/>
            <a:ext cx="1589087" cy="379412"/>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26628" name="Title 1"/>
          <p:cNvSpPr>
            <a:spLocks noGrp="1"/>
          </p:cNvSpPr>
          <p:nvPr>
            <p:ph type="title"/>
          </p:nvPr>
        </p:nvSpPr>
        <p:spPr>
          <a:xfrm>
            <a:off x="457200" y="161925"/>
            <a:ext cx="8229600" cy="576263"/>
          </a:xfrm>
        </p:spPr>
        <p:txBody>
          <a:bodyPr>
            <a:normAutofit fontScale="90000"/>
          </a:bodyPr>
          <a:lstStyle/>
          <a:p>
            <a:r>
              <a:rPr lang="en-US" altLang="en-US" smtClean="0"/>
              <a:t>acquire() and release()</a:t>
            </a:r>
          </a:p>
        </p:txBody>
      </p:sp>
      <p:sp>
        <p:nvSpPr>
          <p:cNvPr id="26629" name="Content Placeholder 2"/>
          <p:cNvSpPr>
            <a:spLocks noGrp="1"/>
          </p:cNvSpPr>
          <p:nvPr>
            <p:ph idx="1"/>
          </p:nvPr>
        </p:nvSpPr>
        <p:spPr>
          <a:xfrm>
            <a:off x="882650" y="1169988"/>
            <a:ext cx="7234238" cy="4530725"/>
          </a:xfrm>
        </p:spPr>
        <p:txBody>
          <a:bodyPr/>
          <a:lstStyle/>
          <a:p>
            <a:pPr marL="0" indent="0"/>
            <a:r>
              <a:rPr lang="en-US" altLang="en-US" sz="1400" b="1" smtClean="0">
                <a:latin typeface="Courier New" pitchFamily="49" charset="0"/>
                <a:cs typeface="Courier New" pitchFamily="49" charset="0"/>
              </a:rPr>
              <a:t>   </a:t>
            </a:r>
            <a:r>
              <a:rPr lang="en-US" altLang="en-US" sz="1600" b="1" smtClean="0">
                <a:latin typeface="Courier New" pitchFamily="49" charset="0"/>
                <a:cs typeface="Courier New" pitchFamily="49" charset="0"/>
              </a:rPr>
              <a:t>acquire() {</a:t>
            </a:r>
            <a:br>
              <a:rPr lang="en-US" altLang="en-US" sz="1600" b="1" smtClean="0">
                <a:latin typeface="Courier New" pitchFamily="49" charset="0"/>
                <a:cs typeface="Courier New" pitchFamily="49" charset="0"/>
              </a:rPr>
            </a:br>
            <a:r>
              <a:rPr lang="en-US" altLang="en-US" sz="1600" b="1" smtClean="0">
                <a:latin typeface="Courier New" pitchFamily="49" charset="0"/>
                <a:cs typeface="Courier New" pitchFamily="49" charset="0"/>
              </a:rPr>
              <a:t>       while (!available) </a:t>
            </a:r>
          </a:p>
          <a:p>
            <a:pPr marL="0" indent="0">
              <a:buFont typeface="Monotype Sorts" pitchFamily="-84" charset="2"/>
              <a:buNone/>
            </a:pPr>
            <a:r>
              <a:rPr lang="en-US" altLang="en-US" sz="1600" b="1" smtClean="0">
                <a:latin typeface="Courier New" pitchFamily="49" charset="0"/>
                <a:cs typeface="Courier New" pitchFamily="49" charset="0"/>
              </a:rPr>
              <a:t>          ; /* busy wait */ </a:t>
            </a:r>
          </a:p>
          <a:p>
            <a:pPr marL="0" indent="0">
              <a:buFont typeface="Monotype Sorts" pitchFamily="-84" charset="2"/>
              <a:buNone/>
            </a:pPr>
            <a:r>
              <a:rPr lang="en-US" altLang="en-US" sz="1600" b="1" smtClean="0">
                <a:latin typeface="Courier New" pitchFamily="49" charset="0"/>
                <a:cs typeface="Courier New" pitchFamily="49" charset="0"/>
              </a:rPr>
              <a:t>       available = false;; </a:t>
            </a:r>
          </a:p>
          <a:p>
            <a:pPr marL="0" indent="0">
              <a:buFont typeface="Monotype Sorts" pitchFamily="-84" charset="2"/>
              <a:buNone/>
            </a:pPr>
            <a:r>
              <a:rPr lang="en-US" altLang="en-US" sz="1600" b="1" smtClean="0">
                <a:latin typeface="Courier New" pitchFamily="49" charset="0"/>
                <a:cs typeface="Courier New" pitchFamily="49" charset="0"/>
              </a:rPr>
              <a:t>    } </a:t>
            </a:r>
          </a:p>
          <a:p>
            <a:pPr marL="0" indent="0"/>
            <a:r>
              <a:rPr lang="en-US" altLang="en-US" sz="1600" b="1" smtClean="0">
                <a:latin typeface="Courier New" pitchFamily="49" charset="0"/>
                <a:cs typeface="Courier New" pitchFamily="49" charset="0"/>
              </a:rPr>
              <a:t>   release() { </a:t>
            </a:r>
          </a:p>
          <a:p>
            <a:pPr marL="0" indent="0">
              <a:buFont typeface="Monotype Sorts" pitchFamily="-84" charset="2"/>
              <a:buNone/>
            </a:pPr>
            <a:r>
              <a:rPr lang="en-US" altLang="en-US" sz="1600" b="1" smtClean="0">
                <a:latin typeface="Courier New" pitchFamily="49" charset="0"/>
                <a:cs typeface="Courier New" pitchFamily="49" charset="0"/>
              </a:rPr>
              <a:t>       available = true; </a:t>
            </a:r>
          </a:p>
          <a:p>
            <a:pPr marL="0" indent="0">
              <a:buFont typeface="Monotype Sorts" pitchFamily="-84" charset="2"/>
              <a:buNone/>
            </a:pPr>
            <a:r>
              <a:rPr lang="en-US" altLang="en-US" sz="1600" b="1" smtClean="0">
                <a:latin typeface="Courier New" pitchFamily="49" charset="0"/>
                <a:cs typeface="Courier New" pitchFamily="49" charset="0"/>
              </a:rPr>
              <a:t>    } </a:t>
            </a:r>
          </a:p>
          <a:p>
            <a:pPr marL="0" indent="0"/>
            <a:r>
              <a:rPr lang="en-US" altLang="en-US" sz="1600" b="1" smtClean="0">
                <a:latin typeface="Courier New" pitchFamily="49" charset="0"/>
                <a:cs typeface="Courier New" pitchFamily="49" charset="0"/>
              </a:rPr>
              <a:t>   do { </a:t>
            </a:r>
          </a:p>
          <a:p>
            <a:pPr marL="0" indent="0">
              <a:buFont typeface="Monotype Sorts" pitchFamily="-84" charset="2"/>
              <a:buNone/>
            </a:pPr>
            <a:r>
              <a:rPr lang="en-US" altLang="en-US" sz="1600" b="1" i="1" smtClean="0">
                <a:latin typeface="Courier New" pitchFamily="49" charset="0"/>
                <a:cs typeface="Courier New" pitchFamily="49" charset="0"/>
              </a:rPr>
              <a:t>    acquire lock</a:t>
            </a:r>
          </a:p>
          <a:p>
            <a:pPr marL="0" indent="0">
              <a:buFont typeface="Monotype Sorts" pitchFamily="-84" charset="2"/>
              <a:buNone/>
            </a:pPr>
            <a:r>
              <a:rPr lang="en-US" altLang="en-US" sz="1600" b="1" smtClean="0">
                <a:latin typeface="Courier New" pitchFamily="49" charset="0"/>
                <a:cs typeface="Courier New" pitchFamily="49" charset="0"/>
              </a:rPr>
              <a:t>       critical section</a:t>
            </a:r>
          </a:p>
          <a:p>
            <a:pPr marL="0" indent="0">
              <a:buFont typeface="Monotype Sorts" pitchFamily="-84" charset="2"/>
              <a:buNone/>
            </a:pPr>
            <a:r>
              <a:rPr lang="en-US" altLang="en-US" sz="1600" b="1" i="1" smtClean="0">
                <a:latin typeface="Courier New" pitchFamily="49" charset="0"/>
                <a:cs typeface="Courier New" pitchFamily="49" charset="0"/>
              </a:rPr>
              <a:t>    release lock </a:t>
            </a:r>
          </a:p>
          <a:p>
            <a:pPr marL="0" indent="0">
              <a:buFont typeface="Monotype Sorts" pitchFamily="-84" charset="2"/>
              <a:buNone/>
            </a:pPr>
            <a:r>
              <a:rPr lang="en-US" altLang="en-US" sz="1600" b="1" smtClean="0">
                <a:latin typeface="Courier New" pitchFamily="49" charset="0"/>
                <a:cs typeface="Courier New" pitchFamily="49" charset="0"/>
              </a:rPr>
              <a:t>      remainder section </a:t>
            </a:r>
          </a:p>
          <a:p>
            <a:pPr marL="0" indent="0">
              <a:buFont typeface="Monotype Sorts" pitchFamily="-84" charset="2"/>
              <a:buNone/>
            </a:pPr>
            <a:r>
              <a:rPr lang="en-US" altLang="en-US" sz="1600" b="1" smtClean="0">
                <a:latin typeface="Courier New" pitchFamily="49" charset="0"/>
                <a:cs typeface="Courier New" pitchFamily="49" charset="0"/>
              </a:rPr>
              <a:t> } while (true); </a:t>
            </a:r>
          </a:p>
          <a:p>
            <a:pPr marL="0" indent="0">
              <a:buFont typeface="Monotype Sorts" pitchFamily="-84" charset="2"/>
              <a:buNone/>
            </a:pPr>
            <a:endParaRPr lang="en-US" altLang="en-US" sz="1400" b="1" smtClean="0">
              <a:latin typeface="Courier New" pitchFamily="49" charset="0"/>
              <a:cs typeface="Courier New" pitchFamily="49" charset="0"/>
            </a:endParaRPr>
          </a:p>
          <a:p>
            <a:pPr marL="0" indent="0">
              <a:buFont typeface="Monotype Sorts" pitchFamily="-84" charset="2"/>
              <a:buNone/>
            </a:pPr>
            <a:endParaRPr lang="en-US" altLang="en-US" smtClean="0"/>
          </a:p>
        </p:txBody>
      </p:sp>
    </p:spTree>
    <p:extLst>
      <p:ext uri="{BB962C8B-B14F-4D97-AF65-F5344CB8AC3E}">
        <p14:creationId xmlns:p14="http://schemas.microsoft.com/office/powerpoint/2010/main" val="32850445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47638"/>
            <a:ext cx="8229600" cy="576262"/>
          </a:xfrm>
        </p:spPr>
        <p:txBody>
          <a:bodyPr>
            <a:normAutofit fontScale="90000"/>
          </a:bodyPr>
          <a:lstStyle/>
          <a:p>
            <a:pPr eaLnBrk="1" hangingPunct="1"/>
            <a:r>
              <a:rPr lang="en-US" altLang="en-US" smtClean="0"/>
              <a:t>Semaphore</a:t>
            </a:r>
          </a:p>
        </p:txBody>
      </p:sp>
      <p:sp>
        <p:nvSpPr>
          <p:cNvPr id="27651" name="Rectangle 3"/>
          <p:cNvSpPr>
            <a:spLocks noGrp="1" noChangeArrowheads="1"/>
          </p:cNvSpPr>
          <p:nvPr>
            <p:ph idx="1"/>
          </p:nvPr>
        </p:nvSpPr>
        <p:spPr>
          <a:xfrm>
            <a:off x="827088" y="1163638"/>
            <a:ext cx="7921625" cy="5254625"/>
          </a:xfrm>
        </p:spPr>
        <p:txBody>
          <a:bodyPr>
            <a:normAutofit lnSpcReduction="10000"/>
          </a:bodyPr>
          <a:lstStyle/>
          <a:p>
            <a:pPr>
              <a:lnSpc>
                <a:spcPct val="90000"/>
              </a:lnSpc>
            </a:pPr>
            <a:r>
              <a:rPr lang="en-US" altLang="en-US" sz="1600" dirty="0" smtClean="0">
                <a:solidFill>
                  <a:srgbClr val="FF0000"/>
                </a:solidFill>
              </a:rPr>
              <a:t>Synchronization tool</a:t>
            </a:r>
            <a:r>
              <a:rPr lang="en-US" altLang="en-US" sz="1600" dirty="0" smtClean="0"/>
              <a:t> that provides more sophisticated ways (than </a:t>
            </a:r>
            <a:r>
              <a:rPr lang="en-US" altLang="en-US" sz="1600" dirty="0" err="1" smtClean="0"/>
              <a:t>Mutex</a:t>
            </a:r>
            <a:r>
              <a:rPr lang="en-US" altLang="en-US" sz="1600" dirty="0" smtClean="0"/>
              <a:t> locks)  for process to synchronize their activities.</a:t>
            </a:r>
            <a:endParaRPr lang="en-US" altLang="en-US" sz="1600" i="1" dirty="0" smtClean="0">
              <a:solidFill>
                <a:schemeClr val="tx2"/>
              </a:solidFill>
            </a:endParaRPr>
          </a:p>
          <a:p>
            <a:pPr>
              <a:lnSpc>
                <a:spcPct val="90000"/>
              </a:lnSpc>
            </a:pPr>
            <a:r>
              <a:rPr lang="en-US" altLang="en-US" sz="1600" dirty="0" smtClean="0"/>
              <a:t>Semaphore </a:t>
            </a:r>
            <a:r>
              <a:rPr lang="en-US" altLang="en-US" sz="1600" b="1" i="1" dirty="0" smtClean="0"/>
              <a:t>S</a:t>
            </a:r>
            <a:r>
              <a:rPr lang="en-US" altLang="en-US" sz="1600" dirty="0" smtClean="0"/>
              <a:t> – integer variable</a:t>
            </a:r>
          </a:p>
          <a:p>
            <a:pPr lvl="1">
              <a:lnSpc>
                <a:spcPct val="90000"/>
              </a:lnSpc>
            </a:pPr>
            <a:r>
              <a:rPr lang="en-US" altLang="en-US" sz="1200" dirty="0" smtClean="0"/>
              <a:t>Can only be accessed via two indivisible (atomic) operations</a:t>
            </a:r>
          </a:p>
          <a:p>
            <a:pPr lvl="1">
              <a:lnSpc>
                <a:spcPct val="90000"/>
              </a:lnSpc>
            </a:pPr>
            <a:r>
              <a:rPr lang="en-US" altLang="en-US" b="1" dirty="0" smtClean="0">
                <a:solidFill>
                  <a:srgbClr val="000000"/>
                </a:solidFill>
                <a:latin typeface="Courier New" pitchFamily="49" charset="0"/>
              </a:rPr>
              <a:t>wait()</a:t>
            </a:r>
            <a:r>
              <a:rPr lang="en-US" altLang="en-US" dirty="0" smtClean="0">
                <a:solidFill>
                  <a:srgbClr val="000000"/>
                </a:solidFill>
              </a:rPr>
              <a:t> </a:t>
            </a:r>
            <a:r>
              <a:rPr lang="en-US" altLang="en-US" sz="1600" dirty="0" smtClean="0">
                <a:solidFill>
                  <a:srgbClr val="000000"/>
                </a:solidFill>
              </a:rPr>
              <a:t>and </a:t>
            </a:r>
            <a:r>
              <a:rPr lang="en-US" altLang="en-US" b="1" dirty="0" smtClean="0">
                <a:solidFill>
                  <a:srgbClr val="000000"/>
                </a:solidFill>
                <a:latin typeface="Courier New" pitchFamily="49" charset="0"/>
              </a:rPr>
              <a:t>signal()</a:t>
            </a:r>
          </a:p>
          <a:p>
            <a:pPr lvl="2">
              <a:lnSpc>
                <a:spcPct val="90000"/>
              </a:lnSpc>
            </a:pPr>
            <a:r>
              <a:rPr lang="en-US" altLang="en-US" sz="1600" dirty="0" smtClean="0"/>
              <a:t>Originally called </a:t>
            </a:r>
            <a:r>
              <a:rPr lang="en-US" altLang="en-US" b="1" dirty="0" smtClean="0">
                <a:solidFill>
                  <a:srgbClr val="000000"/>
                </a:solidFill>
                <a:latin typeface="Courier New" pitchFamily="49" charset="0"/>
              </a:rPr>
              <a:t>P()</a:t>
            </a:r>
            <a:r>
              <a:rPr lang="en-US" altLang="en-US" dirty="0" smtClean="0"/>
              <a:t> </a:t>
            </a:r>
            <a:r>
              <a:rPr lang="en-US" altLang="en-US" sz="1600" dirty="0" smtClean="0"/>
              <a:t>and </a:t>
            </a:r>
            <a:r>
              <a:rPr lang="en-US" altLang="en-US" b="1" dirty="0" smtClean="0">
                <a:solidFill>
                  <a:srgbClr val="000000"/>
                </a:solidFill>
                <a:latin typeface="Courier New" pitchFamily="49" charset="0"/>
              </a:rPr>
              <a:t>V()</a:t>
            </a:r>
          </a:p>
          <a:p>
            <a:pPr>
              <a:lnSpc>
                <a:spcPct val="90000"/>
              </a:lnSpc>
            </a:pPr>
            <a:r>
              <a:rPr lang="en-US" altLang="en-US" sz="1600" dirty="0" smtClean="0"/>
              <a:t>Definition of  the </a:t>
            </a:r>
            <a:r>
              <a:rPr lang="en-US" altLang="en-US" b="1" dirty="0" smtClean="0">
                <a:solidFill>
                  <a:srgbClr val="000000"/>
                </a:solidFill>
                <a:latin typeface="Courier New" pitchFamily="49" charset="0"/>
                <a:cs typeface="Courier New" pitchFamily="49" charset="0"/>
              </a:rPr>
              <a:t>wait() operation</a:t>
            </a:r>
          </a:p>
          <a:p>
            <a:pPr lvl="1">
              <a:lnSpc>
                <a:spcPct val="90000"/>
              </a:lnSpc>
              <a:buFont typeface="Monotype Sorts" pitchFamily="-84" charset="2"/>
              <a:buNone/>
            </a:pPr>
            <a:r>
              <a:rPr lang="en-US" altLang="en-US" b="1" dirty="0" smtClean="0">
                <a:latin typeface="Courier New" pitchFamily="49" charset="0"/>
                <a:sym typeface="Symbol" pitchFamily="18" charset="2"/>
              </a:rPr>
              <a:t>wait(S)</a:t>
            </a:r>
            <a:r>
              <a:rPr lang="en-US" altLang="en-US" sz="1600" b="1" dirty="0" smtClean="0">
                <a:latin typeface="Courier New" pitchFamily="49" charset="0"/>
                <a:sym typeface="Symbol" pitchFamily="18" charset="2"/>
              </a:rPr>
              <a:t> { </a:t>
            </a:r>
          </a:p>
          <a:p>
            <a:pPr lvl="1">
              <a:lnSpc>
                <a:spcPct val="90000"/>
              </a:lnSpc>
              <a:buFont typeface="Monotype Sorts" pitchFamily="-84" charset="2"/>
              <a:buNone/>
            </a:pPr>
            <a:r>
              <a:rPr lang="en-US" altLang="en-US" sz="1600" b="1" dirty="0" smtClean="0">
                <a:latin typeface="Courier New" pitchFamily="49" charset="0"/>
                <a:sym typeface="Symbol" pitchFamily="18" charset="2"/>
              </a:rPr>
              <a:t>    while (S &lt;= 0)</a:t>
            </a:r>
          </a:p>
          <a:p>
            <a:pPr lvl="1">
              <a:lnSpc>
                <a:spcPct val="90000"/>
              </a:lnSpc>
              <a:buFont typeface="Monotype Sorts" pitchFamily="-84" charset="2"/>
              <a:buNone/>
            </a:pPr>
            <a:r>
              <a:rPr lang="en-US" altLang="en-US" sz="1600" b="1" dirty="0" smtClean="0">
                <a:latin typeface="Courier New" pitchFamily="49" charset="0"/>
                <a:sym typeface="Symbol" pitchFamily="18" charset="2"/>
              </a:rPr>
              <a:t>       ; // busy wait</a:t>
            </a:r>
          </a:p>
          <a:p>
            <a:pPr lvl="1">
              <a:lnSpc>
                <a:spcPct val="90000"/>
              </a:lnSpc>
              <a:buFont typeface="Monotype Sorts" pitchFamily="-84" charset="2"/>
              <a:buNone/>
            </a:pPr>
            <a:r>
              <a:rPr lang="en-US" altLang="en-US" sz="1600" b="1" dirty="0" smtClean="0">
                <a:latin typeface="Courier New" pitchFamily="49" charset="0"/>
                <a:sym typeface="Symbol" pitchFamily="18" charset="2"/>
              </a:rPr>
              <a:t>    S--;</a:t>
            </a:r>
          </a:p>
          <a:p>
            <a:pPr lvl="1">
              <a:lnSpc>
                <a:spcPct val="90000"/>
              </a:lnSpc>
              <a:buFont typeface="Monotype Sorts" pitchFamily="-84" charset="2"/>
              <a:buNone/>
            </a:pPr>
            <a:r>
              <a:rPr lang="en-US" altLang="en-US" sz="1600" b="1" dirty="0" smtClean="0">
                <a:latin typeface="Courier New" pitchFamily="49" charset="0"/>
                <a:sym typeface="Symbol" pitchFamily="18" charset="2"/>
              </a:rPr>
              <a:t>}</a:t>
            </a:r>
          </a:p>
          <a:p>
            <a:pPr>
              <a:lnSpc>
                <a:spcPct val="90000"/>
              </a:lnSpc>
            </a:pPr>
            <a:r>
              <a:rPr lang="en-US" altLang="en-US" sz="1600" dirty="0" smtClean="0"/>
              <a:t>Definition of  the </a:t>
            </a:r>
            <a:r>
              <a:rPr lang="en-US" altLang="en-US" b="1" dirty="0" smtClean="0">
                <a:solidFill>
                  <a:srgbClr val="000000"/>
                </a:solidFill>
                <a:latin typeface="Courier New" pitchFamily="49" charset="0"/>
                <a:cs typeface="Courier New" pitchFamily="49" charset="0"/>
              </a:rPr>
              <a:t>signal() operation</a:t>
            </a:r>
            <a:endParaRPr lang="en-US" altLang="en-US" sz="1600" b="1" dirty="0" smtClean="0">
              <a:latin typeface="Courier New" pitchFamily="49" charset="0"/>
              <a:cs typeface="Courier New" pitchFamily="49" charset="0"/>
              <a:sym typeface="Symbol" pitchFamily="18" charset="2"/>
            </a:endParaRPr>
          </a:p>
          <a:p>
            <a:pPr lvl="1">
              <a:lnSpc>
                <a:spcPct val="90000"/>
              </a:lnSpc>
              <a:buFont typeface="Monotype Sorts" pitchFamily="-84" charset="2"/>
              <a:buNone/>
            </a:pPr>
            <a:r>
              <a:rPr lang="en-US" altLang="en-US" b="1" dirty="0" smtClean="0">
                <a:latin typeface="Courier New" pitchFamily="49" charset="0"/>
                <a:sym typeface="Symbol" pitchFamily="18" charset="2"/>
              </a:rPr>
              <a:t>signal(S)</a:t>
            </a:r>
            <a:r>
              <a:rPr lang="en-US" altLang="en-US" sz="1600" b="1" dirty="0" smtClean="0">
                <a:latin typeface="Courier New" pitchFamily="49" charset="0"/>
                <a:sym typeface="Symbol" pitchFamily="18" charset="2"/>
              </a:rPr>
              <a:t> { </a:t>
            </a:r>
          </a:p>
          <a:p>
            <a:pPr lvl="1">
              <a:lnSpc>
                <a:spcPct val="90000"/>
              </a:lnSpc>
              <a:buFont typeface="Monotype Sorts" pitchFamily="-84" charset="2"/>
              <a:buNone/>
            </a:pPr>
            <a:r>
              <a:rPr lang="en-US" altLang="en-US" sz="1600" b="1" dirty="0" smtClean="0">
                <a:latin typeface="Courier New" pitchFamily="49" charset="0"/>
                <a:sym typeface="Symbol" pitchFamily="18" charset="2"/>
              </a:rPr>
              <a:t>    S++;</a:t>
            </a:r>
          </a:p>
          <a:p>
            <a:pPr lvl="1">
              <a:lnSpc>
                <a:spcPct val="90000"/>
              </a:lnSpc>
              <a:buFont typeface="Monotype Sorts" pitchFamily="-84" charset="2"/>
              <a:buNone/>
            </a:pPr>
            <a:r>
              <a:rPr lang="en-US" altLang="en-US" sz="1600" b="1" dirty="0" smtClean="0">
                <a:latin typeface="Courier New" pitchFamily="49" charset="0"/>
                <a:sym typeface="Symbol" pitchFamily="18" charset="2"/>
              </a:rPr>
              <a:t>}</a:t>
            </a:r>
          </a:p>
        </p:txBody>
      </p:sp>
    </p:spTree>
    <p:extLst>
      <p:ext uri="{BB962C8B-B14F-4D97-AF65-F5344CB8AC3E}">
        <p14:creationId xmlns:p14="http://schemas.microsoft.com/office/powerpoint/2010/main" val="28441226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61975" y="288925"/>
            <a:ext cx="8534400" cy="457200"/>
          </a:xfrm>
        </p:spPr>
        <p:txBody>
          <a:bodyPr>
            <a:normAutofit fontScale="90000"/>
          </a:bodyPr>
          <a:lstStyle/>
          <a:p>
            <a:pPr eaLnBrk="1" hangingPunct="1"/>
            <a:r>
              <a:rPr lang="en-US" altLang="en-US" smtClean="0"/>
              <a:t>Semaphore Usage</a:t>
            </a:r>
          </a:p>
        </p:txBody>
      </p:sp>
      <p:sp>
        <p:nvSpPr>
          <p:cNvPr id="28675" name="Rectangle 3"/>
          <p:cNvSpPr>
            <a:spLocks noGrp="1" noChangeArrowheads="1"/>
          </p:cNvSpPr>
          <p:nvPr>
            <p:ph idx="1"/>
          </p:nvPr>
        </p:nvSpPr>
        <p:spPr>
          <a:xfrm>
            <a:off x="844550" y="1093788"/>
            <a:ext cx="7255842" cy="4783484"/>
          </a:xfrm>
        </p:spPr>
        <p:txBody>
          <a:bodyPr>
            <a:noAutofit/>
          </a:bodyPr>
          <a:lstStyle/>
          <a:p>
            <a:pPr>
              <a:tabLst>
                <a:tab pos="2001838" algn="ctr"/>
                <a:tab pos="4513263" algn="ctr"/>
              </a:tabLst>
            </a:pPr>
            <a:r>
              <a:rPr lang="en-US" altLang="en-US" sz="1800" b="1" dirty="0" smtClean="0">
                <a:solidFill>
                  <a:srgbClr val="3366FF"/>
                </a:solidFill>
              </a:rPr>
              <a:t>Counting semaphore </a:t>
            </a:r>
            <a:r>
              <a:rPr lang="en-US" altLang="en-US" sz="1800" dirty="0" smtClean="0"/>
              <a:t>– integer value can range over an unrestricted domain</a:t>
            </a:r>
          </a:p>
          <a:p>
            <a:pPr>
              <a:tabLst>
                <a:tab pos="2001838" algn="ctr"/>
                <a:tab pos="4513263" algn="ctr"/>
              </a:tabLst>
            </a:pPr>
            <a:r>
              <a:rPr lang="en-US" altLang="en-US" sz="1800" b="1" dirty="0" smtClean="0">
                <a:solidFill>
                  <a:srgbClr val="3366FF"/>
                </a:solidFill>
              </a:rPr>
              <a:t>Binary semaphore </a:t>
            </a:r>
            <a:r>
              <a:rPr lang="en-US" altLang="en-US" sz="1800" dirty="0" smtClean="0"/>
              <a:t>– integer value can range only between 0 and 1</a:t>
            </a:r>
          </a:p>
          <a:p>
            <a:pPr lvl="1">
              <a:tabLst>
                <a:tab pos="2001838" algn="ctr"/>
                <a:tab pos="4513263" algn="ctr"/>
              </a:tabLst>
            </a:pPr>
            <a:r>
              <a:rPr lang="en-US" altLang="en-US" sz="1800" dirty="0" smtClean="0">
                <a:sym typeface="MT Extra" pitchFamily="18" charset="2"/>
              </a:rPr>
              <a:t>Same as a </a:t>
            </a:r>
            <a:r>
              <a:rPr lang="en-US" altLang="en-US" sz="1800" b="1" dirty="0" err="1" smtClean="0">
                <a:solidFill>
                  <a:srgbClr val="3366FF"/>
                </a:solidFill>
                <a:sym typeface="MT Extra" pitchFamily="18" charset="2"/>
              </a:rPr>
              <a:t>mutex</a:t>
            </a:r>
            <a:r>
              <a:rPr lang="en-US" altLang="en-US" sz="1800" b="1" dirty="0" smtClean="0">
                <a:solidFill>
                  <a:srgbClr val="3366FF"/>
                </a:solidFill>
                <a:sym typeface="MT Extra" pitchFamily="18" charset="2"/>
              </a:rPr>
              <a:t> lock</a:t>
            </a:r>
            <a:endParaRPr lang="en-US" altLang="en-US" sz="1800" b="1" dirty="0" smtClean="0">
              <a:solidFill>
                <a:srgbClr val="3366FF"/>
              </a:solidFill>
            </a:endParaRPr>
          </a:p>
          <a:p>
            <a:pPr>
              <a:tabLst>
                <a:tab pos="2001838" algn="ctr"/>
                <a:tab pos="4513263" algn="ctr"/>
              </a:tabLst>
            </a:pPr>
            <a:r>
              <a:rPr lang="en-US" altLang="en-US" sz="1800" dirty="0" smtClean="0">
                <a:sym typeface="MT Extra" pitchFamily="18" charset="2"/>
              </a:rPr>
              <a:t>Can solve various synchronization problems</a:t>
            </a:r>
          </a:p>
          <a:p>
            <a:pPr>
              <a:tabLst>
                <a:tab pos="2001838" algn="ctr"/>
                <a:tab pos="4513263" algn="ctr"/>
              </a:tabLst>
            </a:pPr>
            <a:r>
              <a:rPr lang="en-US" altLang="en-US" sz="1800" dirty="0" smtClean="0">
                <a:solidFill>
                  <a:srgbClr val="FF0000"/>
                </a:solidFill>
                <a:sym typeface="MT Extra" pitchFamily="18" charset="2"/>
              </a:rPr>
              <a:t>Consider </a:t>
            </a:r>
            <a:r>
              <a:rPr lang="en-IN" sz="1800" dirty="0"/>
              <a:t>two concurrently running </a:t>
            </a:r>
            <a:r>
              <a:rPr lang="en-IN" sz="1800" dirty="0" smtClean="0"/>
              <a:t>processes </a:t>
            </a:r>
            <a:r>
              <a:rPr lang="en-US" altLang="en-US" sz="1800" b="1" i="1" dirty="0" smtClean="0">
                <a:solidFill>
                  <a:srgbClr val="FF0000"/>
                </a:solidFill>
                <a:sym typeface="MT Extra" pitchFamily="18" charset="2"/>
              </a:rPr>
              <a:t>P</a:t>
            </a:r>
            <a:r>
              <a:rPr lang="en-US" altLang="en-US" sz="1800" b="1" i="1" baseline="-25000" dirty="0" smtClean="0">
                <a:solidFill>
                  <a:srgbClr val="FF0000"/>
                </a:solidFill>
                <a:sym typeface="MT Extra" pitchFamily="18" charset="2"/>
              </a:rPr>
              <a:t>1</a:t>
            </a:r>
            <a:r>
              <a:rPr lang="en-US" altLang="en-US" sz="1800" b="1" i="1" dirty="0" smtClean="0">
                <a:solidFill>
                  <a:srgbClr val="FF0000"/>
                </a:solidFill>
                <a:sym typeface="MT Extra" pitchFamily="18" charset="2"/>
              </a:rPr>
              <a:t> </a:t>
            </a:r>
            <a:r>
              <a:rPr lang="en-US" altLang="en-US" sz="1800" dirty="0" smtClean="0">
                <a:solidFill>
                  <a:srgbClr val="FF0000"/>
                </a:solidFill>
                <a:sym typeface="MT Extra" pitchFamily="18" charset="2"/>
              </a:rPr>
              <a:t> and </a:t>
            </a:r>
            <a:r>
              <a:rPr lang="en-US" altLang="en-US" sz="1800" b="1" i="1" dirty="0" smtClean="0">
                <a:solidFill>
                  <a:srgbClr val="FF0000"/>
                </a:solidFill>
                <a:sym typeface="MT Extra" pitchFamily="18" charset="2"/>
              </a:rPr>
              <a:t>P</a:t>
            </a:r>
            <a:r>
              <a:rPr lang="en-US" altLang="en-US" sz="1800" b="1" i="1" baseline="-25000" dirty="0" smtClean="0">
                <a:solidFill>
                  <a:srgbClr val="FF0000"/>
                </a:solidFill>
                <a:sym typeface="MT Extra" pitchFamily="18" charset="2"/>
              </a:rPr>
              <a:t>2</a:t>
            </a:r>
            <a:r>
              <a:rPr lang="en-US" altLang="en-US" sz="1800" dirty="0" smtClean="0">
                <a:solidFill>
                  <a:srgbClr val="FF0000"/>
                </a:solidFill>
                <a:sym typeface="MT Extra" pitchFamily="18" charset="2"/>
              </a:rPr>
              <a:t> that require</a:t>
            </a:r>
            <a:r>
              <a:rPr lang="en-US" altLang="en-US" sz="1800" b="1" i="1" dirty="0" smtClean="0">
                <a:solidFill>
                  <a:srgbClr val="FF0000"/>
                </a:solidFill>
                <a:sym typeface="MT Extra" pitchFamily="18" charset="2"/>
              </a:rPr>
              <a:t> S</a:t>
            </a:r>
            <a:r>
              <a:rPr lang="en-US" altLang="en-US" sz="1800" b="1" i="1" baseline="-25000" dirty="0" smtClean="0">
                <a:solidFill>
                  <a:srgbClr val="FF0000"/>
                </a:solidFill>
                <a:sym typeface="MT Extra" pitchFamily="18" charset="2"/>
              </a:rPr>
              <a:t>1</a:t>
            </a:r>
            <a:r>
              <a:rPr lang="en-US" altLang="en-US" sz="1800" b="1" i="1" dirty="0" smtClean="0">
                <a:solidFill>
                  <a:srgbClr val="FF0000"/>
                </a:solidFill>
                <a:sym typeface="MT Extra" pitchFamily="18" charset="2"/>
              </a:rPr>
              <a:t> </a:t>
            </a:r>
            <a:r>
              <a:rPr lang="en-US" altLang="en-US" sz="1800" dirty="0" smtClean="0">
                <a:solidFill>
                  <a:srgbClr val="FF0000"/>
                </a:solidFill>
                <a:sym typeface="MT Extra" pitchFamily="18" charset="2"/>
              </a:rPr>
              <a:t>to happen before </a:t>
            </a:r>
            <a:r>
              <a:rPr lang="en-US" altLang="en-US" sz="1800" b="1" i="1" dirty="0" smtClean="0">
                <a:solidFill>
                  <a:srgbClr val="FF0000"/>
                </a:solidFill>
                <a:sym typeface="MT Extra" pitchFamily="18" charset="2"/>
              </a:rPr>
              <a:t>S</a:t>
            </a:r>
            <a:r>
              <a:rPr lang="en-US" altLang="en-US" sz="1800" b="1" i="1" baseline="-25000" dirty="0" smtClean="0">
                <a:solidFill>
                  <a:srgbClr val="FF0000"/>
                </a:solidFill>
                <a:sym typeface="MT Extra" pitchFamily="18" charset="2"/>
              </a:rPr>
              <a:t>2</a:t>
            </a:r>
          </a:p>
          <a:p>
            <a:pPr>
              <a:buFont typeface="Monotype Sorts" pitchFamily="-84" charset="2"/>
              <a:buNone/>
              <a:tabLst>
                <a:tab pos="2001838" algn="ctr"/>
                <a:tab pos="4513263" algn="ctr"/>
              </a:tabLst>
            </a:pPr>
            <a:r>
              <a:rPr lang="en-US" altLang="en-US" sz="1800" dirty="0" smtClean="0">
                <a:sym typeface="MT Extra" pitchFamily="18" charset="2"/>
              </a:rPr>
              <a:t>       Create a semaphore “</a:t>
            </a:r>
            <a:r>
              <a:rPr lang="en-US" altLang="ja-JP" sz="1800" b="1" dirty="0" smtClean="0">
                <a:solidFill>
                  <a:srgbClr val="000000"/>
                </a:solidFill>
                <a:latin typeface="Courier New" pitchFamily="49" charset="0"/>
                <a:cs typeface="Courier New" pitchFamily="49" charset="0"/>
                <a:sym typeface="MT Extra" pitchFamily="18" charset="2"/>
              </a:rPr>
              <a:t>synch</a:t>
            </a:r>
            <a:r>
              <a:rPr lang="en-US" altLang="en-US" sz="1800" dirty="0" smtClean="0">
                <a:sym typeface="MT Extra" pitchFamily="18" charset="2"/>
              </a:rPr>
              <a:t>”</a:t>
            </a:r>
            <a:r>
              <a:rPr lang="en-US" altLang="ja-JP" sz="1800" dirty="0" smtClean="0">
                <a:sym typeface="MT Extra" pitchFamily="18" charset="2"/>
              </a:rPr>
              <a:t> initialized to 0 </a:t>
            </a:r>
          </a:p>
          <a:p>
            <a:pPr lvl="1">
              <a:buFont typeface="Monotype Sorts" pitchFamily="-84" charset="2"/>
              <a:buNone/>
              <a:tabLst>
                <a:tab pos="2001838" algn="ctr"/>
                <a:tab pos="4513263" algn="ctr"/>
              </a:tabLst>
            </a:pPr>
            <a:r>
              <a:rPr lang="en-US" altLang="en-US" sz="1800" b="1" dirty="0" smtClean="0">
                <a:solidFill>
                  <a:srgbClr val="000000"/>
                </a:solidFill>
                <a:latin typeface="Courier New" pitchFamily="49" charset="0"/>
                <a:cs typeface="Courier New" pitchFamily="49" charset="0"/>
                <a:sym typeface="MT Extra" pitchFamily="18" charset="2"/>
              </a:rPr>
              <a:t>P1:</a:t>
            </a:r>
          </a:p>
          <a:p>
            <a:pPr lvl="1">
              <a:buFont typeface="Monotype Sorts" pitchFamily="-84" charset="2"/>
              <a:buNone/>
              <a:tabLst>
                <a:tab pos="2001838" algn="ctr"/>
                <a:tab pos="4513263" algn="ctr"/>
              </a:tabLst>
            </a:pPr>
            <a:r>
              <a:rPr lang="en-US" altLang="en-US" sz="1800" b="1" dirty="0" smtClean="0">
                <a:solidFill>
                  <a:srgbClr val="000000"/>
                </a:solidFill>
                <a:latin typeface="Courier New" pitchFamily="49" charset="0"/>
                <a:cs typeface="Courier New" pitchFamily="49" charset="0"/>
                <a:sym typeface="MT Extra" pitchFamily="18" charset="2"/>
              </a:rPr>
              <a:t>   S</a:t>
            </a:r>
            <a:r>
              <a:rPr lang="en-US" altLang="en-US" sz="1800" b="1" baseline="-25000" dirty="0" smtClean="0">
                <a:solidFill>
                  <a:srgbClr val="000000"/>
                </a:solidFill>
                <a:latin typeface="Courier New" pitchFamily="49" charset="0"/>
                <a:cs typeface="Courier New" pitchFamily="49" charset="0"/>
                <a:sym typeface="MT Extra" pitchFamily="18" charset="2"/>
              </a:rPr>
              <a:t>1</a:t>
            </a:r>
            <a:r>
              <a:rPr lang="en-US" altLang="en-US" sz="1800" b="1" dirty="0" smtClean="0">
                <a:solidFill>
                  <a:srgbClr val="000000"/>
                </a:solidFill>
                <a:latin typeface="Courier New" pitchFamily="49" charset="0"/>
                <a:cs typeface="Courier New" pitchFamily="49" charset="0"/>
                <a:sym typeface="MT Extra" pitchFamily="18" charset="2"/>
              </a:rPr>
              <a:t>;</a:t>
            </a:r>
          </a:p>
          <a:p>
            <a:pPr lvl="1">
              <a:buFont typeface="Monotype Sorts" pitchFamily="-84" charset="2"/>
              <a:buNone/>
              <a:tabLst>
                <a:tab pos="2001838" algn="ctr"/>
                <a:tab pos="4513263" algn="ctr"/>
              </a:tabLst>
            </a:pPr>
            <a:r>
              <a:rPr lang="en-US" altLang="en-US" sz="1800" b="1" dirty="0" smtClean="0">
                <a:solidFill>
                  <a:srgbClr val="000000"/>
                </a:solidFill>
                <a:latin typeface="Courier New" pitchFamily="49" charset="0"/>
                <a:cs typeface="Courier New" pitchFamily="49" charset="0"/>
                <a:sym typeface="MT Extra" pitchFamily="18" charset="2"/>
              </a:rPr>
              <a:t>   signal(synch);</a:t>
            </a:r>
          </a:p>
          <a:p>
            <a:pPr lvl="1">
              <a:buFont typeface="Monotype Sorts" pitchFamily="-84" charset="2"/>
              <a:buNone/>
              <a:tabLst>
                <a:tab pos="2001838" algn="ctr"/>
                <a:tab pos="4513263" algn="ctr"/>
              </a:tabLst>
            </a:pPr>
            <a:r>
              <a:rPr lang="en-US" altLang="en-US" sz="1800" b="1" dirty="0" smtClean="0">
                <a:solidFill>
                  <a:srgbClr val="000000"/>
                </a:solidFill>
                <a:latin typeface="Courier New" pitchFamily="49" charset="0"/>
                <a:cs typeface="Courier New" pitchFamily="49" charset="0"/>
                <a:sym typeface="MT Extra" pitchFamily="18" charset="2"/>
              </a:rPr>
              <a:t>P2:</a:t>
            </a:r>
          </a:p>
          <a:p>
            <a:pPr lvl="1">
              <a:buFont typeface="Monotype Sorts" pitchFamily="-84" charset="2"/>
              <a:buNone/>
              <a:tabLst>
                <a:tab pos="2001838" algn="ctr"/>
                <a:tab pos="4513263" algn="ctr"/>
              </a:tabLst>
            </a:pPr>
            <a:r>
              <a:rPr lang="en-US" altLang="en-US" sz="1800" b="1" dirty="0" smtClean="0">
                <a:solidFill>
                  <a:srgbClr val="000000"/>
                </a:solidFill>
                <a:latin typeface="Courier New" pitchFamily="49" charset="0"/>
                <a:cs typeface="Courier New" pitchFamily="49" charset="0"/>
                <a:sym typeface="MT Extra" pitchFamily="18" charset="2"/>
              </a:rPr>
              <a:t>   wait(synch)</a:t>
            </a:r>
            <a:r>
              <a:rPr lang="en-US" altLang="en-US" sz="1600" dirty="0" smtClean="0">
                <a:solidFill>
                  <a:srgbClr val="0000FF"/>
                </a:solidFill>
                <a:sym typeface="MT Extra" pitchFamily="18" charset="2"/>
              </a:rPr>
              <a:t>;</a:t>
            </a:r>
            <a:endParaRPr lang="en-US" altLang="en-US" sz="1800" b="1" dirty="0" smtClean="0">
              <a:solidFill>
                <a:srgbClr val="000000"/>
              </a:solidFill>
              <a:latin typeface="Courier New" pitchFamily="49" charset="0"/>
              <a:cs typeface="Courier New" pitchFamily="49" charset="0"/>
              <a:sym typeface="MT Extra" pitchFamily="18" charset="2"/>
            </a:endParaRPr>
          </a:p>
          <a:p>
            <a:pPr lvl="1">
              <a:buFont typeface="Monotype Sorts" pitchFamily="-84" charset="2"/>
              <a:buNone/>
              <a:tabLst>
                <a:tab pos="2001838" algn="ctr"/>
                <a:tab pos="4513263" algn="ctr"/>
              </a:tabLst>
            </a:pPr>
            <a:r>
              <a:rPr lang="en-US" altLang="en-US" sz="1800" b="1" dirty="0" smtClean="0">
                <a:solidFill>
                  <a:srgbClr val="000000"/>
                </a:solidFill>
                <a:latin typeface="Courier New" pitchFamily="49" charset="0"/>
                <a:cs typeface="Courier New" pitchFamily="49" charset="0"/>
                <a:sym typeface="MT Extra" pitchFamily="18" charset="2"/>
              </a:rPr>
              <a:t>   S</a:t>
            </a:r>
            <a:r>
              <a:rPr lang="en-US" altLang="en-US" sz="1800" b="1" baseline="-25000" dirty="0" smtClean="0">
                <a:solidFill>
                  <a:srgbClr val="000000"/>
                </a:solidFill>
                <a:latin typeface="Courier New" pitchFamily="49" charset="0"/>
                <a:cs typeface="Courier New" pitchFamily="49" charset="0"/>
                <a:sym typeface="MT Extra" pitchFamily="18" charset="2"/>
              </a:rPr>
              <a:t>2</a:t>
            </a:r>
            <a:r>
              <a:rPr lang="en-US" altLang="en-US" sz="1800" b="1" dirty="0" smtClean="0">
                <a:solidFill>
                  <a:srgbClr val="000000"/>
                </a:solidFill>
                <a:latin typeface="Courier New" pitchFamily="49" charset="0"/>
                <a:cs typeface="Courier New" pitchFamily="49" charset="0"/>
                <a:sym typeface="MT Extra" pitchFamily="18" charset="2"/>
              </a:rPr>
              <a:t>;</a:t>
            </a:r>
            <a:endParaRPr lang="en-US" altLang="en-US" sz="1800" dirty="0" smtClean="0">
              <a:sym typeface="MT Extra" pitchFamily="18" charset="2"/>
            </a:endParaRPr>
          </a:p>
          <a:p>
            <a:pPr>
              <a:tabLst>
                <a:tab pos="2001838" algn="ctr"/>
                <a:tab pos="4513263" algn="ctr"/>
              </a:tabLst>
            </a:pPr>
            <a:r>
              <a:rPr lang="en-US" altLang="en-US" sz="1800" dirty="0" smtClean="0"/>
              <a:t>Can implement a counting semaphore </a:t>
            </a:r>
            <a:r>
              <a:rPr lang="en-US" altLang="en-US" sz="1800" b="1" i="1" dirty="0" smtClean="0">
                <a:solidFill>
                  <a:srgbClr val="000000"/>
                </a:solidFill>
              </a:rPr>
              <a:t>S</a:t>
            </a:r>
            <a:r>
              <a:rPr lang="en-US" altLang="en-US" sz="1800" dirty="0" smtClean="0"/>
              <a:t> as a binary semaphore</a:t>
            </a:r>
          </a:p>
          <a:p>
            <a:pPr>
              <a:tabLst>
                <a:tab pos="2001838" algn="ctr"/>
                <a:tab pos="4513263" algn="ctr"/>
              </a:tabLst>
            </a:pPr>
            <a:endParaRPr lang="en-US" altLang="en-US" sz="1800" b="1" i="1" baseline="-25000" dirty="0" smtClean="0">
              <a:sym typeface="MT Extra" pitchFamily="18" charset="2"/>
            </a:endParaRPr>
          </a:p>
        </p:txBody>
      </p:sp>
    </p:spTree>
    <p:extLst>
      <p:ext uri="{BB962C8B-B14F-4D97-AF65-F5344CB8AC3E}">
        <p14:creationId xmlns:p14="http://schemas.microsoft.com/office/powerpoint/2010/main" val="33925318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190500"/>
            <a:ext cx="8229600" cy="576263"/>
          </a:xfrm>
        </p:spPr>
        <p:txBody>
          <a:bodyPr>
            <a:normAutofit fontScale="90000"/>
          </a:bodyPr>
          <a:lstStyle/>
          <a:p>
            <a:pPr eaLnBrk="1" hangingPunct="1"/>
            <a:r>
              <a:rPr lang="en-US" altLang="en-US" smtClean="0"/>
              <a:t>Semaphore Implementation</a:t>
            </a:r>
          </a:p>
        </p:txBody>
      </p:sp>
      <p:sp>
        <p:nvSpPr>
          <p:cNvPr id="29699" name="Rectangle 3"/>
          <p:cNvSpPr>
            <a:spLocks noGrp="1" noChangeArrowheads="1"/>
          </p:cNvSpPr>
          <p:nvPr>
            <p:ph idx="1"/>
          </p:nvPr>
        </p:nvSpPr>
        <p:spPr>
          <a:xfrm>
            <a:off x="869950" y="1157288"/>
            <a:ext cx="7230442" cy="4936008"/>
          </a:xfrm>
        </p:spPr>
        <p:txBody>
          <a:bodyPr>
            <a:noAutofit/>
          </a:bodyPr>
          <a:lstStyle/>
          <a:p>
            <a:pPr algn="just"/>
            <a:r>
              <a:rPr lang="en-US" altLang="en-US" sz="2400" dirty="0" smtClean="0"/>
              <a:t>Must guarantee that no two processes can execute  the </a:t>
            </a:r>
            <a:r>
              <a:rPr lang="en-US" altLang="en-US" sz="1600" b="1" dirty="0" smtClean="0">
                <a:latin typeface="Courier New" pitchFamily="49" charset="0"/>
                <a:cs typeface="Courier New" pitchFamily="49" charset="0"/>
              </a:rPr>
              <a:t>wait() </a:t>
            </a:r>
            <a:r>
              <a:rPr lang="en-US" altLang="en-US" sz="2400" dirty="0" smtClean="0"/>
              <a:t>and </a:t>
            </a:r>
            <a:r>
              <a:rPr lang="en-US" altLang="en-US" sz="1600" b="1" dirty="0" smtClean="0">
                <a:latin typeface="Courier New" pitchFamily="49" charset="0"/>
                <a:cs typeface="Courier New" pitchFamily="49" charset="0"/>
              </a:rPr>
              <a:t>signal() </a:t>
            </a:r>
            <a:r>
              <a:rPr lang="en-US" altLang="en-US" sz="2400" dirty="0" smtClean="0"/>
              <a:t>on the same semaphore at the same time</a:t>
            </a:r>
          </a:p>
          <a:p>
            <a:pPr algn="just"/>
            <a:r>
              <a:rPr lang="en-US" altLang="en-US" sz="2400" dirty="0" smtClean="0"/>
              <a:t>Thus, the implementation becomes the critical section problem where the </a:t>
            </a:r>
            <a:r>
              <a:rPr lang="en-US" altLang="en-US" sz="1600" b="1" dirty="0" smtClean="0">
                <a:latin typeface="Courier New" pitchFamily="49" charset="0"/>
                <a:cs typeface="Courier New" pitchFamily="49" charset="0"/>
              </a:rPr>
              <a:t>wait</a:t>
            </a:r>
            <a:r>
              <a:rPr lang="en-US" altLang="en-US" sz="2400" dirty="0" smtClean="0"/>
              <a:t> and </a:t>
            </a:r>
            <a:r>
              <a:rPr lang="en-US" altLang="en-US" sz="1600" b="1" dirty="0" smtClean="0">
                <a:latin typeface="Courier New" pitchFamily="49" charset="0"/>
                <a:cs typeface="Courier New" pitchFamily="49" charset="0"/>
              </a:rPr>
              <a:t>signal</a:t>
            </a:r>
            <a:r>
              <a:rPr lang="en-US" altLang="en-US" sz="2400" dirty="0" smtClean="0"/>
              <a:t> code are placed in the critical section</a:t>
            </a:r>
          </a:p>
          <a:p>
            <a:pPr lvl="1" algn="just"/>
            <a:r>
              <a:rPr lang="en-US" altLang="en-US" sz="2400" dirty="0" smtClean="0">
                <a:solidFill>
                  <a:srgbClr val="FF0000"/>
                </a:solidFill>
              </a:rPr>
              <a:t>Could now have </a:t>
            </a:r>
            <a:r>
              <a:rPr lang="en-US" altLang="en-US" sz="2400" b="1" dirty="0" smtClean="0">
                <a:solidFill>
                  <a:srgbClr val="00B050"/>
                </a:solidFill>
              </a:rPr>
              <a:t>busy waiting</a:t>
            </a:r>
            <a:r>
              <a:rPr lang="en-US" altLang="en-US" sz="2400" dirty="0" smtClean="0">
                <a:solidFill>
                  <a:srgbClr val="00B050"/>
                </a:solidFill>
              </a:rPr>
              <a:t> </a:t>
            </a:r>
            <a:r>
              <a:rPr lang="en-US" altLang="en-US" sz="2400" dirty="0" smtClean="0">
                <a:solidFill>
                  <a:srgbClr val="FF0000"/>
                </a:solidFill>
              </a:rPr>
              <a:t>in critical section implementation</a:t>
            </a:r>
          </a:p>
          <a:p>
            <a:pPr lvl="2" algn="just"/>
            <a:r>
              <a:rPr lang="en-US" altLang="en-US" sz="1800" dirty="0" smtClean="0"/>
              <a:t>But implementation code is short</a:t>
            </a:r>
          </a:p>
          <a:p>
            <a:pPr lvl="2" algn="just"/>
            <a:r>
              <a:rPr lang="en-US" altLang="en-US" sz="1800" dirty="0" smtClean="0"/>
              <a:t>Little busy waiting if critical section rarely occupied</a:t>
            </a:r>
          </a:p>
          <a:p>
            <a:pPr algn="just"/>
            <a:r>
              <a:rPr lang="en-US" altLang="en-US" sz="2400" dirty="0" smtClean="0"/>
              <a:t>But many applications may spend lots of time in critical sections and therefore this is not a good solution</a:t>
            </a:r>
          </a:p>
          <a:p>
            <a:pPr algn="just">
              <a:buFont typeface="Monotype Sorts" pitchFamily="-84" charset="2"/>
              <a:buNone/>
            </a:pPr>
            <a:r>
              <a:rPr lang="en-US" altLang="en-US" sz="2400" dirty="0" smtClean="0"/>
              <a:t> </a:t>
            </a:r>
          </a:p>
          <a:p>
            <a:pPr lvl="1" algn="just">
              <a:buFont typeface="Monotype Sorts" pitchFamily="-84" charset="2"/>
              <a:buNone/>
            </a:pPr>
            <a:endParaRPr lang="en-US" altLang="en-US" sz="2400" dirty="0" smtClean="0"/>
          </a:p>
        </p:txBody>
      </p:sp>
    </p:spTree>
    <p:extLst>
      <p:ext uri="{BB962C8B-B14F-4D97-AF65-F5344CB8AC3E}">
        <p14:creationId xmlns:p14="http://schemas.microsoft.com/office/powerpoint/2010/main" val="24073901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922338" y="44450"/>
            <a:ext cx="8467725" cy="609600"/>
          </a:xfrm>
        </p:spPr>
        <p:txBody>
          <a:bodyPr/>
          <a:lstStyle/>
          <a:p>
            <a:pPr eaLnBrk="1" hangingPunct="1"/>
            <a:r>
              <a:rPr lang="en-US" altLang="en-US" sz="2400" smtClean="0"/>
              <a:t>Semaphore Implementation with no Busy waiting </a:t>
            </a:r>
          </a:p>
        </p:txBody>
      </p:sp>
      <p:sp>
        <p:nvSpPr>
          <p:cNvPr id="30723" name="Rectangle 3"/>
          <p:cNvSpPr>
            <a:spLocks noGrp="1" noChangeArrowheads="1"/>
          </p:cNvSpPr>
          <p:nvPr>
            <p:ph idx="1"/>
          </p:nvPr>
        </p:nvSpPr>
        <p:spPr>
          <a:xfrm>
            <a:off x="936625" y="1041400"/>
            <a:ext cx="7019751" cy="5123904"/>
          </a:xfrm>
        </p:spPr>
        <p:txBody>
          <a:bodyPr>
            <a:noAutofit/>
          </a:bodyPr>
          <a:lstStyle/>
          <a:p>
            <a:r>
              <a:rPr lang="en-US" altLang="en-US" sz="2400" dirty="0" smtClean="0"/>
              <a:t>With each semaphore there is an associated waiting queue</a:t>
            </a:r>
          </a:p>
          <a:p>
            <a:r>
              <a:rPr lang="en-US" altLang="en-US" sz="2400" dirty="0" smtClean="0"/>
              <a:t>Each entry in a waiting queue has two data items:</a:t>
            </a:r>
          </a:p>
          <a:p>
            <a:pPr lvl="1"/>
            <a:r>
              <a:rPr lang="en-US" altLang="en-US" sz="2400" dirty="0" smtClean="0"/>
              <a:t> value (of type integer)</a:t>
            </a:r>
          </a:p>
          <a:p>
            <a:pPr lvl="1"/>
            <a:r>
              <a:rPr lang="en-US" altLang="en-US" sz="2400" dirty="0" smtClean="0"/>
              <a:t> pointer to next record in the list</a:t>
            </a:r>
          </a:p>
          <a:p>
            <a:r>
              <a:rPr lang="en-US" altLang="en-US" sz="2400" dirty="0" smtClean="0"/>
              <a:t>Two operations:</a:t>
            </a:r>
          </a:p>
          <a:p>
            <a:pPr lvl="1"/>
            <a:r>
              <a:rPr lang="en-US" altLang="en-US" sz="2400" b="1" dirty="0" smtClean="0">
                <a:solidFill>
                  <a:srgbClr val="3366FF"/>
                </a:solidFill>
              </a:rPr>
              <a:t>block</a:t>
            </a:r>
            <a:r>
              <a:rPr lang="en-US" altLang="en-US" sz="2400" dirty="0" smtClean="0">
                <a:solidFill>
                  <a:srgbClr val="3366FF"/>
                </a:solidFill>
              </a:rPr>
              <a:t> </a:t>
            </a:r>
            <a:r>
              <a:rPr lang="en-US" altLang="en-US" sz="2400" dirty="0" smtClean="0"/>
              <a:t>– place the process invoking the operation on the appropriate waiting queue</a:t>
            </a:r>
          </a:p>
          <a:p>
            <a:pPr lvl="1" algn="just"/>
            <a:r>
              <a:rPr lang="en-US" altLang="en-US" sz="2400" b="1" dirty="0" smtClean="0">
                <a:solidFill>
                  <a:srgbClr val="3366FF"/>
                </a:solidFill>
              </a:rPr>
              <a:t>wakeup</a:t>
            </a:r>
            <a:r>
              <a:rPr lang="en-US" altLang="en-US" sz="2400" dirty="0" smtClean="0">
                <a:solidFill>
                  <a:srgbClr val="3366FF"/>
                </a:solidFill>
              </a:rPr>
              <a:t> </a:t>
            </a:r>
            <a:r>
              <a:rPr lang="en-US" altLang="en-US" sz="2400" dirty="0" smtClean="0"/>
              <a:t>– remove one of the processes in the waiting queue and place it in the ready queue</a:t>
            </a:r>
          </a:p>
          <a:p>
            <a:r>
              <a:rPr lang="en-US" altLang="en-US" sz="1200" b="1" dirty="0" err="1" smtClean="0">
                <a:latin typeface="Courier New" pitchFamily="49" charset="0"/>
                <a:cs typeface="Courier New" pitchFamily="49" charset="0"/>
              </a:rPr>
              <a:t>typedef</a:t>
            </a:r>
            <a:r>
              <a:rPr lang="en-US" altLang="en-US" sz="1200" b="1" dirty="0" smtClean="0">
                <a:latin typeface="Courier New" pitchFamily="49" charset="0"/>
                <a:cs typeface="Courier New" pitchFamily="49" charset="0"/>
              </a:rPr>
              <a:t> </a:t>
            </a:r>
            <a:r>
              <a:rPr lang="en-US" altLang="en-US" sz="1200" b="1" dirty="0" err="1" smtClean="0">
                <a:latin typeface="Courier New" pitchFamily="49" charset="0"/>
                <a:cs typeface="Courier New" pitchFamily="49" charset="0"/>
              </a:rPr>
              <a:t>struct</a:t>
            </a:r>
            <a:r>
              <a:rPr lang="en-US" altLang="en-US" sz="1200" b="1" dirty="0" smtClean="0">
                <a:latin typeface="Courier New" pitchFamily="49" charset="0"/>
                <a:cs typeface="Courier New" pitchFamily="49" charset="0"/>
              </a:rPr>
              <a:t>{ </a:t>
            </a:r>
          </a:p>
          <a:p>
            <a:pPr>
              <a:buFont typeface="Monotype Sorts" pitchFamily="-84" charset="2"/>
              <a:buNone/>
            </a:pPr>
            <a:r>
              <a:rPr lang="en-US" altLang="en-US" sz="1200" b="1" dirty="0" smtClean="0">
                <a:latin typeface="Courier New" pitchFamily="49" charset="0"/>
                <a:cs typeface="Courier New" pitchFamily="49" charset="0"/>
              </a:rPr>
              <a:t>          </a:t>
            </a:r>
            <a:r>
              <a:rPr lang="en-US" altLang="en-US" sz="1200" b="1" dirty="0" err="1" smtClean="0">
                <a:latin typeface="Courier New" pitchFamily="49" charset="0"/>
                <a:cs typeface="Courier New" pitchFamily="49" charset="0"/>
              </a:rPr>
              <a:t>int</a:t>
            </a:r>
            <a:r>
              <a:rPr lang="en-US" altLang="en-US" sz="1200" b="1" dirty="0" smtClean="0">
                <a:latin typeface="Courier New" pitchFamily="49" charset="0"/>
                <a:cs typeface="Courier New" pitchFamily="49" charset="0"/>
              </a:rPr>
              <a:t> value; </a:t>
            </a:r>
          </a:p>
          <a:p>
            <a:pPr>
              <a:buFont typeface="Monotype Sorts" pitchFamily="-84" charset="2"/>
              <a:buNone/>
            </a:pPr>
            <a:r>
              <a:rPr lang="en-US" altLang="en-US" sz="1200" b="1" dirty="0" smtClean="0">
                <a:latin typeface="Courier New" pitchFamily="49" charset="0"/>
                <a:cs typeface="Courier New" pitchFamily="49" charset="0"/>
              </a:rPr>
              <a:t>          </a:t>
            </a:r>
            <a:r>
              <a:rPr lang="en-US" altLang="en-US" sz="1200" b="1" dirty="0" err="1" smtClean="0">
                <a:latin typeface="Courier New" pitchFamily="49" charset="0"/>
                <a:cs typeface="Courier New" pitchFamily="49" charset="0"/>
              </a:rPr>
              <a:t>struct</a:t>
            </a:r>
            <a:r>
              <a:rPr lang="en-US" altLang="en-US" sz="1200" b="1" dirty="0" smtClean="0">
                <a:latin typeface="Courier New" pitchFamily="49" charset="0"/>
                <a:cs typeface="Courier New" pitchFamily="49" charset="0"/>
              </a:rPr>
              <a:t> process *list; </a:t>
            </a:r>
          </a:p>
          <a:p>
            <a:pPr>
              <a:buFont typeface="Monotype Sorts" pitchFamily="-84" charset="2"/>
              <a:buNone/>
            </a:pPr>
            <a:r>
              <a:rPr lang="en-US" altLang="en-US" sz="1200" b="1" dirty="0" smtClean="0">
                <a:latin typeface="Courier New" pitchFamily="49" charset="0"/>
                <a:cs typeface="Courier New" pitchFamily="49" charset="0"/>
              </a:rPr>
              <a:t>   } semaphore; </a:t>
            </a:r>
          </a:p>
          <a:p>
            <a:endParaRPr lang="en-US" altLang="en-US" sz="2400" dirty="0" smtClean="0"/>
          </a:p>
          <a:p>
            <a:pPr lvl="1"/>
            <a:endParaRPr lang="en-US" altLang="en-US" sz="2400" dirty="0" smtClean="0"/>
          </a:p>
          <a:p>
            <a:pPr>
              <a:buFont typeface="Monotype Sorts" pitchFamily="-84" charset="2"/>
              <a:buNone/>
            </a:pPr>
            <a:r>
              <a:rPr lang="en-US" altLang="en-US" sz="2400" dirty="0" smtClean="0">
                <a:solidFill>
                  <a:srgbClr val="0000FF"/>
                </a:solidFill>
              </a:rPr>
              <a:t>                        </a:t>
            </a:r>
          </a:p>
        </p:txBody>
      </p:sp>
    </p:spTree>
    <p:extLst>
      <p:ext uri="{BB962C8B-B14F-4D97-AF65-F5344CB8AC3E}">
        <p14:creationId xmlns:p14="http://schemas.microsoft.com/office/powerpoint/2010/main" val="2552959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22325" y="144463"/>
            <a:ext cx="8356600" cy="581025"/>
          </a:xfrm>
        </p:spPr>
        <p:txBody>
          <a:bodyPr/>
          <a:lstStyle/>
          <a:p>
            <a:pPr eaLnBrk="1" hangingPunct="1"/>
            <a:r>
              <a:rPr lang="en-US" altLang="en-US" sz="2400" smtClean="0"/>
              <a:t>Implementation with no Busy waiting (Cont.)</a:t>
            </a:r>
          </a:p>
        </p:txBody>
      </p:sp>
      <p:sp>
        <p:nvSpPr>
          <p:cNvPr id="31747" name="Rectangle 3"/>
          <p:cNvSpPr>
            <a:spLocks noGrp="1" noChangeArrowheads="1"/>
          </p:cNvSpPr>
          <p:nvPr>
            <p:ph idx="1"/>
          </p:nvPr>
        </p:nvSpPr>
        <p:spPr>
          <a:xfrm>
            <a:off x="1154113" y="901700"/>
            <a:ext cx="6298207" cy="5029200"/>
          </a:xfrm>
        </p:spPr>
        <p:txBody>
          <a:bodyPr/>
          <a:lstStyle/>
          <a:p>
            <a:pPr marL="0" indent="0">
              <a:buFont typeface="Monotype Sorts" pitchFamily="-84" charset="2"/>
              <a:buNone/>
            </a:pPr>
            <a:endParaRPr lang="en-US" altLang="en-US" sz="1400" b="1" smtClean="0">
              <a:latin typeface="Courier New" pitchFamily="49" charset="0"/>
              <a:cs typeface="Courier New" pitchFamily="49" charset="0"/>
            </a:endParaRPr>
          </a:p>
          <a:p>
            <a:pPr marL="0" indent="0">
              <a:buFont typeface="Monotype Sorts" pitchFamily="-84" charset="2"/>
              <a:buNone/>
            </a:pPr>
            <a:r>
              <a:rPr lang="en-US" altLang="en-US" sz="1600" b="1" smtClean="0">
                <a:latin typeface="Courier New" pitchFamily="49" charset="0"/>
                <a:cs typeface="Courier New" pitchFamily="49" charset="0"/>
              </a:rPr>
              <a:t>wait(semaphore *S) { </a:t>
            </a:r>
          </a:p>
          <a:p>
            <a:pPr marL="0" indent="0">
              <a:buFont typeface="Monotype Sorts" pitchFamily="-84" charset="2"/>
              <a:buNone/>
            </a:pPr>
            <a:r>
              <a:rPr lang="en-US" altLang="en-US" sz="1600" b="1" smtClean="0">
                <a:latin typeface="Courier New" pitchFamily="49" charset="0"/>
                <a:cs typeface="Courier New" pitchFamily="49" charset="0"/>
              </a:rPr>
              <a:t>   S-&gt;value--; </a:t>
            </a:r>
          </a:p>
          <a:p>
            <a:pPr marL="0" indent="0">
              <a:buFont typeface="Monotype Sorts" pitchFamily="-84" charset="2"/>
              <a:buNone/>
            </a:pPr>
            <a:r>
              <a:rPr lang="en-US" altLang="en-US" sz="1600" b="1" smtClean="0">
                <a:latin typeface="Courier New" pitchFamily="49" charset="0"/>
                <a:cs typeface="Courier New" pitchFamily="49" charset="0"/>
              </a:rPr>
              <a:t>   if (S-&gt;value &lt; 0) {</a:t>
            </a:r>
            <a:br>
              <a:rPr lang="en-US" altLang="en-US" sz="1600" b="1" smtClean="0">
                <a:latin typeface="Courier New" pitchFamily="49" charset="0"/>
                <a:cs typeface="Courier New" pitchFamily="49" charset="0"/>
              </a:rPr>
            </a:br>
            <a:r>
              <a:rPr lang="en-US" altLang="en-US" sz="1600" b="1" smtClean="0">
                <a:latin typeface="Courier New" pitchFamily="49" charset="0"/>
                <a:cs typeface="Courier New" pitchFamily="49" charset="0"/>
              </a:rPr>
              <a:t>      add this process to S-&gt;list; </a:t>
            </a:r>
          </a:p>
          <a:p>
            <a:pPr marL="0" indent="0">
              <a:buFont typeface="Monotype Sorts" pitchFamily="-84" charset="2"/>
              <a:buNone/>
            </a:pPr>
            <a:r>
              <a:rPr lang="en-US" altLang="en-US" sz="1600" b="1" smtClean="0">
                <a:latin typeface="Courier New" pitchFamily="49" charset="0"/>
                <a:cs typeface="Courier New" pitchFamily="49" charset="0"/>
              </a:rPr>
              <a:t>      block(); </a:t>
            </a:r>
          </a:p>
          <a:p>
            <a:pPr marL="0" indent="0">
              <a:buFont typeface="Monotype Sorts" pitchFamily="-84" charset="2"/>
              <a:buNone/>
            </a:pPr>
            <a:r>
              <a:rPr lang="en-US" altLang="en-US" sz="1600" b="1" smtClean="0">
                <a:latin typeface="Courier New" pitchFamily="49" charset="0"/>
                <a:cs typeface="Courier New" pitchFamily="49" charset="0"/>
              </a:rPr>
              <a:t>   } </a:t>
            </a:r>
          </a:p>
          <a:p>
            <a:pPr marL="0" indent="0">
              <a:buFont typeface="Monotype Sorts" pitchFamily="-84" charset="2"/>
              <a:buNone/>
            </a:pPr>
            <a:r>
              <a:rPr lang="en-US" altLang="en-US" sz="1600" b="1" smtClean="0">
                <a:latin typeface="Courier New" pitchFamily="49" charset="0"/>
                <a:cs typeface="Courier New" pitchFamily="49" charset="0"/>
              </a:rPr>
              <a:t>}</a:t>
            </a:r>
          </a:p>
          <a:p>
            <a:pPr marL="0" indent="0">
              <a:buFont typeface="Monotype Sorts" pitchFamily="-84" charset="2"/>
              <a:buNone/>
            </a:pPr>
            <a:endParaRPr lang="en-US" altLang="en-US" sz="1600" b="1" smtClean="0">
              <a:latin typeface="Courier New" pitchFamily="49" charset="0"/>
              <a:cs typeface="Courier New" pitchFamily="49" charset="0"/>
            </a:endParaRPr>
          </a:p>
          <a:p>
            <a:pPr marL="0" indent="0">
              <a:buFont typeface="Monotype Sorts" pitchFamily="-84" charset="2"/>
              <a:buNone/>
            </a:pPr>
            <a:r>
              <a:rPr lang="en-US" altLang="en-US" sz="1600" b="1" smtClean="0">
                <a:latin typeface="Courier New" pitchFamily="49" charset="0"/>
                <a:cs typeface="Courier New" pitchFamily="49" charset="0"/>
              </a:rPr>
              <a:t>signal(semaphore *S) { </a:t>
            </a:r>
          </a:p>
          <a:p>
            <a:pPr marL="0" indent="0">
              <a:buFont typeface="Monotype Sorts" pitchFamily="-84" charset="2"/>
              <a:buNone/>
            </a:pPr>
            <a:r>
              <a:rPr lang="en-US" altLang="en-US" sz="1600" b="1" smtClean="0">
                <a:latin typeface="Courier New" pitchFamily="49" charset="0"/>
                <a:cs typeface="Courier New" pitchFamily="49" charset="0"/>
              </a:rPr>
              <a:t>   S-&gt;value++; </a:t>
            </a:r>
          </a:p>
          <a:p>
            <a:pPr marL="0" indent="0">
              <a:buFont typeface="Monotype Sorts" pitchFamily="-84" charset="2"/>
              <a:buNone/>
            </a:pPr>
            <a:r>
              <a:rPr lang="en-US" altLang="en-US" sz="1600" b="1" smtClean="0">
                <a:latin typeface="Courier New" pitchFamily="49" charset="0"/>
                <a:cs typeface="Courier New" pitchFamily="49" charset="0"/>
              </a:rPr>
              <a:t>   if (S-&gt;value &lt;= 0) {</a:t>
            </a:r>
            <a:br>
              <a:rPr lang="en-US" altLang="en-US" sz="1600" b="1" smtClean="0">
                <a:latin typeface="Courier New" pitchFamily="49" charset="0"/>
                <a:cs typeface="Courier New" pitchFamily="49" charset="0"/>
              </a:rPr>
            </a:br>
            <a:r>
              <a:rPr lang="en-US" altLang="en-US" sz="1600" b="1" smtClean="0">
                <a:latin typeface="Courier New" pitchFamily="49" charset="0"/>
                <a:cs typeface="Courier New" pitchFamily="49" charset="0"/>
              </a:rPr>
              <a:t>      remove a process P from S-&gt;list; </a:t>
            </a:r>
          </a:p>
          <a:p>
            <a:pPr marL="0" indent="0">
              <a:buFont typeface="Monotype Sorts" pitchFamily="-84" charset="2"/>
              <a:buNone/>
            </a:pPr>
            <a:r>
              <a:rPr lang="en-US" altLang="en-US" sz="1600" b="1" smtClean="0">
                <a:latin typeface="Courier New" pitchFamily="49" charset="0"/>
                <a:cs typeface="Courier New" pitchFamily="49" charset="0"/>
              </a:rPr>
              <a:t>      wakeup(P); </a:t>
            </a:r>
          </a:p>
          <a:p>
            <a:pPr marL="0" indent="0">
              <a:buFont typeface="Monotype Sorts" pitchFamily="-84" charset="2"/>
              <a:buNone/>
            </a:pPr>
            <a:r>
              <a:rPr lang="en-US" altLang="en-US" sz="1600" b="1" smtClean="0">
                <a:latin typeface="Courier New" pitchFamily="49" charset="0"/>
                <a:cs typeface="Courier New" pitchFamily="49" charset="0"/>
              </a:rPr>
              <a:t>   } </a:t>
            </a:r>
          </a:p>
          <a:p>
            <a:pPr marL="0" indent="0">
              <a:buFont typeface="Monotype Sorts" pitchFamily="-84" charset="2"/>
              <a:buNone/>
            </a:pPr>
            <a:r>
              <a:rPr lang="en-US" altLang="en-US" sz="1600" b="1" smtClean="0">
                <a:latin typeface="Courier New" pitchFamily="49" charset="0"/>
                <a:cs typeface="Courier New" pitchFamily="49" charset="0"/>
              </a:rPr>
              <a:t>} </a:t>
            </a:r>
          </a:p>
        </p:txBody>
      </p:sp>
    </p:spTree>
    <p:extLst>
      <p:ext uri="{BB962C8B-B14F-4D97-AF65-F5344CB8AC3E}">
        <p14:creationId xmlns:p14="http://schemas.microsoft.com/office/powerpoint/2010/main" val="16617396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22325" y="144463"/>
            <a:ext cx="8356600" cy="581025"/>
          </a:xfrm>
        </p:spPr>
        <p:txBody>
          <a:bodyPr/>
          <a:lstStyle/>
          <a:p>
            <a:pPr eaLnBrk="1" hangingPunct="1"/>
            <a:r>
              <a:rPr lang="en-US" altLang="en-US" sz="2400" dirty="0" smtClean="0"/>
              <a:t>Semaphore Example</a:t>
            </a:r>
          </a:p>
        </p:txBody>
      </p:sp>
      <p:sp>
        <p:nvSpPr>
          <p:cNvPr id="31747" name="Rectangle 3"/>
          <p:cNvSpPr>
            <a:spLocks noGrp="1" noChangeArrowheads="1"/>
          </p:cNvSpPr>
          <p:nvPr>
            <p:ph idx="1"/>
          </p:nvPr>
        </p:nvSpPr>
        <p:spPr>
          <a:xfrm>
            <a:off x="822325" y="901700"/>
            <a:ext cx="7350075" cy="5695652"/>
          </a:xfrm>
        </p:spPr>
        <p:txBody>
          <a:bodyPr>
            <a:normAutofit lnSpcReduction="10000"/>
          </a:bodyPr>
          <a:lstStyle/>
          <a:p>
            <a:pPr marL="0" indent="0">
              <a:buFont typeface="Monotype Sorts" pitchFamily="-84" charset="2"/>
              <a:buNone/>
            </a:pPr>
            <a:r>
              <a:rPr lang="en-US" altLang="en-US" sz="1400" b="1" dirty="0" smtClean="0">
                <a:latin typeface="Courier New" pitchFamily="49" charset="0"/>
                <a:cs typeface="Courier New" pitchFamily="49" charset="0"/>
              </a:rPr>
              <a:t>// WRT the modified wait and signal implementation:</a:t>
            </a:r>
          </a:p>
          <a:p>
            <a:pPr marL="0" indent="0">
              <a:buFont typeface="Monotype Sorts" pitchFamily="-84" charset="2"/>
              <a:buNone/>
            </a:pPr>
            <a:r>
              <a:rPr lang="en-US" altLang="en-US" sz="1400" b="1" dirty="0" smtClean="0">
                <a:latin typeface="Courier New" pitchFamily="49" charset="0"/>
                <a:cs typeface="Courier New" pitchFamily="49" charset="0"/>
              </a:rPr>
              <a:t>Semaphore *s1, *s2;</a:t>
            </a:r>
          </a:p>
          <a:p>
            <a:pPr marL="0" indent="0">
              <a:buFont typeface="Monotype Sorts" pitchFamily="-84" charset="2"/>
              <a:buNone/>
            </a:pPr>
            <a:r>
              <a:rPr lang="en-US" altLang="en-US" sz="1400" b="1" dirty="0">
                <a:latin typeface="Courier New" pitchFamily="49" charset="0"/>
                <a:cs typeface="Courier New" pitchFamily="49" charset="0"/>
              </a:rPr>
              <a:t>s</a:t>
            </a:r>
            <a:r>
              <a:rPr lang="en-US" altLang="en-US" sz="1400" b="1" dirty="0" smtClean="0">
                <a:latin typeface="Courier New" pitchFamily="49" charset="0"/>
                <a:cs typeface="Courier New" pitchFamily="49" charset="0"/>
              </a:rPr>
              <a:t>1 = new Semaphore(1); // s1-&gt;value = 1</a:t>
            </a:r>
          </a:p>
          <a:p>
            <a:pPr marL="0" indent="0">
              <a:buNone/>
            </a:pPr>
            <a:r>
              <a:rPr lang="en-US" altLang="en-US" sz="1400" b="1" dirty="0" smtClean="0">
                <a:latin typeface="Courier New" pitchFamily="49" charset="0"/>
                <a:cs typeface="Courier New" pitchFamily="49" charset="0"/>
              </a:rPr>
              <a:t>s2 </a:t>
            </a:r>
            <a:r>
              <a:rPr lang="en-US" altLang="en-US" sz="1400" b="1" dirty="0">
                <a:latin typeface="Courier New" pitchFamily="49" charset="0"/>
                <a:cs typeface="Courier New" pitchFamily="49" charset="0"/>
              </a:rPr>
              <a:t>= </a:t>
            </a:r>
            <a:r>
              <a:rPr lang="en-US" altLang="en-US" sz="1400" b="1" dirty="0" smtClean="0">
                <a:latin typeface="Courier New" pitchFamily="49" charset="0"/>
                <a:cs typeface="Courier New" pitchFamily="49" charset="0"/>
              </a:rPr>
              <a:t>new Semaphore(2); </a:t>
            </a:r>
            <a:r>
              <a:rPr lang="en-US" altLang="en-US" sz="1400" b="1" dirty="0">
                <a:latin typeface="Courier New" pitchFamily="49" charset="0"/>
                <a:cs typeface="Courier New" pitchFamily="49" charset="0"/>
              </a:rPr>
              <a:t>// </a:t>
            </a:r>
            <a:r>
              <a:rPr lang="en-US" altLang="en-US" sz="1400" b="1" dirty="0" smtClean="0">
                <a:latin typeface="Courier New" pitchFamily="49" charset="0"/>
                <a:cs typeface="Courier New" pitchFamily="49" charset="0"/>
              </a:rPr>
              <a:t>s2-</a:t>
            </a:r>
            <a:r>
              <a:rPr lang="en-US" altLang="en-US" sz="1400" b="1" dirty="0">
                <a:latin typeface="Courier New" pitchFamily="49" charset="0"/>
                <a:cs typeface="Courier New" pitchFamily="49" charset="0"/>
              </a:rPr>
              <a:t>&gt;value = 2</a:t>
            </a:r>
            <a:endParaRPr lang="en-US" altLang="en-US" sz="1400" b="1" dirty="0" smtClean="0">
              <a:latin typeface="Courier New" pitchFamily="49" charset="0"/>
              <a:cs typeface="Courier New" pitchFamily="49" charset="0"/>
            </a:endParaRPr>
          </a:p>
          <a:p>
            <a:pPr marL="0" indent="0">
              <a:buNone/>
            </a:pPr>
            <a:r>
              <a:rPr lang="en-US" altLang="en-US" sz="1400" b="1" dirty="0" smtClean="0">
                <a:latin typeface="Courier New" pitchFamily="49" charset="0"/>
                <a:cs typeface="Courier New" pitchFamily="49" charset="0"/>
              </a:rPr>
              <a:t>// Assume a system of 3 cooperating processes and the pseudocode snippets given below:</a:t>
            </a: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r>
              <a:rPr lang="en-US" altLang="en-US" sz="1400" b="1" dirty="0" smtClean="0">
                <a:latin typeface="Courier New" pitchFamily="49" charset="0"/>
                <a:cs typeface="Courier New" pitchFamily="49" charset="0"/>
              </a:rPr>
              <a:t>// After the execution of the snippets according to the given timeline , the state of s1 and s2 would be as follows</a:t>
            </a:r>
          </a:p>
          <a:p>
            <a:pPr marL="0" indent="0">
              <a:buNone/>
            </a:pPr>
            <a:r>
              <a:rPr lang="en-US" altLang="en-US" sz="1400" b="1" dirty="0" smtClean="0">
                <a:latin typeface="Courier New" pitchFamily="49" charset="0"/>
                <a:cs typeface="Courier New" pitchFamily="49" charset="0"/>
              </a:rPr>
              <a:t>// P3 waits on s2 …</a:t>
            </a:r>
          </a:p>
          <a:p>
            <a:pPr marL="0" indent="0">
              <a:buNone/>
            </a:pPr>
            <a:r>
              <a:rPr lang="en-US" altLang="en-US" sz="1400" b="1" dirty="0">
                <a:latin typeface="Courier New" pitchFamily="49" charset="0"/>
                <a:cs typeface="Courier New" pitchFamily="49" charset="0"/>
              </a:rPr>
              <a:t> </a:t>
            </a:r>
            <a:r>
              <a:rPr lang="en-US" altLang="en-US" sz="1400" b="1" dirty="0" smtClean="0">
                <a:latin typeface="Courier New" pitchFamily="49" charset="0"/>
                <a:cs typeface="Courier New" pitchFamily="49" charset="0"/>
              </a:rPr>
              <a:t>  s1-&gt;value = 1 , s1-&gt;list = NULL</a:t>
            </a:r>
          </a:p>
          <a:p>
            <a:pPr marL="0" indent="0">
              <a:buNone/>
            </a:pPr>
            <a:r>
              <a:rPr lang="en-US" altLang="en-US" sz="1400" b="1" dirty="0" smtClean="0">
                <a:latin typeface="Courier New" pitchFamily="49" charset="0"/>
                <a:cs typeface="Courier New" pitchFamily="49" charset="0"/>
              </a:rPr>
              <a:t>   s2-</a:t>
            </a:r>
            <a:r>
              <a:rPr lang="en-US" altLang="en-US" sz="1400" b="1" dirty="0">
                <a:latin typeface="Courier New" pitchFamily="49" charset="0"/>
                <a:cs typeface="Courier New" pitchFamily="49" charset="0"/>
              </a:rPr>
              <a:t>&gt;value = </a:t>
            </a:r>
            <a:r>
              <a:rPr lang="en-US" altLang="en-US" sz="1400" b="1" dirty="0" smtClean="0">
                <a:latin typeface="Courier New" pitchFamily="49" charset="0"/>
                <a:cs typeface="Courier New" pitchFamily="49" charset="0"/>
              </a:rPr>
              <a:t>-1 , s2-</a:t>
            </a:r>
            <a:r>
              <a:rPr lang="en-US" altLang="en-US" sz="1400" b="1" dirty="0">
                <a:latin typeface="Courier New" pitchFamily="49" charset="0"/>
                <a:cs typeface="Courier New" pitchFamily="49" charset="0"/>
              </a:rPr>
              <a:t>&gt;list </a:t>
            </a:r>
            <a:r>
              <a:rPr lang="en-US" altLang="en-US" sz="1400" b="1" dirty="0" smtClean="0">
                <a:latin typeface="Courier New" pitchFamily="49" charset="0"/>
                <a:cs typeface="Courier New" pitchFamily="49" charset="0"/>
              </a:rPr>
              <a:t>-&gt; P3 </a:t>
            </a: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Font typeface="Monotype Sorts" pitchFamily="-84" charset="2"/>
              <a:buNone/>
            </a:pPr>
            <a:endParaRPr lang="en-US" altLang="en-US" sz="1400" b="1" dirty="0" smtClean="0">
              <a:latin typeface="Courier New" pitchFamily="49" charset="0"/>
              <a:cs typeface="Courier New" pitchFamily="49"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61982036"/>
              </p:ext>
            </p:extLst>
          </p:nvPr>
        </p:nvGraphicFramePr>
        <p:xfrm>
          <a:off x="2627782" y="2607468"/>
          <a:ext cx="3744417" cy="2511426"/>
        </p:xfrm>
        <a:graphic>
          <a:graphicData uri="http://schemas.openxmlformats.org/drawingml/2006/table">
            <a:tbl>
              <a:tblPr firstRow="1" firstCol="1" bandRow="1">
                <a:tableStyleId>{5C22544A-7EE6-4342-B048-85BDC9FD1C3A}</a:tableStyleId>
              </a:tblPr>
              <a:tblGrid>
                <a:gridCol w="1210765"/>
                <a:gridCol w="1319773"/>
                <a:gridCol w="1213879"/>
              </a:tblGrid>
              <a:tr h="179318">
                <a:tc>
                  <a:txBody>
                    <a:bodyPr/>
                    <a:lstStyle/>
                    <a:p>
                      <a:pPr>
                        <a:lnSpc>
                          <a:spcPct val="107000"/>
                        </a:lnSpc>
                        <a:spcAft>
                          <a:spcPts val="0"/>
                        </a:spcAft>
                      </a:pPr>
                      <a:r>
                        <a:rPr lang="en-IN" sz="1100" b="1" dirty="0">
                          <a:solidFill>
                            <a:srgbClr val="FF0000"/>
                          </a:solidFill>
                          <a:effectLst/>
                        </a:rPr>
                        <a:t>Process P1</a:t>
                      </a:r>
                      <a:endParaRPr lang="en-IN" sz="1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b="1" dirty="0">
                          <a:solidFill>
                            <a:srgbClr val="FF0000"/>
                          </a:solidFill>
                          <a:effectLst/>
                        </a:rPr>
                        <a:t>Process P2</a:t>
                      </a:r>
                      <a:endParaRPr lang="en-IN" sz="1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b="1" dirty="0">
                          <a:solidFill>
                            <a:srgbClr val="FF0000"/>
                          </a:solidFill>
                          <a:effectLst/>
                        </a:rPr>
                        <a:t>Process P3</a:t>
                      </a:r>
                      <a:endParaRPr lang="en-IN" sz="1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r h="2331124">
                <a:tc>
                  <a:txBody>
                    <a:bodyPr/>
                    <a:lstStyle/>
                    <a:p>
                      <a:pPr>
                        <a:lnSpc>
                          <a:spcPct val="107000"/>
                        </a:lnSpc>
                        <a:spcAft>
                          <a:spcPts val="0"/>
                        </a:spcAft>
                      </a:pPr>
                      <a:r>
                        <a:rPr lang="en-IN" sz="1100" b="0" dirty="0">
                          <a:solidFill>
                            <a:schemeClr val="tx1"/>
                          </a:solidFill>
                          <a:effectLst/>
                        </a:rPr>
                        <a:t>wait ( s2 ) ;</a:t>
                      </a:r>
                    </a:p>
                    <a:p>
                      <a:pPr>
                        <a:lnSpc>
                          <a:spcPct val="107000"/>
                        </a:lnSpc>
                        <a:spcAft>
                          <a:spcPts val="0"/>
                        </a:spcAft>
                      </a:pPr>
                      <a:r>
                        <a:rPr lang="en-IN" sz="1100" b="0" dirty="0">
                          <a:solidFill>
                            <a:schemeClr val="tx1"/>
                          </a:solidFill>
                          <a:effectLst/>
                        </a:rPr>
                        <a:t>wait ( s1 ) ;</a:t>
                      </a:r>
                    </a:p>
                    <a:p>
                      <a:pPr>
                        <a:lnSpc>
                          <a:spcPct val="107000"/>
                        </a:lnSpc>
                        <a:spcAft>
                          <a:spcPts val="0"/>
                        </a:spcAft>
                      </a:pPr>
                      <a:r>
                        <a:rPr lang="en-IN" sz="1100" b="0" dirty="0">
                          <a:solidFill>
                            <a:schemeClr val="tx1"/>
                          </a:solidFill>
                          <a:effectLst/>
                        </a:rPr>
                        <a:t>….</a:t>
                      </a:r>
                    </a:p>
                    <a:p>
                      <a:pPr>
                        <a:lnSpc>
                          <a:spcPct val="107000"/>
                        </a:lnSpc>
                        <a:spcAft>
                          <a:spcPts val="0"/>
                        </a:spcAft>
                      </a:pPr>
                      <a:r>
                        <a:rPr lang="en-IN" sz="1100" b="0" dirty="0">
                          <a:solidFill>
                            <a:schemeClr val="tx1"/>
                          </a:solidFill>
                          <a:effectLst/>
                        </a:rPr>
                        <a:t>signal ( s1 ) ;</a:t>
                      </a:r>
                      <a:endParaRPr lang="en-IN"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wait( s2) ;</a:t>
                      </a:r>
                    </a:p>
                    <a:p>
                      <a:pPr>
                        <a:lnSpc>
                          <a:spcPct val="107000"/>
                        </a:lnSpc>
                        <a:spcAft>
                          <a:spcPts val="0"/>
                        </a:spcAft>
                      </a:pPr>
                      <a:r>
                        <a:rPr lang="en-IN" sz="1100" dirty="0">
                          <a:solidFill>
                            <a:schemeClr val="tx1"/>
                          </a:solidFill>
                          <a:effectLst/>
                        </a:rPr>
                        <a:t>wait ( s1 ) ;</a:t>
                      </a:r>
                    </a:p>
                    <a:p>
                      <a:pPr>
                        <a:lnSpc>
                          <a:spcPct val="107000"/>
                        </a:lnSpc>
                        <a:spcAft>
                          <a:spcPts val="0"/>
                        </a:spcAft>
                      </a:pPr>
                      <a:r>
                        <a:rPr lang="en-IN" sz="1100" dirty="0">
                          <a:solidFill>
                            <a:schemeClr val="tx1"/>
                          </a:solidFill>
                          <a:effectLst/>
                        </a:rPr>
                        <a:t>….</a:t>
                      </a:r>
                    </a:p>
                    <a:p>
                      <a:pPr>
                        <a:lnSpc>
                          <a:spcPct val="107000"/>
                        </a:lnSpc>
                        <a:spcAft>
                          <a:spcPts val="0"/>
                        </a:spcAft>
                      </a:pPr>
                      <a:r>
                        <a:rPr lang="en-IN" sz="1100" dirty="0">
                          <a:solidFill>
                            <a:schemeClr val="tx1"/>
                          </a:solidFill>
                          <a:effectLst/>
                        </a:rPr>
                        <a:t>signal ( s1 )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wait ( s2 ) ;</a:t>
                      </a:r>
                    </a:p>
                    <a:p>
                      <a:pPr>
                        <a:lnSpc>
                          <a:spcPct val="107000"/>
                        </a:lnSpc>
                        <a:spcAft>
                          <a:spcPts val="0"/>
                        </a:spcAft>
                      </a:pPr>
                      <a:r>
                        <a:rPr lang="en-IN" sz="1100" dirty="0">
                          <a:solidFill>
                            <a:schemeClr val="tx1"/>
                          </a:solidFill>
                          <a:effectLst/>
                        </a:rPr>
                        <a:t>wait ( s1 ) ;</a:t>
                      </a:r>
                    </a:p>
                    <a:p>
                      <a:pPr>
                        <a:lnSpc>
                          <a:spcPct val="107000"/>
                        </a:lnSpc>
                        <a:spcAft>
                          <a:spcPts val="0"/>
                        </a:spcAft>
                      </a:pPr>
                      <a:r>
                        <a:rPr lang="en-IN" sz="1100" dirty="0">
                          <a:solidFill>
                            <a:schemeClr val="tx1"/>
                          </a:solidFill>
                          <a:effectLst/>
                        </a:rPr>
                        <a:t>….</a:t>
                      </a:r>
                    </a:p>
                    <a:p>
                      <a:pPr>
                        <a:lnSpc>
                          <a:spcPct val="107000"/>
                        </a:lnSpc>
                        <a:spcAft>
                          <a:spcPts val="0"/>
                        </a:spcAft>
                      </a:pPr>
                      <a:r>
                        <a:rPr lang="en-IN" sz="1100" dirty="0">
                          <a:solidFill>
                            <a:schemeClr val="tx1"/>
                          </a:solidFill>
                          <a:effectLst/>
                        </a:rPr>
                        <a:t>signal ( s1 ) ; </a:t>
                      </a:r>
                    </a:p>
                    <a:p>
                      <a:pPr>
                        <a:lnSpc>
                          <a:spcPct val="107000"/>
                        </a:lnSpc>
                        <a:spcAft>
                          <a:spcPts val="0"/>
                        </a:spcAft>
                      </a:pPr>
                      <a:r>
                        <a:rPr lang="en-IN" sz="1100" dirty="0">
                          <a:solidFill>
                            <a:schemeClr val="tx1"/>
                          </a:solidFill>
                          <a:effectLst/>
                        </a:rPr>
                        <a:t> </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bl>
          </a:graphicData>
        </a:graphic>
      </p:graphicFrame>
    </p:spTree>
    <p:extLst>
      <p:ext uri="{BB962C8B-B14F-4D97-AF65-F5344CB8AC3E}">
        <p14:creationId xmlns:p14="http://schemas.microsoft.com/office/powerpoint/2010/main" val="9977439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22325" y="144463"/>
            <a:ext cx="8356600" cy="581025"/>
          </a:xfrm>
        </p:spPr>
        <p:txBody>
          <a:bodyPr/>
          <a:lstStyle/>
          <a:p>
            <a:pPr eaLnBrk="1" hangingPunct="1"/>
            <a:r>
              <a:rPr lang="en-US" altLang="en-US" sz="2400" dirty="0" smtClean="0"/>
              <a:t>Semaphore Example (cont’d)</a:t>
            </a:r>
          </a:p>
        </p:txBody>
      </p:sp>
      <p:sp>
        <p:nvSpPr>
          <p:cNvPr id="31747" name="Rectangle 3"/>
          <p:cNvSpPr>
            <a:spLocks noGrp="1" noChangeArrowheads="1"/>
          </p:cNvSpPr>
          <p:nvPr>
            <p:ph idx="1"/>
          </p:nvPr>
        </p:nvSpPr>
        <p:spPr>
          <a:xfrm>
            <a:off x="822325" y="901700"/>
            <a:ext cx="7350075" cy="5695652"/>
          </a:xfrm>
        </p:spPr>
        <p:txBody>
          <a:bodyPr>
            <a:normAutofit/>
          </a:bodyPr>
          <a:lstStyle/>
          <a:p>
            <a:pPr marL="0" indent="0">
              <a:buFont typeface="Monotype Sorts" pitchFamily="-84" charset="2"/>
              <a:buNone/>
            </a:pPr>
            <a:r>
              <a:rPr lang="en-US" altLang="en-US" sz="1400" b="1" dirty="0" smtClean="0">
                <a:latin typeface="Courier New" pitchFamily="49" charset="0"/>
                <a:cs typeface="Courier New" pitchFamily="49" charset="0"/>
              </a:rPr>
              <a:t>// Adding to previous pseudocode snippets </a:t>
            </a: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r>
              <a:rPr lang="en-US" altLang="en-US" sz="1400" b="1" dirty="0" smtClean="0">
                <a:latin typeface="Courier New" pitchFamily="49" charset="0"/>
                <a:cs typeface="Courier New" pitchFamily="49" charset="0"/>
              </a:rPr>
              <a:t>// Now the state of s1 and s2 would be as follows</a:t>
            </a:r>
          </a:p>
          <a:p>
            <a:pPr marL="0" indent="0">
              <a:buNone/>
            </a:pPr>
            <a:r>
              <a:rPr lang="en-US" altLang="en-US" sz="1400" b="1" dirty="0">
                <a:latin typeface="Courier New" pitchFamily="49" charset="0"/>
                <a:cs typeface="Courier New" pitchFamily="49" charset="0"/>
              </a:rPr>
              <a:t> </a:t>
            </a:r>
            <a:r>
              <a:rPr lang="en-US" altLang="en-US" sz="1400" b="1" dirty="0" smtClean="0">
                <a:latin typeface="Courier New" pitchFamily="49" charset="0"/>
                <a:cs typeface="Courier New" pitchFamily="49" charset="0"/>
              </a:rPr>
              <a:t>  s1-&gt;value = 1 , s1-&gt;list = NULL</a:t>
            </a:r>
          </a:p>
          <a:p>
            <a:pPr marL="0" indent="0">
              <a:buNone/>
            </a:pPr>
            <a:r>
              <a:rPr lang="en-US" altLang="en-US" sz="1400" b="1" dirty="0" smtClean="0">
                <a:latin typeface="Courier New" pitchFamily="49" charset="0"/>
                <a:cs typeface="Courier New" pitchFamily="49" charset="0"/>
              </a:rPr>
              <a:t>   s2-</a:t>
            </a:r>
            <a:r>
              <a:rPr lang="en-US" altLang="en-US" sz="1400" b="1" dirty="0">
                <a:latin typeface="Courier New" pitchFamily="49" charset="0"/>
                <a:cs typeface="Courier New" pitchFamily="49" charset="0"/>
              </a:rPr>
              <a:t>&gt;value = </a:t>
            </a:r>
            <a:r>
              <a:rPr lang="en-US" altLang="en-US" sz="1400" b="1" dirty="0" smtClean="0">
                <a:latin typeface="Courier New" pitchFamily="49" charset="0"/>
                <a:cs typeface="Courier New" pitchFamily="49" charset="0"/>
              </a:rPr>
              <a:t>2 , s2-</a:t>
            </a:r>
            <a:r>
              <a:rPr lang="en-US" altLang="en-US" sz="1400" b="1" dirty="0">
                <a:latin typeface="Courier New" pitchFamily="49" charset="0"/>
                <a:cs typeface="Courier New" pitchFamily="49" charset="0"/>
              </a:rPr>
              <a:t>&gt;list </a:t>
            </a:r>
            <a:r>
              <a:rPr lang="en-US" altLang="en-US" sz="1400" b="1" dirty="0" smtClean="0">
                <a:latin typeface="Courier New" pitchFamily="49" charset="0"/>
                <a:cs typeface="Courier New" pitchFamily="49" charset="0"/>
              </a:rPr>
              <a:t>-&gt; NULL </a:t>
            </a: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None/>
            </a:pPr>
            <a:endParaRPr lang="en-US" altLang="en-US" sz="1400" b="1" dirty="0" smtClean="0">
              <a:latin typeface="Courier New" pitchFamily="49" charset="0"/>
              <a:cs typeface="Courier New" pitchFamily="49" charset="0"/>
            </a:endParaRPr>
          </a:p>
          <a:p>
            <a:pPr marL="0" indent="0">
              <a:buNone/>
            </a:pPr>
            <a:endParaRPr lang="en-US" altLang="en-US" sz="1400" b="1" dirty="0">
              <a:latin typeface="Courier New" pitchFamily="49" charset="0"/>
              <a:cs typeface="Courier New" pitchFamily="49" charset="0"/>
            </a:endParaRPr>
          </a:p>
          <a:p>
            <a:pPr marL="0" indent="0">
              <a:buFont typeface="Monotype Sorts" pitchFamily="-84" charset="2"/>
              <a:buNone/>
            </a:pPr>
            <a:endParaRPr lang="en-US" altLang="en-US" sz="1400" b="1" dirty="0" smtClean="0">
              <a:latin typeface="Courier New" pitchFamily="49" charset="0"/>
              <a:cs typeface="Courier New" pitchFamily="49"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398844118"/>
              </p:ext>
            </p:extLst>
          </p:nvPr>
        </p:nvGraphicFramePr>
        <p:xfrm>
          <a:off x="2339752" y="1315516"/>
          <a:ext cx="3413755" cy="3049588"/>
        </p:xfrm>
        <a:graphic>
          <a:graphicData uri="http://schemas.openxmlformats.org/drawingml/2006/table">
            <a:tbl>
              <a:tblPr firstRow="1" firstCol="1" bandRow="1">
                <a:tableStyleId>{5C22544A-7EE6-4342-B048-85BDC9FD1C3A}</a:tableStyleId>
              </a:tblPr>
              <a:tblGrid>
                <a:gridCol w="1103845"/>
                <a:gridCol w="1203226"/>
                <a:gridCol w="1106684"/>
              </a:tblGrid>
              <a:tr h="134824">
                <a:tc>
                  <a:txBody>
                    <a:bodyPr/>
                    <a:lstStyle/>
                    <a:p>
                      <a:pPr>
                        <a:lnSpc>
                          <a:spcPct val="107000"/>
                        </a:lnSpc>
                        <a:spcAft>
                          <a:spcPts val="0"/>
                        </a:spcAft>
                      </a:pPr>
                      <a:r>
                        <a:rPr lang="en-IN" sz="1100" dirty="0">
                          <a:solidFill>
                            <a:srgbClr val="FF0000"/>
                          </a:solidFill>
                          <a:effectLst/>
                        </a:rPr>
                        <a:t>Process P1</a:t>
                      </a:r>
                      <a:endPar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dirty="0">
                          <a:solidFill>
                            <a:srgbClr val="FF0000"/>
                          </a:solidFill>
                          <a:effectLst/>
                        </a:rPr>
                        <a:t>Process P2</a:t>
                      </a:r>
                      <a:endPar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dirty="0">
                          <a:solidFill>
                            <a:srgbClr val="FF0000"/>
                          </a:solidFill>
                          <a:effectLst/>
                        </a:rPr>
                        <a:t>Process P3</a:t>
                      </a:r>
                      <a:endParaRPr lang="en-IN"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r h="2250817">
                <a:tc>
                  <a:txBody>
                    <a:bodyPr/>
                    <a:lstStyle/>
                    <a:p>
                      <a:pPr>
                        <a:lnSpc>
                          <a:spcPct val="107000"/>
                        </a:lnSpc>
                        <a:spcAft>
                          <a:spcPts val="0"/>
                        </a:spcAft>
                      </a:pPr>
                      <a:r>
                        <a:rPr lang="en-IN" sz="1100" b="0" dirty="0">
                          <a:solidFill>
                            <a:schemeClr val="tx1"/>
                          </a:solidFill>
                          <a:effectLst/>
                        </a:rPr>
                        <a:t>wait ( s2 ) ;</a:t>
                      </a:r>
                    </a:p>
                    <a:p>
                      <a:pPr>
                        <a:lnSpc>
                          <a:spcPct val="107000"/>
                        </a:lnSpc>
                        <a:spcAft>
                          <a:spcPts val="0"/>
                        </a:spcAft>
                      </a:pPr>
                      <a:r>
                        <a:rPr lang="en-IN" sz="1100" b="0" dirty="0">
                          <a:solidFill>
                            <a:schemeClr val="tx1"/>
                          </a:solidFill>
                          <a:effectLst/>
                        </a:rPr>
                        <a:t>wait ( s1 ) ;</a:t>
                      </a:r>
                    </a:p>
                    <a:p>
                      <a:pPr>
                        <a:lnSpc>
                          <a:spcPct val="107000"/>
                        </a:lnSpc>
                        <a:spcAft>
                          <a:spcPts val="0"/>
                        </a:spcAft>
                      </a:pPr>
                      <a:r>
                        <a:rPr lang="en-IN" sz="1100" b="0" dirty="0">
                          <a:solidFill>
                            <a:schemeClr val="tx1"/>
                          </a:solidFill>
                          <a:effectLst/>
                        </a:rPr>
                        <a:t>….</a:t>
                      </a:r>
                    </a:p>
                    <a:p>
                      <a:pPr>
                        <a:lnSpc>
                          <a:spcPct val="107000"/>
                        </a:lnSpc>
                        <a:spcAft>
                          <a:spcPts val="0"/>
                        </a:spcAft>
                      </a:pPr>
                      <a:r>
                        <a:rPr lang="en-IN" sz="1100" b="0" dirty="0">
                          <a:solidFill>
                            <a:schemeClr val="tx1"/>
                          </a:solidFill>
                          <a:effectLst/>
                        </a:rPr>
                        <a:t>signal ( s1 ) ;</a:t>
                      </a:r>
                    </a:p>
                    <a:p>
                      <a:pPr>
                        <a:lnSpc>
                          <a:spcPct val="107000"/>
                        </a:lnSpc>
                        <a:spcAft>
                          <a:spcPts val="0"/>
                        </a:spcAft>
                      </a:pPr>
                      <a:r>
                        <a:rPr lang="en-IN" sz="1100" b="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signal ( s2 ) ;</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wait( s2) ;</a:t>
                      </a:r>
                    </a:p>
                    <a:p>
                      <a:pPr>
                        <a:lnSpc>
                          <a:spcPct val="107000"/>
                        </a:lnSpc>
                        <a:spcAft>
                          <a:spcPts val="0"/>
                        </a:spcAft>
                      </a:pPr>
                      <a:r>
                        <a:rPr lang="en-IN" sz="1100">
                          <a:solidFill>
                            <a:schemeClr val="tx1"/>
                          </a:solidFill>
                          <a:effectLst/>
                        </a:rPr>
                        <a:t>wait ( s1 ) ;</a:t>
                      </a:r>
                    </a:p>
                    <a:p>
                      <a:pPr>
                        <a:lnSpc>
                          <a:spcPct val="107000"/>
                        </a:lnSpc>
                        <a:spcAft>
                          <a:spcPts val="0"/>
                        </a:spcAft>
                      </a:pPr>
                      <a:r>
                        <a:rPr lang="en-IN" sz="1100">
                          <a:solidFill>
                            <a:schemeClr val="tx1"/>
                          </a:solidFill>
                          <a:effectLst/>
                        </a:rPr>
                        <a:t>….</a:t>
                      </a:r>
                    </a:p>
                    <a:p>
                      <a:pPr>
                        <a:lnSpc>
                          <a:spcPct val="107000"/>
                        </a:lnSpc>
                        <a:spcAft>
                          <a:spcPts val="0"/>
                        </a:spcAft>
                      </a:pPr>
                      <a:r>
                        <a:rPr lang="en-IN" sz="1100">
                          <a:solidFill>
                            <a:schemeClr val="tx1"/>
                          </a:solidFill>
                          <a:effectLst/>
                        </a:rPr>
                        <a:t>signal ( s1 )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 </a:t>
                      </a:r>
                    </a:p>
                    <a:p>
                      <a:pPr>
                        <a:lnSpc>
                          <a:spcPct val="107000"/>
                        </a:lnSpc>
                        <a:spcAft>
                          <a:spcPts val="0"/>
                        </a:spcAft>
                      </a:pPr>
                      <a:r>
                        <a:rPr lang="en-IN" sz="1100">
                          <a:solidFill>
                            <a:schemeClr val="tx1"/>
                          </a:solidFill>
                          <a:effectLst/>
                        </a:rPr>
                        <a:t>signal ( s2 );</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wait ( s2 ) ;</a:t>
                      </a:r>
                    </a:p>
                    <a:p>
                      <a:pPr>
                        <a:lnSpc>
                          <a:spcPct val="107000"/>
                        </a:lnSpc>
                        <a:spcAft>
                          <a:spcPts val="0"/>
                        </a:spcAft>
                      </a:pPr>
                      <a:r>
                        <a:rPr lang="en-IN" sz="1100" dirty="0">
                          <a:solidFill>
                            <a:schemeClr val="tx1"/>
                          </a:solidFill>
                          <a:effectLst/>
                        </a:rPr>
                        <a:t>wait ( s1 ) ;</a:t>
                      </a:r>
                    </a:p>
                    <a:p>
                      <a:pPr>
                        <a:lnSpc>
                          <a:spcPct val="107000"/>
                        </a:lnSpc>
                        <a:spcAft>
                          <a:spcPts val="0"/>
                        </a:spcAft>
                      </a:pPr>
                      <a:r>
                        <a:rPr lang="en-IN" sz="1100" dirty="0">
                          <a:solidFill>
                            <a:schemeClr val="tx1"/>
                          </a:solidFill>
                          <a:effectLst/>
                        </a:rPr>
                        <a:t>….</a:t>
                      </a:r>
                    </a:p>
                    <a:p>
                      <a:pPr>
                        <a:lnSpc>
                          <a:spcPct val="107000"/>
                        </a:lnSpc>
                        <a:spcAft>
                          <a:spcPts val="0"/>
                        </a:spcAft>
                      </a:pPr>
                      <a:r>
                        <a:rPr lang="en-IN" sz="1100" dirty="0">
                          <a:solidFill>
                            <a:schemeClr val="tx1"/>
                          </a:solidFill>
                          <a:effectLst/>
                        </a:rPr>
                        <a:t>signal ( s1 ) ;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 </a:t>
                      </a:r>
                    </a:p>
                    <a:p>
                      <a:pPr>
                        <a:lnSpc>
                          <a:spcPct val="107000"/>
                        </a:lnSpc>
                        <a:spcAft>
                          <a:spcPts val="0"/>
                        </a:spcAft>
                      </a:pPr>
                      <a:r>
                        <a:rPr lang="en-IN" sz="1100" dirty="0">
                          <a:solidFill>
                            <a:schemeClr val="tx1"/>
                          </a:solidFill>
                          <a:effectLst/>
                        </a:rPr>
                        <a:t>signal ( s2 );</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r>
            </a:tbl>
          </a:graphicData>
        </a:graphic>
      </p:graphicFrame>
    </p:spTree>
    <p:extLst>
      <p:ext uri="{BB962C8B-B14F-4D97-AF65-F5344CB8AC3E}">
        <p14:creationId xmlns:p14="http://schemas.microsoft.com/office/powerpoint/2010/main" val="42542634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69963" y="161925"/>
            <a:ext cx="7716837" cy="576263"/>
          </a:xfrm>
        </p:spPr>
        <p:txBody>
          <a:bodyPr>
            <a:normAutofit fontScale="90000"/>
          </a:bodyPr>
          <a:lstStyle/>
          <a:p>
            <a:pPr eaLnBrk="1" hangingPunct="1"/>
            <a:r>
              <a:rPr lang="en-US" altLang="en-US" smtClean="0"/>
              <a:t>Deadlock and Starvation</a:t>
            </a:r>
          </a:p>
        </p:txBody>
      </p:sp>
      <p:sp>
        <p:nvSpPr>
          <p:cNvPr id="32771" name="Rectangle 3"/>
          <p:cNvSpPr>
            <a:spLocks noGrp="1" noChangeArrowheads="1"/>
          </p:cNvSpPr>
          <p:nvPr>
            <p:ph idx="1"/>
          </p:nvPr>
        </p:nvSpPr>
        <p:spPr>
          <a:xfrm>
            <a:off x="820738" y="1073150"/>
            <a:ext cx="7640637" cy="4906963"/>
          </a:xfrm>
        </p:spPr>
        <p:txBody>
          <a:bodyPr>
            <a:normAutofit fontScale="85000" lnSpcReduction="20000"/>
          </a:bodyPr>
          <a:lstStyle/>
          <a:p>
            <a:pPr algn="just">
              <a:lnSpc>
                <a:spcPct val="90000"/>
              </a:lnSpc>
              <a:tabLst>
                <a:tab pos="1882775" algn="ctr"/>
                <a:tab pos="4568825" algn="ctr"/>
              </a:tabLst>
            </a:pPr>
            <a:r>
              <a:rPr lang="en-US" altLang="en-US" b="1" dirty="0" smtClean="0">
                <a:solidFill>
                  <a:srgbClr val="FF0000"/>
                </a:solidFill>
              </a:rPr>
              <a:t>Deadlock</a:t>
            </a:r>
            <a:r>
              <a:rPr lang="en-US" altLang="en-US" b="1" dirty="0" smtClean="0">
                <a:solidFill>
                  <a:srgbClr val="3366FF"/>
                </a:solidFill>
              </a:rPr>
              <a:t> </a:t>
            </a:r>
            <a:r>
              <a:rPr lang="en-US" altLang="en-US" dirty="0" smtClean="0"/>
              <a:t>– two or more processes are waiting indefinitely for an event that can be caused by only one of the waiting processes</a:t>
            </a:r>
          </a:p>
          <a:p>
            <a:pPr>
              <a:lnSpc>
                <a:spcPct val="90000"/>
              </a:lnSpc>
              <a:tabLst>
                <a:tab pos="1882775" algn="ctr"/>
                <a:tab pos="4568825" algn="ctr"/>
              </a:tabLst>
            </a:pPr>
            <a:r>
              <a:rPr lang="en-US" altLang="en-US" dirty="0" smtClean="0">
                <a:solidFill>
                  <a:srgbClr val="000000"/>
                </a:solidFill>
              </a:rPr>
              <a:t>Let </a:t>
            </a:r>
            <a:r>
              <a:rPr lang="en-US" altLang="en-US" sz="2000" b="1" i="1" dirty="0" smtClean="0">
                <a:solidFill>
                  <a:srgbClr val="000000"/>
                </a:solidFill>
                <a:latin typeface="Courier New" pitchFamily="49" charset="0"/>
                <a:cs typeface="Courier New" pitchFamily="49" charset="0"/>
              </a:rPr>
              <a:t>S</a:t>
            </a:r>
            <a:r>
              <a:rPr lang="en-US" altLang="en-US" dirty="0" smtClean="0">
                <a:solidFill>
                  <a:srgbClr val="000000"/>
                </a:solidFill>
              </a:rPr>
              <a:t> and</a:t>
            </a:r>
            <a:r>
              <a:rPr lang="en-US" altLang="en-US" sz="1600" b="1" dirty="0" smtClean="0">
                <a:solidFill>
                  <a:srgbClr val="000000"/>
                </a:solidFill>
                <a:latin typeface="Courier New" pitchFamily="49" charset="0"/>
                <a:cs typeface="Courier New" pitchFamily="49" charset="0"/>
              </a:rPr>
              <a:t> </a:t>
            </a:r>
            <a:r>
              <a:rPr lang="en-US" altLang="en-US" sz="2000" b="1" i="1" dirty="0" smtClean="0">
                <a:solidFill>
                  <a:srgbClr val="000000"/>
                </a:solidFill>
                <a:latin typeface="Courier New" pitchFamily="49" charset="0"/>
                <a:cs typeface="Courier New" pitchFamily="49" charset="0"/>
              </a:rPr>
              <a:t>Q</a:t>
            </a:r>
            <a:r>
              <a:rPr lang="en-US" altLang="en-US" sz="1600" b="1" dirty="0" smtClean="0">
                <a:solidFill>
                  <a:srgbClr val="000000"/>
                </a:solidFill>
                <a:latin typeface="Courier New" pitchFamily="49" charset="0"/>
                <a:cs typeface="Courier New" pitchFamily="49" charset="0"/>
              </a:rPr>
              <a:t> </a:t>
            </a:r>
            <a:r>
              <a:rPr lang="en-US" altLang="en-US" dirty="0" smtClean="0">
                <a:solidFill>
                  <a:srgbClr val="000000"/>
                </a:solidFill>
              </a:rPr>
              <a:t>be </a:t>
            </a:r>
            <a:r>
              <a:rPr lang="en-US" altLang="en-US" dirty="0" smtClean="0"/>
              <a:t>two semaphores initialized to 1</a:t>
            </a:r>
          </a:p>
          <a:p>
            <a:pPr>
              <a:lnSpc>
                <a:spcPct val="90000"/>
              </a:lnSpc>
              <a:buFont typeface="Monotype Sorts" pitchFamily="-84" charset="2"/>
              <a:buNone/>
              <a:tabLst>
                <a:tab pos="1882775" algn="ctr"/>
                <a:tab pos="4568825" algn="ctr"/>
              </a:tabLst>
            </a:pPr>
            <a:r>
              <a:rPr lang="en-US" altLang="en-US" i="1" dirty="0" smtClean="0">
                <a:solidFill>
                  <a:srgbClr val="000000"/>
                </a:solidFill>
              </a:rPr>
              <a:t>		        P</a:t>
            </a:r>
            <a:r>
              <a:rPr lang="en-US" altLang="en-US" baseline="-25000" dirty="0" smtClean="0">
                <a:solidFill>
                  <a:srgbClr val="000000"/>
                </a:solidFill>
              </a:rPr>
              <a:t>0</a:t>
            </a:r>
            <a:r>
              <a:rPr lang="en-US" altLang="en-US" dirty="0" smtClean="0">
                <a:solidFill>
                  <a:srgbClr val="000000"/>
                </a:solidFill>
              </a:rPr>
              <a:t>	                            </a:t>
            </a:r>
            <a:r>
              <a:rPr lang="en-US" altLang="en-US" i="1" dirty="0" smtClean="0">
                <a:solidFill>
                  <a:srgbClr val="000000"/>
                </a:solidFill>
              </a:rPr>
              <a:t>P</a:t>
            </a:r>
            <a:r>
              <a:rPr lang="en-US" altLang="en-US" baseline="-25000" dirty="0" smtClean="0">
                <a:solidFill>
                  <a:srgbClr val="000000"/>
                </a:solidFill>
              </a:rPr>
              <a:t>1</a:t>
            </a:r>
          </a:p>
          <a:p>
            <a:pPr>
              <a:lnSpc>
                <a:spcPct val="90000"/>
              </a:lnSpc>
              <a:buFont typeface="Monotype Sorts" pitchFamily="-84" charset="2"/>
              <a:buNone/>
              <a:tabLst>
                <a:tab pos="1882775" algn="ctr"/>
                <a:tab pos="4568825" algn="ctr"/>
              </a:tabLst>
            </a:pPr>
            <a:r>
              <a:rPr lang="en-US" altLang="en-US" b="1" dirty="0" smtClean="0">
                <a:solidFill>
                  <a:srgbClr val="000000"/>
                </a:solidFill>
                <a:latin typeface="Courier New" pitchFamily="49" charset="0"/>
                <a:cs typeface="Courier New" pitchFamily="49" charset="0"/>
              </a:rPr>
              <a:t>	     </a:t>
            </a:r>
            <a:r>
              <a:rPr lang="en-US" altLang="en-US" b="1" dirty="0">
                <a:solidFill>
                  <a:srgbClr val="000000"/>
                </a:solidFill>
                <a:latin typeface="Courier New" pitchFamily="49" charset="0"/>
                <a:cs typeface="Courier New" pitchFamily="49" charset="0"/>
              </a:rPr>
              <a:t> </a:t>
            </a:r>
            <a:r>
              <a:rPr lang="en-US" altLang="en-US" sz="1600" b="1" dirty="0" smtClean="0">
                <a:solidFill>
                  <a:srgbClr val="000000"/>
                </a:solidFill>
                <a:latin typeface="Courier New" pitchFamily="49" charset="0"/>
                <a:cs typeface="Courier New" pitchFamily="49" charset="0"/>
              </a:rPr>
              <a:t>wait(S); 	              wait(Q);</a:t>
            </a:r>
          </a:p>
          <a:p>
            <a:pPr>
              <a:lnSpc>
                <a:spcPct val="90000"/>
              </a:lnSpc>
              <a:buFont typeface="Monotype Sorts" pitchFamily="-84" charset="2"/>
              <a:buNone/>
              <a:tabLst>
                <a:tab pos="1882775" algn="ctr"/>
                <a:tab pos="4568825" algn="ctr"/>
              </a:tabLst>
            </a:pPr>
            <a:r>
              <a:rPr lang="en-US" altLang="en-US" sz="1600" b="1" dirty="0" smtClean="0">
                <a:solidFill>
                  <a:srgbClr val="000000"/>
                </a:solidFill>
                <a:latin typeface="Courier New" pitchFamily="49" charset="0"/>
                <a:cs typeface="Courier New" pitchFamily="49" charset="0"/>
              </a:rPr>
              <a:t>	            wait(Q); 	              wait(S);</a:t>
            </a:r>
          </a:p>
          <a:p>
            <a:pPr>
              <a:lnSpc>
                <a:spcPct val="90000"/>
              </a:lnSpc>
              <a:buFont typeface="Monotype Sorts" pitchFamily="-84" charset="2"/>
              <a:buNone/>
              <a:tabLst>
                <a:tab pos="1882775" algn="ctr"/>
                <a:tab pos="4568825" algn="ctr"/>
              </a:tabLst>
            </a:pPr>
            <a:r>
              <a:rPr lang="en-US" altLang="en-US" sz="1600" b="1" dirty="0" smtClean="0">
                <a:solidFill>
                  <a:srgbClr val="000000"/>
                </a:solidFill>
                <a:latin typeface="Courier New" pitchFamily="49" charset="0"/>
                <a:cs typeface="Courier New" pitchFamily="49" charset="0"/>
              </a:rPr>
              <a:t>		 ...		     ...</a:t>
            </a:r>
          </a:p>
          <a:p>
            <a:pPr>
              <a:lnSpc>
                <a:spcPct val="90000"/>
              </a:lnSpc>
              <a:buFont typeface="Monotype Sorts" pitchFamily="-84" charset="2"/>
              <a:buNone/>
              <a:tabLst>
                <a:tab pos="1882775" algn="ctr"/>
                <a:tab pos="4568825" algn="ctr"/>
              </a:tabLst>
            </a:pPr>
            <a:r>
              <a:rPr lang="en-US" altLang="en-US" sz="1600" b="1" dirty="0" smtClean="0">
                <a:solidFill>
                  <a:srgbClr val="000000"/>
                </a:solidFill>
                <a:latin typeface="Courier New" pitchFamily="49" charset="0"/>
                <a:cs typeface="Courier New" pitchFamily="49" charset="0"/>
              </a:rPr>
              <a:t>	            signal(S);                 </a:t>
            </a:r>
            <a:r>
              <a:rPr lang="en-US" altLang="en-US" sz="1600" b="1" dirty="0">
                <a:solidFill>
                  <a:srgbClr val="000000"/>
                </a:solidFill>
                <a:latin typeface="Courier New" pitchFamily="49" charset="0"/>
                <a:cs typeface="Courier New" pitchFamily="49" charset="0"/>
              </a:rPr>
              <a:t> </a:t>
            </a:r>
            <a:r>
              <a:rPr lang="en-US" altLang="en-US" sz="1600" b="1" dirty="0" smtClean="0">
                <a:solidFill>
                  <a:srgbClr val="000000"/>
                </a:solidFill>
                <a:latin typeface="Courier New" pitchFamily="49" charset="0"/>
                <a:cs typeface="Courier New" pitchFamily="49" charset="0"/>
              </a:rPr>
              <a:t>   signal(Q);</a:t>
            </a:r>
          </a:p>
          <a:p>
            <a:pPr>
              <a:lnSpc>
                <a:spcPct val="90000"/>
              </a:lnSpc>
              <a:buFont typeface="Monotype Sorts" pitchFamily="-84" charset="2"/>
              <a:buNone/>
              <a:tabLst>
                <a:tab pos="1882775" algn="ctr"/>
                <a:tab pos="4568825" algn="ctr"/>
              </a:tabLst>
            </a:pPr>
            <a:r>
              <a:rPr lang="en-US" altLang="en-US" sz="1600" b="1" dirty="0" smtClean="0">
                <a:solidFill>
                  <a:srgbClr val="000000"/>
                </a:solidFill>
                <a:latin typeface="Courier New" pitchFamily="49" charset="0"/>
                <a:cs typeface="Courier New" pitchFamily="49" charset="0"/>
              </a:rPr>
              <a:t>               signal(Q);                     signal(S);</a:t>
            </a:r>
          </a:p>
          <a:p>
            <a:pPr>
              <a:lnSpc>
                <a:spcPct val="90000"/>
              </a:lnSpc>
              <a:buFont typeface="Monotype Sorts" pitchFamily="-84" charset="2"/>
              <a:buNone/>
              <a:tabLst>
                <a:tab pos="1882775" algn="ctr"/>
                <a:tab pos="4568825" algn="ctr"/>
              </a:tabLst>
            </a:pPr>
            <a:endParaRPr lang="en-US" altLang="en-US" sz="1600" b="1" dirty="0" smtClean="0">
              <a:solidFill>
                <a:srgbClr val="000000"/>
              </a:solidFill>
              <a:latin typeface="Courier New" pitchFamily="49" charset="0"/>
              <a:cs typeface="Courier New" pitchFamily="49" charset="0"/>
            </a:endParaRPr>
          </a:p>
          <a:p>
            <a:pPr>
              <a:lnSpc>
                <a:spcPct val="90000"/>
              </a:lnSpc>
              <a:tabLst>
                <a:tab pos="1882775" algn="ctr"/>
                <a:tab pos="4568825" algn="ctr"/>
              </a:tabLst>
            </a:pPr>
            <a:r>
              <a:rPr lang="en-US" altLang="en-US" b="1" dirty="0" smtClean="0">
                <a:solidFill>
                  <a:srgbClr val="FF0000"/>
                </a:solidFill>
                <a:sym typeface="MT Extra" pitchFamily="18" charset="2"/>
              </a:rPr>
              <a:t>Starvation</a:t>
            </a:r>
            <a:r>
              <a:rPr lang="en-US" altLang="en-US" dirty="0" smtClean="0">
                <a:solidFill>
                  <a:srgbClr val="FF0000"/>
                </a:solidFill>
                <a:sym typeface="MT Extra" pitchFamily="18" charset="2"/>
              </a:rPr>
              <a:t> </a:t>
            </a:r>
            <a:r>
              <a:rPr lang="en-US" altLang="en-US" dirty="0" smtClean="0">
                <a:solidFill>
                  <a:srgbClr val="FF0000"/>
                </a:solidFill>
              </a:rPr>
              <a:t>– </a:t>
            </a:r>
            <a:r>
              <a:rPr lang="en-US" altLang="en-US" b="1" dirty="0" smtClean="0">
                <a:solidFill>
                  <a:srgbClr val="FF0000"/>
                </a:solidFill>
              </a:rPr>
              <a:t>indefinite blocking  </a:t>
            </a:r>
          </a:p>
          <a:p>
            <a:pPr lvl="1">
              <a:lnSpc>
                <a:spcPct val="90000"/>
              </a:lnSpc>
              <a:tabLst>
                <a:tab pos="1882775" algn="ctr"/>
                <a:tab pos="4568825" algn="ctr"/>
              </a:tabLst>
            </a:pPr>
            <a:r>
              <a:rPr lang="en-US" altLang="en-US" sz="1600" dirty="0" smtClean="0"/>
              <a:t>A process may never be removed from the semaphore queue in which it is suspended</a:t>
            </a:r>
          </a:p>
          <a:p>
            <a:pPr algn="just">
              <a:lnSpc>
                <a:spcPct val="90000"/>
              </a:lnSpc>
              <a:tabLst>
                <a:tab pos="1882775" algn="ctr"/>
                <a:tab pos="4568825" algn="ctr"/>
              </a:tabLst>
            </a:pPr>
            <a:r>
              <a:rPr lang="en-US" altLang="en-US" b="1" dirty="0" smtClean="0">
                <a:solidFill>
                  <a:srgbClr val="FF0000"/>
                </a:solidFill>
              </a:rPr>
              <a:t>Priority Inversion</a:t>
            </a:r>
            <a:r>
              <a:rPr lang="en-US" altLang="en-US" dirty="0" smtClean="0">
                <a:solidFill>
                  <a:srgbClr val="FF0000"/>
                </a:solidFill>
              </a:rPr>
              <a:t> </a:t>
            </a:r>
            <a:r>
              <a:rPr lang="en-US" altLang="en-US" dirty="0" smtClean="0"/>
              <a:t>– Scheduling problem when lower-priority process (L) holds a lock needed by higher-priority process (H)</a:t>
            </a:r>
          </a:p>
          <a:p>
            <a:pPr lvl="1">
              <a:lnSpc>
                <a:spcPct val="90000"/>
              </a:lnSpc>
              <a:tabLst>
                <a:tab pos="1882775" algn="ctr"/>
                <a:tab pos="4568825" algn="ctr"/>
              </a:tabLst>
            </a:pPr>
            <a:r>
              <a:rPr lang="en-US" altLang="en-US" sz="1600" dirty="0" smtClean="0"/>
              <a:t>Solved through </a:t>
            </a:r>
            <a:r>
              <a:rPr lang="en-US" altLang="en-US" sz="1600" b="1" dirty="0" smtClean="0">
                <a:solidFill>
                  <a:srgbClr val="00B050"/>
                </a:solidFill>
              </a:rPr>
              <a:t>priority-inheritance protocol</a:t>
            </a:r>
          </a:p>
        </p:txBody>
      </p:sp>
    </p:spTree>
    <p:extLst>
      <p:ext uri="{BB962C8B-B14F-4D97-AF65-F5344CB8AC3E}">
        <p14:creationId xmlns:p14="http://schemas.microsoft.com/office/powerpoint/2010/main" val="19783019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146175" y="185738"/>
            <a:ext cx="8077200" cy="609600"/>
          </a:xfrm>
        </p:spPr>
        <p:txBody>
          <a:bodyPr>
            <a:normAutofit fontScale="90000"/>
          </a:bodyPr>
          <a:lstStyle/>
          <a:p>
            <a:pPr eaLnBrk="1" hangingPunct="1"/>
            <a:r>
              <a:rPr lang="en-US" altLang="en-US" smtClean="0"/>
              <a:t>Classical Problems of Synchronization</a:t>
            </a:r>
          </a:p>
        </p:txBody>
      </p:sp>
      <p:sp>
        <p:nvSpPr>
          <p:cNvPr id="33795" name="Rectangle 3"/>
          <p:cNvSpPr>
            <a:spLocks noGrp="1" noChangeArrowheads="1"/>
          </p:cNvSpPr>
          <p:nvPr>
            <p:ph idx="1"/>
          </p:nvPr>
        </p:nvSpPr>
        <p:spPr>
          <a:xfrm>
            <a:off x="806450" y="1233488"/>
            <a:ext cx="7524750" cy="4530725"/>
          </a:xfrm>
        </p:spPr>
        <p:txBody>
          <a:bodyPr/>
          <a:lstStyle/>
          <a:p>
            <a:pPr algn="just"/>
            <a:r>
              <a:rPr lang="en-US" altLang="en-US" dirty="0" smtClean="0"/>
              <a:t>Classical problems used to test newly proposed synchronization schemes</a:t>
            </a:r>
          </a:p>
          <a:p>
            <a:pPr lvl="1"/>
            <a:r>
              <a:rPr lang="en-US" altLang="en-US" dirty="0" smtClean="0"/>
              <a:t>Bounded-Buffer Problem</a:t>
            </a:r>
          </a:p>
          <a:p>
            <a:pPr lvl="1"/>
            <a:r>
              <a:rPr lang="en-US" altLang="en-US" dirty="0" smtClean="0"/>
              <a:t>Readers and Writers Problem</a:t>
            </a:r>
          </a:p>
          <a:p>
            <a:pPr lvl="1"/>
            <a:r>
              <a:rPr lang="en-US" altLang="en-US" dirty="0" smtClean="0"/>
              <a:t>Dining-Philosophers Problem</a:t>
            </a:r>
          </a:p>
        </p:txBody>
      </p:sp>
    </p:spTree>
    <p:extLst>
      <p:ext uri="{BB962C8B-B14F-4D97-AF65-F5344CB8AC3E}">
        <p14:creationId xmlns:p14="http://schemas.microsoft.com/office/powerpoint/2010/main" val="39441826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279525" y="277813"/>
            <a:ext cx="7407275" cy="576262"/>
          </a:xfrm>
        </p:spPr>
        <p:txBody>
          <a:bodyPr>
            <a:normAutofit fontScale="90000"/>
          </a:bodyPr>
          <a:lstStyle/>
          <a:p>
            <a:pPr eaLnBrk="1" hangingPunct="1"/>
            <a:r>
              <a:rPr lang="en-US" altLang="en-US" smtClean="0"/>
              <a:t>Bounded-Buffer Problem</a:t>
            </a:r>
          </a:p>
        </p:txBody>
      </p:sp>
      <p:sp>
        <p:nvSpPr>
          <p:cNvPr id="34819" name="Rectangle 3"/>
          <p:cNvSpPr>
            <a:spLocks noGrp="1" noChangeArrowheads="1"/>
          </p:cNvSpPr>
          <p:nvPr>
            <p:ph idx="1"/>
          </p:nvPr>
        </p:nvSpPr>
        <p:spPr>
          <a:xfrm>
            <a:off x="914400" y="1293813"/>
            <a:ext cx="7210425" cy="3725862"/>
          </a:xfrm>
        </p:spPr>
        <p:txBody>
          <a:bodyPr/>
          <a:lstStyle/>
          <a:p>
            <a:r>
              <a:rPr lang="en-US" altLang="en-US" sz="2000" b="1" i="1" dirty="0" smtClean="0">
                <a:solidFill>
                  <a:srgbClr val="FF0000"/>
                </a:solidFill>
              </a:rPr>
              <a:t>n</a:t>
            </a:r>
            <a:r>
              <a:rPr lang="en-US" altLang="en-US" dirty="0" smtClean="0">
                <a:solidFill>
                  <a:srgbClr val="FF0000"/>
                </a:solidFill>
              </a:rPr>
              <a:t> buffers</a:t>
            </a:r>
            <a:r>
              <a:rPr lang="en-US" altLang="en-US" dirty="0" smtClean="0"/>
              <a:t>, each can hold one item</a:t>
            </a:r>
          </a:p>
          <a:p>
            <a:r>
              <a:rPr lang="en-US" altLang="en-US" dirty="0" smtClean="0"/>
              <a:t>Semaphore </a:t>
            </a:r>
            <a:r>
              <a:rPr lang="en-US" altLang="en-US" sz="2000" b="1" dirty="0" err="1" smtClean="0">
                <a:solidFill>
                  <a:srgbClr val="FF0000"/>
                </a:solidFill>
                <a:latin typeface="Courier New" pitchFamily="49" charset="0"/>
                <a:cs typeface="Courier New" pitchFamily="49" charset="0"/>
              </a:rPr>
              <a:t>mutex</a:t>
            </a:r>
            <a:r>
              <a:rPr lang="en-US" altLang="en-US" dirty="0" smtClean="0">
                <a:solidFill>
                  <a:srgbClr val="FF0000"/>
                </a:solidFill>
              </a:rPr>
              <a:t> </a:t>
            </a:r>
            <a:r>
              <a:rPr lang="en-US" altLang="en-US" dirty="0" smtClean="0">
                <a:solidFill>
                  <a:srgbClr val="000000"/>
                </a:solidFill>
              </a:rPr>
              <a:t>i</a:t>
            </a:r>
            <a:r>
              <a:rPr lang="en-US" altLang="en-US" dirty="0" smtClean="0"/>
              <a:t>nitialized to the value 1</a:t>
            </a:r>
          </a:p>
          <a:p>
            <a:r>
              <a:rPr lang="en-US" altLang="en-US" dirty="0" smtClean="0">
                <a:solidFill>
                  <a:srgbClr val="000000"/>
                </a:solidFill>
              </a:rPr>
              <a:t>Semaphore </a:t>
            </a:r>
            <a:r>
              <a:rPr lang="en-US" altLang="en-US" sz="2000" b="1" dirty="0" smtClean="0">
                <a:solidFill>
                  <a:srgbClr val="FF0000"/>
                </a:solidFill>
                <a:latin typeface="Courier New" pitchFamily="49" charset="0"/>
                <a:cs typeface="Courier New" pitchFamily="49" charset="0"/>
              </a:rPr>
              <a:t>full</a:t>
            </a:r>
            <a:r>
              <a:rPr lang="en-US" altLang="en-US" dirty="0" smtClean="0">
                <a:solidFill>
                  <a:srgbClr val="FF0000"/>
                </a:solidFill>
              </a:rPr>
              <a:t> </a:t>
            </a:r>
            <a:r>
              <a:rPr lang="en-US" altLang="en-US" dirty="0" smtClean="0">
                <a:solidFill>
                  <a:srgbClr val="000000"/>
                </a:solidFill>
              </a:rPr>
              <a:t>initialized </a:t>
            </a:r>
            <a:r>
              <a:rPr lang="en-US" altLang="en-US" dirty="0" smtClean="0"/>
              <a:t>to the value 0</a:t>
            </a:r>
          </a:p>
          <a:p>
            <a:r>
              <a:rPr lang="en-US" altLang="en-US" dirty="0" smtClean="0"/>
              <a:t>Semaphore </a:t>
            </a:r>
            <a:r>
              <a:rPr lang="en-US" altLang="en-US" sz="2000" b="1" dirty="0" smtClean="0">
                <a:solidFill>
                  <a:srgbClr val="FF0000"/>
                </a:solidFill>
                <a:latin typeface="Courier New" pitchFamily="49" charset="0"/>
                <a:cs typeface="Courier New" pitchFamily="49" charset="0"/>
              </a:rPr>
              <a:t>empty</a:t>
            </a:r>
            <a:r>
              <a:rPr lang="en-US" altLang="en-US" b="1" dirty="0" smtClean="0">
                <a:solidFill>
                  <a:srgbClr val="FF0000"/>
                </a:solidFill>
                <a:latin typeface="Courier New" pitchFamily="49" charset="0"/>
                <a:cs typeface="Courier New" pitchFamily="49" charset="0"/>
              </a:rPr>
              <a:t> </a:t>
            </a:r>
            <a:r>
              <a:rPr lang="en-US" altLang="en-US" dirty="0" smtClean="0">
                <a:solidFill>
                  <a:srgbClr val="000000"/>
                </a:solidFill>
              </a:rPr>
              <a:t>initialized </a:t>
            </a:r>
            <a:r>
              <a:rPr lang="en-US" altLang="en-US" dirty="0" smtClean="0"/>
              <a:t>to the value n</a:t>
            </a:r>
          </a:p>
          <a:p>
            <a:endParaRPr lang="en-US" altLang="en-US" dirty="0" smtClean="0"/>
          </a:p>
        </p:txBody>
      </p:sp>
      <p:sp>
        <p:nvSpPr>
          <p:cNvPr id="34820" name="Rectangle 5"/>
          <p:cNvSpPr>
            <a:spLocks noChangeArrowheads="1"/>
          </p:cNvSpPr>
          <p:nvPr/>
        </p:nvSpPr>
        <p:spPr bwMode="auto">
          <a:xfrm>
            <a:off x="2492375" y="32464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4" rIns="91426" bIns="45714">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kumimoji="1" lang="en-US" altLang="en-US">
              <a:latin typeface="Helvetica" pitchFamily="-84" charset="0"/>
            </a:endParaRPr>
          </a:p>
        </p:txBody>
      </p:sp>
    </p:spTree>
    <p:extLst>
      <p:ext uri="{BB962C8B-B14F-4D97-AF65-F5344CB8AC3E}">
        <p14:creationId xmlns:p14="http://schemas.microsoft.com/office/powerpoint/2010/main" val="421581691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11250" y="176213"/>
            <a:ext cx="7575550" cy="576262"/>
          </a:xfrm>
        </p:spPr>
        <p:txBody>
          <a:bodyPr>
            <a:normAutofit fontScale="90000"/>
          </a:bodyPr>
          <a:lstStyle/>
          <a:p>
            <a:pPr eaLnBrk="1" hangingPunct="1"/>
            <a:r>
              <a:rPr lang="en-US" altLang="en-US" dirty="0" smtClean="0"/>
              <a:t>Bounded Buffer Problem (Cont.)</a:t>
            </a:r>
          </a:p>
        </p:txBody>
      </p:sp>
      <p:sp>
        <p:nvSpPr>
          <p:cNvPr id="35843" name="Rectangle 3"/>
          <p:cNvSpPr>
            <a:spLocks noGrp="1" noChangeArrowheads="1"/>
          </p:cNvSpPr>
          <p:nvPr>
            <p:ph idx="1"/>
          </p:nvPr>
        </p:nvSpPr>
        <p:spPr>
          <a:xfrm>
            <a:off x="914400" y="1279525"/>
            <a:ext cx="7848600" cy="4876800"/>
          </a:xfrm>
        </p:spPr>
        <p:txBody>
          <a:bodyPr>
            <a:noAutofit/>
          </a:bodyPr>
          <a:lstStyle/>
          <a:p>
            <a:r>
              <a:rPr lang="en-US" altLang="en-US" sz="2000" dirty="0" smtClean="0"/>
              <a:t>The structure of the </a:t>
            </a:r>
            <a:r>
              <a:rPr lang="en-US" altLang="en-US" sz="2000" dirty="0" smtClean="0">
                <a:solidFill>
                  <a:srgbClr val="FF0000"/>
                </a:solidFill>
              </a:rPr>
              <a:t>producer process</a:t>
            </a:r>
          </a:p>
          <a:p>
            <a:pPr>
              <a:buFont typeface="Monotype Sorts" pitchFamily="-84" charset="2"/>
              <a:buNone/>
            </a:pPr>
            <a:r>
              <a:rPr lang="en-US" altLang="en-US" sz="1800" b="1" dirty="0" smtClean="0">
                <a:latin typeface="Courier New" pitchFamily="49" charset="0"/>
                <a:cs typeface="Courier New" pitchFamily="49" charset="0"/>
              </a:rPr>
              <a:t>     </a:t>
            </a:r>
            <a:r>
              <a:rPr lang="en-US" altLang="en-US" sz="2000" b="1" dirty="0" smtClean="0">
                <a:latin typeface="Courier New" pitchFamily="49" charset="0"/>
                <a:cs typeface="Courier New" pitchFamily="49" charset="0"/>
              </a:rPr>
              <a:t>do { </a:t>
            </a:r>
          </a:p>
          <a:p>
            <a:pPr>
              <a:buFont typeface="Monotype Sorts" pitchFamily="-84" charset="2"/>
              <a:buNone/>
            </a:pPr>
            <a:r>
              <a:rPr lang="en-US" altLang="en-US" sz="2000" b="1" dirty="0" smtClean="0">
                <a:latin typeface="Courier New" pitchFamily="49" charset="0"/>
                <a:cs typeface="Courier New" pitchFamily="49" charset="0"/>
              </a:rPr>
              <a:t>          ...</a:t>
            </a:r>
            <a:br>
              <a:rPr lang="en-US" altLang="en-US" sz="2000" b="1" dirty="0" smtClean="0">
                <a:latin typeface="Courier New" pitchFamily="49" charset="0"/>
                <a:cs typeface="Courier New" pitchFamily="49" charset="0"/>
              </a:rPr>
            </a:br>
            <a:r>
              <a:rPr lang="en-US" altLang="en-US" sz="2000" b="1" dirty="0" smtClean="0">
                <a:latin typeface="Courier New" pitchFamily="49" charset="0"/>
                <a:cs typeface="Courier New" pitchFamily="49" charset="0"/>
              </a:rPr>
              <a:t>        /* produce an item in </a:t>
            </a:r>
            <a:r>
              <a:rPr lang="en-US" altLang="en-US" sz="2000" b="1" dirty="0" err="1" smtClean="0">
                <a:latin typeface="Courier New" pitchFamily="49" charset="0"/>
                <a:cs typeface="Courier New" pitchFamily="49" charset="0"/>
              </a:rPr>
              <a:t>next_produced</a:t>
            </a:r>
            <a:r>
              <a:rPr lang="en-US" altLang="en-US" sz="2000" b="1" dirty="0" smtClean="0">
                <a:latin typeface="Courier New" pitchFamily="49" charset="0"/>
                <a:cs typeface="Courier New" pitchFamily="49" charset="0"/>
              </a:rPr>
              <a:t> */ </a:t>
            </a:r>
          </a:p>
          <a:p>
            <a:pPr>
              <a:buFont typeface="Monotype Sorts" pitchFamily="-84" charset="2"/>
              <a:buNone/>
            </a:pPr>
            <a:r>
              <a:rPr lang="en-US" altLang="en-US" sz="2000" b="1" dirty="0" smtClean="0">
                <a:latin typeface="Courier New" pitchFamily="49" charset="0"/>
                <a:cs typeface="Courier New" pitchFamily="49" charset="0"/>
              </a:rPr>
              <a:t>          ... </a:t>
            </a:r>
          </a:p>
          <a:p>
            <a:pPr>
              <a:buFont typeface="Monotype Sorts" pitchFamily="-84" charset="2"/>
              <a:buNone/>
            </a:pPr>
            <a:r>
              <a:rPr lang="en-US" altLang="en-US" sz="2000" b="1" dirty="0" smtClean="0">
                <a:latin typeface="Courier New" pitchFamily="49" charset="0"/>
                <a:cs typeface="Courier New" pitchFamily="49" charset="0"/>
              </a:rPr>
              <a:t>        wait(empty); </a:t>
            </a:r>
          </a:p>
          <a:p>
            <a:pPr>
              <a:buFont typeface="Monotype Sorts" pitchFamily="-84" charset="2"/>
              <a:buNone/>
            </a:pPr>
            <a:r>
              <a:rPr lang="en-US" altLang="en-US" sz="2000" b="1" dirty="0" smtClean="0">
                <a:latin typeface="Courier New" pitchFamily="49" charset="0"/>
                <a:cs typeface="Courier New" pitchFamily="49" charset="0"/>
              </a:rPr>
              <a:t>        wait(</a:t>
            </a:r>
            <a:r>
              <a:rPr lang="en-US" altLang="en-US" sz="2000" b="1" dirty="0" err="1" smtClean="0">
                <a:latin typeface="Courier New" pitchFamily="49" charset="0"/>
                <a:cs typeface="Courier New" pitchFamily="49" charset="0"/>
              </a:rPr>
              <a:t>mutex</a:t>
            </a:r>
            <a:r>
              <a:rPr lang="en-US" altLang="en-US" sz="2000" b="1" dirty="0" smtClean="0">
                <a:latin typeface="Courier New" pitchFamily="49" charset="0"/>
                <a:cs typeface="Courier New" pitchFamily="49" charset="0"/>
              </a:rPr>
              <a:t>); </a:t>
            </a:r>
          </a:p>
          <a:p>
            <a:pPr>
              <a:buFont typeface="Monotype Sorts" pitchFamily="-84" charset="2"/>
              <a:buNone/>
            </a:pPr>
            <a:r>
              <a:rPr lang="en-US" altLang="en-US" sz="2000" b="1" dirty="0" smtClean="0">
                <a:latin typeface="Courier New" pitchFamily="49" charset="0"/>
                <a:cs typeface="Courier New" pitchFamily="49" charset="0"/>
              </a:rPr>
              <a:t>           ...</a:t>
            </a:r>
            <a:br>
              <a:rPr lang="en-US" altLang="en-US" sz="2000" b="1" dirty="0" smtClean="0">
                <a:latin typeface="Courier New" pitchFamily="49" charset="0"/>
                <a:cs typeface="Courier New" pitchFamily="49" charset="0"/>
              </a:rPr>
            </a:br>
            <a:r>
              <a:rPr lang="en-US" altLang="en-US" sz="2000" b="1" dirty="0" smtClean="0">
                <a:latin typeface="Courier New" pitchFamily="49" charset="0"/>
                <a:cs typeface="Courier New" pitchFamily="49" charset="0"/>
              </a:rPr>
              <a:t>        /* add next produced to the buffer */ </a:t>
            </a:r>
          </a:p>
          <a:p>
            <a:pPr>
              <a:buFont typeface="Monotype Sorts" pitchFamily="-84" charset="2"/>
              <a:buNone/>
            </a:pPr>
            <a:r>
              <a:rPr lang="en-US" altLang="en-US" sz="2000" b="1" dirty="0" smtClean="0">
                <a:latin typeface="Courier New" pitchFamily="49" charset="0"/>
                <a:cs typeface="Courier New" pitchFamily="49" charset="0"/>
              </a:rPr>
              <a:t>           ... </a:t>
            </a:r>
          </a:p>
          <a:p>
            <a:pPr>
              <a:buFont typeface="Monotype Sorts" pitchFamily="-84" charset="2"/>
              <a:buNone/>
            </a:pPr>
            <a:r>
              <a:rPr lang="en-US" altLang="en-US" sz="2000" b="1" dirty="0" smtClean="0">
                <a:latin typeface="Courier New" pitchFamily="49" charset="0"/>
                <a:cs typeface="Courier New" pitchFamily="49" charset="0"/>
              </a:rPr>
              <a:t>        signal(</a:t>
            </a:r>
            <a:r>
              <a:rPr lang="en-US" altLang="en-US" sz="2000" b="1" dirty="0" err="1" smtClean="0">
                <a:latin typeface="Courier New" pitchFamily="49" charset="0"/>
                <a:cs typeface="Courier New" pitchFamily="49" charset="0"/>
              </a:rPr>
              <a:t>mutex</a:t>
            </a:r>
            <a:r>
              <a:rPr lang="en-US" altLang="en-US" sz="2000" b="1" dirty="0" smtClean="0">
                <a:latin typeface="Courier New" pitchFamily="49" charset="0"/>
                <a:cs typeface="Courier New" pitchFamily="49" charset="0"/>
              </a:rPr>
              <a:t>); </a:t>
            </a:r>
          </a:p>
          <a:p>
            <a:pPr>
              <a:buFont typeface="Monotype Sorts" pitchFamily="-84" charset="2"/>
              <a:buNone/>
            </a:pPr>
            <a:r>
              <a:rPr lang="en-US" altLang="en-US" sz="2000" b="1" dirty="0" smtClean="0">
                <a:latin typeface="Courier New" pitchFamily="49" charset="0"/>
                <a:cs typeface="Courier New" pitchFamily="49" charset="0"/>
              </a:rPr>
              <a:t>        signal(full); </a:t>
            </a:r>
          </a:p>
          <a:p>
            <a:pPr>
              <a:buFont typeface="Monotype Sorts" pitchFamily="-84" charset="2"/>
              <a:buNone/>
            </a:pPr>
            <a:r>
              <a:rPr lang="en-US" altLang="en-US" sz="2000" b="1" dirty="0" smtClean="0">
                <a:latin typeface="Courier New" pitchFamily="49" charset="0"/>
                <a:cs typeface="Courier New" pitchFamily="49" charset="0"/>
              </a:rPr>
              <a:t>     } while (true);</a:t>
            </a:r>
            <a:r>
              <a:rPr lang="en-US" altLang="en-US" sz="1800" b="1" dirty="0" smtClean="0">
                <a:latin typeface="Courier New" pitchFamily="49" charset="0"/>
                <a:cs typeface="Courier New" pitchFamily="49" charset="0"/>
              </a:rPr>
              <a:t/>
            </a:r>
            <a:br>
              <a:rPr lang="en-US" altLang="en-US" sz="1800" b="1" dirty="0" smtClean="0">
                <a:latin typeface="Courier New" pitchFamily="49" charset="0"/>
                <a:cs typeface="Courier New" pitchFamily="49" charset="0"/>
              </a:rPr>
            </a:br>
            <a:endParaRPr lang="en-US" altLang="en-US" sz="1800" b="1" dirty="0" smtClean="0">
              <a:latin typeface="Courier New" pitchFamily="49" charset="0"/>
              <a:cs typeface="Courier New" pitchFamily="49" charset="0"/>
            </a:endParaRPr>
          </a:p>
        </p:txBody>
      </p:sp>
    </p:spTree>
    <p:extLst>
      <p:ext uri="{BB962C8B-B14F-4D97-AF65-F5344CB8AC3E}">
        <p14:creationId xmlns:p14="http://schemas.microsoft.com/office/powerpoint/2010/main" val="34777695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306513" y="176213"/>
            <a:ext cx="7156450" cy="576262"/>
          </a:xfrm>
        </p:spPr>
        <p:txBody>
          <a:bodyPr>
            <a:normAutofit fontScale="90000"/>
          </a:bodyPr>
          <a:lstStyle/>
          <a:p>
            <a:pPr eaLnBrk="1" hangingPunct="1"/>
            <a:r>
              <a:rPr lang="en-US" altLang="en-US" smtClean="0"/>
              <a:t>Bounded Buffer Problem (Cont.)</a:t>
            </a:r>
          </a:p>
        </p:txBody>
      </p:sp>
      <p:sp>
        <p:nvSpPr>
          <p:cNvPr id="31747" name="Rectangle 3"/>
          <p:cNvSpPr>
            <a:spLocks noGrp="1" noChangeArrowheads="1"/>
          </p:cNvSpPr>
          <p:nvPr>
            <p:ph idx="1"/>
          </p:nvPr>
        </p:nvSpPr>
        <p:spPr>
          <a:xfrm>
            <a:off x="839788" y="1152525"/>
            <a:ext cx="7848600" cy="4876800"/>
          </a:xfrm>
        </p:spPr>
        <p:txBody>
          <a:bodyPr>
            <a:normAutofit lnSpcReduction="10000"/>
          </a:bodyPr>
          <a:lstStyle/>
          <a:p>
            <a:pPr marL="342866" indent="-342866">
              <a:buFont typeface="Monotype Sorts" charset="0"/>
              <a:buChar char="n"/>
              <a:defRPr/>
            </a:pPr>
            <a:r>
              <a:rPr lang="en-US" sz="2000" dirty="0">
                <a:ea typeface="ＭＳ Ｐゴシック" charset="0"/>
                <a:cs typeface="ＭＳ Ｐゴシック" charset="0"/>
              </a:rPr>
              <a:t>The structure of the </a:t>
            </a:r>
            <a:r>
              <a:rPr lang="en-US" sz="2000" b="1" dirty="0">
                <a:solidFill>
                  <a:srgbClr val="FF0000"/>
                </a:solidFill>
                <a:ea typeface="ＭＳ Ｐゴシック" charset="0"/>
                <a:cs typeface="ＭＳ Ｐゴシック" charset="0"/>
              </a:rPr>
              <a:t>consumer process</a:t>
            </a:r>
          </a:p>
          <a:p>
            <a:pPr marL="342866" indent="-342866">
              <a:buFont typeface="Monotype Sorts" charset="0"/>
              <a:buChar char="n"/>
              <a:defRPr/>
            </a:pPr>
            <a:endParaRPr lang="en-US" sz="2000" dirty="0">
              <a:ea typeface="ＭＳ Ｐゴシック" charset="0"/>
              <a:cs typeface="ＭＳ Ｐゴシック" charset="0"/>
            </a:endParaRPr>
          </a:p>
          <a:p>
            <a:pPr marL="0" indent="0">
              <a:buFont typeface="Monotype Sorts" pitchFamily="-84" charset="2"/>
              <a:buNone/>
              <a:defRPr/>
            </a:pPr>
            <a:r>
              <a:rPr lang="en-US" sz="18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d</a:t>
            </a:r>
            <a:r>
              <a:rPr lang="en-US" sz="2000" b="1" dirty="0" smtClean="0">
                <a:latin typeface="Courier New"/>
                <a:ea typeface="ＭＳ Ｐゴシック" pitchFamily="-84" charset="-128"/>
                <a:cs typeface="Courier New"/>
              </a:rPr>
              <a:t>o </a:t>
            </a:r>
            <a:r>
              <a:rPr lang="en-US" sz="2000" b="1" dirty="0">
                <a:latin typeface="Courier New"/>
                <a:ea typeface="ＭＳ Ｐゴシック" pitchFamily="-84" charset="-128"/>
                <a:cs typeface="Courier New"/>
              </a:rPr>
              <a:t>{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wait(full);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wait(</a:t>
            </a:r>
            <a:r>
              <a:rPr lang="en-US" sz="2000" b="1" dirty="0" err="1" smtClean="0">
                <a:latin typeface="Courier New"/>
                <a:ea typeface="ＭＳ Ｐゴシック" pitchFamily="-84" charset="-128"/>
                <a:cs typeface="Courier New"/>
              </a:rPr>
              <a:t>mutex</a:t>
            </a:r>
            <a:r>
              <a:rPr lang="en-US" sz="2000" b="1" dirty="0">
                <a:latin typeface="Courier New"/>
                <a:ea typeface="ＭＳ Ｐゴシック" pitchFamily="-84" charset="-128"/>
                <a:cs typeface="Courier New"/>
              </a:rPr>
              <a:t>);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
            </a:r>
            <a:br>
              <a:rPr lang="en-US" sz="2000" b="1" dirty="0">
                <a:latin typeface="Courier New"/>
                <a:ea typeface="ＭＳ Ｐゴシック" pitchFamily="-84" charset="-128"/>
                <a:cs typeface="Courier New"/>
              </a:rPr>
            </a:b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 </a:t>
            </a:r>
            <a:r>
              <a:rPr lang="en-US" sz="2000" b="1" dirty="0">
                <a:latin typeface="Courier New"/>
                <a:ea typeface="ＭＳ Ｐゴシック" pitchFamily="-84" charset="-128"/>
                <a:cs typeface="Courier New"/>
              </a:rPr>
              <a:t>remove an item from buffer </a:t>
            </a:r>
            <a:r>
              <a:rPr lang="en-US" sz="2000" b="1" dirty="0" smtClean="0">
                <a:latin typeface="Courier New"/>
                <a:ea typeface="ＭＳ Ｐゴシック" pitchFamily="-84" charset="-128"/>
                <a:cs typeface="Courier New"/>
              </a:rPr>
              <a:t>to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r>
              <a:rPr lang="en-US" sz="2000" b="1" dirty="0" err="1" smtClean="0">
                <a:latin typeface="Courier New"/>
                <a:ea typeface="ＭＳ Ｐゴシック" pitchFamily="-84" charset="-128"/>
                <a:cs typeface="Courier New"/>
              </a:rPr>
              <a:t>next_consumed</a:t>
            </a:r>
            <a:r>
              <a:rPr lang="en-US" sz="20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signal(</a:t>
            </a:r>
            <a:r>
              <a:rPr lang="en-US" sz="2000" b="1" dirty="0" err="1" smtClean="0">
                <a:latin typeface="Courier New"/>
                <a:ea typeface="ＭＳ Ｐゴシック" pitchFamily="-84" charset="-128"/>
                <a:cs typeface="Courier New"/>
              </a:rPr>
              <a:t>mutex</a:t>
            </a:r>
            <a:r>
              <a:rPr lang="en-US" sz="2000" b="1" dirty="0">
                <a:latin typeface="Courier New"/>
                <a:ea typeface="ＭＳ Ｐゴシック" pitchFamily="-84" charset="-128"/>
                <a:cs typeface="Courier New"/>
              </a:rPr>
              <a:t>);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signal(empty);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a:t>
            </a:r>
            <a:br>
              <a:rPr lang="en-US" sz="2000" b="1" dirty="0">
                <a:latin typeface="Courier New"/>
                <a:ea typeface="ＭＳ Ｐゴシック" pitchFamily="-84" charset="-128"/>
                <a:cs typeface="Courier New"/>
              </a:rPr>
            </a:b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 </a:t>
            </a:r>
            <a:r>
              <a:rPr lang="en-US" sz="2000" b="1" dirty="0">
                <a:latin typeface="Courier New"/>
                <a:ea typeface="ＭＳ Ｐゴシック" pitchFamily="-84" charset="-128"/>
                <a:cs typeface="Courier New"/>
              </a:rPr>
              <a:t>consume the item in next consumed */ </a:t>
            </a:r>
          </a:p>
          <a:p>
            <a:pPr marL="0" indent="0">
              <a:buFont typeface="Monotype Sorts" pitchFamily="-84" charset="2"/>
              <a:buNone/>
              <a:defRPr/>
            </a:pPr>
            <a:r>
              <a:rPr lang="en-US" sz="2000" b="1" dirty="0">
                <a:latin typeface="Courier New"/>
                <a:ea typeface="ＭＳ Ｐゴシック" pitchFamily="-84" charset="-128"/>
                <a:cs typeface="Courier New"/>
              </a:rPr>
              <a:t>     </a:t>
            </a:r>
            <a:r>
              <a:rPr lang="en-US" sz="2000" b="1" dirty="0" smtClean="0">
                <a:latin typeface="Courier New"/>
                <a:ea typeface="ＭＳ Ｐゴシック" pitchFamily="-84" charset="-128"/>
                <a:cs typeface="Courier New"/>
              </a:rPr>
              <a:t>      </a:t>
            </a:r>
            <a:r>
              <a:rPr lang="en-US" sz="2000" b="1" dirty="0">
                <a:latin typeface="Courier New"/>
                <a:ea typeface="ＭＳ Ｐゴシック" pitchFamily="-84" charset="-128"/>
                <a:cs typeface="Courier New"/>
              </a:rPr>
              <a:t>...</a:t>
            </a:r>
            <a:br>
              <a:rPr lang="en-US" sz="2000" b="1" dirty="0">
                <a:latin typeface="Courier New"/>
                <a:ea typeface="ＭＳ Ｐゴシック" pitchFamily="-84" charset="-128"/>
                <a:cs typeface="Courier New"/>
              </a:rPr>
            </a:br>
            <a:r>
              <a:rPr lang="en-US" sz="2000" b="1" dirty="0" smtClean="0">
                <a:latin typeface="Courier New"/>
                <a:ea typeface="ＭＳ Ｐゴシック" pitchFamily="-84" charset="-128"/>
                <a:cs typeface="Courier New"/>
              </a:rPr>
              <a:t>     } </a:t>
            </a:r>
            <a:r>
              <a:rPr lang="en-US" sz="2000" b="1" dirty="0">
                <a:latin typeface="Courier New"/>
                <a:ea typeface="ＭＳ Ｐゴシック" pitchFamily="-84" charset="-128"/>
                <a:cs typeface="Courier New"/>
              </a:rPr>
              <a:t>while (true); </a:t>
            </a:r>
          </a:p>
          <a:p>
            <a:pPr marL="342866" indent="-342866">
              <a:buFont typeface="Monotype Sorts" pitchFamily="-84" charset="2"/>
              <a:buNone/>
              <a:defRPr/>
            </a:pPr>
            <a:endParaRPr lang="en-US" sz="1600" dirty="0">
              <a:ea typeface="ＭＳ Ｐゴシック" charset="0"/>
              <a:cs typeface="ＭＳ Ｐゴシック" charset="0"/>
            </a:endParaRPr>
          </a:p>
        </p:txBody>
      </p:sp>
    </p:spTree>
    <p:extLst>
      <p:ext uri="{BB962C8B-B14F-4D97-AF65-F5344CB8AC3E}">
        <p14:creationId xmlns:p14="http://schemas.microsoft.com/office/powerpoint/2010/main" val="14342391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562074"/>
          </a:xfrm>
        </p:spPr>
        <p:txBody>
          <a:bodyPr>
            <a:normAutofit fontScale="90000"/>
          </a:bodyPr>
          <a:lstStyle/>
          <a:p>
            <a:r>
              <a:rPr lang="en-US" altLang="en-US" dirty="0"/>
              <a:t>Bounded Buffer Problem </a:t>
            </a:r>
            <a:endParaRPr lang="en-IN" dirty="0"/>
          </a:p>
        </p:txBody>
      </p:sp>
      <p:sp>
        <p:nvSpPr>
          <p:cNvPr id="5" name="Content Placeholder 4"/>
          <p:cNvSpPr>
            <a:spLocks noGrp="1"/>
          </p:cNvSpPr>
          <p:nvPr>
            <p:ph sz="half" idx="1"/>
          </p:nvPr>
        </p:nvSpPr>
        <p:spPr>
          <a:xfrm>
            <a:off x="457200" y="908720"/>
            <a:ext cx="4038600" cy="5217443"/>
          </a:xfrm>
        </p:spPr>
        <p:txBody>
          <a:bodyPr>
            <a:normAutofit/>
          </a:bodyPr>
          <a:lstStyle/>
          <a:p>
            <a:r>
              <a:rPr lang="en-US" altLang="en-US" sz="1200" dirty="0"/>
              <a:t>The structure of the </a:t>
            </a:r>
            <a:r>
              <a:rPr lang="en-US" altLang="en-US" sz="1200" dirty="0">
                <a:solidFill>
                  <a:srgbClr val="FF0000"/>
                </a:solidFill>
              </a:rPr>
              <a:t>producer process</a:t>
            </a:r>
          </a:p>
          <a:p>
            <a:pPr>
              <a:buFont typeface="Monotype Sorts" pitchFamily="-84" charset="2"/>
              <a:buNone/>
            </a:pPr>
            <a:r>
              <a:rPr lang="en-US" altLang="en-US" sz="1200" b="1" dirty="0">
                <a:latin typeface="Courier New" pitchFamily="49" charset="0"/>
                <a:cs typeface="Courier New" pitchFamily="49" charset="0"/>
              </a:rPr>
              <a:t>     do { </a:t>
            </a:r>
          </a:p>
          <a:p>
            <a:pPr>
              <a:buFont typeface="Monotype Sorts" pitchFamily="-84" charset="2"/>
              <a:buNone/>
            </a:pPr>
            <a:r>
              <a:rPr lang="en-US" altLang="en-US" sz="1200" b="1" dirty="0">
                <a:latin typeface="Courier New" pitchFamily="49" charset="0"/>
                <a:cs typeface="Courier New" pitchFamily="49" charset="0"/>
              </a:rPr>
              <a:t>          ...</a:t>
            </a:r>
            <a:br>
              <a:rPr lang="en-US" altLang="en-US" sz="1200" b="1" dirty="0">
                <a:latin typeface="Courier New" pitchFamily="49" charset="0"/>
                <a:cs typeface="Courier New" pitchFamily="49" charset="0"/>
              </a:rPr>
            </a:br>
            <a:r>
              <a:rPr lang="en-US" altLang="en-US" sz="1200" b="1" dirty="0">
                <a:latin typeface="Courier New" pitchFamily="49" charset="0"/>
                <a:cs typeface="Courier New" pitchFamily="49" charset="0"/>
              </a:rPr>
              <a:t>        /* produce an item in </a:t>
            </a:r>
            <a:r>
              <a:rPr lang="en-US" altLang="en-US" sz="1200" b="1" dirty="0" err="1">
                <a:latin typeface="Courier New" pitchFamily="49" charset="0"/>
                <a:cs typeface="Courier New" pitchFamily="49" charset="0"/>
              </a:rPr>
              <a:t>next_produced</a:t>
            </a:r>
            <a:r>
              <a:rPr lang="en-US" altLang="en-US" sz="1200" b="1" dirty="0">
                <a:latin typeface="Courier New" pitchFamily="49" charset="0"/>
                <a:cs typeface="Courier New" pitchFamily="49" charset="0"/>
              </a:rPr>
              <a:t> */ </a:t>
            </a:r>
          </a:p>
          <a:p>
            <a:pPr>
              <a:buFont typeface="Monotype Sorts" pitchFamily="-84" charset="2"/>
              <a:buNone/>
            </a:pPr>
            <a:r>
              <a:rPr lang="en-US" altLang="en-US" sz="1200" b="1" dirty="0">
                <a:latin typeface="Courier New" pitchFamily="49" charset="0"/>
                <a:cs typeface="Courier New" pitchFamily="49" charset="0"/>
              </a:rPr>
              <a:t>          ... </a:t>
            </a:r>
          </a:p>
          <a:p>
            <a:pPr>
              <a:buFont typeface="Monotype Sorts" pitchFamily="-84" charset="2"/>
              <a:buNone/>
            </a:pPr>
            <a:r>
              <a:rPr lang="en-US" altLang="en-US" sz="1200" b="1" dirty="0">
                <a:latin typeface="Courier New" pitchFamily="49" charset="0"/>
                <a:cs typeface="Courier New" pitchFamily="49" charset="0"/>
              </a:rPr>
              <a:t>        wait(empty); </a:t>
            </a:r>
          </a:p>
          <a:p>
            <a:pPr>
              <a:buFont typeface="Monotype Sorts" pitchFamily="-84" charset="2"/>
              <a:buNone/>
            </a:pPr>
            <a:r>
              <a:rPr lang="en-US" altLang="en-US" sz="1200" b="1" dirty="0">
                <a:latin typeface="Courier New" pitchFamily="49" charset="0"/>
                <a:cs typeface="Courier New" pitchFamily="49" charset="0"/>
              </a:rPr>
              <a:t>        wait(</a:t>
            </a:r>
            <a:r>
              <a:rPr lang="en-US" altLang="en-US" sz="1200" b="1" dirty="0" err="1">
                <a:latin typeface="Courier New" pitchFamily="49" charset="0"/>
                <a:cs typeface="Courier New" pitchFamily="49" charset="0"/>
              </a:rPr>
              <a:t>mutex</a:t>
            </a:r>
            <a:r>
              <a:rPr lang="en-US" altLang="en-US" sz="1200" b="1" dirty="0">
                <a:latin typeface="Courier New" pitchFamily="49" charset="0"/>
                <a:cs typeface="Courier New" pitchFamily="49" charset="0"/>
              </a:rPr>
              <a:t>); </a:t>
            </a:r>
          </a:p>
          <a:p>
            <a:pPr>
              <a:buFont typeface="Monotype Sorts" pitchFamily="-84" charset="2"/>
              <a:buNone/>
            </a:pPr>
            <a:r>
              <a:rPr lang="en-US" altLang="en-US" sz="1200" b="1" dirty="0">
                <a:latin typeface="Courier New" pitchFamily="49" charset="0"/>
                <a:cs typeface="Courier New" pitchFamily="49" charset="0"/>
              </a:rPr>
              <a:t>           ...</a:t>
            </a:r>
            <a:br>
              <a:rPr lang="en-US" altLang="en-US" sz="1200" b="1" dirty="0">
                <a:latin typeface="Courier New" pitchFamily="49" charset="0"/>
                <a:cs typeface="Courier New" pitchFamily="49" charset="0"/>
              </a:rPr>
            </a:br>
            <a:r>
              <a:rPr lang="en-US" altLang="en-US" sz="1200" b="1" dirty="0">
                <a:latin typeface="Courier New" pitchFamily="49" charset="0"/>
                <a:cs typeface="Courier New" pitchFamily="49" charset="0"/>
              </a:rPr>
              <a:t> </a:t>
            </a:r>
            <a:r>
              <a:rPr lang="en-US" altLang="en-US" sz="1200" b="1" dirty="0" smtClean="0">
                <a:latin typeface="Courier New" pitchFamily="49" charset="0"/>
                <a:cs typeface="Courier New" pitchFamily="49" charset="0"/>
              </a:rPr>
              <a:t>/* </a:t>
            </a:r>
            <a:r>
              <a:rPr lang="en-US" altLang="en-US" sz="1200" b="1" dirty="0">
                <a:latin typeface="Courier New" pitchFamily="49" charset="0"/>
                <a:cs typeface="Courier New" pitchFamily="49" charset="0"/>
              </a:rPr>
              <a:t>add next produced to the buffer */ </a:t>
            </a:r>
          </a:p>
          <a:p>
            <a:pPr>
              <a:buFont typeface="Monotype Sorts" pitchFamily="-84" charset="2"/>
              <a:buNone/>
            </a:pPr>
            <a:r>
              <a:rPr lang="en-US" altLang="en-US" sz="1200" b="1" dirty="0">
                <a:latin typeface="Courier New" pitchFamily="49" charset="0"/>
                <a:cs typeface="Courier New" pitchFamily="49" charset="0"/>
              </a:rPr>
              <a:t>           ... </a:t>
            </a:r>
          </a:p>
          <a:p>
            <a:pPr>
              <a:buFont typeface="Monotype Sorts" pitchFamily="-84" charset="2"/>
              <a:buNone/>
            </a:pPr>
            <a:r>
              <a:rPr lang="en-US" altLang="en-US" sz="1200" b="1" dirty="0">
                <a:latin typeface="Courier New" pitchFamily="49" charset="0"/>
                <a:cs typeface="Courier New" pitchFamily="49" charset="0"/>
              </a:rPr>
              <a:t>        signal(</a:t>
            </a:r>
            <a:r>
              <a:rPr lang="en-US" altLang="en-US" sz="1200" b="1" dirty="0" err="1">
                <a:latin typeface="Courier New" pitchFamily="49" charset="0"/>
                <a:cs typeface="Courier New" pitchFamily="49" charset="0"/>
              </a:rPr>
              <a:t>mutex</a:t>
            </a:r>
            <a:r>
              <a:rPr lang="en-US" altLang="en-US" sz="1200" b="1" dirty="0">
                <a:latin typeface="Courier New" pitchFamily="49" charset="0"/>
                <a:cs typeface="Courier New" pitchFamily="49" charset="0"/>
              </a:rPr>
              <a:t>); </a:t>
            </a:r>
          </a:p>
          <a:p>
            <a:pPr>
              <a:buFont typeface="Monotype Sorts" pitchFamily="-84" charset="2"/>
              <a:buNone/>
            </a:pPr>
            <a:r>
              <a:rPr lang="en-US" altLang="en-US" sz="1200" b="1" dirty="0">
                <a:latin typeface="Courier New" pitchFamily="49" charset="0"/>
                <a:cs typeface="Courier New" pitchFamily="49" charset="0"/>
              </a:rPr>
              <a:t>        signal(full); </a:t>
            </a:r>
          </a:p>
          <a:p>
            <a:pPr>
              <a:buFont typeface="Monotype Sorts" pitchFamily="-84" charset="2"/>
              <a:buNone/>
            </a:pPr>
            <a:r>
              <a:rPr lang="en-US" altLang="en-US" sz="1200" b="1" dirty="0">
                <a:latin typeface="Courier New" pitchFamily="49" charset="0"/>
                <a:cs typeface="Courier New" pitchFamily="49" charset="0"/>
              </a:rPr>
              <a:t>     } while (true);</a:t>
            </a:r>
            <a:br>
              <a:rPr lang="en-US" altLang="en-US" sz="1200" b="1" dirty="0">
                <a:latin typeface="Courier New" pitchFamily="49" charset="0"/>
                <a:cs typeface="Courier New" pitchFamily="49" charset="0"/>
              </a:rPr>
            </a:br>
            <a:endParaRPr lang="en-US" altLang="en-US" sz="1200" b="1" dirty="0">
              <a:latin typeface="Courier New" pitchFamily="49" charset="0"/>
              <a:cs typeface="Courier New" pitchFamily="49" charset="0"/>
            </a:endParaRPr>
          </a:p>
          <a:p>
            <a:endParaRPr lang="en-IN" sz="1200" dirty="0"/>
          </a:p>
        </p:txBody>
      </p:sp>
      <p:sp>
        <p:nvSpPr>
          <p:cNvPr id="6" name="Content Placeholder 5"/>
          <p:cNvSpPr>
            <a:spLocks noGrp="1"/>
          </p:cNvSpPr>
          <p:nvPr>
            <p:ph sz="half" idx="2"/>
          </p:nvPr>
        </p:nvSpPr>
        <p:spPr>
          <a:xfrm>
            <a:off x="4648200" y="980728"/>
            <a:ext cx="4038600" cy="5145435"/>
          </a:xfrm>
        </p:spPr>
        <p:txBody>
          <a:bodyPr>
            <a:normAutofit/>
          </a:bodyPr>
          <a:lstStyle/>
          <a:p>
            <a:pPr marL="342866" indent="-342866">
              <a:buFont typeface="Monotype Sorts" charset="0"/>
              <a:buChar char="n"/>
              <a:defRPr/>
            </a:pPr>
            <a:r>
              <a:rPr lang="en-US" sz="1200" dirty="0">
                <a:ea typeface="ＭＳ Ｐゴシック" charset="0"/>
                <a:cs typeface="ＭＳ Ｐゴシック" charset="0"/>
              </a:rPr>
              <a:t>The structure of the </a:t>
            </a:r>
            <a:r>
              <a:rPr lang="en-US" sz="1200" b="1" dirty="0">
                <a:solidFill>
                  <a:srgbClr val="FF0000"/>
                </a:solidFill>
                <a:ea typeface="ＭＳ Ｐゴシック" charset="0"/>
                <a:cs typeface="ＭＳ Ｐゴシック" charset="0"/>
              </a:rPr>
              <a:t>consumer process</a:t>
            </a:r>
          </a:p>
          <a:p>
            <a:pPr marL="342866" indent="-342866">
              <a:buFont typeface="Monotype Sorts" charset="0"/>
              <a:buChar char="n"/>
              <a:defRPr/>
            </a:pPr>
            <a:endParaRPr lang="en-US" sz="1200" dirty="0">
              <a:ea typeface="ＭＳ Ｐゴシック" charset="0"/>
              <a:cs typeface="ＭＳ Ｐゴシック" charset="0"/>
            </a:endParaRPr>
          </a:p>
          <a:p>
            <a:pPr marL="0" indent="0">
              <a:buFont typeface="Monotype Sorts" pitchFamily="-84" charset="2"/>
              <a:buNone/>
              <a:defRPr/>
            </a:pPr>
            <a:r>
              <a:rPr lang="en-US" sz="1200" b="1" dirty="0">
                <a:latin typeface="Courier New"/>
                <a:ea typeface="ＭＳ Ｐゴシック" pitchFamily="-84" charset="-128"/>
                <a:cs typeface="Courier New"/>
              </a:rPr>
              <a:t>     do { </a:t>
            </a:r>
          </a:p>
          <a:p>
            <a:pPr marL="0" indent="0">
              <a:buFont typeface="Monotype Sorts" pitchFamily="-84" charset="2"/>
              <a:buNone/>
              <a:defRPr/>
            </a:pPr>
            <a:r>
              <a:rPr lang="en-US" sz="1200" b="1" dirty="0">
                <a:latin typeface="Courier New"/>
                <a:ea typeface="ＭＳ Ｐゴシック" pitchFamily="-84" charset="-128"/>
                <a:cs typeface="Courier New"/>
              </a:rPr>
              <a:t>        wait(full); </a:t>
            </a:r>
          </a:p>
          <a:p>
            <a:pPr marL="0" indent="0">
              <a:buFont typeface="Monotype Sorts" pitchFamily="-84" charset="2"/>
              <a:buNone/>
              <a:defRPr/>
            </a:pPr>
            <a:r>
              <a:rPr lang="en-US" sz="1200" b="1" dirty="0">
                <a:latin typeface="Courier New"/>
                <a:ea typeface="ＭＳ Ｐゴシック" pitchFamily="-84" charset="-128"/>
                <a:cs typeface="Courier New"/>
              </a:rPr>
              <a:t>        wait(</a:t>
            </a:r>
            <a:r>
              <a:rPr lang="en-US" sz="1200" b="1" dirty="0" err="1">
                <a:latin typeface="Courier New"/>
                <a:ea typeface="ＭＳ Ｐゴシック" pitchFamily="-84" charset="-128"/>
                <a:cs typeface="Courier New"/>
              </a:rPr>
              <a:t>mutex</a:t>
            </a:r>
            <a:r>
              <a:rPr lang="en-US" sz="1200" b="1" dirty="0">
                <a:latin typeface="Courier New"/>
                <a:ea typeface="ＭＳ Ｐゴシック" pitchFamily="-84" charset="-128"/>
                <a:cs typeface="Courier New"/>
              </a:rPr>
              <a:t>); </a:t>
            </a:r>
          </a:p>
          <a:p>
            <a:pPr marL="0" indent="0">
              <a:buFont typeface="Monotype Sorts" pitchFamily="-84" charset="2"/>
              <a:buNone/>
              <a:defRPr/>
            </a:pPr>
            <a:r>
              <a:rPr lang="en-US" sz="1200" b="1" dirty="0">
                <a:latin typeface="Courier New"/>
                <a:ea typeface="ＭＳ Ｐゴシック" pitchFamily="-84" charset="-128"/>
                <a:cs typeface="Courier New"/>
              </a:rPr>
              <a:t>           ...</a:t>
            </a:r>
            <a:br>
              <a:rPr lang="en-US" sz="1200" b="1" dirty="0">
                <a:latin typeface="Courier New"/>
                <a:ea typeface="ＭＳ Ｐゴシック" pitchFamily="-84" charset="-128"/>
                <a:cs typeface="Courier New"/>
              </a:rPr>
            </a:br>
            <a:r>
              <a:rPr lang="en-US" sz="1200" b="1" dirty="0">
                <a:latin typeface="Courier New"/>
                <a:ea typeface="ＭＳ Ｐゴシック" pitchFamily="-84" charset="-128"/>
                <a:cs typeface="Courier New"/>
              </a:rPr>
              <a:t>  </a:t>
            </a:r>
            <a:r>
              <a:rPr lang="en-US" sz="1200" b="1" dirty="0" smtClean="0">
                <a:latin typeface="Courier New"/>
                <a:ea typeface="ＭＳ Ｐゴシック" pitchFamily="-84" charset="-128"/>
                <a:cs typeface="Courier New"/>
              </a:rPr>
              <a:t>       /* </a:t>
            </a:r>
            <a:r>
              <a:rPr lang="en-US" sz="1200" b="1" dirty="0">
                <a:latin typeface="Courier New"/>
                <a:ea typeface="ＭＳ Ｐゴシック" pitchFamily="-84" charset="-128"/>
                <a:cs typeface="Courier New"/>
              </a:rPr>
              <a:t>remove an item from buffer to  </a:t>
            </a:r>
          </a:p>
          <a:p>
            <a:pPr marL="0" indent="0">
              <a:buFont typeface="Monotype Sorts" pitchFamily="-84" charset="2"/>
              <a:buNone/>
              <a:defRPr/>
            </a:pPr>
            <a:r>
              <a:rPr lang="en-US" sz="1200" b="1" dirty="0">
                <a:latin typeface="Courier New"/>
                <a:ea typeface="ＭＳ Ｐゴシック" pitchFamily="-84" charset="-128"/>
                <a:cs typeface="Courier New"/>
              </a:rPr>
              <a:t>             </a:t>
            </a:r>
            <a:r>
              <a:rPr lang="en-US" sz="1200" b="1" dirty="0" err="1">
                <a:latin typeface="Courier New"/>
                <a:ea typeface="ＭＳ Ｐゴシック" pitchFamily="-84" charset="-128"/>
                <a:cs typeface="Courier New"/>
              </a:rPr>
              <a:t>next_consumed</a:t>
            </a:r>
            <a:r>
              <a:rPr lang="en-US" sz="1200" b="1" dirty="0">
                <a:latin typeface="Courier New"/>
                <a:ea typeface="ＭＳ Ｐゴシック" pitchFamily="-84" charset="-128"/>
                <a:cs typeface="Courier New"/>
              </a:rPr>
              <a:t> */ </a:t>
            </a:r>
          </a:p>
          <a:p>
            <a:pPr marL="0" indent="0">
              <a:buFont typeface="Monotype Sorts" pitchFamily="-84" charset="2"/>
              <a:buNone/>
              <a:defRPr/>
            </a:pPr>
            <a:r>
              <a:rPr lang="en-US" sz="1200" b="1" dirty="0">
                <a:latin typeface="Courier New"/>
                <a:ea typeface="ＭＳ Ｐゴシック" pitchFamily="-84" charset="-128"/>
                <a:cs typeface="Courier New"/>
              </a:rPr>
              <a:t>           ... </a:t>
            </a:r>
          </a:p>
          <a:p>
            <a:pPr marL="0" indent="0">
              <a:buFont typeface="Monotype Sorts" pitchFamily="-84" charset="2"/>
              <a:buNone/>
              <a:defRPr/>
            </a:pPr>
            <a:r>
              <a:rPr lang="en-US" sz="1200" b="1" dirty="0">
                <a:latin typeface="Courier New"/>
                <a:ea typeface="ＭＳ Ｐゴシック" pitchFamily="-84" charset="-128"/>
                <a:cs typeface="Courier New"/>
              </a:rPr>
              <a:t>        signal(</a:t>
            </a:r>
            <a:r>
              <a:rPr lang="en-US" sz="1200" b="1" dirty="0" err="1">
                <a:latin typeface="Courier New"/>
                <a:ea typeface="ＭＳ Ｐゴシック" pitchFamily="-84" charset="-128"/>
                <a:cs typeface="Courier New"/>
              </a:rPr>
              <a:t>mutex</a:t>
            </a:r>
            <a:r>
              <a:rPr lang="en-US" sz="1200" b="1" dirty="0">
                <a:latin typeface="Courier New"/>
                <a:ea typeface="ＭＳ Ｐゴシック" pitchFamily="-84" charset="-128"/>
                <a:cs typeface="Courier New"/>
              </a:rPr>
              <a:t>); </a:t>
            </a:r>
          </a:p>
          <a:p>
            <a:pPr marL="0" indent="0">
              <a:buFont typeface="Monotype Sorts" pitchFamily="-84" charset="2"/>
              <a:buNone/>
              <a:defRPr/>
            </a:pPr>
            <a:r>
              <a:rPr lang="en-US" sz="1200" b="1" dirty="0">
                <a:latin typeface="Courier New"/>
                <a:ea typeface="ＭＳ Ｐゴシック" pitchFamily="-84" charset="-128"/>
                <a:cs typeface="Courier New"/>
              </a:rPr>
              <a:t>        signal(empty); </a:t>
            </a:r>
          </a:p>
          <a:p>
            <a:pPr marL="0" indent="0">
              <a:buFont typeface="Monotype Sorts" pitchFamily="-84" charset="2"/>
              <a:buNone/>
              <a:defRPr/>
            </a:pPr>
            <a:r>
              <a:rPr lang="en-US" sz="1200" b="1" dirty="0">
                <a:latin typeface="Courier New"/>
                <a:ea typeface="ＭＳ Ｐゴシック" pitchFamily="-84" charset="-128"/>
                <a:cs typeface="Courier New"/>
              </a:rPr>
              <a:t>           ...</a:t>
            </a:r>
            <a:br>
              <a:rPr lang="en-US" sz="1200" b="1" dirty="0">
                <a:latin typeface="Courier New"/>
                <a:ea typeface="ＭＳ Ｐゴシック" pitchFamily="-84" charset="-128"/>
                <a:cs typeface="Courier New"/>
              </a:rPr>
            </a:br>
            <a:r>
              <a:rPr lang="en-US" sz="1200" b="1" dirty="0">
                <a:latin typeface="Courier New"/>
                <a:ea typeface="ＭＳ Ｐゴシック" pitchFamily="-84" charset="-128"/>
                <a:cs typeface="Courier New"/>
              </a:rPr>
              <a:t> </a:t>
            </a:r>
            <a:r>
              <a:rPr lang="en-US" sz="1200" b="1" dirty="0" smtClean="0">
                <a:latin typeface="Courier New"/>
                <a:ea typeface="ＭＳ Ｐゴシック" pitchFamily="-84" charset="-128"/>
                <a:cs typeface="Courier New"/>
              </a:rPr>
              <a:t>/* </a:t>
            </a:r>
            <a:r>
              <a:rPr lang="en-US" sz="1200" b="1" dirty="0">
                <a:latin typeface="Courier New"/>
                <a:ea typeface="ＭＳ Ｐゴシック" pitchFamily="-84" charset="-128"/>
                <a:cs typeface="Courier New"/>
              </a:rPr>
              <a:t>consume the item in next </a:t>
            </a:r>
            <a:r>
              <a:rPr lang="en-US" sz="1200" b="1" dirty="0" smtClean="0">
                <a:latin typeface="Courier New"/>
                <a:ea typeface="ＭＳ Ｐゴシック" pitchFamily="-84" charset="-128"/>
                <a:cs typeface="Courier New"/>
              </a:rPr>
              <a:t> consumed </a:t>
            </a:r>
            <a:r>
              <a:rPr lang="en-US" sz="1200" b="1" dirty="0">
                <a:latin typeface="Courier New"/>
                <a:ea typeface="ＭＳ Ｐゴシック" pitchFamily="-84" charset="-128"/>
                <a:cs typeface="Courier New"/>
              </a:rPr>
              <a:t>*/ </a:t>
            </a:r>
          </a:p>
          <a:p>
            <a:pPr marL="0" indent="0">
              <a:buFont typeface="Monotype Sorts" pitchFamily="-84" charset="2"/>
              <a:buNone/>
              <a:defRPr/>
            </a:pPr>
            <a:r>
              <a:rPr lang="en-US" sz="1200" b="1" dirty="0">
                <a:latin typeface="Courier New"/>
                <a:ea typeface="ＭＳ Ｐゴシック" pitchFamily="-84" charset="-128"/>
                <a:cs typeface="Courier New"/>
              </a:rPr>
              <a:t>           ...</a:t>
            </a:r>
            <a:br>
              <a:rPr lang="en-US" sz="1200" b="1" dirty="0">
                <a:latin typeface="Courier New"/>
                <a:ea typeface="ＭＳ Ｐゴシック" pitchFamily="-84" charset="-128"/>
                <a:cs typeface="Courier New"/>
              </a:rPr>
            </a:br>
            <a:r>
              <a:rPr lang="en-US" sz="1200" b="1" dirty="0">
                <a:latin typeface="Courier New"/>
                <a:ea typeface="ＭＳ Ｐゴシック" pitchFamily="-84" charset="-128"/>
                <a:cs typeface="Courier New"/>
              </a:rPr>
              <a:t>     } while (true); </a:t>
            </a:r>
          </a:p>
          <a:p>
            <a:pPr marL="342866" indent="-342866">
              <a:buFont typeface="Monotype Sorts" pitchFamily="-84" charset="2"/>
              <a:buNone/>
              <a:defRPr/>
            </a:pPr>
            <a:endParaRPr lang="en-US" sz="1600" dirty="0">
              <a:ea typeface="ＭＳ Ｐゴシック" charset="0"/>
              <a:cs typeface="ＭＳ Ｐゴシック" charset="0"/>
            </a:endParaRPr>
          </a:p>
          <a:p>
            <a:endParaRPr lang="en-IN" sz="2000" dirty="0"/>
          </a:p>
        </p:txBody>
      </p:sp>
    </p:spTree>
    <p:extLst>
      <p:ext uri="{BB962C8B-B14F-4D97-AF65-F5344CB8AC3E}">
        <p14:creationId xmlns:p14="http://schemas.microsoft.com/office/powerpoint/2010/main" val="15471708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120775" y="146050"/>
            <a:ext cx="7566025" cy="576263"/>
          </a:xfrm>
        </p:spPr>
        <p:txBody>
          <a:bodyPr>
            <a:normAutofit fontScale="90000"/>
          </a:bodyPr>
          <a:lstStyle/>
          <a:p>
            <a:pPr eaLnBrk="1" hangingPunct="1"/>
            <a:r>
              <a:rPr lang="en-US" altLang="en-US" dirty="0" smtClean="0"/>
              <a:t>Readers-Writers Problem</a:t>
            </a:r>
          </a:p>
        </p:txBody>
      </p:sp>
      <p:sp>
        <p:nvSpPr>
          <p:cNvPr id="37891" name="Rectangle 3"/>
          <p:cNvSpPr>
            <a:spLocks noGrp="1" noChangeArrowheads="1"/>
          </p:cNvSpPr>
          <p:nvPr>
            <p:ph idx="1"/>
          </p:nvPr>
        </p:nvSpPr>
        <p:spPr>
          <a:xfrm>
            <a:off x="860425" y="908720"/>
            <a:ext cx="7866063" cy="5207918"/>
          </a:xfrm>
        </p:spPr>
        <p:txBody>
          <a:bodyPr>
            <a:noAutofit/>
          </a:bodyPr>
          <a:lstStyle/>
          <a:p>
            <a:r>
              <a:rPr lang="en-US" altLang="en-US" sz="2000" dirty="0" smtClean="0">
                <a:solidFill>
                  <a:srgbClr val="FF0000"/>
                </a:solidFill>
              </a:rPr>
              <a:t>A data set is shared among a number of concurrent processes</a:t>
            </a:r>
          </a:p>
          <a:p>
            <a:pPr lvl="1"/>
            <a:r>
              <a:rPr lang="en-US" altLang="en-US" sz="2000" dirty="0" smtClean="0"/>
              <a:t>Readers – only read the data set; they do </a:t>
            </a:r>
            <a:r>
              <a:rPr lang="en-US" altLang="en-US" sz="2000" b="1" i="1" dirty="0" smtClean="0"/>
              <a:t>not</a:t>
            </a:r>
            <a:r>
              <a:rPr lang="en-US" altLang="en-US" sz="2000" b="1" dirty="0" smtClean="0"/>
              <a:t> </a:t>
            </a:r>
            <a:r>
              <a:rPr lang="en-US" altLang="en-US" sz="2000" dirty="0" smtClean="0"/>
              <a:t>perform any updates</a:t>
            </a:r>
          </a:p>
          <a:p>
            <a:pPr lvl="1"/>
            <a:r>
              <a:rPr lang="en-US" altLang="en-US" sz="2000" dirty="0" smtClean="0"/>
              <a:t>Writers   – can both read and write</a:t>
            </a:r>
          </a:p>
          <a:p>
            <a:r>
              <a:rPr lang="en-US" altLang="en-US" sz="2000" b="1" dirty="0" smtClean="0">
                <a:solidFill>
                  <a:srgbClr val="00B050"/>
                </a:solidFill>
              </a:rPr>
              <a:t>Problem</a:t>
            </a:r>
            <a:r>
              <a:rPr lang="en-US" altLang="en-US" sz="2000" dirty="0" smtClean="0"/>
              <a:t> – allow multiple readers to read at the same time</a:t>
            </a:r>
          </a:p>
          <a:p>
            <a:pPr lvl="1"/>
            <a:r>
              <a:rPr lang="en-US" altLang="en-US" sz="2000" dirty="0" smtClean="0"/>
              <a:t>Only one writer can access the shared data at the same time</a:t>
            </a:r>
          </a:p>
          <a:p>
            <a:pPr algn="just"/>
            <a:r>
              <a:rPr lang="en-US" altLang="en-US" sz="2000" dirty="0" smtClean="0"/>
              <a:t>Several variations of how readers and writers are considered  – all involve some form of priorities</a:t>
            </a:r>
          </a:p>
          <a:p>
            <a:r>
              <a:rPr lang="en-US" altLang="en-US" sz="2000" b="1" dirty="0" smtClean="0">
                <a:solidFill>
                  <a:srgbClr val="00B050"/>
                </a:solidFill>
              </a:rPr>
              <a:t>Shared Data</a:t>
            </a:r>
          </a:p>
          <a:p>
            <a:pPr lvl="1"/>
            <a:r>
              <a:rPr lang="en-US" altLang="en-US" sz="2000" b="1" dirty="0" smtClean="0">
                <a:solidFill>
                  <a:srgbClr val="00B050"/>
                </a:solidFill>
              </a:rPr>
              <a:t>Data set</a:t>
            </a:r>
          </a:p>
          <a:p>
            <a:pPr lvl="1"/>
            <a:r>
              <a:rPr lang="en-US" altLang="en-US" sz="2000" dirty="0" smtClean="0">
                <a:solidFill>
                  <a:srgbClr val="FF0000"/>
                </a:solidFill>
              </a:rPr>
              <a:t>Semaphore</a:t>
            </a:r>
            <a:r>
              <a:rPr lang="en-US" altLang="en-US" sz="2000" b="1" dirty="0" smtClean="0">
                <a:solidFill>
                  <a:srgbClr val="FF0000"/>
                </a:solidFill>
                <a:latin typeface="Courier New" pitchFamily="49" charset="0"/>
              </a:rPr>
              <a:t> </a:t>
            </a:r>
            <a:r>
              <a:rPr lang="en-US" altLang="en-US" sz="1400" b="1" dirty="0" err="1" smtClean="0">
                <a:solidFill>
                  <a:srgbClr val="00B050"/>
                </a:solidFill>
                <a:latin typeface="Courier New" pitchFamily="49" charset="0"/>
              </a:rPr>
              <a:t>rw_mutex</a:t>
            </a:r>
            <a:r>
              <a:rPr lang="en-US" altLang="en-US" sz="2000" b="1" dirty="0" smtClean="0">
                <a:solidFill>
                  <a:srgbClr val="FF0000"/>
                </a:solidFill>
                <a:latin typeface="Courier New" pitchFamily="49" charset="0"/>
              </a:rPr>
              <a:t> </a:t>
            </a:r>
            <a:r>
              <a:rPr lang="en-US" altLang="en-US" sz="2000" dirty="0" smtClean="0">
                <a:solidFill>
                  <a:srgbClr val="FF0000"/>
                </a:solidFill>
              </a:rPr>
              <a:t>initialized to 1</a:t>
            </a:r>
          </a:p>
          <a:p>
            <a:pPr lvl="1"/>
            <a:r>
              <a:rPr lang="en-US" altLang="en-US" sz="2000" dirty="0" smtClean="0">
                <a:solidFill>
                  <a:srgbClr val="FF0000"/>
                </a:solidFill>
              </a:rPr>
              <a:t>Semaphore </a:t>
            </a:r>
            <a:r>
              <a:rPr lang="en-US" altLang="en-US" sz="1400" b="1" dirty="0" err="1" smtClean="0">
                <a:solidFill>
                  <a:srgbClr val="00B050"/>
                </a:solidFill>
                <a:latin typeface="Courier New" pitchFamily="49" charset="0"/>
              </a:rPr>
              <a:t>mutex</a:t>
            </a:r>
            <a:r>
              <a:rPr lang="en-US" altLang="en-US" sz="2000" b="1" dirty="0" smtClean="0">
                <a:solidFill>
                  <a:srgbClr val="FF0000"/>
                </a:solidFill>
                <a:latin typeface="Courier New" pitchFamily="49" charset="0"/>
              </a:rPr>
              <a:t> </a:t>
            </a:r>
            <a:r>
              <a:rPr lang="en-US" altLang="en-US" sz="2000" dirty="0" smtClean="0">
                <a:solidFill>
                  <a:srgbClr val="FF0000"/>
                </a:solidFill>
              </a:rPr>
              <a:t>initialized to 1</a:t>
            </a:r>
          </a:p>
          <a:p>
            <a:pPr lvl="1"/>
            <a:r>
              <a:rPr lang="en-US" altLang="en-US" sz="2000" dirty="0" smtClean="0">
                <a:solidFill>
                  <a:srgbClr val="FF0000"/>
                </a:solidFill>
              </a:rPr>
              <a:t>Integer </a:t>
            </a:r>
            <a:r>
              <a:rPr lang="en-US" altLang="en-US" sz="1400" b="1" dirty="0" err="1" smtClean="0">
                <a:solidFill>
                  <a:srgbClr val="00B050"/>
                </a:solidFill>
                <a:latin typeface="Courier New" pitchFamily="49" charset="0"/>
              </a:rPr>
              <a:t>read_count</a:t>
            </a:r>
            <a:r>
              <a:rPr lang="en-US" altLang="en-US" sz="2000" dirty="0" smtClean="0">
                <a:solidFill>
                  <a:srgbClr val="FF0000"/>
                </a:solidFill>
              </a:rPr>
              <a:t> initialized to 0</a:t>
            </a:r>
          </a:p>
          <a:p>
            <a:pPr lvl="1"/>
            <a:endParaRPr lang="en-US" altLang="en-US" sz="2000" dirty="0" smtClean="0"/>
          </a:p>
        </p:txBody>
      </p:sp>
    </p:spTree>
    <p:extLst>
      <p:ext uri="{BB962C8B-B14F-4D97-AF65-F5344CB8AC3E}">
        <p14:creationId xmlns:p14="http://schemas.microsoft.com/office/powerpoint/2010/main" val="24277697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25525" y="190500"/>
            <a:ext cx="7661275" cy="576263"/>
          </a:xfrm>
        </p:spPr>
        <p:txBody>
          <a:bodyPr>
            <a:normAutofit fontScale="90000"/>
          </a:bodyPr>
          <a:lstStyle/>
          <a:p>
            <a:pPr eaLnBrk="1" hangingPunct="1"/>
            <a:r>
              <a:rPr lang="en-US" altLang="en-US" smtClean="0"/>
              <a:t>Readers-Writers Problem (Cont.)</a:t>
            </a:r>
          </a:p>
        </p:txBody>
      </p:sp>
      <p:sp>
        <p:nvSpPr>
          <p:cNvPr id="38915" name="Rectangle 3"/>
          <p:cNvSpPr>
            <a:spLocks noGrp="1" noChangeArrowheads="1"/>
          </p:cNvSpPr>
          <p:nvPr>
            <p:ph idx="1"/>
          </p:nvPr>
        </p:nvSpPr>
        <p:spPr>
          <a:xfrm>
            <a:off x="827088" y="1279525"/>
            <a:ext cx="7848600" cy="4876800"/>
          </a:xfrm>
        </p:spPr>
        <p:txBody>
          <a:bodyPr>
            <a:noAutofit/>
          </a:bodyPr>
          <a:lstStyle/>
          <a:p>
            <a:r>
              <a:rPr lang="en-US" altLang="en-US" sz="2400" dirty="0" smtClean="0"/>
              <a:t>The structure of a </a:t>
            </a:r>
            <a:r>
              <a:rPr lang="en-US" altLang="en-US" sz="2400" dirty="0" smtClean="0">
                <a:solidFill>
                  <a:srgbClr val="FF0000"/>
                </a:solidFill>
              </a:rPr>
              <a:t>writer process</a:t>
            </a:r>
          </a:p>
          <a:p>
            <a:pPr>
              <a:buFont typeface="Monotype Sorts" pitchFamily="-84" charset="2"/>
              <a:buNone/>
            </a:pPr>
            <a:r>
              <a:rPr lang="en-US" altLang="en-US" sz="2400" dirty="0" smtClean="0">
                <a:solidFill>
                  <a:srgbClr val="FF0000"/>
                </a:solidFill>
              </a:rPr>
              <a:t>        </a:t>
            </a:r>
          </a:p>
          <a:p>
            <a:pPr>
              <a:buFont typeface="Monotype Sorts" pitchFamily="-84" charset="2"/>
              <a:buNone/>
            </a:pPr>
            <a:r>
              <a:rPr lang="en-US" altLang="en-US" sz="2400" b="1" dirty="0" smtClean="0">
                <a:latin typeface="Courier New" pitchFamily="49" charset="0"/>
                <a:cs typeface="Courier New" pitchFamily="49" charset="0"/>
              </a:rPr>
              <a:t>       do {</a:t>
            </a:r>
            <a:br>
              <a:rPr lang="en-US" altLang="en-US" sz="2400" b="1" dirty="0" smtClean="0">
                <a:latin typeface="Courier New" pitchFamily="49" charset="0"/>
                <a:cs typeface="Courier New" pitchFamily="49" charset="0"/>
              </a:rPr>
            </a:br>
            <a:r>
              <a:rPr lang="en-US" altLang="en-US" sz="2400" b="1" dirty="0" smtClean="0">
                <a:latin typeface="Courier New" pitchFamily="49" charset="0"/>
                <a:cs typeface="Courier New" pitchFamily="49" charset="0"/>
              </a:rPr>
              <a:t>          wait(</a:t>
            </a:r>
            <a:r>
              <a:rPr lang="en-US" altLang="en-US" sz="2400" b="1" dirty="0" err="1" smtClean="0">
                <a:latin typeface="Courier New" pitchFamily="49" charset="0"/>
                <a:cs typeface="Courier New" pitchFamily="49" charset="0"/>
              </a:rPr>
              <a:t>rw_mutex</a:t>
            </a:r>
            <a:r>
              <a:rPr lang="en-US" altLang="en-US" sz="2400" b="1" dirty="0" smtClean="0">
                <a:latin typeface="Courier New" pitchFamily="49" charset="0"/>
                <a:cs typeface="Courier New" pitchFamily="49" charset="0"/>
              </a:rPr>
              <a:t>); </a:t>
            </a:r>
          </a:p>
          <a:p>
            <a:pPr>
              <a:buFont typeface="Monotype Sorts" pitchFamily="-84" charset="2"/>
              <a:buNone/>
            </a:pPr>
            <a:r>
              <a:rPr lang="en-US" altLang="en-US" sz="2400" b="1" dirty="0" smtClean="0">
                <a:latin typeface="Courier New" pitchFamily="49" charset="0"/>
                <a:cs typeface="Courier New" pitchFamily="49" charset="0"/>
              </a:rPr>
              <a:t>               ...</a:t>
            </a:r>
            <a:br>
              <a:rPr lang="en-US" altLang="en-US" sz="2400" b="1" dirty="0" smtClean="0">
                <a:latin typeface="Courier New" pitchFamily="49" charset="0"/>
                <a:cs typeface="Courier New" pitchFamily="49" charset="0"/>
              </a:rPr>
            </a:br>
            <a:r>
              <a:rPr lang="en-US" altLang="en-US" sz="2400" b="1" dirty="0" smtClean="0">
                <a:latin typeface="Courier New" pitchFamily="49" charset="0"/>
                <a:cs typeface="Courier New" pitchFamily="49" charset="0"/>
              </a:rPr>
              <a:t>          /* writing is performed */ </a:t>
            </a:r>
          </a:p>
          <a:p>
            <a:pPr>
              <a:buFont typeface="Monotype Sorts" pitchFamily="-84" charset="2"/>
              <a:buNone/>
            </a:pPr>
            <a:r>
              <a:rPr lang="en-US" altLang="en-US" sz="2400" b="1" dirty="0" smtClean="0">
                <a:latin typeface="Courier New" pitchFamily="49" charset="0"/>
                <a:cs typeface="Courier New" pitchFamily="49" charset="0"/>
              </a:rPr>
              <a:t>               ... </a:t>
            </a:r>
          </a:p>
          <a:p>
            <a:pPr>
              <a:buFont typeface="Monotype Sorts" pitchFamily="-84" charset="2"/>
              <a:buNone/>
            </a:pPr>
            <a:r>
              <a:rPr lang="en-US" altLang="en-US" sz="2400" b="1" dirty="0" smtClean="0">
                <a:latin typeface="Courier New" pitchFamily="49" charset="0"/>
                <a:cs typeface="Courier New" pitchFamily="49" charset="0"/>
              </a:rPr>
              <a:t>           signal(</a:t>
            </a:r>
            <a:r>
              <a:rPr lang="en-US" altLang="en-US" sz="2400" b="1" dirty="0" err="1" smtClean="0">
                <a:latin typeface="Courier New" pitchFamily="49" charset="0"/>
                <a:cs typeface="Courier New" pitchFamily="49" charset="0"/>
              </a:rPr>
              <a:t>rw_mutex</a:t>
            </a:r>
            <a:r>
              <a:rPr lang="en-US" altLang="en-US" sz="2400" b="1" dirty="0" smtClean="0">
                <a:latin typeface="Courier New" pitchFamily="49" charset="0"/>
                <a:cs typeface="Courier New" pitchFamily="49" charset="0"/>
              </a:rPr>
              <a:t>); </a:t>
            </a:r>
          </a:p>
          <a:p>
            <a:pPr>
              <a:buFont typeface="Monotype Sorts" pitchFamily="-84" charset="2"/>
              <a:buNone/>
            </a:pPr>
            <a:r>
              <a:rPr lang="en-US" altLang="en-US" sz="2400" b="1" dirty="0" smtClean="0">
                <a:latin typeface="Courier New" pitchFamily="49" charset="0"/>
                <a:cs typeface="Courier New" pitchFamily="49" charset="0"/>
              </a:rPr>
              <a:t>     } while (true);</a:t>
            </a:r>
            <a:r>
              <a:rPr lang="en-US" altLang="en-US" sz="2000" b="1" dirty="0" smtClean="0">
                <a:latin typeface="Courier New" pitchFamily="49" charset="0"/>
                <a:cs typeface="Courier New" pitchFamily="49" charset="0"/>
              </a:rPr>
              <a:t/>
            </a:r>
            <a:br>
              <a:rPr lang="en-US" altLang="en-US" sz="2000" b="1" dirty="0" smtClean="0">
                <a:latin typeface="Courier New" pitchFamily="49" charset="0"/>
                <a:cs typeface="Courier New" pitchFamily="49" charset="0"/>
              </a:rPr>
            </a:br>
            <a:endParaRPr lang="en-US" altLang="en-US" sz="2000" b="1" dirty="0" smtClean="0">
              <a:latin typeface="Courier New" pitchFamily="49" charset="0"/>
              <a:cs typeface="Courier New" pitchFamily="49" charset="0"/>
            </a:endParaRPr>
          </a:p>
          <a:p>
            <a:pPr>
              <a:buFont typeface="Monotype Sorts" pitchFamily="-84" charset="2"/>
              <a:buNone/>
            </a:pPr>
            <a:endParaRPr lang="en-US" altLang="en-US" sz="4400" dirty="0" smtClean="0">
              <a:solidFill>
                <a:srgbClr val="0000FF"/>
              </a:solidFill>
            </a:endParaRPr>
          </a:p>
          <a:p>
            <a:pPr>
              <a:buFont typeface="Monotype Sorts" pitchFamily="-84" charset="2"/>
              <a:buNone/>
            </a:pPr>
            <a:endParaRPr lang="en-US" altLang="en-US" sz="4400" dirty="0" smtClean="0">
              <a:solidFill>
                <a:srgbClr val="0000FF"/>
              </a:solidFill>
            </a:endParaRPr>
          </a:p>
          <a:p>
            <a:pPr>
              <a:buFont typeface="Monotype Sorts" pitchFamily="-84" charset="2"/>
              <a:buNone/>
            </a:pPr>
            <a:r>
              <a:rPr lang="en-US" altLang="en-US" sz="4400" dirty="0" smtClean="0">
                <a:solidFill>
                  <a:srgbClr val="0000FF"/>
                </a:solidFill>
              </a:rPr>
              <a:t>       </a:t>
            </a:r>
          </a:p>
        </p:txBody>
      </p:sp>
    </p:spTree>
    <p:extLst>
      <p:ext uri="{BB962C8B-B14F-4D97-AF65-F5344CB8AC3E}">
        <p14:creationId xmlns:p14="http://schemas.microsoft.com/office/powerpoint/2010/main" val="36365641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035050" y="190500"/>
            <a:ext cx="7651750" cy="576263"/>
          </a:xfrm>
        </p:spPr>
        <p:txBody>
          <a:bodyPr>
            <a:normAutofit fontScale="90000"/>
          </a:bodyPr>
          <a:lstStyle/>
          <a:p>
            <a:pPr eaLnBrk="1" hangingPunct="1"/>
            <a:r>
              <a:rPr lang="en-US" altLang="en-US" smtClean="0"/>
              <a:t>Readers-Writers Problem (Cont.)</a:t>
            </a:r>
          </a:p>
        </p:txBody>
      </p:sp>
      <p:sp>
        <p:nvSpPr>
          <p:cNvPr id="39939" name="Rectangle 3"/>
          <p:cNvSpPr>
            <a:spLocks noGrp="1" noChangeArrowheads="1"/>
          </p:cNvSpPr>
          <p:nvPr>
            <p:ph idx="1"/>
          </p:nvPr>
        </p:nvSpPr>
        <p:spPr>
          <a:xfrm>
            <a:off x="841374" y="1076325"/>
            <a:ext cx="7845425" cy="5232995"/>
          </a:xfrm>
        </p:spPr>
        <p:txBody>
          <a:bodyPr>
            <a:normAutofit fontScale="62500" lnSpcReduction="20000"/>
          </a:bodyPr>
          <a:lstStyle/>
          <a:p>
            <a:pPr>
              <a:lnSpc>
                <a:spcPct val="80000"/>
              </a:lnSpc>
            </a:pPr>
            <a:r>
              <a:rPr lang="en-US" altLang="en-US" dirty="0" smtClean="0"/>
              <a:t>The structure of a </a:t>
            </a:r>
            <a:r>
              <a:rPr lang="en-US" altLang="en-US" dirty="0" smtClean="0">
                <a:solidFill>
                  <a:srgbClr val="FF0000"/>
                </a:solidFill>
              </a:rPr>
              <a:t>reader process</a:t>
            </a:r>
            <a:endParaRPr lang="en-US" altLang="en-US" sz="1600" dirty="0" smtClean="0">
              <a:solidFill>
                <a:srgbClr val="FF0000"/>
              </a:solidFill>
            </a:endParaRPr>
          </a:p>
          <a:p>
            <a:pPr>
              <a:buFont typeface="Monotype Sorts" pitchFamily="-84" charset="2"/>
              <a:buNone/>
            </a:pPr>
            <a:r>
              <a:rPr lang="en-US" altLang="en-US" b="1" dirty="0" smtClean="0">
                <a:latin typeface="Courier New" pitchFamily="49" charset="0"/>
                <a:cs typeface="Courier New" pitchFamily="49" charset="0"/>
              </a:rPr>
              <a:t>       do {</a:t>
            </a:r>
            <a:br>
              <a:rPr lang="en-US" altLang="en-US" b="1" dirty="0" smtClean="0">
                <a:latin typeface="Courier New" pitchFamily="49" charset="0"/>
                <a:cs typeface="Courier New" pitchFamily="49" charset="0"/>
              </a:rPr>
            </a:br>
            <a:r>
              <a:rPr lang="en-US" altLang="en-US" b="1" dirty="0" smtClean="0">
                <a:latin typeface="Courier New" pitchFamily="49" charset="0"/>
                <a:cs typeface="Courier New" pitchFamily="49" charset="0"/>
              </a:rPr>
              <a:t>           wait(</a:t>
            </a:r>
            <a:r>
              <a:rPr lang="en-US" altLang="en-US" b="1" dirty="0" err="1" smtClean="0">
                <a:latin typeface="Courier New" pitchFamily="49" charset="0"/>
                <a:cs typeface="Courier New" pitchFamily="49" charset="0"/>
              </a:rPr>
              <a:t>mutex</a:t>
            </a:r>
            <a:r>
              <a:rPr lang="en-US" altLang="en-US" b="1" dirty="0" smtClean="0">
                <a:latin typeface="Courier New" pitchFamily="49" charset="0"/>
                <a:cs typeface="Courier New" pitchFamily="49" charset="0"/>
              </a:rPr>
              <a:t>);</a:t>
            </a:r>
            <a:br>
              <a:rPr lang="en-US" altLang="en-US" b="1" dirty="0" smtClean="0">
                <a:latin typeface="Courier New" pitchFamily="49" charset="0"/>
                <a:cs typeface="Courier New" pitchFamily="49" charset="0"/>
              </a:rPr>
            </a:br>
            <a:r>
              <a:rPr lang="en-US" altLang="en-US" b="1" dirty="0" smtClean="0">
                <a:latin typeface="Courier New" pitchFamily="49" charset="0"/>
                <a:cs typeface="Courier New" pitchFamily="49" charset="0"/>
              </a:rPr>
              <a:t>           </a:t>
            </a:r>
            <a:r>
              <a:rPr lang="en-US" altLang="en-US" b="1" dirty="0" err="1" smtClean="0">
                <a:latin typeface="Courier New" pitchFamily="49" charset="0"/>
                <a:cs typeface="Courier New" pitchFamily="49" charset="0"/>
              </a:rPr>
              <a:t>read_count</a:t>
            </a:r>
            <a:r>
              <a:rPr lang="en-US" altLang="en-US" b="1" dirty="0" smtClean="0">
                <a:latin typeface="Courier New" pitchFamily="49" charset="0"/>
                <a:cs typeface="Courier New" pitchFamily="49" charset="0"/>
              </a:rPr>
              <a:t>++;</a:t>
            </a:r>
            <a:br>
              <a:rPr lang="en-US" altLang="en-US" b="1" dirty="0" smtClean="0">
                <a:latin typeface="Courier New" pitchFamily="49" charset="0"/>
                <a:cs typeface="Courier New" pitchFamily="49" charset="0"/>
              </a:rPr>
            </a:br>
            <a:r>
              <a:rPr lang="en-US" altLang="en-US" b="1" dirty="0" smtClean="0">
                <a:latin typeface="Courier New" pitchFamily="49" charset="0"/>
                <a:cs typeface="Courier New" pitchFamily="49" charset="0"/>
              </a:rPr>
              <a:t>           if (</a:t>
            </a:r>
            <a:r>
              <a:rPr lang="en-US" altLang="en-US" b="1" dirty="0" err="1" smtClean="0">
                <a:latin typeface="Courier New" pitchFamily="49" charset="0"/>
                <a:cs typeface="Courier New" pitchFamily="49" charset="0"/>
              </a:rPr>
              <a:t>read_count</a:t>
            </a:r>
            <a:r>
              <a:rPr lang="en-US" altLang="en-US" b="1" dirty="0" smtClean="0">
                <a:latin typeface="Courier New" pitchFamily="49" charset="0"/>
                <a:cs typeface="Courier New" pitchFamily="49" charset="0"/>
              </a:rPr>
              <a:t> == 1) </a:t>
            </a:r>
          </a:p>
          <a:p>
            <a:pPr>
              <a:buFont typeface="Monotype Sorts" pitchFamily="-84" charset="2"/>
              <a:buNone/>
            </a:pPr>
            <a:r>
              <a:rPr lang="en-US" altLang="en-US" b="1" dirty="0" smtClean="0">
                <a:latin typeface="Courier New" pitchFamily="49" charset="0"/>
                <a:cs typeface="Courier New" pitchFamily="49" charset="0"/>
              </a:rPr>
              <a:t>             	wait(</a:t>
            </a:r>
            <a:r>
              <a:rPr lang="en-US" altLang="en-US" b="1" dirty="0" err="1" smtClean="0">
                <a:latin typeface="Courier New" pitchFamily="49" charset="0"/>
                <a:cs typeface="Courier New" pitchFamily="49" charset="0"/>
              </a:rPr>
              <a:t>rw_mutex</a:t>
            </a:r>
            <a:r>
              <a:rPr lang="en-US" altLang="en-US" b="1" dirty="0" smtClean="0">
                <a:latin typeface="Courier New" pitchFamily="49" charset="0"/>
                <a:cs typeface="Courier New" pitchFamily="49" charset="0"/>
              </a:rPr>
              <a:t>); </a:t>
            </a:r>
          </a:p>
          <a:p>
            <a:pPr>
              <a:buFont typeface="Monotype Sorts" pitchFamily="-84" charset="2"/>
              <a:buNone/>
            </a:pPr>
            <a:r>
              <a:rPr lang="en-US" altLang="en-US" b="1" dirty="0" smtClean="0">
                <a:latin typeface="Courier New" pitchFamily="49" charset="0"/>
                <a:cs typeface="Courier New" pitchFamily="49" charset="0"/>
              </a:rPr>
              <a:t>             signal(</a:t>
            </a:r>
            <a:r>
              <a:rPr lang="en-US" altLang="en-US" b="1" dirty="0" err="1" smtClean="0">
                <a:latin typeface="Courier New" pitchFamily="49" charset="0"/>
                <a:cs typeface="Courier New" pitchFamily="49" charset="0"/>
              </a:rPr>
              <a:t>mutex</a:t>
            </a:r>
            <a:r>
              <a:rPr lang="en-US" altLang="en-US" b="1" dirty="0" smtClean="0">
                <a:latin typeface="Courier New" pitchFamily="49" charset="0"/>
                <a:cs typeface="Courier New" pitchFamily="49" charset="0"/>
              </a:rPr>
              <a:t>); </a:t>
            </a:r>
          </a:p>
          <a:p>
            <a:pPr>
              <a:buFont typeface="Monotype Sorts" pitchFamily="-84" charset="2"/>
              <a:buNone/>
            </a:pPr>
            <a:r>
              <a:rPr lang="en-US" altLang="en-US" b="1" dirty="0" smtClean="0">
                <a:latin typeface="Courier New" pitchFamily="49" charset="0"/>
                <a:cs typeface="Courier New" pitchFamily="49" charset="0"/>
              </a:rPr>
              <a:t>               ...</a:t>
            </a:r>
            <a:br>
              <a:rPr lang="en-US" altLang="en-US" b="1" dirty="0" smtClean="0">
                <a:latin typeface="Courier New" pitchFamily="49" charset="0"/>
                <a:cs typeface="Courier New" pitchFamily="49" charset="0"/>
              </a:rPr>
            </a:br>
            <a:r>
              <a:rPr lang="en-US" altLang="en-US" b="1" dirty="0" smtClean="0">
                <a:latin typeface="Courier New" pitchFamily="49" charset="0"/>
                <a:cs typeface="Courier New" pitchFamily="49" charset="0"/>
              </a:rPr>
              <a:t>           /* reading is performed */ </a:t>
            </a:r>
          </a:p>
          <a:p>
            <a:pPr>
              <a:buFont typeface="Monotype Sorts" pitchFamily="-84" charset="2"/>
              <a:buNone/>
            </a:pPr>
            <a:r>
              <a:rPr lang="en-US" altLang="en-US" b="1" dirty="0" smtClean="0">
                <a:latin typeface="Courier New" pitchFamily="49" charset="0"/>
                <a:cs typeface="Courier New" pitchFamily="49" charset="0"/>
              </a:rPr>
              <a:t>               ... </a:t>
            </a:r>
          </a:p>
          <a:p>
            <a:pPr>
              <a:buFont typeface="Monotype Sorts" pitchFamily="-84" charset="2"/>
              <a:buNone/>
            </a:pPr>
            <a:r>
              <a:rPr lang="en-US" altLang="en-US" b="1" dirty="0" smtClean="0">
                <a:latin typeface="Courier New" pitchFamily="49" charset="0"/>
                <a:cs typeface="Courier New" pitchFamily="49" charset="0"/>
              </a:rPr>
              <a:t>             wait(</a:t>
            </a:r>
            <a:r>
              <a:rPr lang="en-US" altLang="en-US" b="1" dirty="0" err="1" smtClean="0">
                <a:latin typeface="Courier New" pitchFamily="49" charset="0"/>
                <a:cs typeface="Courier New" pitchFamily="49" charset="0"/>
              </a:rPr>
              <a:t>mutex</a:t>
            </a:r>
            <a:r>
              <a:rPr lang="en-US" altLang="en-US" b="1" dirty="0" smtClean="0">
                <a:latin typeface="Courier New" pitchFamily="49" charset="0"/>
                <a:cs typeface="Courier New" pitchFamily="49" charset="0"/>
              </a:rPr>
              <a:t>);</a:t>
            </a:r>
            <a:br>
              <a:rPr lang="en-US" altLang="en-US" b="1" dirty="0" smtClean="0">
                <a:latin typeface="Courier New" pitchFamily="49" charset="0"/>
                <a:cs typeface="Courier New" pitchFamily="49" charset="0"/>
              </a:rPr>
            </a:br>
            <a:r>
              <a:rPr lang="en-US" altLang="en-US" b="1" dirty="0" smtClean="0">
                <a:latin typeface="Courier New" pitchFamily="49" charset="0"/>
                <a:cs typeface="Courier New" pitchFamily="49" charset="0"/>
              </a:rPr>
              <a:t>           </a:t>
            </a:r>
            <a:r>
              <a:rPr lang="en-US" altLang="en-US" b="1" dirty="0" err="1" smtClean="0">
                <a:latin typeface="Courier New" pitchFamily="49" charset="0"/>
                <a:cs typeface="Courier New" pitchFamily="49" charset="0"/>
              </a:rPr>
              <a:t>read_count</a:t>
            </a:r>
            <a:r>
              <a:rPr lang="en-US" altLang="en-US" b="1" dirty="0" smtClean="0">
                <a:latin typeface="Courier New" pitchFamily="49" charset="0"/>
                <a:cs typeface="Courier New" pitchFamily="49" charset="0"/>
              </a:rPr>
              <a:t>--;</a:t>
            </a:r>
            <a:br>
              <a:rPr lang="en-US" altLang="en-US" b="1" dirty="0" smtClean="0">
                <a:latin typeface="Courier New" pitchFamily="49" charset="0"/>
                <a:cs typeface="Courier New" pitchFamily="49" charset="0"/>
              </a:rPr>
            </a:br>
            <a:r>
              <a:rPr lang="en-US" altLang="en-US" b="1" dirty="0" smtClean="0">
                <a:latin typeface="Courier New" pitchFamily="49" charset="0"/>
                <a:cs typeface="Courier New" pitchFamily="49" charset="0"/>
              </a:rPr>
              <a:t>           if (</a:t>
            </a:r>
            <a:r>
              <a:rPr lang="en-US" altLang="en-US" b="1" dirty="0" err="1" smtClean="0">
                <a:latin typeface="Courier New" pitchFamily="49" charset="0"/>
                <a:cs typeface="Courier New" pitchFamily="49" charset="0"/>
              </a:rPr>
              <a:t>read_count</a:t>
            </a:r>
            <a:r>
              <a:rPr lang="en-US" altLang="en-US" b="1" dirty="0" smtClean="0">
                <a:latin typeface="Courier New" pitchFamily="49" charset="0"/>
                <a:cs typeface="Courier New" pitchFamily="49" charset="0"/>
              </a:rPr>
              <a:t> == 0) </a:t>
            </a:r>
          </a:p>
          <a:p>
            <a:pPr>
              <a:buFont typeface="Monotype Sorts" pitchFamily="-84" charset="2"/>
              <a:buNone/>
            </a:pPr>
            <a:r>
              <a:rPr lang="en-US" altLang="en-US" b="1" dirty="0" smtClean="0">
                <a:latin typeface="Courier New" pitchFamily="49" charset="0"/>
                <a:cs typeface="Courier New" pitchFamily="49" charset="0"/>
              </a:rPr>
              <a:t>           		signal(</a:t>
            </a:r>
            <a:r>
              <a:rPr lang="en-US" altLang="en-US" b="1" dirty="0" err="1" smtClean="0">
                <a:latin typeface="Courier New" pitchFamily="49" charset="0"/>
                <a:cs typeface="Courier New" pitchFamily="49" charset="0"/>
              </a:rPr>
              <a:t>rw_mutex</a:t>
            </a:r>
            <a:r>
              <a:rPr lang="en-US" altLang="en-US" b="1" dirty="0" smtClean="0">
                <a:latin typeface="Courier New" pitchFamily="49" charset="0"/>
                <a:cs typeface="Courier New" pitchFamily="49" charset="0"/>
              </a:rPr>
              <a:t>); </a:t>
            </a:r>
          </a:p>
          <a:p>
            <a:pPr>
              <a:buFont typeface="Monotype Sorts" pitchFamily="-84" charset="2"/>
              <a:buNone/>
            </a:pPr>
            <a:r>
              <a:rPr lang="en-US" altLang="en-US" b="1" dirty="0" smtClean="0">
                <a:latin typeface="Courier New" pitchFamily="49" charset="0"/>
                <a:cs typeface="Courier New" pitchFamily="49" charset="0"/>
              </a:rPr>
              <a:t>             signal(</a:t>
            </a:r>
            <a:r>
              <a:rPr lang="en-US" altLang="en-US" b="1" dirty="0" err="1" smtClean="0">
                <a:latin typeface="Courier New" pitchFamily="49" charset="0"/>
                <a:cs typeface="Courier New" pitchFamily="49" charset="0"/>
              </a:rPr>
              <a:t>mutex</a:t>
            </a:r>
            <a:r>
              <a:rPr lang="en-US" altLang="en-US" b="1" dirty="0" smtClean="0">
                <a:latin typeface="Courier New" pitchFamily="49" charset="0"/>
                <a:cs typeface="Courier New" pitchFamily="49" charset="0"/>
              </a:rPr>
              <a:t>); </a:t>
            </a:r>
          </a:p>
          <a:p>
            <a:pPr>
              <a:buFont typeface="Monotype Sorts" pitchFamily="-84" charset="2"/>
              <a:buNone/>
            </a:pPr>
            <a:r>
              <a:rPr lang="en-US" altLang="en-US" b="1" dirty="0" smtClean="0">
                <a:latin typeface="Courier New" pitchFamily="49" charset="0"/>
                <a:cs typeface="Courier New" pitchFamily="49" charset="0"/>
              </a:rPr>
              <a:t>       } while (true);</a:t>
            </a:r>
            <a:br>
              <a:rPr lang="en-US" altLang="en-US" b="1" dirty="0" smtClean="0">
                <a:latin typeface="Courier New" pitchFamily="49" charset="0"/>
                <a:cs typeface="Courier New" pitchFamily="49" charset="0"/>
              </a:rPr>
            </a:br>
            <a:endParaRPr lang="en-US" altLang="en-US" b="1" dirty="0" smtClean="0">
              <a:latin typeface="Courier New" pitchFamily="49" charset="0"/>
              <a:cs typeface="Courier New" pitchFamily="49" charset="0"/>
            </a:endParaRPr>
          </a:p>
          <a:p>
            <a:pPr>
              <a:lnSpc>
                <a:spcPct val="80000"/>
              </a:lnSpc>
              <a:buFont typeface="Monotype Sorts" pitchFamily="-84" charset="2"/>
              <a:buNone/>
            </a:pPr>
            <a:endParaRPr lang="en-US" altLang="en-US" sz="1600" dirty="0" smtClean="0">
              <a:solidFill>
                <a:srgbClr val="0000FF"/>
              </a:solidFill>
            </a:endParaRPr>
          </a:p>
          <a:p>
            <a:pPr>
              <a:lnSpc>
                <a:spcPct val="80000"/>
              </a:lnSpc>
              <a:buFont typeface="Monotype Sorts" pitchFamily="-84" charset="2"/>
              <a:buNone/>
            </a:pPr>
            <a:endParaRPr lang="en-US" altLang="en-US" sz="1600" dirty="0" smtClean="0">
              <a:solidFill>
                <a:srgbClr val="0000FF"/>
              </a:solidFill>
            </a:endParaRPr>
          </a:p>
          <a:p>
            <a:pPr>
              <a:lnSpc>
                <a:spcPct val="80000"/>
              </a:lnSpc>
              <a:buFont typeface="Monotype Sorts" pitchFamily="-84" charset="2"/>
              <a:buNone/>
            </a:pPr>
            <a:r>
              <a:rPr lang="en-US" altLang="en-US" sz="1600" dirty="0" smtClean="0">
                <a:solidFill>
                  <a:srgbClr val="0000FF"/>
                </a:solidFill>
              </a:rPr>
              <a:t>       </a:t>
            </a:r>
          </a:p>
        </p:txBody>
      </p:sp>
    </p:spTree>
    <p:extLst>
      <p:ext uri="{BB962C8B-B14F-4D97-AF65-F5344CB8AC3E}">
        <p14:creationId xmlns:p14="http://schemas.microsoft.com/office/powerpoint/2010/main" val="185588178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pPr eaLnBrk="1" hangingPunct="1"/>
            <a:r>
              <a:rPr lang="en-US" altLang="en-US" smtClean="0"/>
              <a:t>Readers-Writers Problem (Cont.)</a:t>
            </a:r>
          </a:p>
        </p:txBody>
      </p:sp>
      <p:sp>
        <p:nvSpPr>
          <p:cNvPr id="38915" name="Rectangle 3"/>
          <p:cNvSpPr>
            <a:spLocks noGrp="1" noChangeArrowheads="1"/>
          </p:cNvSpPr>
          <p:nvPr>
            <p:ph sz="half" idx="1"/>
          </p:nvPr>
        </p:nvSpPr>
        <p:spPr/>
        <p:txBody>
          <a:bodyPr>
            <a:noAutofit/>
          </a:bodyPr>
          <a:lstStyle/>
          <a:p>
            <a:r>
              <a:rPr lang="en-US" altLang="en-US" sz="1600" dirty="0" smtClean="0"/>
              <a:t>The structure of a </a:t>
            </a:r>
            <a:r>
              <a:rPr lang="en-US" altLang="en-US" sz="1600" dirty="0" smtClean="0">
                <a:solidFill>
                  <a:srgbClr val="FF0000"/>
                </a:solidFill>
              </a:rPr>
              <a:t>writer process</a:t>
            </a:r>
          </a:p>
          <a:p>
            <a:pPr>
              <a:buFont typeface="Monotype Sorts" pitchFamily="-84" charset="2"/>
              <a:buNone/>
            </a:pPr>
            <a:r>
              <a:rPr lang="en-US" altLang="en-US" sz="1600" dirty="0" smtClean="0">
                <a:solidFill>
                  <a:srgbClr val="FF0000"/>
                </a:solidFill>
              </a:rPr>
              <a:t>        </a:t>
            </a:r>
            <a:r>
              <a:rPr lang="en-US" altLang="en-US" sz="1600" b="1" dirty="0" smtClean="0">
                <a:latin typeface="Courier New" pitchFamily="49" charset="0"/>
                <a:cs typeface="Courier New" pitchFamily="49" charset="0"/>
              </a:rPr>
              <a:t>       do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 writing is performed */ </a:t>
            </a:r>
          </a:p>
          <a:p>
            <a:pPr>
              <a:buFont typeface="Monotype Sorts" pitchFamily="-84" charset="2"/>
              <a:buNone/>
            </a:pPr>
            <a:r>
              <a:rPr lang="en-US" altLang="en-US" sz="1600" b="1" dirty="0" smtClean="0">
                <a:latin typeface="Courier New" pitchFamily="49" charset="0"/>
                <a:cs typeface="Courier New" pitchFamily="49" charset="0"/>
              </a:rPr>
              <a:t>               ...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 while (true);</a:t>
            </a:r>
            <a:r>
              <a:rPr lang="en-US" altLang="en-US" sz="1400" b="1" dirty="0" smtClean="0">
                <a:latin typeface="Courier New" pitchFamily="49" charset="0"/>
                <a:cs typeface="Courier New" pitchFamily="49" charset="0"/>
              </a:rPr>
              <a:t/>
            </a:r>
            <a:br>
              <a:rPr lang="en-US" altLang="en-US" sz="1400" b="1" dirty="0" smtClean="0">
                <a:latin typeface="Courier New" pitchFamily="49" charset="0"/>
                <a:cs typeface="Courier New" pitchFamily="49" charset="0"/>
              </a:rPr>
            </a:br>
            <a:endParaRPr lang="en-US" altLang="en-US" sz="1400" b="1" dirty="0" smtClean="0">
              <a:latin typeface="Courier New" pitchFamily="49" charset="0"/>
              <a:cs typeface="Courier New" pitchFamily="49" charset="0"/>
            </a:endParaRPr>
          </a:p>
          <a:p>
            <a:pPr>
              <a:buFont typeface="Monotype Sorts" pitchFamily="-84" charset="2"/>
              <a:buNone/>
            </a:pPr>
            <a:endParaRPr lang="en-US" altLang="en-US" sz="3200" dirty="0" smtClean="0">
              <a:solidFill>
                <a:srgbClr val="0000FF"/>
              </a:solidFill>
            </a:endParaRPr>
          </a:p>
          <a:p>
            <a:pPr>
              <a:buFont typeface="Monotype Sorts" pitchFamily="-84" charset="2"/>
              <a:buNone/>
            </a:pPr>
            <a:endParaRPr lang="en-US" altLang="en-US" sz="3200" dirty="0" smtClean="0">
              <a:solidFill>
                <a:srgbClr val="0000FF"/>
              </a:solidFill>
            </a:endParaRPr>
          </a:p>
          <a:p>
            <a:pPr>
              <a:buFont typeface="Monotype Sorts" pitchFamily="-84" charset="2"/>
              <a:buNone/>
            </a:pPr>
            <a:r>
              <a:rPr lang="en-US" altLang="en-US" sz="3200" dirty="0" smtClean="0">
                <a:solidFill>
                  <a:srgbClr val="0000FF"/>
                </a:solidFill>
              </a:rPr>
              <a:t>       </a:t>
            </a:r>
          </a:p>
        </p:txBody>
      </p:sp>
      <p:sp>
        <p:nvSpPr>
          <p:cNvPr id="2" name="Content Placeholder 1"/>
          <p:cNvSpPr>
            <a:spLocks noGrp="1"/>
          </p:cNvSpPr>
          <p:nvPr>
            <p:ph sz="half" idx="2"/>
          </p:nvPr>
        </p:nvSpPr>
        <p:spPr/>
        <p:txBody>
          <a:bodyPr>
            <a:normAutofit fontScale="47500" lnSpcReduction="20000"/>
          </a:bodyPr>
          <a:lstStyle/>
          <a:p>
            <a:pPr>
              <a:lnSpc>
                <a:spcPct val="80000"/>
              </a:lnSpc>
            </a:pPr>
            <a:r>
              <a:rPr lang="en-US" altLang="en-US" dirty="0"/>
              <a:t>The structure of a </a:t>
            </a:r>
            <a:r>
              <a:rPr lang="en-US" altLang="en-US" dirty="0">
                <a:solidFill>
                  <a:srgbClr val="FF0000"/>
                </a:solidFill>
              </a:rPr>
              <a:t>reader process</a:t>
            </a:r>
            <a:endParaRPr lang="en-US" altLang="en-US" sz="1400" dirty="0">
              <a:solidFill>
                <a:srgbClr val="FF0000"/>
              </a:solidFill>
            </a:endParaRPr>
          </a:p>
          <a:p>
            <a:pPr>
              <a:buFont typeface="Monotype Sorts" pitchFamily="-84" charset="2"/>
              <a:buNone/>
            </a:pPr>
            <a:r>
              <a:rPr lang="en-US" altLang="en-US" b="1" dirty="0">
                <a:latin typeface="Courier New" pitchFamily="49" charset="0"/>
                <a:cs typeface="Courier New" pitchFamily="49" charset="0"/>
              </a:rPr>
              <a:t>       do {</a:t>
            </a:r>
            <a:br>
              <a:rPr lang="en-US" altLang="en-US" b="1" dirty="0">
                <a:latin typeface="Courier New" pitchFamily="49" charset="0"/>
                <a:cs typeface="Courier New" pitchFamily="49" charset="0"/>
              </a:rPr>
            </a:br>
            <a:r>
              <a:rPr lang="en-US" altLang="en-US" b="1" dirty="0">
                <a:latin typeface="Courier New" pitchFamily="49" charset="0"/>
                <a:cs typeface="Courier New" pitchFamily="49" charset="0"/>
              </a:rPr>
              <a:t>           wait(</a:t>
            </a:r>
            <a:r>
              <a:rPr lang="en-US" altLang="en-US" b="1" dirty="0" err="1">
                <a:latin typeface="Courier New" pitchFamily="49" charset="0"/>
                <a:cs typeface="Courier New" pitchFamily="49" charset="0"/>
              </a:rPr>
              <a:t>mutex</a:t>
            </a:r>
            <a:r>
              <a:rPr lang="en-US" altLang="en-US" b="1" dirty="0">
                <a:latin typeface="Courier New" pitchFamily="49" charset="0"/>
                <a:cs typeface="Courier New" pitchFamily="49" charset="0"/>
              </a:rPr>
              <a:t>);</a:t>
            </a:r>
            <a:br>
              <a:rPr lang="en-US" altLang="en-US" b="1" dirty="0">
                <a:latin typeface="Courier New" pitchFamily="49" charset="0"/>
                <a:cs typeface="Courier New" pitchFamily="49" charset="0"/>
              </a:rPr>
            </a:b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read_count</a:t>
            </a:r>
            <a:r>
              <a:rPr lang="en-US" altLang="en-US" b="1" dirty="0">
                <a:latin typeface="Courier New" pitchFamily="49" charset="0"/>
                <a:cs typeface="Courier New" pitchFamily="49" charset="0"/>
              </a:rPr>
              <a:t>++;</a:t>
            </a:r>
            <a:br>
              <a:rPr lang="en-US" altLang="en-US" b="1" dirty="0">
                <a:latin typeface="Courier New" pitchFamily="49" charset="0"/>
                <a:cs typeface="Courier New" pitchFamily="49" charset="0"/>
              </a:rPr>
            </a:br>
            <a:r>
              <a:rPr lang="en-US" altLang="en-US" b="1" dirty="0">
                <a:latin typeface="Courier New" pitchFamily="49" charset="0"/>
                <a:cs typeface="Courier New" pitchFamily="49" charset="0"/>
              </a:rPr>
              <a:t>           if (</a:t>
            </a:r>
            <a:r>
              <a:rPr lang="en-US" altLang="en-US" b="1" dirty="0" err="1">
                <a:latin typeface="Courier New" pitchFamily="49" charset="0"/>
                <a:cs typeface="Courier New" pitchFamily="49" charset="0"/>
              </a:rPr>
              <a:t>read_count</a:t>
            </a:r>
            <a:r>
              <a:rPr lang="en-US" altLang="en-US" b="1" dirty="0">
                <a:latin typeface="Courier New" pitchFamily="49" charset="0"/>
                <a:cs typeface="Courier New" pitchFamily="49" charset="0"/>
              </a:rPr>
              <a:t> == 1) </a:t>
            </a:r>
          </a:p>
          <a:p>
            <a:pPr>
              <a:buFont typeface="Monotype Sorts" pitchFamily="-84" charset="2"/>
              <a:buNone/>
            </a:pPr>
            <a:r>
              <a:rPr lang="en-US" altLang="en-US" b="1" dirty="0">
                <a:latin typeface="Courier New" pitchFamily="49" charset="0"/>
                <a:cs typeface="Courier New" pitchFamily="49" charset="0"/>
              </a:rPr>
              <a:t>             	wait(</a:t>
            </a:r>
            <a:r>
              <a:rPr lang="en-US" altLang="en-US" b="1" dirty="0" err="1">
                <a:latin typeface="Courier New" pitchFamily="49" charset="0"/>
                <a:cs typeface="Courier New" pitchFamily="49" charset="0"/>
              </a:rPr>
              <a:t>rw_mutex</a:t>
            </a:r>
            <a:r>
              <a:rPr lang="en-US" altLang="en-US" b="1" dirty="0">
                <a:latin typeface="Courier New" pitchFamily="49" charset="0"/>
                <a:cs typeface="Courier New" pitchFamily="49" charset="0"/>
              </a:rPr>
              <a:t>); </a:t>
            </a:r>
          </a:p>
          <a:p>
            <a:pPr>
              <a:buFont typeface="Monotype Sorts" pitchFamily="-84" charset="2"/>
              <a:buNone/>
            </a:pPr>
            <a:r>
              <a:rPr lang="en-US" altLang="en-US" b="1" dirty="0">
                <a:latin typeface="Courier New" pitchFamily="49" charset="0"/>
                <a:cs typeface="Courier New" pitchFamily="49" charset="0"/>
              </a:rPr>
              <a:t>             </a:t>
            </a:r>
            <a:r>
              <a:rPr lang="en-US" altLang="en-US" b="1" dirty="0" smtClean="0">
                <a:latin typeface="Courier New" pitchFamily="49" charset="0"/>
                <a:cs typeface="Courier New" pitchFamily="49" charset="0"/>
              </a:rPr>
              <a:t>  signal(</a:t>
            </a:r>
            <a:r>
              <a:rPr lang="en-US" altLang="en-US" b="1" dirty="0" err="1" smtClean="0">
                <a:latin typeface="Courier New" pitchFamily="49" charset="0"/>
                <a:cs typeface="Courier New" pitchFamily="49" charset="0"/>
              </a:rPr>
              <a:t>mutex</a:t>
            </a:r>
            <a:r>
              <a:rPr lang="en-US" altLang="en-US" b="1" dirty="0">
                <a:latin typeface="Courier New" pitchFamily="49" charset="0"/>
                <a:cs typeface="Courier New" pitchFamily="49" charset="0"/>
              </a:rPr>
              <a:t>); </a:t>
            </a:r>
          </a:p>
          <a:p>
            <a:pPr>
              <a:buFont typeface="Monotype Sorts" pitchFamily="-84" charset="2"/>
              <a:buNone/>
            </a:pPr>
            <a:r>
              <a:rPr lang="en-US" altLang="en-US" b="1" dirty="0">
                <a:latin typeface="Courier New" pitchFamily="49" charset="0"/>
                <a:cs typeface="Courier New" pitchFamily="49" charset="0"/>
              </a:rPr>
              <a:t>               ...</a:t>
            </a:r>
            <a:br>
              <a:rPr lang="en-US" altLang="en-US" b="1" dirty="0">
                <a:latin typeface="Courier New" pitchFamily="49" charset="0"/>
                <a:cs typeface="Courier New" pitchFamily="49" charset="0"/>
              </a:rPr>
            </a:br>
            <a:r>
              <a:rPr lang="en-US" altLang="en-US" b="1" dirty="0">
                <a:latin typeface="Courier New" pitchFamily="49" charset="0"/>
                <a:cs typeface="Courier New" pitchFamily="49" charset="0"/>
              </a:rPr>
              <a:t>      </a:t>
            </a:r>
            <a:r>
              <a:rPr lang="en-US" altLang="en-US" b="1" dirty="0" smtClean="0">
                <a:latin typeface="Courier New" pitchFamily="49" charset="0"/>
                <a:cs typeface="Courier New" pitchFamily="49" charset="0"/>
              </a:rPr>
              <a:t>/* </a:t>
            </a:r>
            <a:r>
              <a:rPr lang="en-US" altLang="en-US" b="1" dirty="0">
                <a:latin typeface="Courier New" pitchFamily="49" charset="0"/>
                <a:cs typeface="Courier New" pitchFamily="49" charset="0"/>
              </a:rPr>
              <a:t>reading is performed */ </a:t>
            </a:r>
          </a:p>
          <a:p>
            <a:pPr>
              <a:buFont typeface="Monotype Sorts" pitchFamily="-84" charset="2"/>
              <a:buNone/>
            </a:pPr>
            <a:r>
              <a:rPr lang="en-US" altLang="en-US" b="1" dirty="0">
                <a:latin typeface="Courier New" pitchFamily="49" charset="0"/>
                <a:cs typeface="Courier New" pitchFamily="49" charset="0"/>
              </a:rPr>
              <a:t>               ... </a:t>
            </a:r>
          </a:p>
          <a:p>
            <a:pPr>
              <a:buFont typeface="Monotype Sorts" pitchFamily="-84" charset="2"/>
              <a:buNone/>
            </a:pPr>
            <a:r>
              <a:rPr lang="en-US" altLang="en-US" b="1" dirty="0">
                <a:latin typeface="Courier New" pitchFamily="49" charset="0"/>
                <a:cs typeface="Courier New" pitchFamily="49" charset="0"/>
              </a:rPr>
              <a:t>             wait(</a:t>
            </a:r>
            <a:r>
              <a:rPr lang="en-US" altLang="en-US" b="1" dirty="0" err="1">
                <a:latin typeface="Courier New" pitchFamily="49" charset="0"/>
                <a:cs typeface="Courier New" pitchFamily="49" charset="0"/>
              </a:rPr>
              <a:t>mutex</a:t>
            </a:r>
            <a:r>
              <a:rPr lang="en-US" altLang="en-US" b="1" dirty="0">
                <a:latin typeface="Courier New" pitchFamily="49" charset="0"/>
                <a:cs typeface="Courier New" pitchFamily="49" charset="0"/>
              </a:rPr>
              <a:t>);</a:t>
            </a:r>
            <a:br>
              <a:rPr lang="en-US" altLang="en-US" b="1" dirty="0">
                <a:latin typeface="Courier New" pitchFamily="49" charset="0"/>
                <a:cs typeface="Courier New" pitchFamily="49" charset="0"/>
              </a:rPr>
            </a:b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read_count</a:t>
            </a:r>
            <a:r>
              <a:rPr lang="en-US" altLang="en-US" b="1" dirty="0">
                <a:latin typeface="Courier New" pitchFamily="49" charset="0"/>
                <a:cs typeface="Courier New" pitchFamily="49" charset="0"/>
              </a:rPr>
              <a:t>--;</a:t>
            </a:r>
            <a:br>
              <a:rPr lang="en-US" altLang="en-US" b="1" dirty="0">
                <a:latin typeface="Courier New" pitchFamily="49" charset="0"/>
                <a:cs typeface="Courier New" pitchFamily="49" charset="0"/>
              </a:rPr>
            </a:br>
            <a:r>
              <a:rPr lang="en-US" altLang="en-US" b="1" dirty="0">
                <a:latin typeface="Courier New" pitchFamily="49" charset="0"/>
                <a:cs typeface="Courier New" pitchFamily="49" charset="0"/>
              </a:rPr>
              <a:t>           if (</a:t>
            </a:r>
            <a:r>
              <a:rPr lang="en-US" altLang="en-US" b="1" dirty="0" err="1">
                <a:latin typeface="Courier New" pitchFamily="49" charset="0"/>
                <a:cs typeface="Courier New" pitchFamily="49" charset="0"/>
              </a:rPr>
              <a:t>read_count</a:t>
            </a:r>
            <a:r>
              <a:rPr lang="en-US" altLang="en-US" b="1" dirty="0">
                <a:latin typeface="Courier New" pitchFamily="49" charset="0"/>
                <a:cs typeface="Courier New" pitchFamily="49" charset="0"/>
              </a:rPr>
              <a:t> == 0) </a:t>
            </a:r>
          </a:p>
          <a:p>
            <a:pPr>
              <a:buFont typeface="Monotype Sorts" pitchFamily="-84" charset="2"/>
              <a:buNone/>
            </a:pPr>
            <a:r>
              <a:rPr lang="en-US" altLang="en-US" b="1" dirty="0">
                <a:latin typeface="Courier New" pitchFamily="49" charset="0"/>
                <a:cs typeface="Courier New" pitchFamily="49" charset="0"/>
              </a:rPr>
              <a:t>           	</a:t>
            </a:r>
            <a:r>
              <a:rPr lang="en-US" altLang="en-US" b="1" dirty="0" smtClean="0">
                <a:latin typeface="Courier New" pitchFamily="49" charset="0"/>
                <a:cs typeface="Courier New" pitchFamily="49" charset="0"/>
              </a:rPr>
              <a:t>   </a:t>
            </a:r>
          </a:p>
          <a:p>
            <a:pPr>
              <a:buFont typeface="Monotype Sorts" pitchFamily="-84" charset="2"/>
              <a:buNone/>
            </a:pPr>
            <a:r>
              <a:rPr lang="en-US" altLang="en-US" b="1" dirty="0" smtClean="0">
                <a:latin typeface="Courier New" pitchFamily="49" charset="0"/>
                <a:cs typeface="Courier New" pitchFamily="49" charset="0"/>
              </a:rPr>
              <a:t>                signal(</a:t>
            </a:r>
            <a:r>
              <a:rPr lang="en-US" altLang="en-US" b="1" dirty="0" err="1" smtClean="0">
                <a:latin typeface="Courier New" pitchFamily="49" charset="0"/>
                <a:cs typeface="Courier New" pitchFamily="49" charset="0"/>
              </a:rPr>
              <a:t>rw_mutex</a:t>
            </a:r>
            <a:r>
              <a:rPr lang="en-US" altLang="en-US" b="1" dirty="0" smtClean="0">
                <a:latin typeface="Courier New" pitchFamily="49" charset="0"/>
                <a:cs typeface="Courier New" pitchFamily="49" charset="0"/>
              </a:rPr>
              <a:t>); </a:t>
            </a:r>
          </a:p>
          <a:p>
            <a:pPr>
              <a:buFont typeface="Monotype Sorts" pitchFamily="-84" charset="2"/>
              <a:buNone/>
            </a:pPr>
            <a:r>
              <a:rPr lang="en-US" altLang="en-US" b="1" dirty="0" smtClean="0">
                <a:latin typeface="Courier New" pitchFamily="49" charset="0"/>
                <a:cs typeface="Courier New" pitchFamily="49" charset="0"/>
              </a:rPr>
              <a:t>             </a:t>
            </a:r>
            <a:r>
              <a:rPr lang="en-US" altLang="en-US" b="1" dirty="0">
                <a:latin typeface="Courier New" pitchFamily="49" charset="0"/>
                <a:cs typeface="Courier New" pitchFamily="49" charset="0"/>
              </a:rPr>
              <a:t>signal(</a:t>
            </a:r>
            <a:r>
              <a:rPr lang="en-US" altLang="en-US" b="1" dirty="0" err="1">
                <a:latin typeface="Courier New" pitchFamily="49" charset="0"/>
                <a:cs typeface="Courier New" pitchFamily="49" charset="0"/>
              </a:rPr>
              <a:t>mutex</a:t>
            </a:r>
            <a:r>
              <a:rPr lang="en-US" altLang="en-US" b="1" dirty="0">
                <a:latin typeface="Courier New" pitchFamily="49" charset="0"/>
                <a:cs typeface="Courier New" pitchFamily="49" charset="0"/>
              </a:rPr>
              <a:t>); </a:t>
            </a:r>
          </a:p>
          <a:p>
            <a:pPr>
              <a:buFont typeface="Monotype Sorts" pitchFamily="-84" charset="2"/>
              <a:buNone/>
            </a:pPr>
            <a:r>
              <a:rPr lang="en-US" altLang="en-US" b="1" dirty="0">
                <a:latin typeface="Courier New" pitchFamily="49" charset="0"/>
                <a:cs typeface="Courier New" pitchFamily="49" charset="0"/>
              </a:rPr>
              <a:t>       } while (true);</a:t>
            </a:r>
            <a:br>
              <a:rPr lang="en-US" altLang="en-US" b="1" dirty="0">
                <a:latin typeface="Courier New" pitchFamily="49" charset="0"/>
                <a:cs typeface="Courier New" pitchFamily="49" charset="0"/>
              </a:rPr>
            </a:br>
            <a:endParaRPr lang="en-US" altLang="en-US" b="1" dirty="0">
              <a:latin typeface="Courier New" pitchFamily="49" charset="0"/>
              <a:cs typeface="Courier New" pitchFamily="49" charset="0"/>
            </a:endParaRPr>
          </a:p>
          <a:p>
            <a:pPr>
              <a:lnSpc>
                <a:spcPct val="80000"/>
              </a:lnSpc>
              <a:buFont typeface="Monotype Sorts" pitchFamily="-84" charset="2"/>
              <a:buNone/>
            </a:pPr>
            <a:endParaRPr lang="en-US" altLang="en-US" sz="1400" dirty="0">
              <a:solidFill>
                <a:srgbClr val="0000FF"/>
              </a:solidFill>
            </a:endParaRPr>
          </a:p>
          <a:p>
            <a:pPr>
              <a:lnSpc>
                <a:spcPct val="80000"/>
              </a:lnSpc>
              <a:buFont typeface="Monotype Sorts" pitchFamily="-84" charset="2"/>
              <a:buNone/>
            </a:pPr>
            <a:endParaRPr lang="en-US" altLang="en-US" sz="1400" dirty="0">
              <a:solidFill>
                <a:srgbClr val="0000FF"/>
              </a:solidFill>
            </a:endParaRPr>
          </a:p>
          <a:p>
            <a:pPr>
              <a:lnSpc>
                <a:spcPct val="80000"/>
              </a:lnSpc>
              <a:buFont typeface="Monotype Sorts" pitchFamily="-84" charset="2"/>
              <a:buNone/>
            </a:pPr>
            <a:r>
              <a:rPr lang="en-US" altLang="en-US" sz="1400" dirty="0">
                <a:solidFill>
                  <a:srgbClr val="0000FF"/>
                </a:solidFill>
              </a:rPr>
              <a:t>       </a:t>
            </a:r>
          </a:p>
          <a:p>
            <a:endParaRPr lang="en-IN" dirty="0"/>
          </a:p>
        </p:txBody>
      </p:sp>
    </p:spTree>
    <p:extLst>
      <p:ext uri="{BB962C8B-B14F-4D97-AF65-F5344CB8AC3E}">
        <p14:creationId xmlns:p14="http://schemas.microsoft.com/office/powerpoint/2010/main" val="16148440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1255713" y="147638"/>
            <a:ext cx="7677150" cy="576262"/>
          </a:xfrm>
        </p:spPr>
        <p:txBody>
          <a:bodyPr>
            <a:normAutofit fontScale="90000"/>
          </a:bodyPr>
          <a:lstStyle/>
          <a:p>
            <a:r>
              <a:rPr lang="en-US" altLang="en-US" smtClean="0"/>
              <a:t>Readers-Writers Problem Variations</a:t>
            </a:r>
          </a:p>
        </p:txBody>
      </p:sp>
      <p:sp>
        <p:nvSpPr>
          <p:cNvPr id="40963" name="Content Placeholder 2"/>
          <p:cNvSpPr>
            <a:spLocks noGrp="1"/>
          </p:cNvSpPr>
          <p:nvPr>
            <p:ph idx="1"/>
          </p:nvPr>
        </p:nvSpPr>
        <p:spPr>
          <a:xfrm>
            <a:off x="879475" y="1146175"/>
            <a:ext cx="7148909" cy="4530725"/>
          </a:xfrm>
        </p:spPr>
        <p:txBody>
          <a:bodyPr>
            <a:normAutofit lnSpcReduction="10000"/>
          </a:bodyPr>
          <a:lstStyle/>
          <a:p>
            <a:pPr algn="just"/>
            <a:r>
              <a:rPr lang="en-US" altLang="en-US" b="1" i="1" dirty="0" smtClean="0"/>
              <a:t>First</a:t>
            </a:r>
            <a:r>
              <a:rPr lang="en-US" altLang="en-US" i="1" dirty="0" smtClean="0"/>
              <a:t>  </a:t>
            </a:r>
            <a:r>
              <a:rPr lang="en-US" altLang="en-US" dirty="0" smtClean="0"/>
              <a:t>variation – no reader is kept waiting unless writer has permission to use shared object</a:t>
            </a:r>
          </a:p>
          <a:p>
            <a:pPr algn="just"/>
            <a:r>
              <a:rPr lang="en-US" altLang="en-US" b="1" i="1" dirty="0" smtClean="0"/>
              <a:t>Second</a:t>
            </a:r>
            <a:r>
              <a:rPr lang="en-US" altLang="en-US" i="1" dirty="0" smtClean="0"/>
              <a:t> </a:t>
            </a:r>
            <a:r>
              <a:rPr lang="en-US" altLang="en-US" dirty="0" smtClean="0"/>
              <a:t>variation – once writer is ready, it performs the write ASAP</a:t>
            </a:r>
          </a:p>
          <a:p>
            <a:pPr algn="just"/>
            <a:r>
              <a:rPr lang="en-US" altLang="en-US" dirty="0" smtClean="0"/>
              <a:t>Both may have starvation leading to even more variations</a:t>
            </a:r>
          </a:p>
          <a:p>
            <a:pPr algn="just"/>
            <a:r>
              <a:rPr lang="en-US" altLang="en-US" dirty="0" smtClean="0"/>
              <a:t>Problem is solved on some systems by kernel providing reader-writer locks</a:t>
            </a:r>
          </a:p>
        </p:txBody>
      </p:sp>
    </p:spTree>
    <p:extLst>
      <p:ext uri="{BB962C8B-B14F-4D97-AF65-F5344CB8AC3E}">
        <p14:creationId xmlns:p14="http://schemas.microsoft.com/office/powerpoint/2010/main" val="92479667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16000" y="147638"/>
            <a:ext cx="7670800" cy="576262"/>
          </a:xfrm>
        </p:spPr>
        <p:txBody>
          <a:bodyPr>
            <a:normAutofit fontScale="90000"/>
          </a:bodyPr>
          <a:lstStyle/>
          <a:p>
            <a:pPr eaLnBrk="1" hangingPunct="1"/>
            <a:r>
              <a:rPr lang="en-US" altLang="en-US" smtClean="0"/>
              <a:t>Dining-Philosophers Problem</a:t>
            </a:r>
          </a:p>
        </p:txBody>
      </p:sp>
      <p:sp>
        <p:nvSpPr>
          <p:cNvPr id="41987" name="Rectangle 3"/>
          <p:cNvSpPr>
            <a:spLocks noGrp="1" noChangeArrowheads="1"/>
          </p:cNvSpPr>
          <p:nvPr>
            <p:ph idx="1"/>
          </p:nvPr>
        </p:nvSpPr>
        <p:spPr>
          <a:xfrm>
            <a:off x="928688" y="3403600"/>
            <a:ext cx="6908800" cy="2765425"/>
          </a:xfrm>
        </p:spPr>
        <p:txBody>
          <a:bodyPr>
            <a:normAutofit/>
          </a:bodyPr>
          <a:lstStyle/>
          <a:p>
            <a:pPr>
              <a:tabLst>
                <a:tab pos="1365250" algn="l"/>
                <a:tab pos="1538288" algn="l"/>
              </a:tabLst>
            </a:pPr>
            <a:r>
              <a:rPr lang="en-US" altLang="en-US" sz="1800" dirty="0" smtClean="0">
                <a:solidFill>
                  <a:srgbClr val="FF0000"/>
                </a:solidFill>
              </a:rPr>
              <a:t>Philosophers</a:t>
            </a:r>
            <a:r>
              <a:rPr lang="en-US" altLang="en-US" sz="1800" dirty="0" smtClean="0"/>
              <a:t> spend their lives alternating </a:t>
            </a:r>
            <a:r>
              <a:rPr lang="en-US" altLang="en-US" sz="1800" dirty="0" smtClean="0">
                <a:solidFill>
                  <a:srgbClr val="FF0000"/>
                </a:solidFill>
              </a:rPr>
              <a:t>thinking</a:t>
            </a:r>
            <a:r>
              <a:rPr lang="en-US" altLang="en-US" sz="1800" dirty="0" smtClean="0"/>
              <a:t> and </a:t>
            </a:r>
            <a:r>
              <a:rPr lang="en-US" altLang="en-US" sz="1800" dirty="0" smtClean="0">
                <a:solidFill>
                  <a:srgbClr val="FF0000"/>
                </a:solidFill>
              </a:rPr>
              <a:t>eating</a:t>
            </a:r>
          </a:p>
          <a:p>
            <a:pPr>
              <a:tabLst>
                <a:tab pos="1365250" algn="l"/>
                <a:tab pos="1538288" algn="l"/>
              </a:tabLst>
            </a:pPr>
            <a:r>
              <a:rPr lang="en-US" altLang="en-US" sz="1800" dirty="0" smtClean="0"/>
              <a:t>They don’</a:t>
            </a:r>
            <a:r>
              <a:rPr lang="en-US" altLang="ja-JP" sz="1800" dirty="0" smtClean="0"/>
              <a:t>t interact with their neighbors, </a:t>
            </a:r>
            <a:r>
              <a:rPr lang="en-US" altLang="ja-JP" sz="1800" b="1" dirty="0" smtClean="0">
                <a:solidFill>
                  <a:srgbClr val="00B050"/>
                </a:solidFill>
              </a:rPr>
              <a:t>occasionally try to pick up 2 chopsticks (one at a time) to eat from bowl</a:t>
            </a:r>
          </a:p>
          <a:p>
            <a:pPr lvl="1">
              <a:tabLst>
                <a:tab pos="1365250" algn="l"/>
                <a:tab pos="1538288" algn="l"/>
              </a:tabLst>
            </a:pPr>
            <a:r>
              <a:rPr lang="en-US" altLang="en-US" sz="1800" dirty="0" smtClean="0"/>
              <a:t>Need both to eat, then release both when done</a:t>
            </a:r>
          </a:p>
          <a:p>
            <a:pPr>
              <a:tabLst>
                <a:tab pos="1365250" algn="l"/>
                <a:tab pos="1538288" algn="l"/>
              </a:tabLst>
            </a:pPr>
            <a:r>
              <a:rPr lang="en-US" altLang="en-US" sz="1800" dirty="0" smtClean="0"/>
              <a:t>In the case of 5 philosophers</a:t>
            </a:r>
          </a:p>
          <a:p>
            <a:pPr lvl="1">
              <a:tabLst>
                <a:tab pos="1365250" algn="l"/>
                <a:tab pos="1538288" algn="l"/>
              </a:tabLst>
            </a:pPr>
            <a:r>
              <a:rPr lang="en-US" altLang="en-US" sz="1800" b="1" dirty="0" smtClean="0">
                <a:solidFill>
                  <a:srgbClr val="00B050"/>
                </a:solidFill>
              </a:rPr>
              <a:t>Shared data </a:t>
            </a:r>
          </a:p>
          <a:p>
            <a:pPr lvl="2">
              <a:tabLst>
                <a:tab pos="1365250" algn="l"/>
                <a:tab pos="1538288" algn="l"/>
              </a:tabLst>
            </a:pPr>
            <a:r>
              <a:rPr lang="en-US" altLang="en-US" sz="1800" dirty="0" smtClean="0"/>
              <a:t>Bowl of rice (</a:t>
            </a:r>
            <a:r>
              <a:rPr lang="en-US" altLang="en-US" sz="1800" dirty="0" smtClean="0">
                <a:solidFill>
                  <a:srgbClr val="FF0000"/>
                </a:solidFill>
              </a:rPr>
              <a:t>data set</a:t>
            </a:r>
            <a:r>
              <a:rPr lang="en-US" altLang="en-US" sz="1800" dirty="0" smtClean="0"/>
              <a:t>)</a:t>
            </a:r>
          </a:p>
          <a:p>
            <a:pPr lvl="2">
              <a:tabLst>
                <a:tab pos="1365250" algn="l"/>
                <a:tab pos="1538288" algn="l"/>
              </a:tabLst>
            </a:pPr>
            <a:r>
              <a:rPr lang="en-US" altLang="en-US" sz="1800" dirty="0" smtClean="0"/>
              <a:t>Semaphore </a:t>
            </a:r>
            <a:r>
              <a:rPr lang="en-US" altLang="en-US" sz="1800" dirty="0" smtClean="0">
                <a:solidFill>
                  <a:srgbClr val="FF0000"/>
                </a:solidFill>
              </a:rPr>
              <a:t>chopstick [5]</a:t>
            </a:r>
            <a:r>
              <a:rPr lang="en-US" altLang="en-US" sz="1800" dirty="0" smtClean="0"/>
              <a:t> initialized to 1</a:t>
            </a:r>
          </a:p>
        </p:txBody>
      </p:sp>
      <p:pic>
        <p:nvPicPr>
          <p:cNvPr id="41988" name="Picture 5"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663" y="1079500"/>
            <a:ext cx="2208212" cy="2061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369748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038225" y="161925"/>
            <a:ext cx="7866063" cy="576263"/>
          </a:xfrm>
        </p:spPr>
        <p:txBody>
          <a:bodyPr/>
          <a:lstStyle/>
          <a:p>
            <a:pPr eaLnBrk="1" hangingPunct="1"/>
            <a:r>
              <a:rPr lang="en-US" altLang="en-US" sz="3000" smtClean="0"/>
              <a:t>  Dining-Philosophers Problem Algorithm</a:t>
            </a:r>
          </a:p>
        </p:txBody>
      </p:sp>
      <p:sp>
        <p:nvSpPr>
          <p:cNvPr id="43011" name="Rectangle 3"/>
          <p:cNvSpPr>
            <a:spLocks noGrp="1" noChangeArrowheads="1"/>
          </p:cNvSpPr>
          <p:nvPr>
            <p:ph idx="1"/>
          </p:nvPr>
        </p:nvSpPr>
        <p:spPr>
          <a:xfrm>
            <a:off x="827088" y="1119188"/>
            <a:ext cx="7107237" cy="4784725"/>
          </a:xfrm>
        </p:spPr>
        <p:txBody>
          <a:bodyPr>
            <a:normAutofit fontScale="77500" lnSpcReduction="20000"/>
          </a:bodyPr>
          <a:lstStyle/>
          <a:p>
            <a:pPr marL="376238" indent="-376238">
              <a:lnSpc>
                <a:spcPct val="90000"/>
              </a:lnSpc>
              <a:tabLst>
                <a:tab pos="1709738" algn="l"/>
                <a:tab pos="2001838" algn="l"/>
                <a:tab pos="2227263" algn="l"/>
                <a:tab pos="2454275" algn="l"/>
              </a:tabLst>
            </a:pPr>
            <a:r>
              <a:rPr lang="en-US" altLang="en-US" dirty="0" smtClean="0"/>
              <a:t>The structure of Philosopher</a:t>
            </a:r>
            <a:r>
              <a:rPr lang="en-US" altLang="en-US" i="1" dirty="0" smtClean="0">
                <a:solidFill>
                  <a:srgbClr val="0000FF"/>
                </a:solidFill>
              </a:rPr>
              <a:t> i</a:t>
            </a:r>
            <a:r>
              <a:rPr lang="en-US" altLang="en-US" dirty="0" smtClean="0"/>
              <a:t>:</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do { </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wait (chopstick[</a:t>
            </a:r>
            <a:r>
              <a:rPr lang="en-US" altLang="en-US" sz="2100" b="1" dirty="0" err="1" smtClean="0">
                <a:solidFill>
                  <a:srgbClr val="000000"/>
                </a:solidFill>
                <a:latin typeface="Courier New" pitchFamily="49" charset="0"/>
              </a:rPr>
              <a:t>i</a:t>
            </a:r>
            <a:r>
              <a:rPr lang="en-US" altLang="en-US" sz="2100" b="1" dirty="0" smtClean="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wait (</a:t>
            </a:r>
            <a:r>
              <a:rPr lang="en-US" altLang="en-US" sz="2100" b="1" dirty="0" err="1" smtClean="0">
                <a:solidFill>
                  <a:srgbClr val="000000"/>
                </a:solidFill>
                <a:latin typeface="Courier New" pitchFamily="49" charset="0"/>
              </a:rPr>
              <a:t>chopStick</a:t>
            </a:r>
            <a:r>
              <a:rPr lang="en-US" altLang="en-US" sz="2100" b="1" dirty="0" smtClean="0">
                <a:solidFill>
                  <a:srgbClr val="000000"/>
                </a:solidFill>
                <a:latin typeface="Courier New" pitchFamily="49" charset="0"/>
              </a:rPr>
              <a:t>[ (</a:t>
            </a:r>
            <a:r>
              <a:rPr lang="en-US" altLang="en-US" sz="2100" b="1" dirty="0" err="1" smtClean="0">
                <a:solidFill>
                  <a:srgbClr val="000000"/>
                </a:solidFill>
                <a:latin typeface="Courier New" pitchFamily="49" charset="0"/>
              </a:rPr>
              <a:t>i</a:t>
            </a:r>
            <a:r>
              <a:rPr lang="en-US" altLang="en-US" sz="2100" b="1" dirty="0" smtClean="0">
                <a:solidFill>
                  <a:srgbClr val="000000"/>
                </a:solidFill>
                <a:latin typeface="Courier New" pitchFamily="49" charset="0"/>
              </a:rPr>
              <a:t> + 1) % 5] );</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  eat</a:t>
            </a:r>
          </a:p>
          <a:p>
            <a:pPr marL="1195388" lvl="2" indent="-338138">
              <a:lnSpc>
                <a:spcPct val="90000"/>
              </a:lnSpc>
              <a:buFont typeface="Webdings" pitchFamily="18" charset="2"/>
              <a:buNone/>
              <a:tabLst>
                <a:tab pos="1709738" algn="l"/>
                <a:tab pos="2001838" algn="l"/>
                <a:tab pos="2227263" algn="l"/>
                <a:tab pos="2454275" algn="l"/>
              </a:tabLst>
            </a:pPr>
            <a:endParaRPr lang="en-US" altLang="en-US" sz="2100" b="1" dirty="0" smtClean="0">
              <a:solidFill>
                <a:srgbClr val="000000"/>
              </a:solidFill>
              <a:latin typeface="Courier New" pitchFamily="49" charset="0"/>
            </a:endParaRP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signal (chopstick[</a:t>
            </a:r>
            <a:r>
              <a:rPr lang="en-US" altLang="en-US" sz="2100" b="1" dirty="0" err="1" smtClean="0">
                <a:solidFill>
                  <a:srgbClr val="000000"/>
                </a:solidFill>
                <a:latin typeface="Courier New" pitchFamily="49" charset="0"/>
              </a:rPr>
              <a:t>i</a:t>
            </a:r>
            <a:r>
              <a:rPr lang="en-US" altLang="en-US" sz="2100" b="1" dirty="0" smtClean="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signal (chopstick[ (</a:t>
            </a:r>
            <a:r>
              <a:rPr lang="en-US" altLang="en-US" sz="2100" b="1" dirty="0" err="1" smtClean="0">
                <a:solidFill>
                  <a:srgbClr val="000000"/>
                </a:solidFill>
                <a:latin typeface="Courier New" pitchFamily="49" charset="0"/>
              </a:rPr>
              <a:t>i</a:t>
            </a:r>
            <a:r>
              <a:rPr lang="en-US" altLang="en-US" sz="2100" b="1" dirty="0" smtClean="0">
                <a:solidFill>
                  <a:srgbClr val="000000"/>
                </a:solidFill>
                <a:latin typeface="Courier New" pitchFamily="49" charset="0"/>
              </a:rPr>
              <a:t> + 1) % 5] );</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  think</a:t>
            </a:r>
          </a:p>
          <a:p>
            <a:pPr marL="1195388" lvl="2" indent="-338138">
              <a:lnSpc>
                <a:spcPct val="90000"/>
              </a:lnSpc>
              <a:buFont typeface="Webdings" pitchFamily="18" charset="2"/>
              <a:buNone/>
              <a:tabLst>
                <a:tab pos="1709738" algn="l"/>
                <a:tab pos="2001838" algn="l"/>
                <a:tab pos="2227263" algn="l"/>
                <a:tab pos="2454275" algn="l"/>
              </a:tabLst>
            </a:pPr>
            <a:r>
              <a:rPr lang="en-US" altLang="en-US" sz="2100" b="1" dirty="0" smtClean="0">
                <a:solidFill>
                  <a:srgbClr val="000000"/>
                </a:solidFill>
                <a:latin typeface="Courier New" pitchFamily="49" charset="0"/>
              </a:rPr>
              <a:t>} while (TRUE);</a:t>
            </a:r>
            <a:endParaRPr lang="en-US" altLang="en-US" sz="2100" dirty="0" smtClean="0">
              <a:solidFill>
                <a:srgbClr val="0000FF"/>
              </a:solidFill>
            </a:endParaRPr>
          </a:p>
          <a:p>
            <a:pPr marL="376238" indent="-376238" algn="just">
              <a:lnSpc>
                <a:spcPct val="90000"/>
              </a:lnSpc>
              <a:tabLst>
                <a:tab pos="1709738" algn="l"/>
                <a:tab pos="2001838" algn="l"/>
                <a:tab pos="2227263" algn="l"/>
                <a:tab pos="2454275" algn="l"/>
              </a:tabLst>
            </a:pPr>
            <a:r>
              <a:rPr lang="en-US" altLang="en-US" dirty="0" smtClean="0"/>
              <a:t>  What is the problem with this algorithm? </a:t>
            </a:r>
          </a:p>
          <a:p>
            <a:pPr marL="776288" lvl="1" indent="-376238" algn="just">
              <a:lnSpc>
                <a:spcPct val="90000"/>
              </a:lnSpc>
              <a:tabLst>
                <a:tab pos="1709738" algn="l"/>
                <a:tab pos="2001838" algn="l"/>
                <a:tab pos="2227263" algn="l"/>
                <a:tab pos="2454275" algn="l"/>
              </a:tabLst>
            </a:pPr>
            <a:r>
              <a:rPr lang="en-US" altLang="en-US" dirty="0" err="1" smtClean="0"/>
              <a:t>Ans</a:t>
            </a:r>
            <a:r>
              <a:rPr lang="en-US" altLang="en-US" dirty="0" smtClean="0"/>
              <a:t>: Deadlock</a:t>
            </a:r>
          </a:p>
          <a:p>
            <a:pPr lvl="1" algn="just"/>
            <a:r>
              <a:rPr lang="en-US" sz="2600" dirty="0" smtClean="0"/>
              <a:t>If all </a:t>
            </a:r>
            <a:r>
              <a:rPr lang="en-US" sz="2600" dirty="0"/>
              <a:t>five philosophers become hungry at the same </a:t>
            </a:r>
            <a:r>
              <a:rPr lang="en-US" sz="2600" dirty="0" smtClean="0"/>
              <a:t>time and </a:t>
            </a:r>
            <a:r>
              <a:rPr lang="en-US" sz="2600" dirty="0"/>
              <a:t>each grabs </a:t>
            </a:r>
            <a:r>
              <a:rPr lang="en-US" sz="2600" dirty="0" smtClean="0"/>
              <a:t>his/her </a:t>
            </a:r>
            <a:r>
              <a:rPr lang="en-US" sz="2600" dirty="0"/>
              <a:t>left chopstick. All the elements of chopstick will now </a:t>
            </a:r>
            <a:r>
              <a:rPr lang="en-US" sz="2600" dirty="0" smtClean="0"/>
              <a:t>be equal </a:t>
            </a:r>
            <a:r>
              <a:rPr lang="en-US" sz="2600" dirty="0"/>
              <a:t>to 0. </a:t>
            </a:r>
            <a:endParaRPr lang="en-US" sz="2600" dirty="0" smtClean="0"/>
          </a:p>
          <a:p>
            <a:pPr lvl="1" algn="just"/>
            <a:r>
              <a:rPr lang="en-US" sz="2600" dirty="0" smtClean="0"/>
              <a:t>When </a:t>
            </a:r>
            <a:r>
              <a:rPr lang="en-US" sz="2600" dirty="0"/>
              <a:t>each philosopher tries to grab </a:t>
            </a:r>
            <a:r>
              <a:rPr lang="en-US" sz="2600" dirty="0" smtClean="0"/>
              <a:t>his/her </a:t>
            </a:r>
            <a:r>
              <a:rPr lang="en-US" sz="2600" dirty="0"/>
              <a:t>right chopstick, </a:t>
            </a:r>
            <a:r>
              <a:rPr lang="en-US" sz="2600" dirty="0" smtClean="0"/>
              <a:t>he/she </a:t>
            </a:r>
            <a:r>
              <a:rPr lang="en-US" sz="2600" dirty="0"/>
              <a:t>will </a:t>
            </a:r>
            <a:r>
              <a:rPr lang="en-US" sz="2600" dirty="0" smtClean="0"/>
              <a:t>be </a:t>
            </a:r>
            <a:r>
              <a:rPr lang="en-IN" sz="2600" dirty="0" smtClean="0"/>
              <a:t>delayed </a:t>
            </a:r>
            <a:r>
              <a:rPr lang="en-IN" sz="2600" dirty="0"/>
              <a:t>forever.</a:t>
            </a:r>
            <a:endParaRPr lang="en-US" altLang="en-US" sz="2600" dirty="0" smtClean="0"/>
          </a:p>
          <a:p>
            <a:pPr marL="1195388" lvl="2" indent="-338138">
              <a:lnSpc>
                <a:spcPct val="90000"/>
              </a:lnSpc>
              <a:buFont typeface="Webdings" pitchFamily="18" charset="2"/>
              <a:buNone/>
              <a:tabLst>
                <a:tab pos="1709738" algn="l"/>
                <a:tab pos="2001838" algn="l"/>
                <a:tab pos="2227263" algn="l"/>
                <a:tab pos="2454275" algn="l"/>
              </a:tabLst>
            </a:pPr>
            <a:endParaRPr lang="en-US" altLang="en-US" dirty="0" smtClean="0">
              <a:solidFill>
                <a:srgbClr val="0000FF"/>
              </a:solidFill>
            </a:endParaRPr>
          </a:p>
        </p:txBody>
      </p:sp>
    </p:spTree>
    <p:extLst>
      <p:ext uri="{BB962C8B-B14F-4D97-AF65-F5344CB8AC3E}">
        <p14:creationId xmlns:p14="http://schemas.microsoft.com/office/powerpoint/2010/main" val="59130205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25525" y="142875"/>
            <a:ext cx="8002588" cy="576263"/>
          </a:xfrm>
        </p:spPr>
        <p:txBody>
          <a:bodyPr/>
          <a:lstStyle/>
          <a:p>
            <a:pPr eaLnBrk="1" hangingPunct="1"/>
            <a:r>
              <a:rPr lang="en-US" altLang="en-US" sz="2400" smtClean="0"/>
              <a:t>Dining-Philosophers Problem Algorithm (Cont.)</a:t>
            </a:r>
          </a:p>
        </p:txBody>
      </p:sp>
      <p:sp>
        <p:nvSpPr>
          <p:cNvPr id="44035" name="Rectangle 3"/>
          <p:cNvSpPr>
            <a:spLocks noGrp="1" noChangeArrowheads="1"/>
          </p:cNvSpPr>
          <p:nvPr>
            <p:ph idx="1"/>
          </p:nvPr>
        </p:nvSpPr>
        <p:spPr>
          <a:xfrm>
            <a:off x="885825" y="1223963"/>
            <a:ext cx="6998543" cy="4860925"/>
          </a:xfrm>
        </p:spPr>
        <p:txBody>
          <a:bodyPr>
            <a:normAutofit fontScale="92500"/>
          </a:bodyPr>
          <a:lstStyle/>
          <a:p>
            <a:r>
              <a:rPr lang="en-US" altLang="en-US" dirty="0" smtClean="0"/>
              <a:t>Deadlock handling</a:t>
            </a:r>
          </a:p>
          <a:p>
            <a:pPr lvl="1" algn="just"/>
            <a:r>
              <a:rPr lang="en-US" altLang="en-US" dirty="0" smtClean="0"/>
              <a:t> </a:t>
            </a:r>
            <a:r>
              <a:rPr lang="en-US" altLang="en-US" dirty="0" smtClean="0">
                <a:solidFill>
                  <a:srgbClr val="FF0000"/>
                </a:solidFill>
              </a:rPr>
              <a:t>Allow at most 4 philosophers </a:t>
            </a:r>
            <a:r>
              <a:rPr lang="en-US" altLang="en-US" dirty="0" smtClean="0"/>
              <a:t>to be sitting simultaneously at  the table.</a:t>
            </a:r>
          </a:p>
          <a:p>
            <a:pPr lvl="1" algn="just"/>
            <a:r>
              <a:rPr lang="en-US" altLang="en-US" dirty="0" smtClean="0"/>
              <a:t> Allow a philosopher to </a:t>
            </a:r>
            <a:r>
              <a:rPr lang="en-US" altLang="en-US" dirty="0" smtClean="0">
                <a:solidFill>
                  <a:srgbClr val="FF0000"/>
                </a:solidFill>
              </a:rPr>
              <a:t>pick up  the forks only if both are available </a:t>
            </a:r>
            <a:r>
              <a:rPr lang="en-US" altLang="en-US" dirty="0" smtClean="0"/>
              <a:t>(picking must be done in a critical section).</a:t>
            </a:r>
          </a:p>
          <a:p>
            <a:pPr lvl="1" algn="just"/>
            <a:r>
              <a:rPr lang="en-US" altLang="en-US" dirty="0" smtClean="0"/>
              <a:t> Use an asymmetric solution  -- </a:t>
            </a:r>
            <a:r>
              <a:rPr lang="en-US" altLang="en-US" dirty="0" smtClean="0">
                <a:solidFill>
                  <a:srgbClr val="FF0000"/>
                </a:solidFill>
              </a:rPr>
              <a:t>an odd-numbered  philosopher picks  up first the left chopstick and then the right chopstick.</a:t>
            </a:r>
            <a:r>
              <a:rPr lang="en-US" altLang="en-US" dirty="0" smtClean="0"/>
              <a:t> Even-numbered  philosopher picks  up first the right chopstick and then the left chopstick. </a:t>
            </a:r>
          </a:p>
          <a:p>
            <a:pPr lvl="1"/>
            <a:endParaRPr lang="en-US" altLang="en-US" dirty="0" smtClean="0"/>
          </a:p>
          <a:p>
            <a:pPr>
              <a:buFont typeface="Monotype Sorts" pitchFamily="-84" charset="2"/>
              <a:buNone/>
            </a:pPr>
            <a:endParaRPr lang="en-US" altLang="en-US" dirty="0" smtClean="0"/>
          </a:p>
          <a:p>
            <a:endParaRPr lang="en-US" altLang="en-US" dirty="0" smtClean="0"/>
          </a:p>
          <a:p>
            <a:endParaRPr lang="en-US" altLang="en-US" dirty="0" smtClean="0"/>
          </a:p>
        </p:txBody>
      </p:sp>
    </p:spTree>
    <p:extLst>
      <p:ext uri="{BB962C8B-B14F-4D97-AF65-F5344CB8AC3E}">
        <p14:creationId xmlns:p14="http://schemas.microsoft.com/office/powerpoint/2010/main" val="6205493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923925" y="190500"/>
            <a:ext cx="7762875" cy="576263"/>
          </a:xfrm>
        </p:spPr>
        <p:txBody>
          <a:bodyPr>
            <a:normAutofit fontScale="90000"/>
          </a:bodyPr>
          <a:lstStyle/>
          <a:p>
            <a:pPr eaLnBrk="1" hangingPunct="1"/>
            <a:r>
              <a:rPr lang="en-US" altLang="en-US" smtClean="0"/>
              <a:t>Problems with Semaphores</a:t>
            </a:r>
          </a:p>
        </p:txBody>
      </p:sp>
      <p:sp>
        <p:nvSpPr>
          <p:cNvPr id="45059" name="Rectangle 3"/>
          <p:cNvSpPr>
            <a:spLocks noGrp="1" noChangeArrowheads="1"/>
          </p:cNvSpPr>
          <p:nvPr>
            <p:ph idx="1"/>
          </p:nvPr>
        </p:nvSpPr>
        <p:spPr>
          <a:xfrm>
            <a:off x="827088" y="1282700"/>
            <a:ext cx="6959600" cy="4860925"/>
          </a:xfrm>
        </p:spPr>
        <p:txBody>
          <a:bodyPr>
            <a:normAutofit fontScale="92500"/>
          </a:bodyPr>
          <a:lstStyle/>
          <a:p>
            <a:r>
              <a:rPr lang="en-US" altLang="en-US" smtClean="0"/>
              <a:t> Incorrect use of semaphore operations:</a:t>
            </a:r>
            <a:br>
              <a:rPr lang="en-US" altLang="en-US" smtClean="0"/>
            </a:br>
            <a:endParaRPr lang="en-US" altLang="en-US" smtClean="0"/>
          </a:p>
          <a:p>
            <a:pPr lvl="1"/>
            <a:r>
              <a:rPr lang="en-US" altLang="en-US" smtClean="0"/>
              <a:t> signal (mutex)  ….  wait (mutex)</a:t>
            </a:r>
            <a:br>
              <a:rPr lang="en-US" altLang="en-US" smtClean="0"/>
            </a:br>
            <a:endParaRPr lang="en-US" altLang="en-US" smtClean="0"/>
          </a:p>
          <a:p>
            <a:pPr lvl="1"/>
            <a:r>
              <a:rPr lang="en-US" altLang="en-US" smtClean="0"/>
              <a:t> wait (mutex)  …  wait (mutex)</a:t>
            </a:r>
          </a:p>
          <a:p>
            <a:pPr lvl="1"/>
            <a:endParaRPr lang="en-US" altLang="en-US" smtClean="0"/>
          </a:p>
          <a:p>
            <a:pPr lvl="1"/>
            <a:r>
              <a:rPr lang="en-US" altLang="en-US" smtClean="0"/>
              <a:t> Omitting  of wait (mutex) or signal (mutex) (or both)</a:t>
            </a:r>
          </a:p>
          <a:p>
            <a:pPr lvl="1"/>
            <a:endParaRPr lang="en-US" altLang="en-US" smtClean="0"/>
          </a:p>
          <a:p>
            <a:r>
              <a:rPr lang="en-US" altLang="en-US" smtClean="0"/>
              <a:t>Deadlock and starvation are possible.</a:t>
            </a:r>
          </a:p>
          <a:p>
            <a:endParaRPr lang="en-US" altLang="en-US" smtClean="0"/>
          </a:p>
          <a:p>
            <a:endParaRPr lang="en-US" altLang="en-US" smtClean="0"/>
          </a:p>
          <a:p>
            <a:endParaRPr lang="en-US" altLang="en-US" smtClean="0"/>
          </a:p>
        </p:txBody>
      </p:sp>
    </p:spTree>
    <p:extLst>
      <p:ext uri="{BB962C8B-B14F-4D97-AF65-F5344CB8AC3E}">
        <p14:creationId xmlns:p14="http://schemas.microsoft.com/office/powerpoint/2010/main" val="271831886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176213"/>
            <a:ext cx="8229600" cy="576262"/>
          </a:xfrm>
        </p:spPr>
        <p:txBody>
          <a:bodyPr>
            <a:normAutofit fontScale="90000"/>
          </a:bodyPr>
          <a:lstStyle/>
          <a:p>
            <a:pPr eaLnBrk="1" hangingPunct="1"/>
            <a:r>
              <a:rPr lang="en-US" altLang="en-US" smtClean="0"/>
              <a:t>Monitors</a:t>
            </a:r>
          </a:p>
        </p:txBody>
      </p:sp>
      <p:sp>
        <p:nvSpPr>
          <p:cNvPr id="46083" name="Rectangle 3"/>
          <p:cNvSpPr>
            <a:spLocks noGrp="1" noChangeArrowheads="1"/>
          </p:cNvSpPr>
          <p:nvPr>
            <p:ph idx="1"/>
          </p:nvPr>
        </p:nvSpPr>
        <p:spPr>
          <a:xfrm>
            <a:off x="855663" y="1209675"/>
            <a:ext cx="7243762" cy="4860925"/>
          </a:xfrm>
        </p:spPr>
        <p:txBody>
          <a:bodyPr>
            <a:normAutofit/>
          </a:bodyPr>
          <a:lstStyle/>
          <a:p>
            <a:pPr algn="just">
              <a:lnSpc>
                <a:spcPct val="80000"/>
              </a:lnSpc>
            </a:pPr>
            <a:r>
              <a:rPr lang="en-US" altLang="en-US" sz="1800" dirty="0" smtClean="0"/>
              <a:t>A </a:t>
            </a:r>
            <a:r>
              <a:rPr lang="en-US" altLang="en-US" sz="1800" dirty="0" smtClean="0">
                <a:solidFill>
                  <a:srgbClr val="FF0000"/>
                </a:solidFill>
              </a:rPr>
              <a:t>high-level abstraction </a:t>
            </a:r>
            <a:r>
              <a:rPr lang="en-US" altLang="en-US" sz="1800" dirty="0" smtClean="0"/>
              <a:t>that provides a convenient and effective mechanism </a:t>
            </a:r>
            <a:r>
              <a:rPr lang="en-US" altLang="en-US" sz="1800" dirty="0" smtClean="0">
                <a:solidFill>
                  <a:srgbClr val="FF0000"/>
                </a:solidFill>
              </a:rPr>
              <a:t>for process synchronization</a:t>
            </a:r>
          </a:p>
          <a:p>
            <a:pPr>
              <a:lnSpc>
                <a:spcPct val="80000"/>
              </a:lnSpc>
            </a:pPr>
            <a:r>
              <a:rPr lang="en-US" altLang="en-US" sz="1800" i="1" dirty="0" smtClean="0">
                <a:solidFill>
                  <a:srgbClr val="FF0000"/>
                </a:solidFill>
              </a:rPr>
              <a:t>An Abstract data type</a:t>
            </a:r>
            <a:r>
              <a:rPr lang="en-US" altLang="en-US" sz="1800" dirty="0" smtClean="0"/>
              <a:t>, internal variables are only accessible by code within the procedure</a:t>
            </a:r>
          </a:p>
          <a:p>
            <a:pPr>
              <a:lnSpc>
                <a:spcPct val="80000"/>
              </a:lnSpc>
            </a:pPr>
            <a:r>
              <a:rPr lang="en-US" altLang="en-US" sz="1800" b="1" dirty="0" smtClean="0">
                <a:solidFill>
                  <a:srgbClr val="00B050"/>
                </a:solidFill>
              </a:rPr>
              <a:t>Only one process may be active within the monitor at a time.</a:t>
            </a:r>
          </a:p>
          <a:p>
            <a:pPr>
              <a:lnSpc>
                <a:spcPct val="80000"/>
              </a:lnSpc>
            </a:pPr>
            <a:r>
              <a:rPr lang="en-US" altLang="en-US" sz="1800" dirty="0" smtClean="0"/>
              <a:t>But not powerful enough to model some synchronization schemes, hence </a:t>
            </a:r>
            <a:r>
              <a:rPr lang="en-US" altLang="en-US" sz="1800" dirty="0" smtClean="0">
                <a:solidFill>
                  <a:srgbClr val="FF0000"/>
                </a:solidFill>
              </a:rPr>
              <a:t>condition constructs </a:t>
            </a:r>
            <a:r>
              <a:rPr lang="en-US" altLang="en-US" sz="1800" dirty="0" smtClean="0"/>
              <a:t>are introduced.</a:t>
            </a:r>
          </a:p>
          <a:p>
            <a:pPr lvl="2">
              <a:lnSpc>
                <a:spcPct val="80000"/>
              </a:lnSpc>
              <a:buFont typeface="Webdings" pitchFamily="18" charset="2"/>
              <a:buNone/>
            </a:pPr>
            <a:endParaRPr lang="en-US" altLang="en-US" sz="1600" dirty="0" smtClean="0">
              <a:solidFill>
                <a:srgbClr val="0000FF"/>
              </a:solidFill>
            </a:endParaRPr>
          </a:p>
          <a:p>
            <a:pPr lvl="2">
              <a:lnSpc>
                <a:spcPct val="80000"/>
              </a:lnSpc>
              <a:buFont typeface="Webdings" pitchFamily="18" charset="2"/>
              <a:buNone/>
            </a:pPr>
            <a:r>
              <a:rPr lang="en-US" altLang="en-US" sz="1800" b="1" dirty="0" smtClean="0">
                <a:solidFill>
                  <a:srgbClr val="000000"/>
                </a:solidFill>
                <a:latin typeface="Courier New" pitchFamily="49" charset="0"/>
              </a:rPr>
              <a:t>monitor monitor-name</a:t>
            </a:r>
          </a:p>
          <a:p>
            <a:pPr lvl="2">
              <a:lnSpc>
                <a:spcPct val="80000"/>
              </a:lnSpc>
              <a:buFont typeface="Webdings" pitchFamily="18" charset="2"/>
              <a:buNone/>
            </a:pPr>
            <a:r>
              <a:rPr lang="en-US" altLang="en-US" sz="1800" b="1" dirty="0" smtClean="0">
                <a:solidFill>
                  <a:srgbClr val="000000"/>
                </a:solidFill>
                <a:latin typeface="Courier New" pitchFamily="49" charset="0"/>
              </a:rPr>
              <a:t>{</a:t>
            </a:r>
          </a:p>
          <a:p>
            <a:pPr lvl="2">
              <a:lnSpc>
                <a:spcPct val="80000"/>
              </a:lnSpc>
              <a:buFont typeface="Webdings" pitchFamily="18" charset="2"/>
              <a:buNone/>
            </a:pPr>
            <a:r>
              <a:rPr lang="en-US" altLang="en-US" sz="1800" b="1" dirty="0" smtClean="0">
                <a:solidFill>
                  <a:srgbClr val="000000"/>
                </a:solidFill>
                <a:latin typeface="Courier New" pitchFamily="49" charset="0"/>
              </a:rPr>
              <a:t>	// shared variable declarations</a:t>
            </a:r>
          </a:p>
          <a:p>
            <a:pPr lvl="2">
              <a:lnSpc>
                <a:spcPct val="80000"/>
              </a:lnSpc>
              <a:buFont typeface="Webdings" pitchFamily="18" charset="2"/>
              <a:buNone/>
            </a:pPr>
            <a:r>
              <a:rPr lang="en-US" altLang="en-US" sz="1800" b="1" dirty="0" smtClean="0">
                <a:solidFill>
                  <a:srgbClr val="000000"/>
                </a:solidFill>
                <a:latin typeface="Courier New" pitchFamily="49" charset="0"/>
              </a:rPr>
              <a:t>	procedure P1 (…) { …. }</a:t>
            </a:r>
          </a:p>
          <a:p>
            <a:pPr lvl="2">
              <a:lnSpc>
                <a:spcPct val="80000"/>
              </a:lnSpc>
              <a:buFont typeface="Webdings" pitchFamily="18" charset="2"/>
              <a:buNone/>
            </a:pPr>
            <a:endParaRPr lang="en-US" altLang="en-US" sz="1800" b="1" dirty="0" smtClean="0">
              <a:solidFill>
                <a:srgbClr val="000000"/>
              </a:solidFill>
              <a:latin typeface="Courier New" pitchFamily="49" charset="0"/>
            </a:endParaRPr>
          </a:p>
          <a:p>
            <a:pPr lvl="2">
              <a:lnSpc>
                <a:spcPct val="80000"/>
              </a:lnSpc>
              <a:buFont typeface="Webdings" pitchFamily="18" charset="2"/>
              <a:buNone/>
            </a:pPr>
            <a:r>
              <a:rPr lang="en-US" altLang="en-US" sz="1800" b="1" dirty="0" smtClean="0">
                <a:solidFill>
                  <a:srgbClr val="000000"/>
                </a:solidFill>
                <a:latin typeface="Courier New" pitchFamily="49" charset="0"/>
              </a:rPr>
              <a:t>	procedure </a:t>
            </a:r>
            <a:r>
              <a:rPr lang="en-US" altLang="en-US" sz="1800" b="1" dirty="0" err="1" smtClean="0">
                <a:solidFill>
                  <a:srgbClr val="000000"/>
                </a:solidFill>
                <a:latin typeface="Courier New" pitchFamily="49" charset="0"/>
              </a:rPr>
              <a:t>Pn</a:t>
            </a:r>
            <a:r>
              <a:rPr lang="en-US" altLang="en-US" sz="1800" b="1" dirty="0" smtClean="0">
                <a:solidFill>
                  <a:srgbClr val="000000"/>
                </a:solidFill>
                <a:latin typeface="Courier New" pitchFamily="49" charset="0"/>
              </a:rPr>
              <a:t> (…) {……}</a:t>
            </a:r>
          </a:p>
          <a:p>
            <a:pPr lvl="2">
              <a:lnSpc>
                <a:spcPct val="80000"/>
              </a:lnSpc>
              <a:buFont typeface="Webdings" pitchFamily="18" charset="2"/>
              <a:buNone/>
            </a:pPr>
            <a:endParaRPr lang="en-US" altLang="en-US" sz="1800" b="1" dirty="0" smtClean="0">
              <a:solidFill>
                <a:srgbClr val="000000"/>
              </a:solidFill>
              <a:latin typeface="Courier New" pitchFamily="49" charset="0"/>
            </a:endParaRPr>
          </a:p>
          <a:p>
            <a:pPr lvl="2">
              <a:lnSpc>
                <a:spcPct val="80000"/>
              </a:lnSpc>
              <a:buFont typeface="Webdings" pitchFamily="18" charset="2"/>
              <a:buNone/>
            </a:pPr>
            <a:r>
              <a:rPr lang="en-US" altLang="en-US" sz="1800" b="1" dirty="0" smtClean="0">
                <a:solidFill>
                  <a:srgbClr val="000000"/>
                </a:solidFill>
                <a:latin typeface="Courier New" pitchFamily="49" charset="0"/>
              </a:rPr>
              <a:t>    Initialization code (…) { … }</a:t>
            </a:r>
          </a:p>
          <a:p>
            <a:pPr lvl="2">
              <a:lnSpc>
                <a:spcPct val="80000"/>
              </a:lnSpc>
              <a:buFont typeface="Webdings" pitchFamily="18" charset="2"/>
              <a:buNone/>
            </a:pPr>
            <a:r>
              <a:rPr lang="en-US" altLang="en-US" sz="1800" b="1" dirty="0" smtClean="0">
                <a:solidFill>
                  <a:srgbClr val="000000"/>
                </a:solidFill>
                <a:latin typeface="Courier New" pitchFamily="49" charset="0"/>
              </a:rPr>
              <a:t>	}</a:t>
            </a:r>
          </a:p>
          <a:p>
            <a:pPr lvl="2">
              <a:lnSpc>
                <a:spcPct val="80000"/>
              </a:lnSpc>
              <a:buFont typeface="Webdings" pitchFamily="18" charset="2"/>
              <a:buNone/>
            </a:pPr>
            <a:r>
              <a:rPr lang="en-US" altLang="en-US" sz="1800" b="1" dirty="0" smtClean="0">
                <a:solidFill>
                  <a:srgbClr val="000000"/>
                </a:solidFill>
                <a:latin typeface="Courier New" pitchFamily="49" charset="0"/>
              </a:rPr>
              <a:t>}</a:t>
            </a:r>
          </a:p>
        </p:txBody>
      </p:sp>
    </p:spTree>
    <p:extLst>
      <p:ext uri="{BB962C8B-B14F-4D97-AF65-F5344CB8AC3E}">
        <p14:creationId xmlns:p14="http://schemas.microsoft.com/office/powerpoint/2010/main" val="214166458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222375" y="176213"/>
            <a:ext cx="7464425" cy="576262"/>
          </a:xfrm>
        </p:spPr>
        <p:txBody>
          <a:bodyPr>
            <a:normAutofit fontScale="90000"/>
          </a:bodyPr>
          <a:lstStyle/>
          <a:p>
            <a:pPr eaLnBrk="1" hangingPunct="1"/>
            <a:r>
              <a:rPr lang="en-US" altLang="en-US" smtClean="0"/>
              <a:t>Schematic view of a Monitor</a:t>
            </a:r>
          </a:p>
        </p:txBody>
      </p:sp>
      <p:pic>
        <p:nvPicPr>
          <p:cNvPr id="47107" name="Picture 4"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5" y="1185863"/>
            <a:ext cx="4926013"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21386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a:xfrm>
            <a:off x="1027113" y="161925"/>
            <a:ext cx="7659687" cy="576263"/>
          </a:xfrm>
        </p:spPr>
        <p:txBody>
          <a:bodyPr>
            <a:normAutofit fontScale="90000"/>
          </a:bodyPr>
          <a:lstStyle/>
          <a:p>
            <a:pPr eaLnBrk="1" hangingPunct="1"/>
            <a:r>
              <a:rPr lang="en-US" altLang="en-US" smtClean="0"/>
              <a:t>Condition Variables</a:t>
            </a:r>
          </a:p>
        </p:txBody>
      </p:sp>
      <p:sp>
        <p:nvSpPr>
          <p:cNvPr id="48131" name="Rectangle 5"/>
          <p:cNvSpPr>
            <a:spLocks noGrp="1" noChangeArrowheads="1"/>
          </p:cNvSpPr>
          <p:nvPr>
            <p:ph idx="1"/>
          </p:nvPr>
        </p:nvSpPr>
        <p:spPr>
          <a:xfrm>
            <a:off x="827088" y="1150938"/>
            <a:ext cx="7272337" cy="4394200"/>
          </a:xfrm>
        </p:spPr>
        <p:txBody>
          <a:bodyPr/>
          <a:lstStyle/>
          <a:p>
            <a:r>
              <a:rPr lang="en-US" altLang="en-US" sz="2000" b="1" smtClean="0">
                <a:solidFill>
                  <a:srgbClr val="000000"/>
                </a:solidFill>
                <a:latin typeface="Courier New" pitchFamily="49" charset="0"/>
                <a:cs typeface="Courier New" pitchFamily="49" charset="0"/>
              </a:rPr>
              <a:t>condition</a:t>
            </a:r>
            <a:r>
              <a:rPr lang="en-US" altLang="en-US" b="1" smtClean="0">
                <a:solidFill>
                  <a:srgbClr val="000000"/>
                </a:solidFill>
                <a:latin typeface="Courier New" pitchFamily="49" charset="0"/>
                <a:cs typeface="Courier New" pitchFamily="49" charset="0"/>
              </a:rPr>
              <a:t> </a:t>
            </a:r>
            <a:r>
              <a:rPr lang="en-US" altLang="en-US" sz="2000" b="1" smtClean="0">
                <a:solidFill>
                  <a:srgbClr val="000000"/>
                </a:solidFill>
                <a:latin typeface="Courier New" pitchFamily="49" charset="0"/>
                <a:cs typeface="Courier New" pitchFamily="49" charset="0"/>
              </a:rPr>
              <a:t>x, y</a:t>
            </a:r>
            <a:r>
              <a:rPr lang="en-US" altLang="en-US" b="1" smtClean="0">
                <a:solidFill>
                  <a:srgbClr val="000000"/>
                </a:solidFill>
                <a:latin typeface="Courier New" pitchFamily="49" charset="0"/>
                <a:cs typeface="Courier New" pitchFamily="49" charset="0"/>
              </a:rPr>
              <a:t>;</a:t>
            </a:r>
            <a:endParaRPr lang="en-US" altLang="en-US" smtClean="0">
              <a:solidFill>
                <a:srgbClr val="0000FF"/>
              </a:solidFill>
            </a:endParaRPr>
          </a:p>
          <a:p>
            <a:r>
              <a:rPr lang="en-US" altLang="en-US" smtClean="0"/>
              <a:t>Two operations are allowed on a condition variable:</a:t>
            </a:r>
          </a:p>
          <a:p>
            <a:pPr lvl="1"/>
            <a:r>
              <a:rPr lang="en-US" altLang="en-US" sz="2000" b="1" smtClean="0">
                <a:solidFill>
                  <a:srgbClr val="000000"/>
                </a:solidFill>
                <a:latin typeface="Courier New" pitchFamily="49" charset="0"/>
              </a:rPr>
              <a:t>x.wait() </a:t>
            </a:r>
            <a:r>
              <a:rPr lang="en-US" altLang="en-US" smtClean="0"/>
              <a:t>–  a process that invokes the operation is suspended until </a:t>
            </a:r>
            <a:r>
              <a:rPr lang="en-US" altLang="en-US" sz="2000" b="1" smtClean="0">
                <a:solidFill>
                  <a:srgbClr val="000000"/>
                </a:solidFill>
                <a:latin typeface="Courier New" pitchFamily="49" charset="0"/>
              </a:rPr>
              <a:t>x.signal() </a:t>
            </a:r>
          </a:p>
          <a:p>
            <a:pPr lvl="1"/>
            <a:r>
              <a:rPr lang="en-US" altLang="en-US" sz="2000" b="1" smtClean="0">
                <a:solidFill>
                  <a:srgbClr val="000000"/>
                </a:solidFill>
                <a:latin typeface="Courier New" pitchFamily="49" charset="0"/>
              </a:rPr>
              <a:t>x.signal() </a:t>
            </a:r>
            <a:r>
              <a:rPr lang="en-US" altLang="en-US" smtClean="0"/>
              <a:t>–</a:t>
            </a:r>
            <a:r>
              <a:rPr lang="en-US" altLang="en-US" smtClean="0">
                <a:solidFill>
                  <a:srgbClr val="0000FF"/>
                </a:solidFill>
              </a:rPr>
              <a:t> </a:t>
            </a:r>
            <a:r>
              <a:rPr lang="en-US" altLang="en-US" smtClean="0"/>
              <a:t>resumes one of processes</a:t>
            </a:r>
            <a:r>
              <a:rPr lang="en-US" altLang="en-US" smtClean="0">
                <a:solidFill>
                  <a:srgbClr val="0000FF"/>
                </a:solidFill>
              </a:rPr>
              <a:t> </a:t>
            </a:r>
            <a:r>
              <a:rPr lang="en-US" altLang="en-US" smtClean="0"/>
              <a:t>(if any)</a:t>
            </a:r>
            <a:r>
              <a:rPr lang="en-US" altLang="en-US" smtClean="0">
                <a:solidFill>
                  <a:srgbClr val="0000FF"/>
                </a:solidFill>
              </a:rPr>
              <a:t> </a:t>
            </a:r>
            <a:r>
              <a:rPr lang="en-US" altLang="en-US" smtClean="0"/>
              <a:t>that</a:t>
            </a:r>
            <a:r>
              <a:rPr lang="en-US" altLang="en-US" smtClean="0">
                <a:solidFill>
                  <a:srgbClr val="0000FF"/>
                </a:solidFill>
              </a:rPr>
              <a:t> </a:t>
            </a:r>
            <a:r>
              <a:rPr lang="en-US" altLang="en-US" smtClean="0"/>
              <a:t> invoked</a:t>
            </a:r>
            <a:r>
              <a:rPr lang="en-US" altLang="en-US" smtClean="0">
                <a:solidFill>
                  <a:srgbClr val="0000FF"/>
                </a:solidFill>
              </a:rPr>
              <a:t> </a:t>
            </a:r>
            <a:r>
              <a:rPr lang="en-US" altLang="en-US" sz="2000" b="1" smtClean="0">
                <a:solidFill>
                  <a:srgbClr val="000000"/>
                </a:solidFill>
                <a:latin typeface="Courier New" pitchFamily="49" charset="0"/>
              </a:rPr>
              <a:t>x.wait()</a:t>
            </a:r>
          </a:p>
          <a:p>
            <a:pPr lvl="2"/>
            <a:r>
              <a:rPr lang="en-US" altLang="en-US" smtClean="0"/>
              <a:t>If no </a:t>
            </a:r>
            <a:r>
              <a:rPr lang="en-US" altLang="en-US" sz="2000" b="1" smtClean="0">
                <a:solidFill>
                  <a:srgbClr val="000000"/>
                </a:solidFill>
                <a:latin typeface="Courier New" pitchFamily="49" charset="0"/>
              </a:rPr>
              <a:t>x.wait()</a:t>
            </a:r>
            <a:r>
              <a:rPr lang="en-US" altLang="en-US" sz="2000" smtClean="0">
                <a:solidFill>
                  <a:srgbClr val="0000FF"/>
                </a:solidFill>
              </a:rPr>
              <a:t> </a:t>
            </a:r>
            <a:r>
              <a:rPr lang="en-US" altLang="en-US" smtClean="0"/>
              <a:t>on the variable, then it has no effect on the variable</a:t>
            </a:r>
          </a:p>
        </p:txBody>
      </p:sp>
    </p:spTree>
    <p:extLst>
      <p:ext uri="{BB962C8B-B14F-4D97-AF65-F5344CB8AC3E}">
        <p14:creationId xmlns:p14="http://schemas.microsoft.com/office/powerpoint/2010/main" val="28947118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882650" y="176213"/>
            <a:ext cx="7847013" cy="576262"/>
          </a:xfrm>
        </p:spPr>
        <p:txBody>
          <a:bodyPr>
            <a:normAutofit fontScale="90000"/>
          </a:bodyPr>
          <a:lstStyle/>
          <a:p>
            <a:pPr eaLnBrk="1" hangingPunct="1"/>
            <a:r>
              <a:rPr lang="en-US" altLang="en-US" smtClean="0"/>
              <a:t> Monitor with Condition Variables</a:t>
            </a:r>
          </a:p>
        </p:txBody>
      </p:sp>
      <p:pic>
        <p:nvPicPr>
          <p:cNvPr id="49155" name="Picture 4"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4175" y="1323975"/>
            <a:ext cx="6291263"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012564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a:xfrm>
            <a:off x="1027113" y="204788"/>
            <a:ext cx="7659687" cy="576262"/>
          </a:xfrm>
        </p:spPr>
        <p:txBody>
          <a:bodyPr>
            <a:normAutofit fontScale="90000"/>
          </a:bodyPr>
          <a:lstStyle/>
          <a:p>
            <a:pPr eaLnBrk="1" hangingPunct="1"/>
            <a:r>
              <a:rPr lang="en-US" altLang="en-US" smtClean="0"/>
              <a:t>Condition Variables Choices</a:t>
            </a:r>
          </a:p>
        </p:txBody>
      </p:sp>
      <p:sp>
        <p:nvSpPr>
          <p:cNvPr id="50179" name="Rectangle 5"/>
          <p:cNvSpPr>
            <a:spLocks noGrp="1" noChangeArrowheads="1"/>
          </p:cNvSpPr>
          <p:nvPr>
            <p:ph idx="1"/>
          </p:nvPr>
        </p:nvSpPr>
        <p:spPr>
          <a:xfrm>
            <a:off x="869950" y="1179513"/>
            <a:ext cx="7824788" cy="4713287"/>
          </a:xfrm>
        </p:spPr>
        <p:txBody>
          <a:bodyPr>
            <a:normAutofit fontScale="77500" lnSpcReduction="20000"/>
          </a:bodyPr>
          <a:lstStyle/>
          <a:p>
            <a:r>
              <a:rPr lang="en-US" altLang="en-US" dirty="0" smtClean="0">
                <a:solidFill>
                  <a:srgbClr val="FF0000"/>
                </a:solidFill>
              </a:rPr>
              <a:t>If process P invokes </a:t>
            </a:r>
            <a:r>
              <a:rPr lang="en-US" altLang="en-US" sz="2000" b="1" dirty="0" err="1" smtClean="0">
                <a:solidFill>
                  <a:srgbClr val="FF0000"/>
                </a:solidFill>
                <a:latin typeface="Courier New" pitchFamily="49" charset="0"/>
                <a:cs typeface="Courier New" pitchFamily="49" charset="0"/>
              </a:rPr>
              <a:t>x.signal</a:t>
            </a:r>
            <a:r>
              <a:rPr lang="en-US" altLang="en-US" sz="2000" b="1" dirty="0" smtClean="0">
                <a:solidFill>
                  <a:srgbClr val="FF0000"/>
                </a:solidFill>
                <a:latin typeface="Courier New" pitchFamily="49" charset="0"/>
                <a:cs typeface="Courier New" pitchFamily="49" charset="0"/>
              </a:rPr>
              <a:t>(),</a:t>
            </a:r>
            <a:r>
              <a:rPr lang="en-US" altLang="en-US" sz="2000" dirty="0" smtClean="0">
                <a:solidFill>
                  <a:srgbClr val="FF0000"/>
                </a:solidFill>
                <a:cs typeface="Courier New" pitchFamily="49" charset="0"/>
              </a:rPr>
              <a:t> </a:t>
            </a:r>
            <a:r>
              <a:rPr lang="en-US" altLang="en-US" dirty="0" smtClean="0">
                <a:solidFill>
                  <a:srgbClr val="FF0000"/>
                </a:solidFill>
              </a:rPr>
              <a:t>and</a:t>
            </a:r>
            <a:r>
              <a:rPr lang="en-US" altLang="en-US" sz="2000" dirty="0" smtClean="0">
                <a:solidFill>
                  <a:srgbClr val="FF0000"/>
                </a:solidFill>
                <a:cs typeface="Courier New" pitchFamily="49" charset="0"/>
              </a:rPr>
              <a:t> </a:t>
            </a:r>
            <a:r>
              <a:rPr lang="en-US" altLang="en-US" dirty="0" smtClean="0">
                <a:solidFill>
                  <a:srgbClr val="FF0000"/>
                </a:solidFill>
              </a:rPr>
              <a:t>process Q is suspended in </a:t>
            </a:r>
            <a:r>
              <a:rPr lang="en-US" altLang="en-US" sz="2000" b="1" dirty="0" err="1" smtClean="0">
                <a:solidFill>
                  <a:srgbClr val="FF0000"/>
                </a:solidFill>
                <a:latin typeface="Courier New" pitchFamily="49" charset="0"/>
                <a:cs typeface="Courier New" pitchFamily="49" charset="0"/>
              </a:rPr>
              <a:t>x.wait</a:t>
            </a:r>
            <a:r>
              <a:rPr lang="en-US" altLang="en-US" sz="2000" b="1" dirty="0" smtClean="0">
                <a:solidFill>
                  <a:srgbClr val="FF0000"/>
                </a:solidFill>
                <a:latin typeface="Courier New" pitchFamily="49" charset="0"/>
                <a:cs typeface="Courier New" pitchFamily="49" charset="0"/>
              </a:rPr>
              <a:t>()</a:t>
            </a:r>
            <a:r>
              <a:rPr lang="en-US" altLang="en-US" dirty="0" smtClean="0">
                <a:solidFill>
                  <a:srgbClr val="FF0000"/>
                </a:solidFill>
              </a:rPr>
              <a:t>, what should happen next</a:t>
            </a:r>
            <a:r>
              <a:rPr lang="en-US" altLang="en-US" dirty="0" smtClean="0"/>
              <a:t>?</a:t>
            </a:r>
          </a:p>
          <a:p>
            <a:pPr lvl="1"/>
            <a:r>
              <a:rPr lang="en-US" altLang="en-US" dirty="0" smtClean="0"/>
              <a:t>Both Q and P cannot execute in parallel. If Q is resumed, then P must wait</a:t>
            </a:r>
          </a:p>
          <a:p>
            <a:r>
              <a:rPr lang="en-US" altLang="en-US" dirty="0" smtClean="0"/>
              <a:t>Options include</a:t>
            </a:r>
          </a:p>
          <a:p>
            <a:pPr lvl="1"/>
            <a:r>
              <a:rPr lang="en-US" altLang="en-US" b="1" dirty="0" smtClean="0">
                <a:solidFill>
                  <a:srgbClr val="FF0000"/>
                </a:solidFill>
              </a:rPr>
              <a:t>Signal and wait </a:t>
            </a:r>
            <a:r>
              <a:rPr lang="en-US" altLang="en-US" dirty="0" smtClean="0"/>
              <a:t>– P waits until Q either leaves the monitor or it waits for another condition</a:t>
            </a:r>
          </a:p>
          <a:p>
            <a:pPr lvl="1" algn="just"/>
            <a:r>
              <a:rPr lang="en-US" altLang="en-US" b="1" dirty="0" smtClean="0">
                <a:solidFill>
                  <a:srgbClr val="FF0000"/>
                </a:solidFill>
              </a:rPr>
              <a:t>Signal and continue </a:t>
            </a:r>
            <a:r>
              <a:rPr lang="en-US" altLang="en-US" dirty="0" smtClean="0"/>
              <a:t>– Q waits until P either leaves the monitor or it  waits for another condition</a:t>
            </a:r>
          </a:p>
          <a:p>
            <a:pPr lvl="1"/>
            <a:r>
              <a:rPr lang="en-US" altLang="en-US" dirty="0" smtClean="0"/>
              <a:t>Both have pros and cons – language implementer can decide</a:t>
            </a:r>
          </a:p>
          <a:p>
            <a:pPr lvl="1"/>
            <a:r>
              <a:rPr lang="en-US" altLang="en-US" dirty="0" smtClean="0"/>
              <a:t>Monitors implemented in </a:t>
            </a:r>
            <a:r>
              <a:rPr lang="en-US" altLang="en-US" b="1" dirty="0" smtClean="0">
                <a:solidFill>
                  <a:srgbClr val="00B050"/>
                </a:solidFill>
              </a:rPr>
              <a:t>Concurrent Pascal </a:t>
            </a:r>
            <a:r>
              <a:rPr lang="en-US" altLang="en-US" dirty="0" smtClean="0"/>
              <a:t>compromise</a:t>
            </a:r>
          </a:p>
          <a:p>
            <a:pPr lvl="2"/>
            <a:r>
              <a:rPr lang="en-US" altLang="en-US" dirty="0" smtClean="0"/>
              <a:t>P executing </a:t>
            </a:r>
            <a:r>
              <a:rPr lang="en-US" altLang="en-US" sz="2000" dirty="0" smtClean="0"/>
              <a:t>signal</a:t>
            </a:r>
            <a:r>
              <a:rPr lang="en-US" altLang="en-US" dirty="0" smtClean="0"/>
              <a:t> immediately leaves the monitor, Q is resumed</a:t>
            </a:r>
          </a:p>
          <a:p>
            <a:pPr lvl="1"/>
            <a:r>
              <a:rPr lang="en-US" altLang="en-US" dirty="0" smtClean="0"/>
              <a:t>Implemented in other languages including Mesa, C#, Java</a:t>
            </a:r>
          </a:p>
          <a:p>
            <a:endParaRPr lang="en-US" altLang="en-US" dirty="0" smtClean="0"/>
          </a:p>
        </p:txBody>
      </p:sp>
    </p:spTree>
    <p:extLst>
      <p:ext uri="{BB962C8B-B14F-4D97-AF65-F5344CB8AC3E}">
        <p14:creationId xmlns:p14="http://schemas.microsoft.com/office/powerpoint/2010/main" val="10137001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944563" y="90488"/>
            <a:ext cx="8077200" cy="609600"/>
          </a:xfrm>
        </p:spPr>
        <p:txBody>
          <a:bodyPr/>
          <a:lstStyle/>
          <a:p>
            <a:pPr eaLnBrk="1" hangingPunct="1"/>
            <a:r>
              <a:rPr lang="en-US" altLang="en-US" sz="2800" smtClean="0"/>
              <a:t>Monitor Solution to Dining Philosophers</a:t>
            </a:r>
          </a:p>
        </p:txBody>
      </p:sp>
      <p:sp>
        <p:nvSpPr>
          <p:cNvPr id="51203" name="Rectangle 3"/>
          <p:cNvSpPr>
            <a:spLocks noGrp="1" noChangeArrowheads="1"/>
          </p:cNvSpPr>
          <p:nvPr>
            <p:ph idx="1"/>
          </p:nvPr>
        </p:nvSpPr>
        <p:spPr>
          <a:xfrm>
            <a:off x="1146175" y="548680"/>
            <a:ext cx="7345363" cy="6192688"/>
          </a:xfrm>
        </p:spPr>
        <p:txBody>
          <a:bodyPr>
            <a:noAutofit/>
          </a:bodyPr>
          <a:lstStyle/>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monitor </a:t>
            </a:r>
            <a:r>
              <a:rPr lang="en-US" altLang="en-US" sz="1800" dirty="0" err="1" smtClean="0">
                <a:solidFill>
                  <a:srgbClr val="000000"/>
                </a:solidFill>
                <a:latin typeface="Courier New" pitchFamily="49" charset="0"/>
                <a:cs typeface="Courier New" pitchFamily="49" charset="0"/>
              </a:rPr>
              <a:t>DiningPhilosophers</a:t>
            </a:r>
            <a:endParaRPr lang="en-US" altLang="en-US" sz="1800"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a:t>
            </a:r>
            <a:r>
              <a:rPr lang="en-US" altLang="en-US" sz="1800" dirty="0" err="1" smtClean="0">
                <a:solidFill>
                  <a:srgbClr val="000000"/>
                </a:solidFill>
                <a:latin typeface="Courier New" pitchFamily="49" charset="0"/>
                <a:cs typeface="Courier New" pitchFamily="49" charset="0"/>
              </a:rPr>
              <a:t>enum</a:t>
            </a:r>
            <a:r>
              <a:rPr lang="en-US" altLang="en-US" sz="1800" dirty="0" smtClean="0">
                <a:solidFill>
                  <a:srgbClr val="000000"/>
                </a:solidFill>
                <a:latin typeface="Courier New" pitchFamily="49" charset="0"/>
                <a:cs typeface="Courier New" pitchFamily="49" charset="0"/>
              </a:rPr>
              <a:t> </a:t>
            </a:r>
            <a:r>
              <a:rPr lang="en-US" altLang="en-US" sz="1800" smtClean="0">
                <a:solidFill>
                  <a:srgbClr val="000000"/>
                </a:solidFill>
                <a:latin typeface="Courier New" pitchFamily="49" charset="0"/>
                <a:cs typeface="Courier New" pitchFamily="49" charset="0"/>
              </a:rPr>
              <a:t>{ THINKING, </a:t>
            </a:r>
            <a:r>
              <a:rPr lang="en-US" altLang="en-US" sz="1800" dirty="0" smtClean="0">
                <a:solidFill>
                  <a:srgbClr val="000000"/>
                </a:solidFill>
                <a:latin typeface="Courier New" pitchFamily="49" charset="0"/>
                <a:cs typeface="Courier New" pitchFamily="49" charset="0"/>
              </a:rPr>
              <a:t>HUNGRY, EATING) state [5] ;</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condition self [5];</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void pickup (</a:t>
            </a:r>
            <a:r>
              <a:rPr lang="en-US" altLang="en-US" sz="1800" dirty="0" err="1" smtClean="0">
                <a:solidFill>
                  <a:srgbClr val="000000"/>
                </a:solidFill>
                <a:latin typeface="Courier New" pitchFamily="49" charset="0"/>
                <a:cs typeface="Courier New" pitchFamily="49" charset="0"/>
              </a:rPr>
              <a:t>int</a:t>
            </a:r>
            <a:r>
              <a:rPr lang="en-US" altLang="en-US" sz="1800" dirty="0" smtClean="0">
                <a:solidFill>
                  <a:srgbClr val="000000"/>
                </a:solidFill>
                <a:latin typeface="Courier New" pitchFamily="49" charset="0"/>
                <a:cs typeface="Courier New" pitchFamily="49" charset="0"/>
              </a:rPr>
              <a:t> </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state[</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 = HUNGRY;</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test(</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if (state[</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 != EATING) self[</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].wait;</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void putdown (</a:t>
            </a:r>
            <a:r>
              <a:rPr lang="en-US" altLang="en-US" sz="1800" dirty="0" err="1" smtClean="0">
                <a:solidFill>
                  <a:srgbClr val="000000"/>
                </a:solidFill>
                <a:latin typeface="Courier New" pitchFamily="49" charset="0"/>
                <a:cs typeface="Courier New" pitchFamily="49" charset="0"/>
              </a:rPr>
              <a:t>int</a:t>
            </a:r>
            <a:r>
              <a:rPr lang="en-US" altLang="en-US" sz="1800" dirty="0" smtClean="0">
                <a:solidFill>
                  <a:srgbClr val="000000"/>
                </a:solidFill>
                <a:latin typeface="Courier New" pitchFamily="49" charset="0"/>
                <a:cs typeface="Courier New" pitchFamily="49" charset="0"/>
              </a:rPr>
              <a:t> </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state[</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 = THINKING;</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 test left and right neighbors</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test((</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 + 4) % 5);</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test((</a:t>
            </a:r>
            <a:r>
              <a:rPr lang="en-US" altLang="en-US" sz="1800" dirty="0" err="1" smtClean="0">
                <a:solidFill>
                  <a:srgbClr val="000000"/>
                </a:solidFill>
                <a:latin typeface="Courier New" pitchFamily="49" charset="0"/>
                <a:cs typeface="Courier New" pitchFamily="49" charset="0"/>
              </a:rPr>
              <a:t>i</a:t>
            </a:r>
            <a:r>
              <a:rPr lang="en-US" altLang="en-US" sz="1800" dirty="0" smtClean="0">
                <a:solidFill>
                  <a:srgbClr val="000000"/>
                </a:solidFill>
                <a:latin typeface="Courier New" pitchFamily="49" charset="0"/>
                <a:cs typeface="Courier New" pitchFamily="49" charset="0"/>
              </a:rPr>
              <a:t> + 1) % 5);</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800" dirty="0" smtClean="0">
                <a:solidFill>
                  <a:srgbClr val="000000"/>
                </a:solidFill>
                <a:latin typeface="Courier New" pitchFamily="49" charset="0"/>
                <a:cs typeface="Courier New" pitchFamily="49" charset="0"/>
              </a:rPr>
              <a:t>   void </a:t>
            </a:r>
            <a:r>
              <a:rPr lang="en-US" altLang="en-US" sz="1800" dirty="0">
                <a:solidFill>
                  <a:srgbClr val="000000"/>
                </a:solidFill>
                <a:latin typeface="Courier New" pitchFamily="49" charset="0"/>
                <a:cs typeface="Courier New" pitchFamily="49" charset="0"/>
              </a:rPr>
              <a:t>test (</a:t>
            </a:r>
            <a:r>
              <a:rPr lang="en-US" altLang="en-US" sz="1800" dirty="0" err="1">
                <a:solidFill>
                  <a:srgbClr val="000000"/>
                </a:solidFill>
                <a:latin typeface="Courier New" pitchFamily="49" charset="0"/>
                <a:cs typeface="Courier New" pitchFamily="49" charset="0"/>
              </a:rPr>
              <a:t>int</a:t>
            </a:r>
            <a:r>
              <a:rPr lang="en-US" altLang="en-US" sz="1800" dirty="0">
                <a:solidFill>
                  <a:srgbClr val="000000"/>
                </a:solidFill>
                <a:latin typeface="Courier New" pitchFamily="49" charset="0"/>
                <a:cs typeface="Courier New" pitchFamily="49" charset="0"/>
              </a:rPr>
              <a:t> </a:t>
            </a:r>
            <a:r>
              <a:rPr lang="en-US" altLang="en-US" sz="1800" dirty="0" err="1">
                <a:solidFill>
                  <a:srgbClr val="000000"/>
                </a:solidFill>
                <a:latin typeface="Courier New" pitchFamily="49" charset="0"/>
                <a:cs typeface="Courier New" pitchFamily="49" charset="0"/>
              </a:rPr>
              <a:t>i</a:t>
            </a:r>
            <a:r>
              <a:rPr lang="en-US" altLang="en-US" sz="1800" dirty="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800" dirty="0">
                <a:solidFill>
                  <a:srgbClr val="000000"/>
                </a:solidFill>
                <a:latin typeface="Courier New" pitchFamily="49" charset="0"/>
                <a:cs typeface="Courier New" pitchFamily="49" charset="0"/>
              </a:rPr>
              <a:t>	        if ((state[(</a:t>
            </a:r>
            <a:r>
              <a:rPr lang="en-US" altLang="en-US" sz="1800" dirty="0" err="1">
                <a:solidFill>
                  <a:srgbClr val="000000"/>
                </a:solidFill>
                <a:latin typeface="Courier New" pitchFamily="49" charset="0"/>
                <a:cs typeface="Courier New" pitchFamily="49" charset="0"/>
              </a:rPr>
              <a:t>i</a:t>
            </a:r>
            <a:r>
              <a:rPr lang="en-US" altLang="en-US" sz="1800" dirty="0">
                <a:solidFill>
                  <a:srgbClr val="000000"/>
                </a:solidFill>
                <a:latin typeface="Courier New" pitchFamily="49" charset="0"/>
                <a:cs typeface="Courier New" pitchFamily="49" charset="0"/>
              </a:rPr>
              <a:t> + 4) % 5] != EATING) &amp;&amp;</a:t>
            </a:r>
          </a:p>
          <a:p>
            <a:pPr>
              <a:lnSpc>
                <a:spcPct val="80000"/>
              </a:lnSpc>
              <a:buFont typeface="Monotype Sorts" pitchFamily="-84" charset="2"/>
              <a:buNone/>
            </a:pPr>
            <a:r>
              <a:rPr lang="en-US" altLang="en-US" sz="1800" dirty="0">
                <a:solidFill>
                  <a:srgbClr val="000000"/>
                </a:solidFill>
                <a:latin typeface="Courier New" pitchFamily="49" charset="0"/>
                <a:cs typeface="Courier New" pitchFamily="49" charset="0"/>
              </a:rPr>
              <a:t>	        (state[</a:t>
            </a:r>
            <a:r>
              <a:rPr lang="en-US" altLang="en-US" sz="1800" dirty="0" err="1">
                <a:solidFill>
                  <a:srgbClr val="000000"/>
                </a:solidFill>
                <a:latin typeface="Courier New" pitchFamily="49" charset="0"/>
                <a:cs typeface="Courier New" pitchFamily="49" charset="0"/>
              </a:rPr>
              <a:t>i</a:t>
            </a:r>
            <a:r>
              <a:rPr lang="en-US" altLang="en-US" sz="1800" dirty="0">
                <a:solidFill>
                  <a:srgbClr val="000000"/>
                </a:solidFill>
                <a:latin typeface="Courier New" pitchFamily="49" charset="0"/>
                <a:cs typeface="Courier New" pitchFamily="49" charset="0"/>
              </a:rPr>
              <a:t>] == HUNGRY) &amp;&amp;</a:t>
            </a:r>
          </a:p>
          <a:p>
            <a:pPr>
              <a:lnSpc>
                <a:spcPct val="80000"/>
              </a:lnSpc>
              <a:buFont typeface="Monotype Sorts" pitchFamily="-84" charset="2"/>
              <a:buNone/>
            </a:pPr>
            <a:r>
              <a:rPr lang="en-US" altLang="en-US" sz="1800" dirty="0">
                <a:solidFill>
                  <a:srgbClr val="000000"/>
                </a:solidFill>
                <a:latin typeface="Courier New" pitchFamily="49" charset="0"/>
                <a:cs typeface="Courier New" pitchFamily="49" charset="0"/>
              </a:rPr>
              <a:t>	        (state[(</a:t>
            </a:r>
            <a:r>
              <a:rPr lang="en-US" altLang="en-US" sz="1800" dirty="0" err="1">
                <a:solidFill>
                  <a:srgbClr val="000000"/>
                </a:solidFill>
                <a:latin typeface="Courier New" pitchFamily="49" charset="0"/>
                <a:cs typeface="Courier New" pitchFamily="49" charset="0"/>
              </a:rPr>
              <a:t>i</a:t>
            </a:r>
            <a:r>
              <a:rPr lang="en-US" altLang="en-US" sz="1800" dirty="0">
                <a:solidFill>
                  <a:srgbClr val="000000"/>
                </a:solidFill>
                <a:latin typeface="Courier New" pitchFamily="49" charset="0"/>
                <a:cs typeface="Courier New" pitchFamily="49" charset="0"/>
              </a:rPr>
              <a:t> + 1) % 5] != EATING) ) { </a:t>
            </a:r>
          </a:p>
          <a:p>
            <a:pPr>
              <a:lnSpc>
                <a:spcPct val="80000"/>
              </a:lnSpc>
              <a:buFont typeface="Monotype Sorts" pitchFamily="-84" charset="2"/>
              <a:buNone/>
            </a:pPr>
            <a:r>
              <a:rPr lang="en-US" altLang="en-US" sz="1800" dirty="0">
                <a:solidFill>
                  <a:srgbClr val="000000"/>
                </a:solidFill>
                <a:latin typeface="Courier New" pitchFamily="49" charset="0"/>
                <a:cs typeface="Courier New" pitchFamily="49" charset="0"/>
              </a:rPr>
              <a:t>	             state[</a:t>
            </a:r>
            <a:r>
              <a:rPr lang="en-US" altLang="en-US" sz="1800" dirty="0" err="1">
                <a:solidFill>
                  <a:srgbClr val="000000"/>
                </a:solidFill>
                <a:latin typeface="Courier New" pitchFamily="49" charset="0"/>
                <a:cs typeface="Courier New" pitchFamily="49" charset="0"/>
              </a:rPr>
              <a:t>i</a:t>
            </a:r>
            <a:r>
              <a:rPr lang="en-US" altLang="en-US" sz="1800" dirty="0">
                <a:solidFill>
                  <a:srgbClr val="000000"/>
                </a:solidFill>
                <a:latin typeface="Courier New" pitchFamily="49" charset="0"/>
                <a:cs typeface="Courier New" pitchFamily="49" charset="0"/>
              </a:rPr>
              <a:t>] = EATING ;</a:t>
            </a:r>
          </a:p>
          <a:p>
            <a:pPr>
              <a:lnSpc>
                <a:spcPct val="80000"/>
              </a:lnSpc>
              <a:buFont typeface="Monotype Sorts" pitchFamily="-84" charset="2"/>
              <a:buNone/>
            </a:pPr>
            <a:r>
              <a:rPr lang="en-US" altLang="en-US" sz="1800" dirty="0">
                <a:solidFill>
                  <a:srgbClr val="000000"/>
                </a:solidFill>
                <a:latin typeface="Courier New" pitchFamily="49" charset="0"/>
                <a:cs typeface="Courier New" pitchFamily="49" charset="0"/>
              </a:rPr>
              <a:t>		    self[</a:t>
            </a:r>
            <a:r>
              <a:rPr lang="en-US" altLang="en-US" sz="1800" dirty="0" err="1">
                <a:solidFill>
                  <a:srgbClr val="000000"/>
                </a:solidFill>
                <a:latin typeface="Courier New" pitchFamily="49" charset="0"/>
                <a:cs typeface="Courier New" pitchFamily="49" charset="0"/>
              </a:rPr>
              <a:t>i</a:t>
            </a:r>
            <a:r>
              <a:rPr lang="en-US" altLang="en-US" sz="1800" dirty="0">
                <a:solidFill>
                  <a:srgbClr val="000000"/>
                </a:solidFill>
                <a:latin typeface="Courier New" pitchFamily="49" charset="0"/>
                <a:cs typeface="Courier New" pitchFamily="49" charset="0"/>
              </a:rPr>
              <a:t>].signal () ;</a:t>
            </a:r>
          </a:p>
          <a:p>
            <a:pPr>
              <a:lnSpc>
                <a:spcPct val="80000"/>
              </a:lnSpc>
              <a:buFont typeface="Monotype Sorts" pitchFamily="-84" charset="2"/>
              <a:buNone/>
            </a:pPr>
            <a:r>
              <a:rPr lang="en-US" altLang="en-US" sz="1800" dirty="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800" dirty="0">
                <a:solidFill>
                  <a:srgbClr val="000000"/>
                </a:solidFill>
                <a:latin typeface="Courier New" pitchFamily="49" charset="0"/>
                <a:cs typeface="Courier New" pitchFamily="49" charset="0"/>
              </a:rPr>
              <a:t>   }</a:t>
            </a:r>
          </a:p>
          <a:p>
            <a:pPr>
              <a:lnSpc>
                <a:spcPct val="80000"/>
              </a:lnSpc>
              <a:buFont typeface="Monotype Sorts" pitchFamily="-84" charset="2"/>
              <a:buNone/>
            </a:pPr>
            <a:endParaRPr lang="en-US" altLang="en-US" sz="1800"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800" dirty="0" smtClean="0">
                <a:solidFill>
                  <a:srgbClr val="0000FF"/>
                </a:solidFill>
              </a:rPr>
              <a:t>	</a:t>
            </a:r>
          </a:p>
        </p:txBody>
      </p:sp>
    </p:spTree>
    <p:extLst>
      <p:ext uri="{BB962C8B-B14F-4D97-AF65-F5344CB8AC3E}">
        <p14:creationId xmlns:p14="http://schemas.microsoft.com/office/powerpoint/2010/main" val="32666960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81113" y="123825"/>
            <a:ext cx="7916862" cy="638175"/>
          </a:xfrm>
        </p:spPr>
        <p:txBody>
          <a:bodyPr>
            <a:normAutofit fontScale="90000"/>
          </a:bodyPr>
          <a:lstStyle/>
          <a:p>
            <a:pPr eaLnBrk="1" hangingPunct="1"/>
            <a:r>
              <a:rPr lang="en-US" altLang="en-US" smtClean="0"/>
              <a:t>Solution to Dining Philosophers (Cont.)</a:t>
            </a:r>
          </a:p>
        </p:txBody>
      </p:sp>
      <p:sp>
        <p:nvSpPr>
          <p:cNvPr id="52227" name="Rectangle 3"/>
          <p:cNvSpPr>
            <a:spLocks noGrp="1" noChangeArrowheads="1"/>
          </p:cNvSpPr>
          <p:nvPr>
            <p:ph idx="1"/>
          </p:nvPr>
        </p:nvSpPr>
        <p:spPr>
          <a:xfrm>
            <a:off x="1160463" y="944563"/>
            <a:ext cx="6908800" cy="5268912"/>
          </a:xfrm>
        </p:spPr>
        <p:txBody>
          <a:bodyPr/>
          <a:lstStyle/>
          <a:p>
            <a:pPr>
              <a:lnSpc>
                <a:spcPct val="80000"/>
              </a:lnSpc>
              <a:buFont typeface="Monotype Sorts" pitchFamily="-84" charset="2"/>
              <a:buNone/>
            </a:pPr>
            <a:endParaRPr lang="en-US" altLang="en-US" sz="1600"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/*void test (</a:t>
            </a:r>
            <a:r>
              <a:rPr lang="en-US" altLang="en-US" sz="1600" dirty="0" err="1" smtClean="0">
                <a:solidFill>
                  <a:srgbClr val="000000"/>
                </a:solidFill>
                <a:latin typeface="Courier New" pitchFamily="49" charset="0"/>
                <a:cs typeface="Courier New" pitchFamily="49" charset="0"/>
              </a:rPr>
              <a:t>int</a:t>
            </a:r>
            <a:r>
              <a:rPr lang="en-US" altLang="en-US" sz="1600" dirty="0" smtClean="0">
                <a:solidFill>
                  <a:srgbClr val="000000"/>
                </a:solidFill>
                <a:latin typeface="Courier New" pitchFamily="49" charset="0"/>
                <a:cs typeface="Courier New" pitchFamily="49" charset="0"/>
              </a:rPr>
              <a:t> </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if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+ 4) % 5] != EATING) &amp;&amp;</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HUNGRY) &amp;&amp;</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+ 1) % 5] != EATING) ) {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EATING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self[</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].signal ()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r>
              <a:rPr lang="en-US" altLang="en-US" sz="1600" dirty="0" err="1" smtClean="0">
                <a:solidFill>
                  <a:srgbClr val="000000"/>
                </a:solidFill>
                <a:latin typeface="Courier New" pitchFamily="49" charset="0"/>
                <a:cs typeface="Courier New" pitchFamily="49" charset="0"/>
              </a:rPr>
              <a:t>initialization_code</a:t>
            </a:r>
            <a:r>
              <a:rPr lang="en-US" altLang="en-US" sz="1600" dirty="0" smtClean="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for (</a:t>
            </a:r>
            <a:r>
              <a:rPr lang="en-US" altLang="en-US" sz="1600" dirty="0" err="1" smtClean="0">
                <a:solidFill>
                  <a:srgbClr val="000000"/>
                </a:solidFill>
                <a:latin typeface="Courier New" pitchFamily="49" charset="0"/>
                <a:cs typeface="Courier New" pitchFamily="49" charset="0"/>
              </a:rPr>
              <a:t>int</a:t>
            </a:r>
            <a:r>
              <a:rPr lang="en-US" altLang="en-US" sz="1600" dirty="0" smtClean="0">
                <a:solidFill>
                  <a:srgbClr val="000000"/>
                </a:solidFill>
                <a:latin typeface="Courier New" pitchFamily="49" charset="0"/>
                <a:cs typeface="Courier New" pitchFamily="49" charset="0"/>
              </a:rPr>
              <a:t> </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0; </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&lt; 5; </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THINKING;</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a:t>
            </a:r>
          </a:p>
        </p:txBody>
      </p:sp>
    </p:spTree>
    <p:extLst>
      <p:ext uri="{BB962C8B-B14F-4D97-AF65-F5344CB8AC3E}">
        <p14:creationId xmlns:p14="http://schemas.microsoft.com/office/powerpoint/2010/main" val="137287888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idx="1"/>
          </p:nvPr>
        </p:nvSpPr>
        <p:spPr>
          <a:xfrm>
            <a:off x="914400" y="1090613"/>
            <a:ext cx="7445375" cy="5268912"/>
          </a:xfrm>
        </p:spPr>
        <p:txBody>
          <a:bodyPr>
            <a:normAutofit fontScale="85000" lnSpcReduction="10000"/>
          </a:bodyPr>
          <a:lstStyle/>
          <a:p>
            <a:pPr>
              <a:lnSpc>
                <a:spcPct val="80000"/>
              </a:lnSpc>
              <a:buFont typeface="Monotype Sorts" pitchFamily="-84" charset="2"/>
              <a:buNone/>
            </a:pPr>
            <a:endParaRPr lang="en-US" altLang="en-US" sz="1600" smtClean="0">
              <a:solidFill>
                <a:srgbClr val="0000FF"/>
              </a:solidFill>
            </a:endParaRPr>
          </a:p>
          <a:p>
            <a:pPr>
              <a:lnSpc>
                <a:spcPct val="80000"/>
              </a:lnSpc>
            </a:pPr>
            <a:r>
              <a:rPr lang="en-US" altLang="en-US" smtClean="0"/>
              <a:t>Each philosopher </a:t>
            </a:r>
            <a:r>
              <a:rPr lang="en-US" altLang="en-US" i="1" smtClean="0"/>
              <a:t>i </a:t>
            </a:r>
            <a:r>
              <a:rPr lang="en-US" altLang="en-US" smtClean="0"/>
              <a:t>invokes the</a:t>
            </a:r>
            <a:r>
              <a:rPr lang="en-US" altLang="en-US" i="1" smtClean="0"/>
              <a:t> </a:t>
            </a:r>
            <a:r>
              <a:rPr lang="en-US" altLang="en-US" smtClean="0"/>
              <a:t>operations </a:t>
            </a:r>
            <a:r>
              <a:rPr lang="en-US" altLang="en-US" sz="2000" b="1" smtClean="0">
                <a:solidFill>
                  <a:srgbClr val="000000"/>
                </a:solidFill>
                <a:latin typeface="Courier New" pitchFamily="49" charset="0"/>
                <a:cs typeface="Courier New" pitchFamily="49" charset="0"/>
              </a:rPr>
              <a:t>pickup()</a:t>
            </a:r>
            <a:r>
              <a:rPr lang="en-US" altLang="en-US" sz="2000" i="1" smtClean="0"/>
              <a:t> </a:t>
            </a:r>
            <a:r>
              <a:rPr lang="en-US" altLang="en-US" smtClean="0"/>
              <a:t>and </a:t>
            </a:r>
            <a:r>
              <a:rPr lang="en-US" altLang="en-US" sz="2000" b="1" smtClean="0">
                <a:solidFill>
                  <a:srgbClr val="000000"/>
                </a:solidFill>
                <a:latin typeface="Courier New" pitchFamily="49" charset="0"/>
                <a:cs typeface="Courier New" pitchFamily="49" charset="0"/>
              </a:rPr>
              <a:t>putdown()</a:t>
            </a:r>
            <a:r>
              <a:rPr lang="en-US" altLang="en-US" sz="2000" smtClean="0"/>
              <a:t> </a:t>
            </a:r>
            <a:r>
              <a:rPr lang="en-US" altLang="en-US" smtClean="0"/>
              <a:t>in the following sequence:</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r>
              <a:rPr lang="en-US" altLang="en-US" sz="2000" b="1" smtClean="0">
                <a:solidFill>
                  <a:srgbClr val="000000"/>
                </a:solidFill>
                <a:latin typeface="Courier New" pitchFamily="49" charset="0"/>
                <a:cs typeface="Courier New" pitchFamily="49" charset="0"/>
              </a:rPr>
              <a:t>DiningPhilosophers.pickup(i)</a:t>
            </a:r>
            <a:r>
              <a:rPr lang="en-US" altLang="en-US" b="1" smtClean="0">
                <a:solidFill>
                  <a:srgbClr val="000000"/>
                </a:solidFill>
                <a:latin typeface="Courier New" pitchFamily="49" charset="0"/>
                <a:cs typeface="Courier New" pitchFamily="49" charset="0"/>
              </a:rPr>
              <a:t>;</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EAT</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r>
              <a:rPr lang="en-US" altLang="en-US" sz="2000" b="1" smtClean="0">
                <a:solidFill>
                  <a:srgbClr val="000000"/>
                </a:solidFill>
                <a:latin typeface="Courier New" pitchFamily="49" charset="0"/>
                <a:cs typeface="Courier New" pitchFamily="49" charset="0"/>
              </a:rPr>
              <a:t>DiningPhilosophers.putdown(i)</a:t>
            </a:r>
            <a:r>
              <a:rPr lang="en-US" altLang="en-US" b="1" smtClean="0">
                <a:solidFill>
                  <a:srgbClr val="000000"/>
                </a:solidFill>
                <a:latin typeface="Courier New" pitchFamily="49" charset="0"/>
                <a:cs typeface="Courier New" pitchFamily="49" charset="0"/>
              </a:rPr>
              <a:t>;</a:t>
            </a:r>
          </a:p>
          <a:p>
            <a:pPr>
              <a:lnSpc>
                <a:spcPct val="80000"/>
              </a:lnSpc>
              <a:buFont typeface="Monotype Sorts" pitchFamily="-84" charset="2"/>
              <a:buNone/>
            </a:pPr>
            <a:endParaRPr lang="en-US" altLang="en-US" smtClean="0">
              <a:solidFill>
                <a:srgbClr val="0000FF"/>
              </a:solidFill>
            </a:endParaRPr>
          </a:p>
          <a:p>
            <a:pPr>
              <a:lnSpc>
                <a:spcPct val="80000"/>
              </a:lnSpc>
            </a:pPr>
            <a:r>
              <a:rPr lang="en-US" altLang="en-US" smtClean="0"/>
              <a:t>No deadlock, but starvation is possible</a:t>
            </a:r>
          </a:p>
          <a:p>
            <a:pPr>
              <a:lnSpc>
                <a:spcPct val="80000"/>
              </a:lnSpc>
              <a:buFont typeface="Monotype Sorts" pitchFamily="-84" charset="2"/>
              <a:buNone/>
            </a:pPr>
            <a:endParaRPr lang="en-US" altLang="en-US" smtClean="0">
              <a:solidFill>
                <a:srgbClr val="0000FF"/>
              </a:solidFill>
            </a:endParaRPr>
          </a:p>
          <a:p>
            <a:pPr>
              <a:lnSpc>
                <a:spcPct val="80000"/>
              </a:lnSpc>
              <a:buFont typeface="Monotype Sorts" pitchFamily="-84" charset="2"/>
              <a:buNone/>
            </a:pPr>
            <a:endParaRPr lang="en-US" altLang="en-US" smtClean="0">
              <a:solidFill>
                <a:srgbClr val="0000FF"/>
              </a:solidFill>
            </a:endParaRPr>
          </a:p>
          <a:p>
            <a:pPr>
              <a:lnSpc>
                <a:spcPct val="80000"/>
              </a:lnSpc>
              <a:buFont typeface="Monotype Sorts" pitchFamily="-84" charset="2"/>
              <a:buNone/>
            </a:pPr>
            <a:r>
              <a:rPr lang="en-US" altLang="en-US" i="1" smtClean="0">
                <a:solidFill>
                  <a:srgbClr val="0000FF"/>
                </a:solidFill>
              </a:rPr>
              <a:t>       </a:t>
            </a:r>
          </a:p>
        </p:txBody>
      </p:sp>
      <p:sp>
        <p:nvSpPr>
          <p:cNvPr id="53251" name="Rectangle 2"/>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r>
              <a:rPr lang="en-US" altLang="en-US" sz="3200" b="1">
                <a:solidFill>
                  <a:srgbClr val="006699"/>
                </a:solidFill>
                <a:latin typeface="Arial" pitchFamily="34" charset="0"/>
              </a:rPr>
              <a:t>Solution to Dining Philosophers (Cont.)</a:t>
            </a:r>
          </a:p>
        </p:txBody>
      </p:sp>
    </p:spTree>
    <p:extLst>
      <p:ext uri="{BB962C8B-B14F-4D97-AF65-F5344CB8AC3E}">
        <p14:creationId xmlns:p14="http://schemas.microsoft.com/office/powerpoint/2010/main" val="227331415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 </a:t>
            </a:r>
            <a:endParaRPr lang="en-IN" dirty="0"/>
          </a:p>
        </p:txBody>
      </p:sp>
      <p:sp>
        <p:nvSpPr>
          <p:cNvPr id="3" name="Content Placeholder 2"/>
          <p:cNvSpPr>
            <a:spLocks noGrp="1"/>
          </p:cNvSpPr>
          <p:nvPr>
            <p:ph idx="1"/>
          </p:nvPr>
        </p:nvSpPr>
        <p:spPr/>
        <p:txBody>
          <a:bodyPr/>
          <a:lstStyle/>
          <a:p>
            <a:r>
              <a:rPr lang="en-IN" dirty="0" smtClean="0">
                <a:solidFill>
                  <a:srgbClr val="FF0000"/>
                </a:solidFill>
              </a:rPr>
              <a:t>Sleeping Barber’s Problem</a:t>
            </a:r>
          </a:p>
          <a:p>
            <a:r>
              <a:rPr lang="en-IN" dirty="0" smtClean="0">
                <a:solidFill>
                  <a:srgbClr val="FF0000"/>
                </a:solidFill>
              </a:rPr>
              <a:t>Cigarette Smoker’s Problem</a:t>
            </a:r>
            <a:endParaRPr lang="en-IN" dirty="0">
              <a:solidFill>
                <a:srgbClr val="FF0000"/>
              </a:solidFill>
            </a:endParaRPr>
          </a:p>
        </p:txBody>
      </p:sp>
    </p:spTree>
    <p:extLst>
      <p:ext uri="{BB962C8B-B14F-4D97-AF65-F5344CB8AC3E}">
        <p14:creationId xmlns:p14="http://schemas.microsoft.com/office/powerpoint/2010/main" val="36290430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84288" y="-111125"/>
            <a:ext cx="7715250" cy="844550"/>
          </a:xfrm>
        </p:spPr>
        <p:txBody>
          <a:bodyPr/>
          <a:lstStyle/>
          <a:p>
            <a:pPr eaLnBrk="1" hangingPunct="1"/>
            <a:r>
              <a:rPr lang="en-US" altLang="en-US" sz="2800" dirty="0" smtClean="0"/>
              <a:t>Monitor Implementation Using Semaphores</a:t>
            </a:r>
          </a:p>
        </p:txBody>
      </p:sp>
      <p:sp>
        <p:nvSpPr>
          <p:cNvPr id="54275" name="Rectangle 3"/>
          <p:cNvSpPr>
            <a:spLocks noGrp="1" noChangeArrowheads="1"/>
          </p:cNvSpPr>
          <p:nvPr>
            <p:ph idx="1"/>
          </p:nvPr>
        </p:nvSpPr>
        <p:spPr>
          <a:xfrm>
            <a:off x="1052513" y="1133475"/>
            <a:ext cx="7043737" cy="4719638"/>
          </a:xfrm>
        </p:spPr>
        <p:txBody>
          <a:bodyPr>
            <a:normAutofit fontScale="70000" lnSpcReduction="20000"/>
          </a:bodyPr>
          <a:lstStyle/>
          <a:p>
            <a:pPr>
              <a:lnSpc>
                <a:spcPct val="80000"/>
              </a:lnSpc>
              <a:tabLst>
                <a:tab pos="1887538" algn="l"/>
                <a:tab pos="2335213" algn="l"/>
                <a:tab pos="2506663" algn="l"/>
              </a:tabLst>
            </a:pPr>
            <a:r>
              <a:rPr lang="en-US" altLang="en-US" dirty="0" smtClean="0"/>
              <a:t>Variables </a:t>
            </a:r>
          </a:p>
          <a:p>
            <a:pPr>
              <a:lnSpc>
                <a:spcPct val="80000"/>
              </a:lnSpc>
              <a:buFont typeface="Monotype Sorts" pitchFamily="-84" charset="2"/>
              <a:buNone/>
              <a:tabLst>
                <a:tab pos="1887538" algn="l"/>
                <a:tab pos="2335213" algn="l"/>
                <a:tab pos="2506663" algn="l"/>
              </a:tabLst>
            </a:pPr>
            <a:endParaRPr lang="en-US" altLang="en-US" dirty="0" smtClean="0"/>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semaphore </a:t>
            </a:r>
            <a:r>
              <a:rPr lang="en-US" altLang="en-US" b="1" dirty="0" err="1" smtClean="0">
                <a:solidFill>
                  <a:srgbClr val="000000"/>
                </a:solidFill>
                <a:latin typeface="Courier New" pitchFamily="49" charset="0"/>
                <a:cs typeface="Courier New" pitchFamily="49" charset="0"/>
              </a:rPr>
              <a:t>mutex</a:t>
            </a:r>
            <a:r>
              <a:rPr lang="en-US" altLang="en-US" b="1" dirty="0" smtClean="0">
                <a:solidFill>
                  <a:srgbClr val="000000"/>
                </a:solidFill>
                <a:latin typeface="Courier New" pitchFamily="49" charset="0"/>
                <a:cs typeface="Courier New" pitchFamily="49" charset="0"/>
              </a:rPr>
              <a:t>;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int</a:t>
            </a: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next_count</a:t>
            </a:r>
            <a:r>
              <a:rPr lang="en-US" altLang="en-US" b="1" dirty="0" smtClean="0">
                <a:solidFill>
                  <a:srgbClr val="000000"/>
                </a:solidFill>
                <a:latin typeface="Courier New" pitchFamily="49" charset="0"/>
                <a:cs typeface="Courier New" pitchFamily="49" charset="0"/>
              </a:rPr>
              <a:t> = 0;</a:t>
            </a:r>
            <a:br>
              <a:rPr lang="en-US" altLang="en-US" b="1" dirty="0" smtClean="0">
                <a:solidFill>
                  <a:srgbClr val="000000"/>
                </a:solidFill>
                <a:latin typeface="Courier New" pitchFamily="49" charset="0"/>
                <a:cs typeface="Courier New" pitchFamily="49" charset="0"/>
              </a:rPr>
            </a:br>
            <a:endParaRPr lang="en-US" altLang="en-US" b="1" dirty="0" smtClean="0">
              <a:solidFill>
                <a:srgbClr val="000000"/>
              </a:solidFill>
              <a:latin typeface="Courier New" pitchFamily="49" charset="0"/>
              <a:cs typeface="Courier New" pitchFamily="49" charset="0"/>
            </a:endParaRPr>
          </a:p>
          <a:p>
            <a:pPr>
              <a:lnSpc>
                <a:spcPct val="80000"/>
              </a:lnSpc>
              <a:tabLst>
                <a:tab pos="1887538" algn="l"/>
                <a:tab pos="2335213" algn="l"/>
                <a:tab pos="2506663" algn="l"/>
              </a:tabLst>
            </a:pPr>
            <a:r>
              <a:rPr lang="en-US" altLang="en-US" dirty="0" smtClean="0"/>
              <a:t>Each procedure </a:t>
            </a:r>
            <a:r>
              <a:rPr lang="en-US" altLang="en-US" b="1" i="1" dirty="0" smtClean="0"/>
              <a:t>F</a:t>
            </a:r>
            <a:r>
              <a:rPr lang="en-US" altLang="en-US" dirty="0" smtClean="0"/>
              <a:t>  will be replaced by</a:t>
            </a:r>
          </a:p>
          <a:p>
            <a:pPr>
              <a:lnSpc>
                <a:spcPct val="80000"/>
              </a:lnSpc>
              <a:tabLst>
                <a:tab pos="1887538" algn="l"/>
                <a:tab pos="2335213" algn="l"/>
                <a:tab pos="2506663" algn="l"/>
              </a:tabLst>
            </a:pPr>
            <a:endParaRPr lang="en-US" altLang="en-US" sz="1600" dirty="0" smtClean="0"/>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wait(</a:t>
            </a:r>
            <a:r>
              <a:rPr lang="en-US" altLang="en-US" b="1" dirty="0" err="1" smtClean="0">
                <a:solidFill>
                  <a:srgbClr val="000000"/>
                </a:solidFill>
                <a:latin typeface="Courier New" pitchFamily="49" charset="0"/>
                <a:cs typeface="Courier New" pitchFamily="49" charset="0"/>
              </a:rPr>
              <a:t>mutex</a:t>
            </a:r>
            <a:r>
              <a:rPr lang="en-US" altLang="en-US" b="1" dirty="0" smtClean="0">
                <a:solidFill>
                  <a:srgbClr val="000000"/>
                </a:solidFill>
                <a:latin typeface="Courier New" pitchFamily="49" charset="0"/>
                <a:cs typeface="Courier New" pitchFamily="49" charset="0"/>
              </a:rPr>
              <a:t>);</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body of F;</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if (</a:t>
            </a:r>
            <a:r>
              <a:rPr lang="en-US" altLang="en-US" b="1" dirty="0" err="1" smtClean="0">
                <a:solidFill>
                  <a:srgbClr val="000000"/>
                </a:solidFill>
                <a:latin typeface="Courier New" pitchFamily="49" charset="0"/>
                <a:cs typeface="Courier New" pitchFamily="49" charset="0"/>
              </a:rPr>
              <a:t>next_count</a:t>
            </a:r>
            <a:r>
              <a:rPr lang="en-US" altLang="en-US" b="1" dirty="0" smtClean="0">
                <a:solidFill>
                  <a:srgbClr val="000000"/>
                </a:solidFill>
                <a:latin typeface="Courier New" pitchFamily="49" charset="0"/>
                <a:cs typeface="Courier New"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				signal(</a:t>
            </a:r>
            <a:r>
              <a:rPr lang="en-US" altLang="en-US" b="1" dirty="0" err="1" smtClean="0">
                <a:solidFill>
                  <a:srgbClr val="000000"/>
                </a:solidFill>
                <a:latin typeface="Courier New" pitchFamily="49" charset="0"/>
                <a:cs typeface="Courier New" pitchFamily="49" charset="0"/>
              </a:rPr>
              <a:t>mutex</a:t>
            </a:r>
            <a:r>
              <a:rPr lang="en-US" altLang="en-US" b="1" dirty="0" smtClean="0">
                <a:solidFill>
                  <a:srgbClr val="000000"/>
                </a:solidFill>
                <a:latin typeface="Courier New" pitchFamily="49" charset="0"/>
                <a:cs typeface="Courier New" pitchFamily="49" charset="0"/>
              </a:rPr>
              <a:t>);</a:t>
            </a:r>
            <a:br>
              <a:rPr lang="en-US" altLang="en-US" b="1" dirty="0" smtClean="0">
                <a:solidFill>
                  <a:srgbClr val="000000"/>
                </a:solidFill>
                <a:latin typeface="Courier New" pitchFamily="49" charset="0"/>
                <a:cs typeface="Courier New" pitchFamily="49" charset="0"/>
              </a:rPr>
            </a:br>
            <a:endParaRPr lang="en-US" altLang="en-US" b="1" dirty="0" smtClean="0">
              <a:solidFill>
                <a:srgbClr val="000000"/>
              </a:solidFill>
              <a:latin typeface="Courier New" pitchFamily="49" charset="0"/>
              <a:cs typeface="Courier New" pitchFamily="49" charset="0"/>
            </a:endParaRPr>
          </a:p>
          <a:p>
            <a:pPr>
              <a:lnSpc>
                <a:spcPct val="80000"/>
              </a:lnSpc>
              <a:tabLst>
                <a:tab pos="1887538" algn="l"/>
                <a:tab pos="2335213" algn="l"/>
                <a:tab pos="2506663" algn="l"/>
              </a:tabLst>
            </a:pPr>
            <a:r>
              <a:rPr lang="en-US" altLang="en-US" dirty="0" smtClean="0"/>
              <a:t>Mutual exclusion within a monitor is ensured</a:t>
            </a:r>
          </a:p>
        </p:txBody>
      </p:sp>
    </p:spTree>
    <p:extLst>
      <p:ext uri="{BB962C8B-B14F-4D97-AF65-F5344CB8AC3E}">
        <p14:creationId xmlns:p14="http://schemas.microsoft.com/office/powerpoint/2010/main" val="125569050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89025" y="158750"/>
            <a:ext cx="8229600" cy="576263"/>
          </a:xfrm>
        </p:spPr>
        <p:txBody>
          <a:bodyPr/>
          <a:lstStyle/>
          <a:p>
            <a:pPr eaLnBrk="1" hangingPunct="1"/>
            <a:r>
              <a:rPr lang="en-US" altLang="en-US" sz="2600" smtClean="0"/>
              <a:t>Monitor Implementation – Condition Variables</a:t>
            </a:r>
          </a:p>
        </p:txBody>
      </p:sp>
      <p:sp>
        <p:nvSpPr>
          <p:cNvPr id="55299" name="Rectangle 3"/>
          <p:cNvSpPr>
            <a:spLocks noGrp="1" noChangeArrowheads="1"/>
          </p:cNvSpPr>
          <p:nvPr>
            <p:ph idx="1"/>
          </p:nvPr>
        </p:nvSpPr>
        <p:spPr>
          <a:xfrm>
            <a:off x="893763" y="1190625"/>
            <a:ext cx="7843837" cy="4530725"/>
          </a:xfrm>
        </p:spPr>
        <p:txBody>
          <a:bodyPr>
            <a:normAutofit fontScale="70000" lnSpcReduction="20000"/>
          </a:bodyPr>
          <a:lstStyle/>
          <a:p>
            <a:pPr>
              <a:lnSpc>
                <a:spcPct val="90000"/>
              </a:lnSpc>
              <a:spcBef>
                <a:spcPct val="15000"/>
              </a:spcBef>
              <a:tabLst>
                <a:tab pos="1828800" algn="l"/>
                <a:tab pos="2217738" algn="l"/>
              </a:tabLst>
            </a:pPr>
            <a:r>
              <a:rPr lang="en-US" altLang="en-US" dirty="0" smtClean="0"/>
              <a:t>For each condition variable </a:t>
            </a:r>
            <a:r>
              <a:rPr lang="en-US" altLang="en-US" b="1" i="1" dirty="0" smtClean="0"/>
              <a:t>x</a:t>
            </a:r>
            <a:r>
              <a:rPr lang="en-US" altLang="en-US" dirty="0" smtClean="0"/>
              <a:t>, we  have</a:t>
            </a:r>
            <a:r>
              <a:rPr lang="en-US" altLang="en-US" sz="1600" dirty="0" smtClean="0"/>
              <a:t>:</a:t>
            </a:r>
          </a:p>
          <a:p>
            <a:pPr>
              <a:lnSpc>
                <a:spcPct val="90000"/>
              </a:lnSpc>
              <a:spcBef>
                <a:spcPct val="15000"/>
              </a:spcBef>
              <a:buFont typeface="Monotype Sorts" pitchFamily="-84" charset="2"/>
              <a:buNone/>
              <a:tabLst>
                <a:tab pos="1828800" algn="l"/>
                <a:tab pos="2217738" algn="l"/>
              </a:tabLst>
            </a:pPr>
            <a:endParaRPr lang="en-US" altLang="en-US" sz="1600" dirty="0" smtClean="0"/>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semaphore </a:t>
            </a:r>
            <a:r>
              <a:rPr lang="en-US" altLang="en-US" b="1" dirty="0" err="1" smtClean="0">
                <a:solidFill>
                  <a:srgbClr val="000000"/>
                </a:solidFill>
                <a:latin typeface="Courier New" pitchFamily="49" charset="0"/>
                <a:cs typeface="Courier New" pitchFamily="49" charset="0"/>
              </a:rPr>
              <a:t>x_sem</a:t>
            </a:r>
            <a:r>
              <a:rPr lang="en-US" altLang="en-US" b="1" dirty="0" smtClean="0">
                <a:solidFill>
                  <a:srgbClr val="000000"/>
                </a:solidFill>
                <a:latin typeface="Courier New" pitchFamily="49" charset="0"/>
                <a:cs typeface="Courier New" pitchFamily="49" charset="0"/>
              </a:rPr>
              <a:t>; // </a:t>
            </a:r>
            <a:r>
              <a:rPr lang="en-US" altLang="en-US" sz="2600" b="1" dirty="0" smtClean="0">
                <a:solidFill>
                  <a:srgbClr val="000000"/>
                </a:solidFill>
                <a:latin typeface="Courier New" pitchFamily="49" charset="0"/>
                <a:cs typeface="Courier New" pitchFamily="49" charset="0"/>
              </a:rPr>
              <a:t>(initially  = 0)</a:t>
            </a:r>
            <a:endParaRPr lang="en-US" altLang="en-US" b="1" dirty="0" smtClean="0">
              <a:solidFill>
                <a:srgbClr val="000000"/>
              </a:solidFill>
              <a:latin typeface="Courier New" pitchFamily="49" charset="0"/>
              <a:cs typeface="Courier New" pitchFamily="49" charset="0"/>
            </a:endParaRP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int</a:t>
            </a: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x_count</a:t>
            </a:r>
            <a:r>
              <a:rPr lang="en-US" altLang="en-US" b="1" dirty="0" smtClean="0">
                <a:solidFill>
                  <a:srgbClr val="000000"/>
                </a:solidFill>
                <a:latin typeface="Courier New" pitchFamily="49" charset="0"/>
                <a:cs typeface="Courier New" pitchFamily="49" charset="0"/>
              </a:rPr>
              <a:t> = 0;</a:t>
            </a:r>
            <a:br>
              <a:rPr lang="en-US" altLang="en-US" b="1" dirty="0" smtClean="0">
                <a:solidFill>
                  <a:srgbClr val="000000"/>
                </a:solidFill>
                <a:latin typeface="Courier New" pitchFamily="49" charset="0"/>
                <a:cs typeface="Courier New" pitchFamily="49" charset="0"/>
              </a:rPr>
            </a:br>
            <a:endParaRPr lang="en-US" altLang="en-US" b="1" dirty="0" smtClean="0">
              <a:solidFill>
                <a:srgbClr val="000000"/>
              </a:solidFill>
              <a:latin typeface="Courier New" pitchFamily="49" charset="0"/>
              <a:cs typeface="Courier New" pitchFamily="49" charset="0"/>
            </a:endParaRPr>
          </a:p>
          <a:p>
            <a:pPr>
              <a:lnSpc>
                <a:spcPct val="90000"/>
              </a:lnSpc>
              <a:spcBef>
                <a:spcPct val="15000"/>
              </a:spcBef>
              <a:tabLst>
                <a:tab pos="1828800" algn="l"/>
                <a:tab pos="2217738" algn="l"/>
              </a:tabLst>
            </a:pPr>
            <a:r>
              <a:rPr lang="en-US" altLang="en-US" dirty="0" smtClean="0"/>
              <a:t>The operation </a:t>
            </a:r>
            <a:r>
              <a:rPr lang="en-US" altLang="en-US" dirty="0" err="1" smtClean="0">
                <a:solidFill>
                  <a:srgbClr val="0000FF"/>
                </a:solidFill>
              </a:rPr>
              <a:t>x.wait</a:t>
            </a:r>
            <a:r>
              <a:rPr lang="en-US" altLang="en-US" b="1" dirty="0" smtClean="0"/>
              <a:t> </a:t>
            </a:r>
            <a:r>
              <a:rPr lang="en-US" altLang="en-US" dirty="0" smtClean="0"/>
              <a:t>can be implemented as</a:t>
            </a:r>
            <a:r>
              <a:rPr lang="en-US" altLang="en-US" sz="1600" dirty="0" smtClean="0"/>
              <a:t>:</a:t>
            </a:r>
          </a:p>
          <a:p>
            <a:pPr>
              <a:lnSpc>
                <a:spcPct val="90000"/>
              </a:lnSpc>
              <a:spcBef>
                <a:spcPct val="15000"/>
              </a:spcBef>
              <a:buFont typeface="Monotype Sorts" pitchFamily="-84" charset="2"/>
              <a:buNone/>
              <a:tabLst>
                <a:tab pos="1828800" algn="l"/>
                <a:tab pos="2217738" algn="l"/>
              </a:tabLst>
            </a:pPr>
            <a:r>
              <a:rPr lang="en-US" altLang="en-US" sz="1600" dirty="0" smtClean="0"/>
              <a:t>		</a:t>
            </a: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x_count</a:t>
            </a:r>
            <a:r>
              <a:rPr lang="en-US" altLang="en-US" b="1" dirty="0" smtClean="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if (</a:t>
            </a:r>
            <a:r>
              <a:rPr lang="en-US" altLang="en-US" b="1" dirty="0" err="1" smtClean="0">
                <a:solidFill>
                  <a:srgbClr val="000000"/>
                </a:solidFill>
                <a:latin typeface="Courier New" pitchFamily="49" charset="0"/>
                <a:cs typeface="Courier New" pitchFamily="49" charset="0"/>
              </a:rPr>
              <a:t>next_count</a:t>
            </a:r>
            <a:r>
              <a:rPr lang="en-US" altLang="en-US" b="1" dirty="0" smtClean="0">
                <a:solidFill>
                  <a:srgbClr val="000000"/>
                </a:solidFill>
                <a:latin typeface="Courier New" pitchFamily="49" charset="0"/>
                <a:cs typeface="Courier New"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signal(</a:t>
            </a:r>
            <a:r>
              <a:rPr lang="en-US" altLang="en-US" b="1" dirty="0" err="1" smtClean="0">
                <a:solidFill>
                  <a:srgbClr val="000000"/>
                </a:solidFill>
                <a:latin typeface="Courier New" pitchFamily="49" charset="0"/>
                <a:cs typeface="Courier New" pitchFamily="49" charset="0"/>
              </a:rPr>
              <a:t>mutex</a:t>
            </a:r>
            <a:r>
              <a:rPr lang="en-US" altLang="en-US" b="1" dirty="0" smtClean="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wait(</a:t>
            </a:r>
            <a:r>
              <a:rPr lang="en-US" altLang="en-US" b="1" dirty="0" err="1" smtClean="0">
                <a:solidFill>
                  <a:srgbClr val="000000"/>
                </a:solidFill>
                <a:latin typeface="Courier New" pitchFamily="49" charset="0"/>
                <a:cs typeface="Courier New" pitchFamily="49" charset="0"/>
              </a:rPr>
              <a:t>x_sem</a:t>
            </a:r>
            <a:r>
              <a:rPr lang="en-US" altLang="en-US" b="1" dirty="0" smtClean="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x_count</a:t>
            </a:r>
            <a:r>
              <a:rPr lang="en-US" altLang="en-US" b="1" dirty="0" smtClean="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smtClean="0"/>
              <a:t>		</a:t>
            </a:r>
          </a:p>
        </p:txBody>
      </p:sp>
    </p:spTree>
    <p:extLst>
      <p:ext uri="{BB962C8B-B14F-4D97-AF65-F5344CB8AC3E}">
        <p14:creationId xmlns:p14="http://schemas.microsoft.com/office/powerpoint/2010/main" val="223601811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33450" y="146050"/>
            <a:ext cx="7753350" cy="576263"/>
          </a:xfrm>
        </p:spPr>
        <p:txBody>
          <a:bodyPr>
            <a:normAutofit fontScale="90000"/>
          </a:bodyPr>
          <a:lstStyle/>
          <a:p>
            <a:pPr eaLnBrk="1" hangingPunct="1"/>
            <a:r>
              <a:rPr lang="en-US" altLang="en-US" smtClean="0"/>
              <a:t>Monitor Implementation (Cont.)</a:t>
            </a:r>
          </a:p>
        </p:txBody>
      </p:sp>
      <p:sp>
        <p:nvSpPr>
          <p:cNvPr id="56323" name="Rectangle 3"/>
          <p:cNvSpPr>
            <a:spLocks noGrp="1" noChangeArrowheads="1"/>
          </p:cNvSpPr>
          <p:nvPr>
            <p:ph idx="1"/>
          </p:nvPr>
        </p:nvSpPr>
        <p:spPr/>
        <p:txBody>
          <a:bodyPr>
            <a:normAutofit fontScale="92500" lnSpcReduction="20000"/>
          </a:bodyPr>
          <a:lstStyle/>
          <a:p>
            <a:pPr>
              <a:tabLst>
                <a:tab pos="1368425" algn="l"/>
                <a:tab pos="1712913" algn="l"/>
                <a:tab pos="2335213" algn="l"/>
              </a:tabLst>
            </a:pPr>
            <a:r>
              <a:rPr lang="en-US" altLang="en-US" dirty="0" smtClean="0"/>
              <a:t>The operation </a:t>
            </a:r>
            <a:r>
              <a:rPr lang="en-US" altLang="en-US" b="1" dirty="0" err="1" smtClean="0">
                <a:solidFill>
                  <a:srgbClr val="000000"/>
                </a:solidFill>
                <a:latin typeface="Courier New" pitchFamily="49" charset="0"/>
                <a:cs typeface="Courier New" pitchFamily="49" charset="0"/>
              </a:rPr>
              <a:t>x.signal</a:t>
            </a:r>
            <a:r>
              <a:rPr lang="en-US" altLang="en-US" b="1" dirty="0" smtClean="0">
                <a:solidFill>
                  <a:srgbClr val="000000"/>
                </a:solidFill>
                <a:latin typeface="Courier New" pitchFamily="49" charset="0"/>
                <a:cs typeface="Courier New" pitchFamily="49" charset="0"/>
              </a:rPr>
              <a:t> </a:t>
            </a:r>
            <a:r>
              <a:rPr lang="en-US" altLang="en-US" dirty="0" smtClean="0"/>
              <a:t>can be implemented as:</a:t>
            </a:r>
            <a:br>
              <a:rPr lang="en-US" altLang="en-US" dirty="0" smtClean="0"/>
            </a:br>
            <a:endParaRPr lang="en-US" altLang="en-US" dirty="0" smtClean="0"/>
          </a:p>
          <a:p>
            <a:pPr>
              <a:spcBef>
                <a:spcPct val="15000"/>
              </a:spcBef>
              <a:buFont typeface="Monotype Sorts" pitchFamily="-84" charset="2"/>
              <a:buNone/>
              <a:tabLst>
                <a:tab pos="1368425" algn="l"/>
                <a:tab pos="1712913" algn="l"/>
                <a:tab pos="2335213" algn="l"/>
              </a:tabLst>
            </a:pPr>
            <a:r>
              <a:rPr lang="en-US" altLang="en-US" b="1" dirty="0" smtClean="0">
                <a:solidFill>
                  <a:srgbClr val="000000"/>
                </a:solidFill>
                <a:latin typeface="Courier New" pitchFamily="49" charset="0"/>
                <a:cs typeface="Courier New" pitchFamily="49" charset="0"/>
              </a:rPr>
              <a:t>		if (</a:t>
            </a:r>
            <a:r>
              <a:rPr lang="en-US" altLang="en-US" b="1" dirty="0" err="1" smtClean="0">
                <a:solidFill>
                  <a:srgbClr val="000000"/>
                </a:solidFill>
                <a:latin typeface="Courier New" pitchFamily="49" charset="0"/>
                <a:cs typeface="Courier New" pitchFamily="49" charset="0"/>
              </a:rPr>
              <a:t>x_count</a:t>
            </a:r>
            <a:r>
              <a:rPr lang="en-US" altLang="en-US" b="1" dirty="0" smtClean="0">
                <a:solidFill>
                  <a:srgbClr val="000000"/>
                </a:solidFill>
                <a:latin typeface="Courier New" pitchFamily="49" charset="0"/>
                <a:cs typeface="Courier New" pitchFamily="49" charset="0"/>
              </a:rPr>
              <a:t> &gt; 0) {</a:t>
            </a:r>
          </a:p>
          <a:p>
            <a:pPr>
              <a:spcBef>
                <a:spcPct val="15000"/>
              </a:spcBef>
              <a:buFont typeface="Monotype Sorts" pitchFamily="-84" charset="2"/>
              <a:buNone/>
              <a:tabLst>
                <a:tab pos="1368425" algn="l"/>
                <a:tab pos="1712913" algn="l"/>
                <a:tab pos="2335213" algn="l"/>
              </a:tabLst>
            </a:pP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next_count</a:t>
            </a:r>
            <a:r>
              <a:rPr lang="en-US" altLang="en-US" b="1" dirty="0" smtClean="0">
                <a:solidFill>
                  <a:srgbClr val="000000"/>
                </a:solidFill>
                <a:latin typeface="Courier New" pitchFamily="49" charset="0"/>
                <a:cs typeface="Courier New" pitchFamily="49" charset="0"/>
              </a:rPr>
              <a:t>++;</a:t>
            </a:r>
          </a:p>
          <a:p>
            <a:pPr>
              <a:spcBef>
                <a:spcPct val="15000"/>
              </a:spcBef>
              <a:buFont typeface="Monotype Sorts" pitchFamily="-84" charset="2"/>
              <a:buNone/>
              <a:tabLst>
                <a:tab pos="1368425" algn="l"/>
                <a:tab pos="1712913" algn="l"/>
                <a:tab pos="2335213" algn="l"/>
              </a:tabLst>
            </a:pPr>
            <a:r>
              <a:rPr lang="en-US" altLang="en-US" b="1" dirty="0" smtClean="0">
                <a:solidFill>
                  <a:srgbClr val="000000"/>
                </a:solidFill>
                <a:latin typeface="Courier New" pitchFamily="49" charset="0"/>
                <a:cs typeface="Courier New" pitchFamily="49" charset="0"/>
              </a:rPr>
              <a:t>			signal(</a:t>
            </a:r>
            <a:r>
              <a:rPr lang="en-US" altLang="en-US" b="1" dirty="0" err="1" smtClean="0">
                <a:solidFill>
                  <a:srgbClr val="000000"/>
                </a:solidFill>
                <a:latin typeface="Courier New" pitchFamily="49" charset="0"/>
                <a:cs typeface="Courier New" pitchFamily="49" charset="0"/>
              </a:rPr>
              <a:t>x_sem</a:t>
            </a:r>
            <a:r>
              <a:rPr lang="en-US" altLang="en-US" b="1" dirty="0" smtClean="0">
                <a:solidFill>
                  <a:srgbClr val="000000"/>
                </a:solidFill>
                <a:latin typeface="Courier New" pitchFamily="49" charset="0"/>
                <a:cs typeface="Courier New" pitchFamily="49" charset="0"/>
              </a:rPr>
              <a:t>);</a:t>
            </a:r>
          </a:p>
          <a:p>
            <a:pPr>
              <a:spcBef>
                <a:spcPct val="15000"/>
              </a:spcBef>
              <a:buFont typeface="Monotype Sorts" pitchFamily="-84" charset="2"/>
              <a:buNone/>
              <a:tabLst>
                <a:tab pos="1368425" algn="l"/>
                <a:tab pos="1712913" algn="l"/>
                <a:tab pos="2335213" algn="l"/>
              </a:tabLst>
            </a:pPr>
            <a:r>
              <a:rPr lang="en-US" altLang="en-US" b="1" dirty="0" smtClean="0">
                <a:solidFill>
                  <a:srgbClr val="000000"/>
                </a:solidFill>
                <a:latin typeface="Courier New" pitchFamily="49" charset="0"/>
                <a:cs typeface="Courier New" pitchFamily="49" charset="0"/>
              </a:rPr>
              <a:t>			wait(next);</a:t>
            </a:r>
          </a:p>
          <a:p>
            <a:pPr>
              <a:spcBef>
                <a:spcPct val="15000"/>
              </a:spcBef>
              <a:buFont typeface="Monotype Sorts" pitchFamily="-84" charset="2"/>
              <a:buNone/>
              <a:tabLst>
                <a:tab pos="1368425" algn="l"/>
                <a:tab pos="1712913" algn="l"/>
                <a:tab pos="2335213" algn="l"/>
              </a:tabLst>
            </a:pPr>
            <a:r>
              <a:rPr lang="en-US" altLang="en-US" b="1" dirty="0" smtClean="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next_count</a:t>
            </a:r>
            <a:r>
              <a:rPr lang="en-US" altLang="en-US" b="1" dirty="0" smtClean="0">
                <a:solidFill>
                  <a:srgbClr val="000000"/>
                </a:solidFill>
                <a:latin typeface="Courier New" pitchFamily="49" charset="0"/>
                <a:cs typeface="Courier New" pitchFamily="49" charset="0"/>
              </a:rPr>
              <a:t>--;</a:t>
            </a:r>
          </a:p>
          <a:p>
            <a:pPr>
              <a:spcBef>
                <a:spcPct val="15000"/>
              </a:spcBef>
              <a:buFont typeface="Monotype Sorts" pitchFamily="-84" charset="2"/>
              <a:buNone/>
              <a:tabLst>
                <a:tab pos="1368425" algn="l"/>
                <a:tab pos="1712913" algn="l"/>
                <a:tab pos="2335213" algn="l"/>
              </a:tabLst>
            </a:pPr>
            <a:r>
              <a:rPr lang="en-US" altLang="en-US" b="1" dirty="0" smtClean="0">
                <a:solidFill>
                  <a:srgbClr val="000000"/>
                </a:solidFill>
                <a:latin typeface="Courier New" pitchFamily="49" charset="0"/>
                <a:cs typeface="Courier New" pitchFamily="49" charset="0"/>
              </a:rPr>
              <a:t>		}</a:t>
            </a:r>
          </a:p>
          <a:p>
            <a:pPr>
              <a:spcBef>
                <a:spcPct val="15000"/>
              </a:spcBef>
              <a:buFont typeface="Monotype Sorts" pitchFamily="-84" charset="2"/>
              <a:buNone/>
              <a:tabLst>
                <a:tab pos="1368425" algn="l"/>
                <a:tab pos="1712913" algn="l"/>
                <a:tab pos="2335213" algn="l"/>
              </a:tabLst>
            </a:pPr>
            <a:r>
              <a:rPr lang="en-US" altLang="en-US" b="1" dirty="0" smtClean="0"/>
              <a:t>		</a:t>
            </a:r>
            <a:r>
              <a:rPr lang="en-US" altLang="en-US" dirty="0" smtClean="0"/>
              <a:t>	</a:t>
            </a:r>
          </a:p>
        </p:txBody>
      </p:sp>
    </p:spTree>
    <p:extLst>
      <p:ext uri="{BB962C8B-B14F-4D97-AF65-F5344CB8AC3E}">
        <p14:creationId xmlns:p14="http://schemas.microsoft.com/office/powerpoint/2010/main" val="164663872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706090"/>
          </a:xfrm>
        </p:spPr>
        <p:txBody>
          <a:bodyPr>
            <a:noAutofit/>
          </a:bodyPr>
          <a:lstStyle/>
          <a:p>
            <a:r>
              <a:rPr lang="en-US" altLang="en-US" sz="2800" dirty="0"/>
              <a:t>Monitor Implementation Using </a:t>
            </a:r>
            <a:r>
              <a:rPr lang="en-US" altLang="en-US" sz="2800" dirty="0" smtClean="0"/>
              <a:t>Semaphores (All in one slide)</a:t>
            </a:r>
            <a:endParaRPr lang="en-IN" sz="2800" dirty="0"/>
          </a:p>
        </p:txBody>
      </p:sp>
      <p:sp>
        <p:nvSpPr>
          <p:cNvPr id="5" name="Content Placeholder 4"/>
          <p:cNvSpPr>
            <a:spLocks noGrp="1"/>
          </p:cNvSpPr>
          <p:nvPr>
            <p:ph sz="half" idx="1"/>
          </p:nvPr>
        </p:nvSpPr>
        <p:spPr/>
        <p:txBody>
          <a:bodyPr>
            <a:normAutofit fontScale="47500" lnSpcReduction="20000"/>
          </a:bodyPr>
          <a:lstStyle/>
          <a:p>
            <a:pPr>
              <a:lnSpc>
                <a:spcPct val="80000"/>
              </a:lnSpc>
              <a:tabLst>
                <a:tab pos="1887538" algn="l"/>
                <a:tab pos="2335213" algn="l"/>
                <a:tab pos="2506663" algn="l"/>
              </a:tabLst>
            </a:pPr>
            <a:r>
              <a:rPr lang="en-US" altLang="en-US" b="1" dirty="0">
                <a:solidFill>
                  <a:srgbClr val="FF0000"/>
                </a:solidFill>
              </a:rPr>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semaphore </a:t>
            </a:r>
            <a:r>
              <a:rPr lang="en-US" altLang="en-US" b="1" dirty="0" err="1">
                <a:solidFill>
                  <a:srgbClr val="000000"/>
                </a:solidFill>
                <a:latin typeface="Courier New" pitchFamily="49" charset="0"/>
                <a:cs typeface="Courier New" pitchFamily="49" charset="0"/>
              </a:rPr>
              <a:t>mutex</a:t>
            </a:r>
            <a:r>
              <a:rPr lang="en-US" altLang="en-US" b="1" dirty="0">
                <a:solidFill>
                  <a:srgbClr val="000000"/>
                </a:solidFill>
                <a:latin typeface="Courier New" pitchFamily="49" charset="0"/>
                <a:cs typeface="Courier New" pitchFamily="49" charset="0"/>
              </a:rPr>
              <a:t>;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smtClean="0">
                <a:solidFill>
                  <a:srgbClr val="000000"/>
                </a:solidFill>
                <a:latin typeface="Courier New" pitchFamily="49" charset="0"/>
                <a:cs typeface="Courier New" pitchFamily="49" charset="0"/>
              </a:rPr>
              <a:t>semaphore </a:t>
            </a:r>
            <a:r>
              <a:rPr lang="en-US" altLang="en-US" b="1" dirty="0">
                <a:solidFill>
                  <a:srgbClr val="000000"/>
                </a:solidFill>
                <a:latin typeface="Courier New" pitchFamily="49" charset="0"/>
                <a:cs typeface="Courier New" pitchFamily="49" charset="0"/>
              </a:rPr>
              <a:t>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err="1" smtClean="0">
                <a:solidFill>
                  <a:srgbClr val="000000"/>
                </a:solidFill>
                <a:latin typeface="Courier New" pitchFamily="49" charset="0"/>
                <a:cs typeface="Courier New" pitchFamily="49" charset="0"/>
              </a:rPr>
              <a:t>int</a:t>
            </a:r>
            <a:r>
              <a:rPr lang="en-US" altLang="en-US" b="1" dirty="0" smtClean="0">
                <a:solidFill>
                  <a:srgbClr val="000000"/>
                </a:solidFill>
                <a:latin typeface="Courier New" pitchFamily="49" charset="0"/>
                <a:cs typeface="Courier New" pitchFamily="49" charset="0"/>
              </a:rPr>
              <a:t> </a:t>
            </a:r>
            <a:r>
              <a:rPr lang="en-US" altLang="en-US" b="1" dirty="0" err="1">
                <a:solidFill>
                  <a:srgbClr val="000000"/>
                </a:solidFill>
                <a:latin typeface="Courier New" pitchFamily="49" charset="0"/>
                <a:cs typeface="Courier New" pitchFamily="49" charset="0"/>
              </a:rPr>
              <a:t>next_count</a:t>
            </a:r>
            <a:r>
              <a:rPr lang="en-US" altLang="en-US" b="1" dirty="0">
                <a:solidFill>
                  <a:srgbClr val="000000"/>
                </a:solidFill>
                <a:latin typeface="Courier New" pitchFamily="49" charset="0"/>
                <a:cs typeface="Courier New" pitchFamily="49" charset="0"/>
              </a:rPr>
              <a:t> = 0;</a:t>
            </a:r>
            <a:br>
              <a:rPr lang="en-US" altLang="en-US" b="1" dirty="0">
                <a:solidFill>
                  <a:srgbClr val="000000"/>
                </a:solidFill>
                <a:latin typeface="Courier New" pitchFamily="49" charset="0"/>
                <a:cs typeface="Courier New" pitchFamily="49" charset="0"/>
              </a:rPr>
            </a:br>
            <a:endParaRPr lang="en-US" altLang="en-US" b="1" dirty="0">
              <a:solidFill>
                <a:srgbClr val="000000"/>
              </a:solidFill>
              <a:latin typeface="Courier New" pitchFamily="49" charset="0"/>
              <a:cs typeface="Courier New" pitchFamily="49" charset="0"/>
            </a:endParaRPr>
          </a:p>
          <a:p>
            <a:pPr>
              <a:lnSpc>
                <a:spcPct val="80000"/>
              </a:lnSpc>
              <a:tabLst>
                <a:tab pos="1887538" algn="l"/>
                <a:tab pos="2335213" algn="l"/>
                <a:tab pos="2506663" algn="l"/>
              </a:tabLst>
            </a:pPr>
            <a:r>
              <a:rPr lang="en-US" altLang="en-US" b="1" dirty="0">
                <a:solidFill>
                  <a:srgbClr val="FF0000"/>
                </a:solidFill>
              </a:rPr>
              <a:t>Each procedure </a:t>
            </a:r>
            <a:r>
              <a:rPr lang="en-US" altLang="en-US" b="1" i="1" dirty="0">
                <a:solidFill>
                  <a:srgbClr val="FF0000"/>
                </a:solidFill>
              </a:rPr>
              <a:t>F</a:t>
            </a:r>
            <a:r>
              <a:rPr lang="en-US" altLang="en-US" b="1" dirty="0">
                <a:solidFill>
                  <a:srgbClr val="FF0000"/>
                </a:solidFill>
              </a:rPr>
              <a:t>  will be replaced by</a:t>
            </a:r>
          </a:p>
          <a:p>
            <a:pPr>
              <a:lnSpc>
                <a:spcPct val="80000"/>
              </a:lnSpc>
              <a:tabLst>
                <a:tab pos="1887538" algn="l"/>
                <a:tab pos="2335213" algn="l"/>
                <a:tab pos="2506663" algn="l"/>
              </a:tabLst>
            </a:pPr>
            <a:endParaRPr lang="en-US" altLang="en-US" sz="14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wait(</a:t>
            </a:r>
            <a:r>
              <a:rPr lang="en-US" altLang="en-US" b="1" dirty="0" err="1">
                <a:solidFill>
                  <a:srgbClr val="000000"/>
                </a:solidFill>
                <a:latin typeface="Courier New" pitchFamily="49" charset="0"/>
                <a:cs typeface="Courier New" pitchFamily="49" charset="0"/>
              </a:rPr>
              <a:t>mutex</a:t>
            </a:r>
            <a:r>
              <a:rPr lang="en-US" altLang="en-US" b="1" dirty="0">
                <a:solidFill>
                  <a:srgbClr val="000000"/>
                </a:solidFill>
                <a:latin typeface="Courier New" pitchFamily="49" charset="0"/>
                <a:cs typeface="Courier New" pitchFamily="49" charset="0"/>
              </a:rPr>
              <a: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body of F;</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a:t>
            </a:r>
            <a:r>
              <a:rPr lang="en-US" altLang="en-US" b="1" dirty="0" smtClean="0">
                <a:solidFill>
                  <a:srgbClr val="000000"/>
                </a:solidFill>
                <a:latin typeface="Courier New" pitchFamily="49" charset="0"/>
                <a:cs typeface="Courier New" pitchFamily="49" charset="0"/>
              </a:rPr>
              <a:t>if </a:t>
            </a:r>
            <a:r>
              <a:rPr lang="en-US" altLang="en-US" b="1" dirty="0">
                <a:solidFill>
                  <a:srgbClr val="000000"/>
                </a:solidFill>
                <a:latin typeface="Courier New" pitchFamily="49" charset="0"/>
                <a:cs typeface="Courier New" pitchFamily="49" charset="0"/>
              </a:rPr>
              <a:t>(</a:t>
            </a:r>
            <a:r>
              <a:rPr lang="en-US" altLang="en-US" b="1" dirty="0" err="1">
                <a:solidFill>
                  <a:srgbClr val="000000"/>
                </a:solidFill>
                <a:latin typeface="Courier New" pitchFamily="49" charset="0"/>
                <a:cs typeface="Courier New" pitchFamily="49" charset="0"/>
              </a:rPr>
              <a:t>next_count</a:t>
            </a:r>
            <a:r>
              <a:rPr lang="en-US" altLang="en-US" b="1" dirty="0">
                <a:solidFill>
                  <a:srgbClr val="000000"/>
                </a:solidFill>
                <a:latin typeface="Courier New" pitchFamily="49" charset="0"/>
                <a:cs typeface="Courier New"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itchFamily="49" charset="0"/>
                <a:cs typeface="Courier New" pitchFamily="49" charset="0"/>
              </a:rPr>
              <a:t>				signal(</a:t>
            </a:r>
            <a:r>
              <a:rPr lang="en-US" altLang="en-US" b="1" dirty="0" err="1">
                <a:solidFill>
                  <a:srgbClr val="000000"/>
                </a:solidFill>
                <a:latin typeface="Courier New" pitchFamily="49" charset="0"/>
                <a:cs typeface="Courier New" pitchFamily="49" charset="0"/>
              </a:rPr>
              <a:t>mutex</a:t>
            </a:r>
            <a:r>
              <a:rPr lang="en-US" altLang="en-US" b="1" dirty="0">
                <a:solidFill>
                  <a:srgbClr val="000000"/>
                </a:solidFill>
                <a:latin typeface="Courier New" pitchFamily="49" charset="0"/>
                <a:cs typeface="Courier New" pitchFamily="49" charset="0"/>
              </a:rPr>
              <a:t>);</a:t>
            </a:r>
            <a:br>
              <a:rPr lang="en-US" altLang="en-US" b="1" dirty="0">
                <a:solidFill>
                  <a:srgbClr val="000000"/>
                </a:solidFill>
                <a:latin typeface="Courier New" pitchFamily="49" charset="0"/>
                <a:cs typeface="Courier New" pitchFamily="49" charset="0"/>
              </a:rPr>
            </a:br>
            <a:endParaRPr lang="en-US" altLang="en-US" b="1" dirty="0">
              <a:solidFill>
                <a:srgbClr val="000000"/>
              </a:solidFill>
              <a:latin typeface="Courier New" pitchFamily="49" charset="0"/>
              <a:cs typeface="Courier New" pitchFamily="49" charset="0"/>
            </a:endParaRPr>
          </a:p>
          <a:p>
            <a:pPr>
              <a:lnSpc>
                <a:spcPct val="80000"/>
              </a:lnSpc>
              <a:tabLst>
                <a:tab pos="1887538" algn="l"/>
                <a:tab pos="2335213" algn="l"/>
                <a:tab pos="2506663" algn="l"/>
              </a:tabLst>
            </a:pPr>
            <a:r>
              <a:rPr lang="en-US" altLang="en-US" dirty="0"/>
              <a:t>Mutual exclusion within a monitor is ensured</a:t>
            </a:r>
          </a:p>
          <a:p>
            <a:endParaRPr lang="en-IN" dirty="0"/>
          </a:p>
        </p:txBody>
      </p:sp>
      <p:sp>
        <p:nvSpPr>
          <p:cNvPr id="6" name="Content Placeholder 5"/>
          <p:cNvSpPr>
            <a:spLocks noGrp="1"/>
          </p:cNvSpPr>
          <p:nvPr>
            <p:ph sz="half" idx="2"/>
          </p:nvPr>
        </p:nvSpPr>
        <p:spPr/>
        <p:txBody>
          <a:bodyPr>
            <a:normAutofit fontScale="47500" lnSpcReduction="20000"/>
          </a:bodyPr>
          <a:lstStyle/>
          <a:p>
            <a:pPr>
              <a:lnSpc>
                <a:spcPct val="90000"/>
              </a:lnSpc>
              <a:spcBef>
                <a:spcPct val="15000"/>
              </a:spcBef>
              <a:tabLst>
                <a:tab pos="1828800" algn="l"/>
                <a:tab pos="2217738" algn="l"/>
              </a:tabLst>
            </a:pPr>
            <a:r>
              <a:rPr lang="en-US" altLang="en-US" b="1" dirty="0">
                <a:solidFill>
                  <a:srgbClr val="FF0000"/>
                </a:solidFill>
              </a:rPr>
              <a:t>For each condition variable </a:t>
            </a:r>
            <a:r>
              <a:rPr lang="en-US" altLang="en-US" b="1" i="1" dirty="0">
                <a:solidFill>
                  <a:srgbClr val="FF0000"/>
                </a:solidFill>
              </a:rPr>
              <a:t>x</a:t>
            </a:r>
            <a:r>
              <a:rPr lang="en-US" altLang="en-US" b="1" dirty="0">
                <a:solidFill>
                  <a:srgbClr val="FF0000"/>
                </a:solidFill>
              </a:rPr>
              <a:t>, we  have</a:t>
            </a:r>
            <a:r>
              <a:rPr lang="en-US" altLang="en-US" sz="1400" b="1" dirty="0">
                <a:solidFill>
                  <a:srgbClr val="FF0000"/>
                </a:solidFill>
              </a:rPr>
              <a:t>:</a:t>
            </a:r>
          </a:p>
          <a:p>
            <a:pPr>
              <a:lnSpc>
                <a:spcPct val="90000"/>
              </a:lnSpc>
              <a:spcBef>
                <a:spcPct val="15000"/>
              </a:spcBef>
              <a:buFont typeface="Monotype Sorts" pitchFamily="-84" charset="2"/>
              <a:buNone/>
              <a:tabLst>
                <a:tab pos="1828800" algn="l"/>
                <a:tab pos="2217738" algn="l"/>
              </a:tabLst>
            </a:pPr>
            <a:endParaRPr lang="en-US" altLang="en-US" sz="1400" dirty="0"/>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a:t>
            </a:r>
            <a:r>
              <a:rPr lang="en-US" altLang="en-US" b="1" dirty="0" smtClean="0">
                <a:solidFill>
                  <a:srgbClr val="000000"/>
                </a:solidFill>
                <a:latin typeface="Courier New" pitchFamily="49" charset="0"/>
                <a:cs typeface="Courier New" pitchFamily="49" charset="0"/>
              </a:rPr>
              <a:t>semaphore </a:t>
            </a:r>
            <a:r>
              <a:rPr lang="en-US" altLang="en-US" b="1" dirty="0" err="1">
                <a:solidFill>
                  <a:srgbClr val="000000"/>
                </a:solidFill>
                <a:latin typeface="Courier New" pitchFamily="49" charset="0"/>
                <a:cs typeface="Courier New" pitchFamily="49" charset="0"/>
              </a:rPr>
              <a:t>x_sem</a:t>
            </a:r>
            <a:r>
              <a:rPr lang="en-US" altLang="en-US" b="1" dirty="0">
                <a:solidFill>
                  <a:srgbClr val="000000"/>
                </a:solidFill>
                <a:latin typeface="Courier New" pitchFamily="49" charset="0"/>
                <a:cs typeface="Courier New" pitchFamily="49" charset="0"/>
              </a:rPr>
              <a:t>; // </a:t>
            </a:r>
            <a:r>
              <a:rPr lang="en-US" altLang="en-US" sz="2400" b="1" dirty="0">
                <a:solidFill>
                  <a:srgbClr val="000000"/>
                </a:solidFill>
                <a:latin typeface="Courier New" pitchFamily="49" charset="0"/>
                <a:cs typeface="Courier New" pitchFamily="49" charset="0"/>
              </a:rPr>
              <a:t>(initially  = 0)</a:t>
            </a:r>
            <a:endParaRPr lang="en-US" altLang="en-US" b="1" dirty="0">
              <a:solidFill>
                <a:srgbClr val="000000"/>
              </a:solidFill>
              <a:latin typeface="Courier New" pitchFamily="49" charset="0"/>
              <a:cs typeface="Courier New" pitchFamily="49" charset="0"/>
            </a:endParaRP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a:t>
            </a:r>
            <a:r>
              <a:rPr lang="en-US" altLang="en-US" b="1" dirty="0" err="1" smtClean="0">
                <a:solidFill>
                  <a:srgbClr val="000000"/>
                </a:solidFill>
                <a:latin typeface="Courier New" pitchFamily="49" charset="0"/>
                <a:cs typeface="Courier New" pitchFamily="49" charset="0"/>
              </a:rPr>
              <a:t>int</a:t>
            </a:r>
            <a:r>
              <a:rPr lang="en-US" altLang="en-US" b="1" dirty="0" smtClean="0">
                <a:solidFill>
                  <a:srgbClr val="000000"/>
                </a:solidFill>
                <a:latin typeface="Courier New" pitchFamily="49" charset="0"/>
                <a:cs typeface="Courier New" pitchFamily="49" charset="0"/>
              </a:rPr>
              <a:t> </a:t>
            </a:r>
            <a:r>
              <a:rPr lang="en-US" altLang="en-US" b="1" dirty="0" err="1">
                <a:solidFill>
                  <a:srgbClr val="000000"/>
                </a:solidFill>
                <a:latin typeface="Courier New" pitchFamily="49" charset="0"/>
                <a:cs typeface="Courier New" pitchFamily="49" charset="0"/>
              </a:rPr>
              <a:t>x_count</a:t>
            </a:r>
            <a:r>
              <a:rPr lang="en-US" altLang="en-US" b="1" dirty="0">
                <a:solidFill>
                  <a:srgbClr val="000000"/>
                </a:solidFill>
                <a:latin typeface="Courier New" pitchFamily="49" charset="0"/>
                <a:cs typeface="Courier New" pitchFamily="49" charset="0"/>
              </a:rPr>
              <a:t> = 0;</a:t>
            </a:r>
            <a:br>
              <a:rPr lang="en-US" altLang="en-US" b="1" dirty="0">
                <a:solidFill>
                  <a:srgbClr val="000000"/>
                </a:solidFill>
                <a:latin typeface="Courier New" pitchFamily="49" charset="0"/>
                <a:cs typeface="Courier New" pitchFamily="49" charset="0"/>
              </a:rPr>
            </a:br>
            <a:endParaRPr lang="en-US" altLang="en-US" b="1" dirty="0">
              <a:solidFill>
                <a:srgbClr val="000000"/>
              </a:solidFill>
              <a:latin typeface="Courier New" pitchFamily="49" charset="0"/>
              <a:cs typeface="Courier New" pitchFamily="49" charset="0"/>
            </a:endParaRPr>
          </a:p>
          <a:p>
            <a:pPr>
              <a:lnSpc>
                <a:spcPct val="90000"/>
              </a:lnSpc>
              <a:spcBef>
                <a:spcPct val="15000"/>
              </a:spcBef>
              <a:tabLst>
                <a:tab pos="1828800" algn="l"/>
                <a:tab pos="2217738" algn="l"/>
              </a:tabLst>
            </a:pPr>
            <a:r>
              <a:rPr lang="en-US" altLang="en-US" b="1" dirty="0">
                <a:solidFill>
                  <a:srgbClr val="FF0000"/>
                </a:solidFill>
              </a:rPr>
              <a:t>The operation </a:t>
            </a:r>
            <a:r>
              <a:rPr lang="en-US" altLang="en-US" b="1" dirty="0" err="1">
                <a:solidFill>
                  <a:srgbClr val="FF0000"/>
                </a:solidFill>
              </a:rPr>
              <a:t>x.wait</a:t>
            </a:r>
            <a:r>
              <a:rPr lang="en-US" altLang="en-US" b="1" dirty="0">
                <a:solidFill>
                  <a:srgbClr val="FF0000"/>
                </a:solidFill>
              </a:rPr>
              <a:t> can be implemented as</a:t>
            </a:r>
            <a:r>
              <a:rPr lang="en-US" altLang="en-US" sz="1400" b="1" dirty="0">
                <a:solidFill>
                  <a:srgbClr val="FF0000"/>
                </a:solidFill>
              </a:rPr>
              <a:t>:</a:t>
            </a:r>
          </a:p>
          <a:p>
            <a:pPr>
              <a:lnSpc>
                <a:spcPct val="90000"/>
              </a:lnSpc>
              <a:spcBef>
                <a:spcPct val="15000"/>
              </a:spcBef>
              <a:buFont typeface="Monotype Sorts" pitchFamily="-84" charset="2"/>
              <a:buNone/>
              <a:tabLst>
                <a:tab pos="1828800" algn="l"/>
                <a:tab pos="2217738" algn="l"/>
              </a:tabLst>
            </a:pPr>
            <a:r>
              <a:rPr lang="en-US" altLang="en-US" sz="1400" dirty="0"/>
              <a:t>		</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a:t>
            </a:r>
            <a:r>
              <a:rPr lang="en-US" altLang="en-US" b="1" dirty="0" err="1">
                <a:solidFill>
                  <a:srgbClr val="000000"/>
                </a:solidFill>
                <a:latin typeface="Courier New" pitchFamily="49" charset="0"/>
                <a:cs typeface="Courier New" pitchFamily="49" charset="0"/>
              </a:rPr>
              <a:t>x_count</a:t>
            </a:r>
            <a:r>
              <a:rPr lang="en-US" altLang="en-US" b="1" dirty="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if (</a:t>
            </a:r>
            <a:r>
              <a:rPr lang="en-US" altLang="en-US" b="1" dirty="0" err="1">
                <a:solidFill>
                  <a:srgbClr val="000000"/>
                </a:solidFill>
                <a:latin typeface="Courier New" pitchFamily="49" charset="0"/>
                <a:cs typeface="Courier New" pitchFamily="49" charset="0"/>
              </a:rPr>
              <a:t>next_count</a:t>
            </a:r>
            <a:r>
              <a:rPr lang="en-US" altLang="en-US" b="1" dirty="0">
                <a:solidFill>
                  <a:srgbClr val="000000"/>
                </a:solidFill>
                <a:latin typeface="Courier New" pitchFamily="49" charset="0"/>
                <a:cs typeface="Courier New"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signal(</a:t>
            </a:r>
            <a:r>
              <a:rPr lang="en-US" altLang="en-US" b="1" dirty="0" err="1">
                <a:solidFill>
                  <a:srgbClr val="000000"/>
                </a:solidFill>
                <a:latin typeface="Courier New" pitchFamily="49" charset="0"/>
                <a:cs typeface="Courier New" pitchFamily="49" charset="0"/>
              </a:rPr>
              <a:t>mutex</a:t>
            </a:r>
            <a:r>
              <a:rPr lang="en-US" altLang="en-US" b="1" dirty="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wait(</a:t>
            </a:r>
            <a:r>
              <a:rPr lang="en-US" altLang="en-US" b="1" dirty="0" err="1">
                <a:solidFill>
                  <a:srgbClr val="000000"/>
                </a:solidFill>
                <a:latin typeface="Courier New" pitchFamily="49" charset="0"/>
                <a:cs typeface="Courier New" pitchFamily="49" charset="0"/>
              </a:rPr>
              <a:t>x_sem</a:t>
            </a:r>
            <a:r>
              <a:rPr lang="en-US" altLang="en-US" b="1" dirty="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itchFamily="49" charset="0"/>
                <a:cs typeface="Courier New" pitchFamily="49" charset="0"/>
              </a:rPr>
              <a:t>		</a:t>
            </a:r>
            <a:r>
              <a:rPr lang="en-US" altLang="en-US" b="1" dirty="0" err="1">
                <a:solidFill>
                  <a:srgbClr val="000000"/>
                </a:solidFill>
                <a:latin typeface="Courier New" pitchFamily="49" charset="0"/>
                <a:cs typeface="Courier New" pitchFamily="49" charset="0"/>
              </a:rPr>
              <a:t>x_count</a:t>
            </a:r>
            <a:r>
              <a:rPr lang="en-US" altLang="en-US" b="1" dirty="0">
                <a:solidFill>
                  <a:srgbClr val="000000"/>
                </a:solidFill>
                <a:latin typeface="Courier New" pitchFamily="49" charset="0"/>
                <a:cs typeface="Courier New" pitchFamily="49" charset="0"/>
              </a:rPr>
              <a:t>--;</a:t>
            </a:r>
          </a:p>
          <a:p>
            <a:pPr>
              <a:lnSpc>
                <a:spcPct val="90000"/>
              </a:lnSpc>
              <a:spcBef>
                <a:spcPct val="15000"/>
              </a:spcBef>
              <a:buFont typeface="Monotype Sorts" pitchFamily="-84" charset="2"/>
              <a:buNone/>
              <a:tabLst>
                <a:tab pos="1828800" algn="l"/>
                <a:tab pos="2217738" algn="l"/>
              </a:tabLst>
            </a:pPr>
            <a:r>
              <a:rPr lang="en-US" altLang="en-US" sz="1400" b="1" dirty="0"/>
              <a:t>		</a:t>
            </a:r>
          </a:p>
          <a:p>
            <a:r>
              <a:rPr lang="en-US" dirty="0" smtClean="0"/>
              <a:t>………………………………………………………………….</a:t>
            </a:r>
          </a:p>
          <a:p>
            <a:pPr>
              <a:tabLst>
                <a:tab pos="1368425" algn="l"/>
                <a:tab pos="1712913" algn="l"/>
                <a:tab pos="2335213" algn="l"/>
              </a:tabLst>
            </a:pPr>
            <a:r>
              <a:rPr lang="en-US" altLang="en-US" b="1" dirty="0">
                <a:solidFill>
                  <a:srgbClr val="FF0000"/>
                </a:solidFill>
              </a:rPr>
              <a:t>The operation </a:t>
            </a:r>
            <a:r>
              <a:rPr lang="en-US" altLang="en-US" b="1" dirty="0" err="1">
                <a:solidFill>
                  <a:srgbClr val="FF0000"/>
                </a:solidFill>
                <a:latin typeface="Courier New" pitchFamily="49" charset="0"/>
                <a:cs typeface="Courier New" pitchFamily="49" charset="0"/>
              </a:rPr>
              <a:t>x.signal</a:t>
            </a:r>
            <a:r>
              <a:rPr lang="en-US" altLang="en-US" b="1" dirty="0">
                <a:solidFill>
                  <a:srgbClr val="FF0000"/>
                </a:solidFill>
                <a:latin typeface="Courier New" pitchFamily="49" charset="0"/>
                <a:cs typeface="Courier New" pitchFamily="49" charset="0"/>
              </a:rPr>
              <a:t> </a:t>
            </a:r>
            <a:r>
              <a:rPr lang="en-US" altLang="en-US" b="1" dirty="0">
                <a:solidFill>
                  <a:srgbClr val="FF0000"/>
                </a:solidFill>
              </a:rPr>
              <a:t>can be implemented as:</a:t>
            </a:r>
            <a:br>
              <a:rPr lang="en-US" altLang="en-US" b="1" dirty="0">
                <a:solidFill>
                  <a:srgbClr val="FF0000"/>
                </a:solidFill>
              </a:rPr>
            </a:br>
            <a:endParaRPr lang="en-US" altLang="en-US" b="1" dirty="0">
              <a:solidFill>
                <a:srgbClr val="FF0000"/>
              </a:solidFill>
            </a:endParaRP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itchFamily="49" charset="0"/>
                <a:cs typeface="Courier New" pitchFamily="49" charset="0"/>
              </a:rPr>
              <a:t>		if (</a:t>
            </a:r>
            <a:r>
              <a:rPr lang="en-US" altLang="en-US" b="1" dirty="0" err="1">
                <a:solidFill>
                  <a:srgbClr val="000000"/>
                </a:solidFill>
                <a:latin typeface="Courier New" pitchFamily="49" charset="0"/>
                <a:cs typeface="Courier New" pitchFamily="49" charset="0"/>
              </a:rPr>
              <a:t>x_count</a:t>
            </a:r>
            <a:r>
              <a:rPr lang="en-US" altLang="en-US" b="1" dirty="0">
                <a:solidFill>
                  <a:srgbClr val="000000"/>
                </a:solidFill>
                <a:latin typeface="Courier New" pitchFamily="49" charset="0"/>
                <a:cs typeface="Courier New" pitchFamily="49" charset="0"/>
              </a:rPr>
              <a:t> &gt; 0) {</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itchFamily="49" charset="0"/>
                <a:cs typeface="Courier New" pitchFamily="49" charset="0"/>
              </a:rPr>
              <a:t>			</a:t>
            </a:r>
            <a:r>
              <a:rPr lang="en-US" altLang="en-US" b="1" dirty="0" err="1">
                <a:solidFill>
                  <a:srgbClr val="000000"/>
                </a:solidFill>
                <a:latin typeface="Courier New" pitchFamily="49" charset="0"/>
                <a:cs typeface="Courier New" pitchFamily="49" charset="0"/>
              </a:rPr>
              <a:t>next_count</a:t>
            </a:r>
            <a:r>
              <a:rPr lang="en-US" altLang="en-US" b="1" dirty="0">
                <a:solidFill>
                  <a:srgbClr val="000000"/>
                </a:solidFill>
                <a:latin typeface="Courier New" pitchFamily="49" charset="0"/>
                <a:cs typeface="Courier New" pitchFamily="49" charset="0"/>
              </a:rPr>
              <a:t>++;</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itchFamily="49" charset="0"/>
                <a:cs typeface="Courier New" pitchFamily="49" charset="0"/>
              </a:rPr>
              <a:t>			signal(</a:t>
            </a:r>
            <a:r>
              <a:rPr lang="en-US" altLang="en-US" b="1" dirty="0" err="1">
                <a:solidFill>
                  <a:srgbClr val="000000"/>
                </a:solidFill>
                <a:latin typeface="Courier New" pitchFamily="49" charset="0"/>
                <a:cs typeface="Courier New" pitchFamily="49" charset="0"/>
              </a:rPr>
              <a:t>x_sem</a:t>
            </a:r>
            <a:r>
              <a:rPr lang="en-US" altLang="en-US" b="1" dirty="0">
                <a:solidFill>
                  <a:srgbClr val="000000"/>
                </a:solidFill>
                <a:latin typeface="Courier New" pitchFamily="49" charset="0"/>
                <a:cs typeface="Courier New" pitchFamily="49" charset="0"/>
              </a:rPr>
              <a:t>);</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itchFamily="49" charset="0"/>
                <a:cs typeface="Courier New" pitchFamily="49" charset="0"/>
              </a:rPr>
              <a:t>			wait(next);</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itchFamily="49" charset="0"/>
                <a:cs typeface="Courier New" pitchFamily="49" charset="0"/>
              </a:rPr>
              <a:t>			</a:t>
            </a:r>
            <a:r>
              <a:rPr lang="en-US" altLang="en-US" b="1" dirty="0" err="1">
                <a:solidFill>
                  <a:srgbClr val="000000"/>
                </a:solidFill>
                <a:latin typeface="Courier New" pitchFamily="49" charset="0"/>
                <a:cs typeface="Courier New" pitchFamily="49" charset="0"/>
              </a:rPr>
              <a:t>next_count</a:t>
            </a:r>
            <a:r>
              <a:rPr lang="en-US" altLang="en-US" b="1" dirty="0">
                <a:solidFill>
                  <a:srgbClr val="000000"/>
                </a:solidFill>
                <a:latin typeface="Courier New" pitchFamily="49" charset="0"/>
                <a:cs typeface="Courier New" pitchFamily="49" charset="0"/>
              </a:rPr>
              <a:t>--;</a:t>
            </a: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urier New" pitchFamily="49" charset="0"/>
                <a:cs typeface="Courier New" pitchFamily="49" charset="0"/>
              </a:rPr>
              <a:t>		}</a:t>
            </a:r>
          </a:p>
          <a:p>
            <a:pPr>
              <a:spcBef>
                <a:spcPct val="15000"/>
              </a:spcBef>
              <a:buFont typeface="Monotype Sorts" pitchFamily="-84" charset="2"/>
              <a:buNone/>
              <a:tabLst>
                <a:tab pos="1368425" algn="l"/>
                <a:tab pos="1712913" algn="l"/>
                <a:tab pos="2335213" algn="l"/>
              </a:tabLst>
            </a:pPr>
            <a:r>
              <a:rPr lang="en-US" altLang="en-US" b="1" dirty="0"/>
              <a:t>		</a:t>
            </a:r>
            <a:r>
              <a:rPr lang="en-US" altLang="en-US" dirty="0"/>
              <a:t>	</a:t>
            </a:r>
          </a:p>
          <a:p>
            <a:endParaRPr lang="en-IN" dirty="0"/>
          </a:p>
        </p:txBody>
      </p:sp>
    </p:spTree>
    <p:extLst>
      <p:ext uri="{BB962C8B-B14F-4D97-AF65-F5344CB8AC3E}">
        <p14:creationId xmlns:p14="http://schemas.microsoft.com/office/powerpoint/2010/main" val="8015360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1049338" y="147638"/>
            <a:ext cx="8229600" cy="576262"/>
          </a:xfrm>
        </p:spPr>
        <p:txBody>
          <a:bodyPr>
            <a:normAutofit fontScale="90000"/>
          </a:bodyPr>
          <a:lstStyle/>
          <a:p>
            <a:r>
              <a:rPr lang="en-US" altLang="en-US" smtClean="0"/>
              <a:t>Resuming Processes within a Monitor</a:t>
            </a:r>
          </a:p>
        </p:txBody>
      </p:sp>
      <p:sp>
        <p:nvSpPr>
          <p:cNvPr id="57347" name="Content Placeholder 2"/>
          <p:cNvSpPr>
            <a:spLocks noGrp="1"/>
          </p:cNvSpPr>
          <p:nvPr>
            <p:ph idx="1"/>
          </p:nvPr>
        </p:nvSpPr>
        <p:spPr>
          <a:xfrm>
            <a:off x="806450" y="1233488"/>
            <a:ext cx="6699250" cy="4530725"/>
          </a:xfrm>
        </p:spPr>
        <p:txBody>
          <a:bodyPr>
            <a:normAutofit lnSpcReduction="10000"/>
          </a:bodyPr>
          <a:lstStyle/>
          <a:p>
            <a:r>
              <a:rPr lang="en-US" altLang="en-US" smtClean="0"/>
              <a:t>If several processes queued on condition x, and x.signal() executed, which should be resumed?</a:t>
            </a:r>
          </a:p>
          <a:p>
            <a:r>
              <a:rPr lang="en-US" altLang="en-US" smtClean="0"/>
              <a:t>FCFS frequently not adequate </a:t>
            </a:r>
          </a:p>
          <a:p>
            <a:r>
              <a:rPr lang="en-US" altLang="en-US" b="1" smtClean="0">
                <a:solidFill>
                  <a:srgbClr val="0000FF"/>
                </a:solidFill>
              </a:rPr>
              <a:t>conditional-wait </a:t>
            </a:r>
            <a:r>
              <a:rPr lang="en-US" altLang="en-US" smtClean="0"/>
              <a:t>construct of the form x.wait(c)</a:t>
            </a:r>
          </a:p>
          <a:p>
            <a:pPr lvl="1"/>
            <a:r>
              <a:rPr lang="en-US" altLang="en-US" smtClean="0"/>
              <a:t>Where c is </a:t>
            </a:r>
            <a:r>
              <a:rPr lang="en-US" altLang="en-US" b="1" smtClean="0">
                <a:solidFill>
                  <a:srgbClr val="0000FF"/>
                </a:solidFill>
              </a:rPr>
              <a:t>priority number</a:t>
            </a:r>
          </a:p>
          <a:p>
            <a:pPr lvl="1"/>
            <a:r>
              <a:rPr lang="en-US" altLang="en-US" smtClean="0"/>
              <a:t>Process with lowest number (highest priority) is scheduled next</a:t>
            </a:r>
          </a:p>
        </p:txBody>
      </p:sp>
    </p:spTree>
    <p:extLst>
      <p:ext uri="{BB962C8B-B14F-4D97-AF65-F5344CB8AC3E}">
        <p14:creationId xmlns:p14="http://schemas.microsoft.com/office/powerpoint/2010/main" val="328810459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idx="1"/>
          </p:nvPr>
        </p:nvSpPr>
        <p:spPr>
          <a:xfrm>
            <a:off x="928688" y="771525"/>
            <a:ext cx="7021512" cy="5268913"/>
          </a:xfrm>
        </p:spPr>
        <p:txBody>
          <a:bodyPr>
            <a:normAutofit fontScale="77500" lnSpcReduction="20000"/>
          </a:bodyPr>
          <a:lstStyle/>
          <a:p>
            <a:pPr>
              <a:lnSpc>
                <a:spcPct val="80000"/>
              </a:lnSpc>
              <a:buFont typeface="Monotype Sorts" pitchFamily="-84" charset="2"/>
              <a:buNone/>
            </a:pPr>
            <a:endParaRPr lang="en-US" altLang="en-US" sz="1600" smtClean="0">
              <a:solidFill>
                <a:srgbClr val="0000FF"/>
              </a:solidFill>
            </a:endParaRPr>
          </a:p>
          <a:p>
            <a:pPr>
              <a:lnSpc>
                <a:spcPct val="80000"/>
              </a:lnSpc>
            </a:pPr>
            <a:r>
              <a:rPr lang="en-US" altLang="en-US" smtClean="0"/>
              <a:t>Allocate a single resource among competing processes using priority numbers that specify the maximum time a process  plans to use the resource</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r>
              <a:rPr lang="en-US" altLang="en-US" sz="2000" b="1" smtClean="0">
                <a:solidFill>
                  <a:srgbClr val="000000"/>
                </a:solidFill>
                <a:latin typeface="Courier New" pitchFamily="49" charset="0"/>
                <a:cs typeface="Courier New" pitchFamily="49" charset="0"/>
              </a:rPr>
              <a:t>R.acquire(t)</a:t>
            </a:r>
            <a:r>
              <a:rPr lang="en-US" altLang="en-US" b="1" smtClean="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access the resurce;</a:t>
            </a: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r>
              <a:rPr lang="en-US" altLang="en-US" sz="2000" b="1" smtClean="0">
                <a:solidFill>
                  <a:srgbClr val="000000"/>
                </a:solidFill>
                <a:latin typeface="Courier New" pitchFamily="49" charset="0"/>
                <a:cs typeface="Courier New" pitchFamily="49" charset="0"/>
              </a:rPr>
              <a:t>R.release;</a:t>
            </a:r>
          </a:p>
          <a:p>
            <a:pPr>
              <a:lnSpc>
                <a:spcPct val="80000"/>
              </a:lnSpc>
              <a:buFont typeface="Monotype Sorts" pitchFamily="-84" charset="2"/>
              <a:buNone/>
            </a:pPr>
            <a:endParaRPr lang="en-US" altLang="en-US" smtClean="0">
              <a:solidFill>
                <a:srgbClr val="0000FF"/>
              </a:solidFill>
            </a:endParaRPr>
          </a:p>
          <a:p>
            <a:pPr>
              <a:lnSpc>
                <a:spcPct val="80000"/>
              </a:lnSpc>
            </a:pPr>
            <a:r>
              <a:rPr lang="en-US" altLang="en-US" smtClean="0"/>
              <a:t>Where R is an instance of  type </a:t>
            </a:r>
            <a:r>
              <a:rPr lang="en-US" altLang="en-US" sz="2000" b="1" smtClean="0">
                <a:solidFill>
                  <a:srgbClr val="000000"/>
                </a:solidFill>
                <a:latin typeface="Courier New" pitchFamily="49" charset="0"/>
                <a:cs typeface="Courier New" pitchFamily="49" charset="0"/>
              </a:rPr>
              <a:t>ResourceAllocator</a:t>
            </a:r>
          </a:p>
          <a:p>
            <a:pPr>
              <a:lnSpc>
                <a:spcPct val="80000"/>
              </a:lnSpc>
              <a:buFont typeface="Monotype Sorts" pitchFamily="-84" charset="2"/>
              <a:buNone/>
            </a:pPr>
            <a:endParaRPr lang="en-US" altLang="en-US" smtClean="0">
              <a:solidFill>
                <a:srgbClr val="0000FF"/>
              </a:solidFill>
            </a:endParaRPr>
          </a:p>
          <a:p>
            <a:pPr>
              <a:lnSpc>
                <a:spcPct val="80000"/>
              </a:lnSpc>
              <a:buFont typeface="Monotype Sorts" pitchFamily="-84" charset="2"/>
              <a:buNone/>
            </a:pPr>
            <a:endParaRPr lang="en-US" altLang="en-US" smtClean="0">
              <a:solidFill>
                <a:srgbClr val="0000FF"/>
              </a:solidFill>
            </a:endParaRPr>
          </a:p>
          <a:p>
            <a:pPr>
              <a:lnSpc>
                <a:spcPct val="80000"/>
              </a:lnSpc>
              <a:buFont typeface="Monotype Sorts" pitchFamily="-84" charset="2"/>
              <a:buNone/>
            </a:pPr>
            <a:r>
              <a:rPr lang="en-US" altLang="en-US" i="1" smtClean="0">
                <a:solidFill>
                  <a:srgbClr val="0000FF"/>
                </a:solidFill>
              </a:rPr>
              <a:t>       </a:t>
            </a:r>
          </a:p>
        </p:txBody>
      </p:sp>
      <p:sp>
        <p:nvSpPr>
          <p:cNvPr id="58371" name="Rectangle 2"/>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r>
              <a:rPr lang="en-US" altLang="en-US" sz="3200" b="1">
                <a:solidFill>
                  <a:srgbClr val="006699"/>
                </a:solidFill>
                <a:latin typeface="Arial" pitchFamily="34" charset="0"/>
              </a:rPr>
              <a:t>Single Resource allocation </a:t>
            </a:r>
          </a:p>
        </p:txBody>
      </p:sp>
    </p:spTree>
    <p:extLst>
      <p:ext uri="{BB962C8B-B14F-4D97-AF65-F5344CB8AC3E}">
        <p14:creationId xmlns:p14="http://schemas.microsoft.com/office/powerpoint/2010/main" val="38297202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274763" y="204788"/>
            <a:ext cx="7688262" cy="576262"/>
          </a:xfrm>
        </p:spPr>
        <p:txBody>
          <a:bodyPr>
            <a:normAutofit fontScale="90000"/>
          </a:bodyPr>
          <a:lstStyle/>
          <a:p>
            <a:pPr eaLnBrk="1" hangingPunct="1"/>
            <a:r>
              <a:rPr lang="en-US" altLang="en-US" smtClean="0"/>
              <a:t>A Monitor to Allocate Single Resource</a:t>
            </a:r>
          </a:p>
        </p:txBody>
      </p:sp>
      <p:sp>
        <p:nvSpPr>
          <p:cNvPr id="59395" name="Rectangle 3"/>
          <p:cNvSpPr>
            <a:spLocks noGrp="1" noChangeArrowheads="1"/>
          </p:cNvSpPr>
          <p:nvPr>
            <p:ph idx="1"/>
          </p:nvPr>
        </p:nvSpPr>
        <p:spPr>
          <a:xfrm>
            <a:off x="1646238" y="766763"/>
            <a:ext cx="6235700" cy="5024437"/>
          </a:xfrm>
        </p:spPr>
        <p:txBody>
          <a:bodyPr>
            <a:normAutofit lnSpcReduction="10000"/>
          </a:bodyPr>
          <a:lstStyle/>
          <a:p>
            <a:pPr>
              <a:buFont typeface="Monotype Sorts" pitchFamily="-84" charset="2"/>
              <a:buNone/>
              <a:tabLst>
                <a:tab pos="1368425" algn="l"/>
                <a:tab pos="1712913" algn="l"/>
                <a:tab pos="2335213" algn="l"/>
              </a:tabLst>
            </a:pPr>
            <a:endParaRPr lang="en-US" altLang="en-US" sz="1400" smtClean="0"/>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monitor ResourceAllocator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boolean busy;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condition x;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if (busy)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x.wait(time);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busy = TRUE;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busy = FALSE;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x.signal();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initialization code()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busy = FALSE;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	}</a:t>
            </a:r>
          </a:p>
          <a:p>
            <a:pPr>
              <a:spcBef>
                <a:spcPct val="15000"/>
              </a:spcBef>
              <a:buFont typeface="Monotype Sorts" pitchFamily="-84" charset="2"/>
              <a:buNone/>
              <a:tabLst>
                <a:tab pos="1368425" algn="l"/>
                <a:tab pos="1712913" algn="l"/>
                <a:tab pos="2335213" algn="l"/>
              </a:tabLst>
            </a:pPr>
            <a:r>
              <a:rPr lang="en-US" altLang="en-US" sz="1600" smtClean="0">
                <a:solidFill>
                  <a:srgbClr val="000000"/>
                </a:solidFill>
                <a:latin typeface="Courier New" pitchFamily="49" charset="0"/>
                <a:cs typeface="Courier New" pitchFamily="49" charset="0"/>
              </a:rPr>
              <a:t>}</a:t>
            </a:r>
            <a:r>
              <a:rPr lang="en-US" altLang="en-US" sz="1600" b="1" smtClean="0"/>
              <a:t>	</a:t>
            </a:r>
            <a:r>
              <a:rPr lang="en-US" altLang="en-US" sz="1400" b="1" smtClean="0"/>
              <a:t>	</a:t>
            </a:r>
            <a:r>
              <a:rPr lang="en-US" altLang="en-US" sz="1400" smtClean="0"/>
              <a:t>	</a:t>
            </a:r>
          </a:p>
        </p:txBody>
      </p:sp>
    </p:spTree>
    <p:extLst>
      <p:ext uri="{BB962C8B-B14F-4D97-AF65-F5344CB8AC3E}">
        <p14:creationId xmlns:p14="http://schemas.microsoft.com/office/powerpoint/2010/main" val="227430434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57288" y="188913"/>
            <a:ext cx="7529512" cy="576262"/>
          </a:xfrm>
        </p:spPr>
        <p:txBody>
          <a:bodyPr>
            <a:normAutofit fontScale="90000"/>
          </a:bodyPr>
          <a:lstStyle/>
          <a:p>
            <a:pPr eaLnBrk="1" hangingPunct="1"/>
            <a:r>
              <a:rPr lang="en-US" altLang="en-US" smtClean="0"/>
              <a:t>Synchronization Examples</a:t>
            </a:r>
          </a:p>
        </p:txBody>
      </p:sp>
      <p:sp>
        <p:nvSpPr>
          <p:cNvPr id="60419" name="Rectangle 3"/>
          <p:cNvSpPr>
            <a:spLocks noGrp="1" noChangeArrowheads="1"/>
          </p:cNvSpPr>
          <p:nvPr>
            <p:ph idx="1"/>
          </p:nvPr>
        </p:nvSpPr>
        <p:spPr/>
        <p:txBody>
          <a:bodyPr/>
          <a:lstStyle/>
          <a:p>
            <a:r>
              <a:rPr lang="en-US" altLang="en-US" smtClean="0"/>
              <a:t>Solaris</a:t>
            </a:r>
          </a:p>
          <a:p>
            <a:r>
              <a:rPr lang="en-US" altLang="en-US" smtClean="0"/>
              <a:t>Windows</a:t>
            </a:r>
          </a:p>
          <a:p>
            <a:r>
              <a:rPr lang="en-US" altLang="en-US" smtClean="0"/>
              <a:t>Linux</a:t>
            </a:r>
          </a:p>
          <a:p>
            <a:r>
              <a:rPr lang="en-US" altLang="en-US" smtClean="0"/>
              <a:t>Pthreads</a:t>
            </a:r>
          </a:p>
        </p:txBody>
      </p:sp>
    </p:spTree>
    <p:extLst>
      <p:ext uri="{BB962C8B-B14F-4D97-AF65-F5344CB8AC3E}">
        <p14:creationId xmlns:p14="http://schemas.microsoft.com/office/powerpoint/2010/main" val="299280174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11250" y="161925"/>
            <a:ext cx="7575550" cy="576263"/>
          </a:xfrm>
        </p:spPr>
        <p:txBody>
          <a:bodyPr>
            <a:normAutofit fontScale="90000"/>
          </a:bodyPr>
          <a:lstStyle/>
          <a:p>
            <a:pPr eaLnBrk="1" hangingPunct="1"/>
            <a:r>
              <a:rPr lang="en-US" altLang="en-US" smtClean="0"/>
              <a:t>Solaris Synchronization</a:t>
            </a:r>
          </a:p>
        </p:txBody>
      </p:sp>
      <p:sp>
        <p:nvSpPr>
          <p:cNvPr id="61443" name="Rectangle 3"/>
          <p:cNvSpPr>
            <a:spLocks noGrp="1" noChangeArrowheads="1"/>
          </p:cNvSpPr>
          <p:nvPr>
            <p:ph idx="1"/>
          </p:nvPr>
        </p:nvSpPr>
        <p:spPr>
          <a:xfrm>
            <a:off x="820738" y="1058863"/>
            <a:ext cx="7678737" cy="5153025"/>
          </a:xfrm>
        </p:spPr>
        <p:txBody>
          <a:bodyPr>
            <a:normAutofit fontScale="70000" lnSpcReduction="20000"/>
          </a:bodyPr>
          <a:lstStyle/>
          <a:p>
            <a:r>
              <a:rPr lang="en-US" altLang="en-US" dirty="0" smtClean="0"/>
              <a:t>Implements a variety of locks to support multitasking, multithreading (including real-time threads), and multiprocessing</a:t>
            </a:r>
          </a:p>
          <a:p>
            <a:r>
              <a:rPr lang="en-US" altLang="en-US" dirty="0" smtClean="0"/>
              <a:t>Uses </a:t>
            </a:r>
            <a:r>
              <a:rPr lang="en-US" altLang="en-US" b="1" dirty="0" smtClean="0">
                <a:solidFill>
                  <a:srgbClr val="3366FF"/>
                </a:solidFill>
              </a:rPr>
              <a:t>adaptive </a:t>
            </a:r>
            <a:r>
              <a:rPr lang="en-US" altLang="en-US" b="1" dirty="0" err="1" smtClean="0">
                <a:solidFill>
                  <a:srgbClr val="3366FF"/>
                </a:solidFill>
              </a:rPr>
              <a:t>mutexes</a:t>
            </a:r>
            <a:r>
              <a:rPr lang="en-US" altLang="en-US" smtClean="0">
                <a:solidFill>
                  <a:srgbClr val="3366FF"/>
                </a:solidFill>
              </a:rPr>
              <a:t> </a:t>
            </a:r>
            <a:r>
              <a:rPr lang="en-US" altLang="en-US" smtClean="0"/>
              <a:t>for efficiency when protecting data from short code segments</a:t>
            </a:r>
          </a:p>
          <a:p>
            <a:pPr lvl="1"/>
            <a:r>
              <a:rPr lang="en-US" altLang="en-US" sz="1600" dirty="0" smtClean="0"/>
              <a:t>Starts as a standard semaphore spin-lock</a:t>
            </a:r>
          </a:p>
          <a:p>
            <a:pPr lvl="1"/>
            <a:r>
              <a:rPr lang="en-US" altLang="en-US" sz="1600" dirty="0" smtClean="0"/>
              <a:t>If lock held, and by a thread running on another CPU, spins</a:t>
            </a:r>
          </a:p>
          <a:p>
            <a:pPr lvl="1"/>
            <a:r>
              <a:rPr lang="en-US" altLang="en-US" sz="1600" dirty="0" smtClean="0"/>
              <a:t>If lock held by non-run-state thread, block and sleep waiting for signal of lock being released</a:t>
            </a:r>
          </a:p>
          <a:p>
            <a:r>
              <a:rPr lang="en-US" altLang="en-US" dirty="0" smtClean="0"/>
              <a:t>Uses </a:t>
            </a:r>
            <a:r>
              <a:rPr lang="en-US" altLang="en-US" b="1" dirty="0" smtClean="0">
                <a:solidFill>
                  <a:srgbClr val="3366FF"/>
                </a:solidFill>
              </a:rPr>
              <a:t>condition variables</a:t>
            </a:r>
            <a:r>
              <a:rPr lang="en-US" altLang="en-US" dirty="0" smtClean="0">
                <a:solidFill>
                  <a:srgbClr val="3366FF"/>
                </a:solidFill>
              </a:rPr>
              <a:t> </a:t>
            </a:r>
            <a:endParaRPr lang="en-US" altLang="en-US" dirty="0" smtClean="0"/>
          </a:p>
          <a:p>
            <a:r>
              <a:rPr lang="en-US" altLang="en-US" dirty="0" smtClean="0"/>
              <a:t>Uses </a:t>
            </a:r>
            <a:r>
              <a:rPr lang="en-US" altLang="en-US" b="1" dirty="0" smtClean="0">
                <a:solidFill>
                  <a:srgbClr val="3366FF"/>
                </a:solidFill>
              </a:rPr>
              <a:t>readers-writers</a:t>
            </a:r>
            <a:r>
              <a:rPr lang="en-US" altLang="en-US" dirty="0" smtClean="0">
                <a:solidFill>
                  <a:srgbClr val="3366FF"/>
                </a:solidFill>
              </a:rPr>
              <a:t> </a:t>
            </a:r>
            <a:r>
              <a:rPr lang="en-US" altLang="en-US" dirty="0" smtClean="0"/>
              <a:t>locks when longer sections of code need access to data</a:t>
            </a:r>
          </a:p>
          <a:p>
            <a:r>
              <a:rPr lang="en-US" altLang="en-US" dirty="0" smtClean="0"/>
              <a:t>Uses </a:t>
            </a:r>
            <a:r>
              <a:rPr lang="en-US" altLang="en-US" b="1" dirty="0" smtClean="0">
                <a:solidFill>
                  <a:srgbClr val="3366FF"/>
                </a:solidFill>
              </a:rPr>
              <a:t>turnstiles</a:t>
            </a:r>
            <a:r>
              <a:rPr lang="en-US" altLang="en-US" dirty="0" smtClean="0"/>
              <a:t> to order the list of threads waiting to acquire either an adaptive </a:t>
            </a:r>
            <a:r>
              <a:rPr lang="en-US" altLang="en-US" dirty="0" err="1" smtClean="0"/>
              <a:t>mutex</a:t>
            </a:r>
            <a:r>
              <a:rPr lang="en-US" altLang="en-US" dirty="0" smtClean="0"/>
              <a:t> or reader-writer lock</a:t>
            </a:r>
          </a:p>
          <a:p>
            <a:pPr lvl="1"/>
            <a:r>
              <a:rPr lang="en-US" altLang="en-US" sz="1600" dirty="0" smtClean="0"/>
              <a:t>Turnstiles are per-lock-holding-thread, not per-object</a:t>
            </a:r>
          </a:p>
          <a:p>
            <a:r>
              <a:rPr lang="en-US" altLang="en-US" dirty="0" smtClean="0"/>
              <a:t>Priority-inheritance per-turnstile gives the running thread the highest of the priorities of the threads in its turnstile</a:t>
            </a:r>
          </a:p>
        </p:txBody>
      </p:sp>
    </p:spTree>
    <p:extLst>
      <p:ext uri="{BB962C8B-B14F-4D97-AF65-F5344CB8AC3E}">
        <p14:creationId xmlns:p14="http://schemas.microsoft.com/office/powerpoint/2010/main" val="211297749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082675" y="190500"/>
            <a:ext cx="7604125" cy="576263"/>
          </a:xfrm>
        </p:spPr>
        <p:txBody>
          <a:bodyPr>
            <a:normAutofit fontScale="90000"/>
          </a:bodyPr>
          <a:lstStyle/>
          <a:p>
            <a:pPr eaLnBrk="1" hangingPunct="1"/>
            <a:r>
              <a:rPr lang="en-US" altLang="en-US" smtClean="0"/>
              <a:t>Windows Synchronization</a:t>
            </a:r>
          </a:p>
        </p:txBody>
      </p:sp>
      <p:sp>
        <p:nvSpPr>
          <p:cNvPr id="62467" name="Rectangle 3"/>
          <p:cNvSpPr>
            <a:spLocks noGrp="1" noChangeArrowheads="1"/>
          </p:cNvSpPr>
          <p:nvPr>
            <p:ph idx="1"/>
          </p:nvPr>
        </p:nvSpPr>
        <p:spPr>
          <a:xfrm>
            <a:off x="806450" y="1233488"/>
            <a:ext cx="6943725" cy="4530725"/>
          </a:xfrm>
        </p:spPr>
        <p:txBody>
          <a:bodyPr>
            <a:normAutofit fontScale="77500" lnSpcReduction="20000"/>
          </a:bodyPr>
          <a:lstStyle/>
          <a:p>
            <a:r>
              <a:rPr lang="en-US" altLang="en-US" smtClean="0"/>
              <a:t>Uses interrupt masks to protect access to global resources on uniprocessor systems</a:t>
            </a:r>
          </a:p>
          <a:p>
            <a:r>
              <a:rPr lang="en-US" altLang="en-US" smtClean="0"/>
              <a:t>Uses </a:t>
            </a:r>
            <a:r>
              <a:rPr lang="en-US" altLang="en-US" b="1" smtClean="0">
                <a:solidFill>
                  <a:srgbClr val="3366FF"/>
                </a:solidFill>
              </a:rPr>
              <a:t>spinlocks </a:t>
            </a:r>
            <a:r>
              <a:rPr lang="en-US" altLang="en-US" smtClean="0"/>
              <a:t>on multiprocessor systems</a:t>
            </a:r>
          </a:p>
          <a:p>
            <a:pPr lvl="1"/>
            <a:r>
              <a:rPr lang="en-US" altLang="en-US" smtClean="0"/>
              <a:t>Spinlocking-thread will never be preempted</a:t>
            </a:r>
          </a:p>
          <a:p>
            <a:r>
              <a:rPr lang="en-US" altLang="en-US" smtClean="0"/>
              <a:t>Also provides </a:t>
            </a:r>
            <a:r>
              <a:rPr lang="en-US" altLang="en-US" b="1" smtClean="0">
                <a:solidFill>
                  <a:srgbClr val="3366FF"/>
                </a:solidFill>
              </a:rPr>
              <a:t>dispatcher objects </a:t>
            </a:r>
            <a:r>
              <a:rPr lang="en-US" altLang="en-US" smtClean="0">
                <a:solidFill>
                  <a:srgbClr val="000000"/>
                </a:solidFill>
              </a:rPr>
              <a:t>user-land </a:t>
            </a:r>
            <a:r>
              <a:rPr lang="en-US" altLang="en-US" smtClean="0"/>
              <a:t>which may act mutexes, semaphores, events, and timers</a:t>
            </a:r>
          </a:p>
          <a:p>
            <a:pPr lvl="1"/>
            <a:r>
              <a:rPr lang="en-US" altLang="en-US" b="1" smtClean="0">
                <a:solidFill>
                  <a:srgbClr val="3366FF"/>
                </a:solidFill>
              </a:rPr>
              <a:t>Events</a:t>
            </a:r>
          </a:p>
          <a:p>
            <a:pPr lvl="2"/>
            <a:r>
              <a:rPr lang="en-US" altLang="en-US" smtClean="0"/>
              <a:t>An event acts much like a condition variable</a:t>
            </a:r>
          </a:p>
          <a:p>
            <a:pPr lvl="1"/>
            <a:r>
              <a:rPr lang="en-US" altLang="en-US" smtClean="0"/>
              <a:t>Timers notify one or more thread when time expired</a:t>
            </a:r>
          </a:p>
          <a:p>
            <a:pPr lvl="1"/>
            <a:r>
              <a:rPr lang="en-US" altLang="en-US" smtClean="0"/>
              <a:t>Dispatcher objects either </a:t>
            </a:r>
            <a:r>
              <a:rPr lang="en-US" altLang="en-US" b="1" smtClean="0">
                <a:solidFill>
                  <a:srgbClr val="3366FF"/>
                </a:solidFill>
              </a:rPr>
              <a:t>signaled-state </a:t>
            </a:r>
            <a:r>
              <a:rPr lang="en-US" altLang="en-US" smtClean="0"/>
              <a:t>(object available) or </a:t>
            </a:r>
            <a:r>
              <a:rPr lang="en-US" altLang="en-US" b="1" smtClean="0">
                <a:solidFill>
                  <a:srgbClr val="3366FF"/>
                </a:solidFill>
              </a:rPr>
              <a:t>non-signaled state </a:t>
            </a:r>
            <a:r>
              <a:rPr lang="en-US" altLang="en-US" smtClean="0"/>
              <a:t>(thread will block)</a:t>
            </a:r>
          </a:p>
        </p:txBody>
      </p:sp>
    </p:spTree>
    <p:extLst>
      <p:ext uri="{BB962C8B-B14F-4D97-AF65-F5344CB8AC3E}">
        <p14:creationId xmlns:p14="http://schemas.microsoft.com/office/powerpoint/2010/main" val="279412830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998538" y="190500"/>
            <a:ext cx="7688262" cy="576263"/>
          </a:xfrm>
        </p:spPr>
        <p:txBody>
          <a:bodyPr>
            <a:normAutofit fontScale="90000"/>
          </a:bodyPr>
          <a:lstStyle/>
          <a:p>
            <a:pPr eaLnBrk="1" hangingPunct="1"/>
            <a:r>
              <a:rPr lang="en-US" altLang="en-US" smtClean="0"/>
              <a:t>Linux Synchronization</a:t>
            </a:r>
          </a:p>
        </p:txBody>
      </p:sp>
      <p:sp>
        <p:nvSpPr>
          <p:cNvPr id="63491" name="Rectangle 3"/>
          <p:cNvSpPr>
            <a:spLocks noGrp="1" noChangeArrowheads="1"/>
          </p:cNvSpPr>
          <p:nvPr>
            <p:ph idx="1"/>
          </p:nvPr>
        </p:nvSpPr>
        <p:spPr>
          <a:xfrm>
            <a:off x="849313" y="1117600"/>
            <a:ext cx="6711950" cy="4530725"/>
          </a:xfrm>
        </p:spPr>
        <p:txBody>
          <a:bodyPr>
            <a:normAutofit fontScale="85000" lnSpcReduction="10000"/>
          </a:bodyPr>
          <a:lstStyle/>
          <a:p>
            <a:r>
              <a:rPr lang="en-US" altLang="en-US" smtClean="0"/>
              <a:t>Linux:</a:t>
            </a:r>
          </a:p>
          <a:p>
            <a:pPr lvl="1"/>
            <a:r>
              <a:rPr lang="en-US" altLang="en-US" smtClean="0"/>
              <a:t>Prior to kernel Version 2.6, disables interrupts to implement short critical sections</a:t>
            </a:r>
          </a:p>
          <a:p>
            <a:pPr lvl="1"/>
            <a:r>
              <a:rPr lang="en-US" altLang="en-US" smtClean="0"/>
              <a:t>Version 2.6 and later, fully preemptive</a:t>
            </a:r>
          </a:p>
          <a:p>
            <a:r>
              <a:rPr lang="en-US" altLang="en-US" smtClean="0"/>
              <a:t>Linux provides:</a:t>
            </a:r>
          </a:p>
          <a:p>
            <a:pPr lvl="1"/>
            <a:r>
              <a:rPr lang="en-US" altLang="en-US" smtClean="0"/>
              <a:t>Semaphores</a:t>
            </a:r>
          </a:p>
          <a:p>
            <a:pPr lvl="1"/>
            <a:r>
              <a:rPr lang="en-US" altLang="en-US" smtClean="0"/>
              <a:t>atomic integers</a:t>
            </a:r>
          </a:p>
          <a:p>
            <a:pPr lvl="1"/>
            <a:r>
              <a:rPr lang="en-US" altLang="en-US" smtClean="0"/>
              <a:t>spinlocks</a:t>
            </a:r>
          </a:p>
          <a:p>
            <a:pPr lvl="1"/>
            <a:r>
              <a:rPr lang="en-US" altLang="en-US" smtClean="0"/>
              <a:t>reader-writer versions of both</a:t>
            </a:r>
          </a:p>
          <a:p>
            <a:r>
              <a:rPr lang="en-US" altLang="en-US" smtClean="0"/>
              <a:t>On single-cpu system, spinlocks replaced by enabling and disabling kernel preemption</a:t>
            </a:r>
          </a:p>
        </p:txBody>
      </p:sp>
    </p:spTree>
    <p:extLst>
      <p:ext uri="{BB962C8B-B14F-4D97-AF65-F5344CB8AC3E}">
        <p14:creationId xmlns:p14="http://schemas.microsoft.com/office/powerpoint/2010/main" val="385186479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203325" y="190500"/>
            <a:ext cx="7483475" cy="576263"/>
          </a:xfrm>
        </p:spPr>
        <p:txBody>
          <a:bodyPr>
            <a:normAutofit fontScale="90000"/>
          </a:bodyPr>
          <a:lstStyle/>
          <a:p>
            <a:pPr eaLnBrk="1" hangingPunct="1"/>
            <a:r>
              <a:rPr lang="en-US" altLang="en-US" smtClean="0"/>
              <a:t>Pthreads Synchronization</a:t>
            </a:r>
          </a:p>
        </p:txBody>
      </p:sp>
      <p:sp>
        <p:nvSpPr>
          <p:cNvPr id="64515" name="Rectangle 3"/>
          <p:cNvSpPr>
            <a:spLocks noGrp="1" noChangeArrowheads="1"/>
          </p:cNvSpPr>
          <p:nvPr>
            <p:ph type="body" sz="half" idx="1"/>
          </p:nvPr>
        </p:nvSpPr>
        <p:spPr>
          <a:xfrm>
            <a:off x="935038" y="1181100"/>
            <a:ext cx="7429500" cy="4613275"/>
          </a:xfrm>
        </p:spPr>
        <p:txBody>
          <a:bodyPr/>
          <a:lstStyle/>
          <a:p>
            <a:r>
              <a:rPr lang="en-US" altLang="en-US" smtClean="0"/>
              <a:t>Pthreads API is OS-independent</a:t>
            </a:r>
          </a:p>
          <a:p>
            <a:r>
              <a:rPr lang="en-US" altLang="en-US" smtClean="0"/>
              <a:t>It provides:</a:t>
            </a:r>
          </a:p>
          <a:p>
            <a:pPr lvl="1"/>
            <a:r>
              <a:rPr lang="en-US" altLang="en-US" smtClean="0"/>
              <a:t>mutex locks</a:t>
            </a:r>
          </a:p>
          <a:p>
            <a:pPr lvl="1"/>
            <a:r>
              <a:rPr lang="en-US" altLang="en-US" smtClean="0"/>
              <a:t>condition variable</a:t>
            </a:r>
          </a:p>
          <a:p>
            <a:r>
              <a:rPr lang="en-US" altLang="en-US" smtClean="0"/>
              <a:t>Non-portable extensions include:</a:t>
            </a:r>
          </a:p>
          <a:p>
            <a:pPr lvl="1"/>
            <a:r>
              <a:rPr lang="en-US" altLang="en-US" smtClean="0"/>
              <a:t>read-write locks</a:t>
            </a:r>
          </a:p>
          <a:p>
            <a:pPr lvl="1"/>
            <a:r>
              <a:rPr lang="en-US" altLang="en-US" smtClean="0"/>
              <a:t>spinlocks</a:t>
            </a:r>
          </a:p>
        </p:txBody>
      </p:sp>
    </p:spTree>
    <p:extLst>
      <p:ext uri="{BB962C8B-B14F-4D97-AF65-F5344CB8AC3E}">
        <p14:creationId xmlns:p14="http://schemas.microsoft.com/office/powerpoint/2010/main" val="147701393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203325" y="190500"/>
            <a:ext cx="7483475" cy="576263"/>
          </a:xfrm>
        </p:spPr>
        <p:txBody>
          <a:bodyPr>
            <a:normAutofit fontScale="90000"/>
          </a:bodyPr>
          <a:lstStyle/>
          <a:p>
            <a:pPr eaLnBrk="1" hangingPunct="1"/>
            <a:r>
              <a:rPr lang="en-US" altLang="en-US" smtClean="0"/>
              <a:t>Alternative Approaches</a:t>
            </a:r>
          </a:p>
        </p:txBody>
      </p:sp>
      <p:sp>
        <p:nvSpPr>
          <p:cNvPr id="65539" name="Rectangle 3"/>
          <p:cNvSpPr>
            <a:spLocks noGrp="1" noChangeArrowheads="1"/>
          </p:cNvSpPr>
          <p:nvPr>
            <p:ph type="body" sz="half" idx="1"/>
          </p:nvPr>
        </p:nvSpPr>
        <p:spPr>
          <a:xfrm>
            <a:off x="935038" y="1181100"/>
            <a:ext cx="7429500" cy="4613275"/>
          </a:xfrm>
        </p:spPr>
        <p:txBody>
          <a:bodyPr/>
          <a:lstStyle/>
          <a:p>
            <a:r>
              <a:rPr lang="en-US" altLang="en-US" smtClean="0"/>
              <a:t>Transactional Memory</a:t>
            </a:r>
            <a:br>
              <a:rPr lang="en-US" altLang="en-US" smtClean="0"/>
            </a:br>
            <a:endParaRPr lang="en-US" altLang="en-US" smtClean="0"/>
          </a:p>
          <a:p>
            <a:r>
              <a:rPr lang="en-US" altLang="en-US" smtClean="0"/>
              <a:t>OpenMP</a:t>
            </a:r>
            <a:br>
              <a:rPr lang="en-US" altLang="en-US" smtClean="0"/>
            </a:br>
            <a:endParaRPr lang="en-US" altLang="en-US" smtClean="0"/>
          </a:p>
          <a:p>
            <a:r>
              <a:rPr lang="en-US" altLang="en-US" smtClean="0"/>
              <a:t>Functional Programming Languages</a:t>
            </a:r>
          </a:p>
        </p:txBody>
      </p:sp>
    </p:spTree>
    <p:extLst>
      <p:ext uri="{BB962C8B-B14F-4D97-AF65-F5344CB8AC3E}">
        <p14:creationId xmlns:p14="http://schemas.microsoft.com/office/powerpoint/2010/main" val="148738311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idx="1"/>
          </p:nvPr>
        </p:nvSpPr>
        <p:spPr>
          <a:xfrm>
            <a:off x="928688" y="771525"/>
            <a:ext cx="7021512" cy="5268913"/>
          </a:xfrm>
        </p:spPr>
        <p:txBody>
          <a:bodyPr/>
          <a:lstStyle/>
          <a:p>
            <a:pPr>
              <a:lnSpc>
                <a:spcPct val="80000"/>
              </a:lnSpc>
              <a:buFont typeface="Monotype Sorts" pitchFamily="-84" charset="2"/>
              <a:buNone/>
            </a:pPr>
            <a:endParaRPr lang="en-US" altLang="en-US" sz="1600" smtClean="0">
              <a:solidFill>
                <a:srgbClr val="0000FF"/>
              </a:solidFill>
            </a:endParaRPr>
          </a:p>
          <a:p>
            <a:pPr>
              <a:lnSpc>
                <a:spcPct val="80000"/>
              </a:lnSpc>
            </a:pPr>
            <a:r>
              <a:rPr lang="en-US" altLang="en-US" smtClean="0"/>
              <a:t>A </a:t>
            </a:r>
            <a:r>
              <a:rPr lang="en-US" altLang="en-US" b="1" smtClean="0"/>
              <a:t>memory transaction </a:t>
            </a:r>
            <a:r>
              <a:rPr lang="en-US" altLang="en-US" smtClean="0"/>
              <a:t>is a sequence of read-write operations to memory that are performed atomically.</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r>
              <a:rPr lang="en-US" altLang="en-US" sz="2000" b="1" smtClean="0">
                <a:solidFill>
                  <a:srgbClr val="000000"/>
                </a:solidFill>
                <a:latin typeface="Courier New" pitchFamily="49" charset="0"/>
                <a:cs typeface="Courier New" pitchFamily="49" charset="0"/>
              </a:rPr>
              <a:t>void update()</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 read/write memory */</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a:t>
            </a:r>
          </a:p>
          <a:p>
            <a:pPr>
              <a:lnSpc>
                <a:spcPct val="80000"/>
              </a:lnSpc>
              <a:buFont typeface="Monotype Sorts" pitchFamily="-84" charset="2"/>
              <a:buNone/>
            </a:pPr>
            <a:endParaRPr lang="en-US" altLang="en-US" smtClean="0">
              <a:solidFill>
                <a:srgbClr val="0000FF"/>
              </a:solidFill>
            </a:endParaRPr>
          </a:p>
          <a:p>
            <a:pPr>
              <a:lnSpc>
                <a:spcPct val="80000"/>
              </a:lnSpc>
              <a:buFont typeface="Monotype Sorts" pitchFamily="-84" charset="2"/>
              <a:buNone/>
            </a:pPr>
            <a:endParaRPr lang="en-US" altLang="en-US" i="1" smtClean="0">
              <a:solidFill>
                <a:srgbClr val="0000FF"/>
              </a:solidFill>
            </a:endParaRPr>
          </a:p>
          <a:p>
            <a:pPr>
              <a:lnSpc>
                <a:spcPct val="80000"/>
              </a:lnSpc>
              <a:buFont typeface="Monotype Sorts" pitchFamily="-84" charset="2"/>
              <a:buNone/>
            </a:pPr>
            <a:endParaRPr lang="en-US" altLang="en-US" smtClean="0">
              <a:solidFill>
                <a:srgbClr val="0000FF"/>
              </a:solidFill>
            </a:endParaRPr>
          </a:p>
        </p:txBody>
      </p:sp>
      <p:sp>
        <p:nvSpPr>
          <p:cNvPr id="66563" name="Rectangle 2"/>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r>
              <a:rPr lang="en-US" altLang="en-US" sz="3200" b="1">
                <a:solidFill>
                  <a:srgbClr val="006699"/>
                </a:solidFill>
                <a:latin typeface="Arial" pitchFamily="34" charset="0"/>
              </a:rPr>
              <a:t>Transactional Memory</a:t>
            </a:r>
          </a:p>
        </p:txBody>
      </p:sp>
    </p:spTree>
    <p:extLst>
      <p:ext uri="{BB962C8B-B14F-4D97-AF65-F5344CB8AC3E}">
        <p14:creationId xmlns:p14="http://schemas.microsoft.com/office/powerpoint/2010/main" val="33360741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a:xfrm>
            <a:off x="928688" y="771525"/>
            <a:ext cx="7021512" cy="5268913"/>
          </a:xfrm>
        </p:spPr>
        <p:txBody>
          <a:bodyPr>
            <a:normAutofit fontScale="92500" lnSpcReduction="20000"/>
          </a:bodyPr>
          <a:lstStyle/>
          <a:p>
            <a:pPr>
              <a:lnSpc>
                <a:spcPct val="80000"/>
              </a:lnSpc>
              <a:buFont typeface="Monotype Sorts" pitchFamily="-84" charset="2"/>
              <a:buNone/>
            </a:pPr>
            <a:endParaRPr lang="en-US" altLang="en-US" sz="1600" smtClean="0">
              <a:solidFill>
                <a:srgbClr val="0000FF"/>
              </a:solidFill>
            </a:endParaRPr>
          </a:p>
          <a:p>
            <a:pPr>
              <a:lnSpc>
                <a:spcPct val="80000"/>
              </a:lnSpc>
            </a:pPr>
            <a:r>
              <a:rPr lang="en-US" altLang="en-US" smtClean="0"/>
              <a:t>OpenMP is a set of compiler directives and API that support parallel progamming.</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r>
              <a:rPr lang="en-US" altLang="en-US" sz="2000" b="1" smtClean="0">
                <a:solidFill>
                  <a:srgbClr val="000000"/>
                </a:solidFill>
                <a:latin typeface="Courier New" pitchFamily="49" charset="0"/>
                <a:cs typeface="Courier New" pitchFamily="49" charset="0"/>
              </a:rPr>
              <a:t>void update(int value)</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#pragma omp critical</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count += value</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2000" b="1" smtClean="0">
                <a:solidFill>
                  <a:srgbClr val="000000"/>
                </a:solidFill>
                <a:latin typeface="Courier New" pitchFamily="49" charset="0"/>
                <a:cs typeface="Courier New" pitchFamily="49" charset="0"/>
              </a:rPr>
              <a:t>			  }</a:t>
            </a:r>
          </a:p>
          <a:p>
            <a:pPr>
              <a:lnSpc>
                <a:spcPct val="80000"/>
              </a:lnSpc>
              <a:buFont typeface="Monotype Sorts" pitchFamily="-84" charset="2"/>
              <a:buNone/>
            </a:pPr>
            <a:endParaRPr lang="en-US" altLang="en-US" smtClean="0">
              <a:solidFill>
                <a:srgbClr val="0000FF"/>
              </a:solidFill>
            </a:endParaRPr>
          </a:p>
          <a:p>
            <a:pPr>
              <a:lnSpc>
                <a:spcPct val="80000"/>
              </a:lnSpc>
              <a:buFont typeface="Monotype Sorts" pitchFamily="-84" charset="2"/>
              <a:buNone/>
            </a:pPr>
            <a:r>
              <a:rPr lang="en-US" altLang="en-US" smtClean="0"/>
              <a:t>The code contained within the </a:t>
            </a:r>
            <a:r>
              <a:rPr lang="en-US" altLang="en-US" b="1" smtClean="0">
                <a:latin typeface="Courier New" pitchFamily="49" charset="0"/>
                <a:cs typeface="Courier New" pitchFamily="49" charset="0"/>
              </a:rPr>
              <a:t>#pragma omp critical </a:t>
            </a:r>
            <a:r>
              <a:rPr lang="en-US" altLang="en-US" smtClean="0"/>
              <a:t>directive is treated as a critical section and performed atomically.</a:t>
            </a:r>
          </a:p>
          <a:p>
            <a:pPr>
              <a:lnSpc>
                <a:spcPct val="80000"/>
              </a:lnSpc>
              <a:buFont typeface="Monotype Sorts" pitchFamily="-84" charset="2"/>
              <a:buNone/>
            </a:pPr>
            <a:endParaRPr lang="en-US" altLang="en-US" smtClean="0">
              <a:solidFill>
                <a:srgbClr val="0000FF"/>
              </a:solidFill>
            </a:endParaRPr>
          </a:p>
        </p:txBody>
      </p:sp>
      <p:sp>
        <p:nvSpPr>
          <p:cNvPr id="67587" name="Rectangle 2"/>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r>
              <a:rPr lang="en-US" altLang="en-US" sz="3200" b="1">
                <a:solidFill>
                  <a:srgbClr val="006699"/>
                </a:solidFill>
                <a:latin typeface="Arial" pitchFamily="34" charset="0"/>
              </a:rPr>
              <a:t>OpenMP</a:t>
            </a:r>
          </a:p>
        </p:txBody>
      </p:sp>
    </p:spTree>
    <p:extLst>
      <p:ext uri="{BB962C8B-B14F-4D97-AF65-F5344CB8AC3E}">
        <p14:creationId xmlns:p14="http://schemas.microsoft.com/office/powerpoint/2010/main" val="34376648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idx="1"/>
          </p:nvPr>
        </p:nvSpPr>
        <p:spPr>
          <a:xfrm>
            <a:off x="892175" y="914400"/>
            <a:ext cx="7021513" cy="5268913"/>
          </a:xfrm>
        </p:spPr>
        <p:txBody>
          <a:bodyPr>
            <a:normAutofit fontScale="92500" lnSpcReduction="10000"/>
          </a:bodyPr>
          <a:lstStyle/>
          <a:p>
            <a:pPr>
              <a:lnSpc>
                <a:spcPct val="80000"/>
              </a:lnSpc>
              <a:buFont typeface="Monotype Sorts" pitchFamily="-84" charset="2"/>
              <a:buNone/>
            </a:pPr>
            <a:endParaRPr lang="en-US" altLang="en-US" sz="1600" smtClean="0">
              <a:solidFill>
                <a:srgbClr val="0000FF"/>
              </a:solidFill>
            </a:endParaRPr>
          </a:p>
          <a:p>
            <a:pPr>
              <a:lnSpc>
                <a:spcPct val="80000"/>
              </a:lnSpc>
            </a:pPr>
            <a:r>
              <a:rPr lang="en-US" altLang="en-US" smtClean="0"/>
              <a:t>Functional programming languages offer a different paradigm than procedural languages in that they do not maintain state. </a:t>
            </a:r>
            <a:br>
              <a:rPr lang="en-US" altLang="en-US" smtClean="0"/>
            </a:br>
            <a:endParaRPr lang="en-US" altLang="en-US" smtClean="0"/>
          </a:p>
          <a:p>
            <a:pPr>
              <a:lnSpc>
                <a:spcPct val="80000"/>
              </a:lnSpc>
            </a:pPr>
            <a:r>
              <a:rPr lang="en-US" altLang="en-US" smtClean="0"/>
              <a:t>Variables are treated as immutable and cannot change state once they have been assigned a value.</a:t>
            </a:r>
            <a:br>
              <a:rPr lang="en-US" altLang="en-US" smtClean="0"/>
            </a:br>
            <a:endParaRPr lang="en-US" altLang="en-US" smtClean="0"/>
          </a:p>
          <a:p>
            <a:pPr>
              <a:lnSpc>
                <a:spcPct val="80000"/>
              </a:lnSpc>
            </a:pPr>
            <a:r>
              <a:rPr lang="en-US" altLang="en-US" smtClean="0"/>
              <a:t>There is increasing interest in functional languages such as Erlang and Scala for their approach in handling data races.</a:t>
            </a:r>
          </a:p>
          <a:p>
            <a:pPr>
              <a:lnSpc>
                <a:spcPct val="80000"/>
              </a:lnSpc>
              <a:buFont typeface="Monotype Sorts" pitchFamily="-84" charset="2"/>
              <a:buNone/>
            </a:pPr>
            <a:endParaRPr lang="en-US" altLang="en-US" b="1"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smtClean="0">
                <a:solidFill>
                  <a:srgbClr val="000000"/>
                </a:solidFill>
                <a:latin typeface="Courier New" pitchFamily="49" charset="0"/>
                <a:cs typeface="Courier New" pitchFamily="49" charset="0"/>
              </a:rPr>
              <a:t>              </a:t>
            </a:r>
            <a:endParaRPr lang="en-US" altLang="en-US" smtClean="0">
              <a:solidFill>
                <a:srgbClr val="0000FF"/>
              </a:solidFill>
            </a:endParaRPr>
          </a:p>
        </p:txBody>
      </p:sp>
      <p:sp>
        <p:nvSpPr>
          <p:cNvPr id="68611" name="Rectangle 2"/>
          <p:cNvSpPr>
            <a:spLocks noChangeArrowheads="1"/>
          </p:cNvSpPr>
          <p:nvPr/>
        </p:nvSpPr>
        <p:spPr bwMode="auto">
          <a:xfrm>
            <a:off x="1004888" y="-14288"/>
            <a:ext cx="8213725" cy="739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r>
              <a:rPr lang="en-US" altLang="en-US" sz="3200" b="1">
                <a:solidFill>
                  <a:srgbClr val="006699"/>
                </a:solidFill>
                <a:latin typeface="Arial" pitchFamily="34" charset="0"/>
              </a:rPr>
              <a:t>Functional Programming Languages</a:t>
            </a:r>
          </a:p>
        </p:txBody>
      </p:sp>
    </p:spTree>
    <p:extLst>
      <p:ext uri="{BB962C8B-B14F-4D97-AF65-F5344CB8AC3E}">
        <p14:creationId xmlns:p14="http://schemas.microsoft.com/office/powerpoint/2010/main" val="2842067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7185</TotalTime>
  <Words>3696</Words>
  <Application>Microsoft Office PowerPoint</Application>
  <PresentationFormat>On-screen Show (4:3)</PresentationFormat>
  <Paragraphs>1036</Paragraphs>
  <Slides>74</Slides>
  <Notes>64</Notes>
  <HiddenSlides>0</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Office Theme</vt:lpstr>
      <vt:lpstr>Module4_Process Synchronization</vt:lpstr>
      <vt:lpstr>Process Synchronization</vt:lpstr>
      <vt:lpstr>Objectives</vt:lpstr>
      <vt:lpstr>Background</vt:lpstr>
      <vt:lpstr>Producer </vt:lpstr>
      <vt:lpstr>Consumer</vt:lpstr>
      <vt:lpstr>Race Condition - Example</vt:lpstr>
      <vt:lpstr>Critical Section Problem</vt:lpstr>
      <vt:lpstr>Critical Section</vt:lpstr>
      <vt:lpstr>Solution to Critical-Section Problem</vt:lpstr>
      <vt:lpstr>Algorithm for Process Pi</vt:lpstr>
      <vt:lpstr>Solution to Critical-Section Problem</vt:lpstr>
      <vt:lpstr>Critical-Section Handling in OS </vt:lpstr>
      <vt:lpstr>Dekker's Algorithm</vt:lpstr>
      <vt:lpstr>Peterson’s Solution</vt:lpstr>
      <vt:lpstr>Algorithm for Process Pi</vt:lpstr>
      <vt:lpstr>Peterson’s Solution (Cont.)</vt:lpstr>
      <vt:lpstr>Peterson’s Solution (Cont.)</vt:lpstr>
      <vt:lpstr>Synchronization Hardware</vt:lpstr>
      <vt:lpstr>Solution to Critical-section Problem Using Locks</vt:lpstr>
      <vt:lpstr>test_and_set  Instruction </vt:lpstr>
      <vt:lpstr>Solution using test_and_set()</vt:lpstr>
      <vt:lpstr>compare_and_swap Instruction</vt:lpstr>
      <vt:lpstr>Solution using compare_and_swap</vt:lpstr>
      <vt:lpstr>Bounded-waiting Mutual Exclusion with test_and_set</vt:lpstr>
      <vt:lpstr>Mutex Locks</vt:lpstr>
      <vt:lpstr>acquire() and release()</vt:lpstr>
      <vt:lpstr>Semaphore</vt:lpstr>
      <vt:lpstr>Semaphore Usage</vt:lpstr>
      <vt:lpstr>Semaphore Implementation</vt:lpstr>
      <vt:lpstr>Semaphore Implementation with no Busy waiting </vt:lpstr>
      <vt:lpstr>Implementation with no Busy waiting (Cont.)</vt:lpstr>
      <vt:lpstr>Semaphore Example</vt:lpstr>
      <vt:lpstr>Semaphore Example (cont’d)</vt:lpstr>
      <vt:lpstr>Deadlock and Starvation</vt:lpstr>
      <vt:lpstr>Classical Problems of Synchronization</vt:lpstr>
      <vt:lpstr>Bounded-Buffer Problem</vt:lpstr>
      <vt:lpstr>Bounded Buffer Problem (Cont.)</vt:lpstr>
      <vt:lpstr>Bounded Buffer Problem (Cont.)</vt:lpstr>
      <vt:lpstr>Bounded Buffer Problem </vt:lpstr>
      <vt:lpstr>Readers-Writers Problem</vt:lpstr>
      <vt:lpstr>Readers-Writers Problem (Cont.)</vt:lpstr>
      <vt:lpstr>Readers-Writers Problem (Cont.)</vt:lpstr>
      <vt:lpstr>Readers-Writers Problem (Cont.)</vt:lpstr>
      <vt:lpstr>Readers-Writers Problem Variations</vt:lpstr>
      <vt:lpstr>Dining-Philosophers Problem</vt:lpstr>
      <vt:lpstr>  Dining-Philosophers Problem Algorithm</vt:lpstr>
      <vt:lpstr>Dining-Philosophers Problem Algorithm (Cont.)</vt:lpstr>
      <vt:lpstr>Problems with Semaphores</vt:lpstr>
      <vt:lpstr>Monitors</vt:lpstr>
      <vt:lpstr>Schematic view of a Monitor</vt:lpstr>
      <vt:lpstr>Condition Variables</vt:lpstr>
      <vt:lpstr> Monitor with Condition Variables</vt:lpstr>
      <vt:lpstr>Condition Variables Choices</vt:lpstr>
      <vt:lpstr>Monitor Solution to Dining Philosophers</vt:lpstr>
      <vt:lpstr>Solution to Dining Philosophers (Cont.)</vt:lpstr>
      <vt:lpstr>PowerPoint Presentation</vt:lpstr>
      <vt:lpstr>Examples </vt:lpstr>
      <vt:lpstr>Monitor Implementation Using Semaphores</vt:lpstr>
      <vt:lpstr>Monitor Implementation – Condition Variables</vt:lpstr>
      <vt:lpstr>Monitor Implementation (Cont.)</vt:lpstr>
      <vt:lpstr>Monitor Implementation Using Semaphores (All in one slide)</vt:lpstr>
      <vt:lpstr>Resuming Processes within a Monitor</vt:lpstr>
      <vt:lpstr>PowerPoint Presentation</vt:lpstr>
      <vt:lpstr>A Monitor to Allocate Single Resource</vt:lpstr>
      <vt:lpstr>Synchronization Examples</vt:lpstr>
      <vt:lpstr>Solaris Synchronization</vt:lpstr>
      <vt:lpstr>Windows Synchronization</vt:lpstr>
      <vt:lpstr>Linux Synchronization</vt:lpstr>
      <vt:lpstr>Pthreads Synchronization</vt:lpstr>
      <vt:lpstr>Alternative Approaches</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Synchronization</dc:title>
  <dc:creator>vijaya sherly</dc:creator>
  <cp:lastModifiedBy>Admin</cp:lastModifiedBy>
  <cp:revision>119</cp:revision>
  <dcterms:created xsi:type="dcterms:W3CDTF">2016-08-05T05:08:16Z</dcterms:created>
  <dcterms:modified xsi:type="dcterms:W3CDTF">2021-10-06T04:48:20Z</dcterms:modified>
</cp:coreProperties>
</file>