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sldIdLst>
    <p:sldId id="921" r:id="rId2"/>
    <p:sldId id="922" r:id="rId3"/>
    <p:sldId id="916" r:id="rId4"/>
    <p:sldId id="835" r:id="rId5"/>
    <p:sldId id="535" r:id="rId6"/>
    <p:sldId id="887" r:id="rId7"/>
    <p:sldId id="888" r:id="rId8"/>
    <p:sldId id="889" r:id="rId9"/>
    <p:sldId id="890" r:id="rId10"/>
    <p:sldId id="894" r:id="rId11"/>
    <p:sldId id="838" r:id="rId12"/>
    <p:sldId id="839" r:id="rId13"/>
    <p:sldId id="904" r:id="rId14"/>
    <p:sldId id="905" r:id="rId15"/>
    <p:sldId id="906" r:id="rId16"/>
    <p:sldId id="907" r:id="rId17"/>
    <p:sldId id="908" r:id="rId18"/>
    <p:sldId id="909" r:id="rId19"/>
    <p:sldId id="910" r:id="rId20"/>
    <p:sldId id="917" r:id="rId21"/>
    <p:sldId id="918" r:id="rId22"/>
    <p:sldId id="919" r:id="rId23"/>
    <p:sldId id="920" r:id="rId24"/>
    <p:sldId id="911" r:id="rId25"/>
    <p:sldId id="912" r:id="rId26"/>
    <p:sldId id="913" r:id="rId27"/>
    <p:sldId id="914" r:id="rId28"/>
    <p:sldId id="915" r:id="rId29"/>
    <p:sldId id="901" r:id="rId30"/>
    <p:sldId id="923" r:id="rId31"/>
    <p:sldId id="896" r:id="rId32"/>
    <p:sldId id="897" r:id="rId33"/>
    <p:sldId id="898" r:id="rId34"/>
    <p:sldId id="900" r:id="rId35"/>
    <p:sldId id="844" r:id="rId36"/>
    <p:sldId id="845" r:id="rId37"/>
    <p:sldId id="846" r:id="rId38"/>
    <p:sldId id="847" r:id="rId39"/>
    <p:sldId id="848" r:id="rId40"/>
    <p:sldId id="849" r:id="rId41"/>
    <p:sldId id="924" r:id="rId42"/>
    <p:sldId id="925" r:id="rId43"/>
    <p:sldId id="926" r:id="rId44"/>
    <p:sldId id="927" r:id="rId45"/>
    <p:sldId id="928" r:id="rId46"/>
    <p:sldId id="929" r:id="rId47"/>
    <p:sldId id="930" r:id="rId48"/>
    <p:sldId id="931" r:id="rId49"/>
    <p:sldId id="932" r:id="rId50"/>
    <p:sldId id="933" r:id="rId51"/>
    <p:sldId id="934" r:id="rId52"/>
    <p:sldId id="850" r:id="rId53"/>
    <p:sldId id="852" r:id="rId54"/>
    <p:sldId id="851" r:id="rId55"/>
    <p:sldId id="867" r:id="rId56"/>
    <p:sldId id="836" r:id="rId57"/>
    <p:sldId id="853" r:id="rId58"/>
    <p:sldId id="854" r:id="rId59"/>
    <p:sldId id="855" r:id="rId60"/>
    <p:sldId id="837" r:id="rId61"/>
    <p:sldId id="869" r:id="rId62"/>
    <p:sldId id="856" r:id="rId63"/>
    <p:sldId id="870" r:id="rId64"/>
    <p:sldId id="857" r:id="rId65"/>
    <p:sldId id="871" r:id="rId66"/>
    <p:sldId id="872" r:id="rId67"/>
    <p:sldId id="858" r:id="rId68"/>
    <p:sldId id="859" r:id="rId69"/>
    <p:sldId id="860" r:id="rId70"/>
    <p:sldId id="861" r:id="rId71"/>
    <p:sldId id="862" r:id="rId72"/>
    <p:sldId id="863" r:id="rId73"/>
    <p:sldId id="864" r:id="rId74"/>
    <p:sldId id="873" r:id="rId75"/>
    <p:sldId id="833" r:id="rId76"/>
    <p:sldId id="874" r:id="rId77"/>
    <p:sldId id="875" r:id="rId78"/>
    <p:sldId id="881" r:id="rId7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1" u="none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660066"/>
    <a:srgbClr val="00CC00"/>
    <a:srgbClr val="996633"/>
    <a:srgbClr val="66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/>
    <p:restoredTop sz="94679"/>
  </p:normalViewPr>
  <p:slideViewPr>
    <p:cSldViewPr showGuides="1">
      <p:cViewPr varScale="1">
        <p:scale>
          <a:sx n="75" d="100"/>
          <a:sy n="75" d="100"/>
        </p:scale>
        <p:origin x="11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 i="0" baseline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62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 i="0" baseline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2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962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 i="0" baseline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62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i="0" baseline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90282-BF79-43DA-AD3F-EAC90C26E4D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646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</a:t>
            </a:fld>
            <a:endParaRPr lang="en-US" altLang="en-US" sz="1200" b="0" i="0" baseline="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489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4</a:t>
            </a:fld>
            <a:endParaRPr lang="en-US" altLang="en-US" sz="1200" b="0" i="0" baseline="0" dirty="0"/>
          </a:p>
        </p:txBody>
      </p:sp>
      <p:sp>
        <p:nvSpPr>
          <p:cNvPr id="92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549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</a:t>
            </a:fld>
            <a:endParaRPr lang="en-US" altLang="en-US" sz="1200" b="0" i="0" baseline="0" dirty="0"/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2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11</a:t>
            </a:fld>
            <a:endParaRPr lang="en-US" altLang="en-US" sz="1200" b="0" i="0" baseline="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7723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12</a:t>
            </a:fld>
            <a:endParaRPr lang="en-US" altLang="en-US" sz="1200" b="0" i="0" baseline="0" dirty="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9406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13</a:t>
            </a:fld>
            <a:endParaRPr lang="en-US" altLang="en-US" sz="1200" b="0" i="0" baseline="0" dirty="0"/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5360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14</a:t>
            </a:fld>
            <a:endParaRPr lang="en-US" altLang="en-US" sz="1200" b="0" i="0" baseline="0" dirty="0"/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830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15</a:t>
            </a:fld>
            <a:endParaRPr lang="en-US" altLang="en-US" sz="1200" b="0" i="0" baseline="0" dirty="0"/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764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16</a:t>
            </a:fld>
            <a:endParaRPr lang="en-US" altLang="en-US" sz="1200" b="0" i="0" baseline="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6073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17</a:t>
            </a:fld>
            <a:endParaRPr lang="en-US" altLang="en-US" sz="1200" b="0" i="0" baseline="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3118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18</a:t>
            </a:fld>
            <a:endParaRPr lang="en-US" altLang="en-US" sz="1200" b="0" i="0" baseline="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3965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19</a:t>
            </a:fld>
            <a:endParaRPr lang="en-US" altLang="en-US" sz="1200" b="0" i="0" baseline="0" dirty="0"/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0148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24</a:t>
            </a:fld>
            <a:endParaRPr lang="en-US" altLang="en-US" sz="1200" b="0" i="0" baseline="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4506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25</a:t>
            </a:fld>
            <a:endParaRPr lang="en-US" altLang="en-US" sz="1200" b="0" i="0" baseline="0" dirty="0"/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2323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26</a:t>
            </a:fld>
            <a:endParaRPr lang="en-US" altLang="en-US" sz="1200" b="0" i="0" baseline="0" dirty="0"/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5199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27</a:t>
            </a:fld>
            <a:endParaRPr lang="en-US" altLang="en-US" sz="1200" b="0" i="0" baseline="0" dirty="0"/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7098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28</a:t>
            </a:fld>
            <a:endParaRPr lang="en-US" altLang="en-US" sz="1200" b="0" i="0" baseline="0" dirty="0"/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48952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35</a:t>
            </a:fld>
            <a:endParaRPr lang="en-US" altLang="en-US" sz="1200" b="0" i="0" baseline="0" dirty="0"/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9895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36</a:t>
            </a:fld>
            <a:endParaRPr lang="en-US" altLang="en-US" sz="1200" b="0" i="0" baseline="0" dirty="0"/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7613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37</a:t>
            </a:fld>
            <a:endParaRPr lang="en-US" altLang="en-US" sz="1200" b="0" i="0" baseline="0" dirty="0"/>
          </a:p>
        </p:txBody>
      </p:sp>
      <p:sp>
        <p:nvSpPr>
          <p:cNvPr id="624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5420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38</a:t>
            </a:fld>
            <a:endParaRPr lang="en-US" altLang="en-US" sz="1200" b="0" i="0" baseline="0" dirty="0"/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2484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39</a:t>
            </a:fld>
            <a:endParaRPr lang="en-US" altLang="en-US" sz="1200" b="0" i="0" baseline="0" dirty="0"/>
          </a:p>
        </p:txBody>
      </p:sp>
      <p:sp>
        <p:nvSpPr>
          <p:cNvPr id="665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6223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40</a:t>
            </a:fld>
            <a:endParaRPr lang="en-US" altLang="en-US" sz="1200" b="0" i="0" baseline="0" dirty="0"/>
          </a:p>
        </p:txBody>
      </p:sp>
      <p:sp>
        <p:nvSpPr>
          <p:cNvPr id="706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939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51</a:t>
            </a:fld>
            <a:endParaRPr lang="en-US" altLang="en-US" sz="1200" b="0" i="0" baseline="0" dirty="0"/>
          </a:p>
        </p:txBody>
      </p:sp>
      <p:sp>
        <p:nvSpPr>
          <p:cNvPr id="686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6479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52</a:t>
            </a:fld>
            <a:endParaRPr lang="en-US" altLang="en-US" sz="1200" b="0" i="0" baseline="0" dirty="0"/>
          </a:p>
        </p:txBody>
      </p:sp>
      <p:sp>
        <p:nvSpPr>
          <p:cNvPr id="727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49869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53</a:t>
            </a:fld>
            <a:endParaRPr lang="en-US" altLang="en-US" sz="1200" b="0" i="0" baseline="0" dirty="0"/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9811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54</a:t>
            </a:fld>
            <a:endParaRPr lang="en-US" altLang="en-US" sz="1200" b="0" i="0" baseline="0" dirty="0"/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0149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55</a:t>
            </a:fld>
            <a:endParaRPr lang="en-US" altLang="en-US" sz="1200" b="0" i="0" baseline="0" dirty="0"/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12066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56</a:t>
            </a:fld>
            <a:endParaRPr lang="en-US" altLang="en-US" sz="1200" b="0" i="0" baseline="0" dirty="0"/>
          </a:p>
        </p:txBody>
      </p:sp>
      <p:sp>
        <p:nvSpPr>
          <p:cNvPr id="808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9923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57</a:t>
            </a:fld>
            <a:endParaRPr lang="en-US" altLang="en-US" sz="1200" b="0" i="0" baseline="0" dirty="0"/>
          </a:p>
        </p:txBody>
      </p:sp>
      <p:sp>
        <p:nvSpPr>
          <p:cNvPr id="829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1423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58</a:t>
            </a:fld>
            <a:endParaRPr lang="en-US" altLang="en-US" sz="1200" b="0" i="0" baseline="0" dirty="0"/>
          </a:p>
        </p:txBody>
      </p:sp>
      <p:sp>
        <p:nvSpPr>
          <p:cNvPr id="849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36099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59</a:t>
            </a:fld>
            <a:endParaRPr lang="en-US" altLang="en-US" sz="1200" b="0" i="0" baseline="0" dirty="0"/>
          </a:p>
        </p:txBody>
      </p:sp>
      <p:sp>
        <p:nvSpPr>
          <p:cNvPr id="870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1480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60</a:t>
            </a:fld>
            <a:endParaRPr lang="en-US" altLang="en-US" sz="1200" b="0" i="0" baseline="0" dirty="0"/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39850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61</a:t>
            </a:fld>
            <a:endParaRPr lang="en-US" altLang="en-US" sz="1200" b="0" i="0" baseline="0" dirty="0"/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16488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62</a:t>
            </a:fld>
            <a:endParaRPr lang="en-US" altLang="en-US" sz="1200" b="0" i="0" baseline="0" dirty="0"/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3640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63</a:t>
            </a:fld>
            <a:endParaRPr lang="en-US" altLang="en-US" sz="1200" b="0" i="0" baseline="0" dirty="0"/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18102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64</a:t>
            </a:fld>
            <a:endParaRPr lang="en-US" altLang="en-US" sz="1200" b="0" i="0" baseline="0" dirty="0"/>
          </a:p>
        </p:txBody>
      </p:sp>
      <p:sp>
        <p:nvSpPr>
          <p:cNvPr id="972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77436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65</a:t>
            </a:fld>
            <a:endParaRPr lang="en-US" altLang="en-US" sz="1200" b="0" i="0" baseline="0" dirty="0"/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49937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66</a:t>
            </a:fld>
            <a:endParaRPr lang="en-US" altLang="en-US" sz="1200" b="0" i="0" baseline="0" dirty="0"/>
          </a:p>
        </p:txBody>
      </p:sp>
      <p:sp>
        <p:nvSpPr>
          <p:cNvPr id="1013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66517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67</a:t>
            </a:fld>
            <a:endParaRPr lang="en-US" altLang="en-US" sz="1200" b="0" i="0" baseline="0" dirty="0"/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79798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68</a:t>
            </a:fld>
            <a:endParaRPr lang="en-US" altLang="en-US" sz="1200" b="0" i="0" baseline="0" dirty="0"/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73189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69</a:t>
            </a:fld>
            <a:endParaRPr lang="en-US" altLang="en-US" sz="1200" b="0" i="0" baseline="0" dirty="0"/>
          </a:p>
        </p:txBody>
      </p:sp>
      <p:sp>
        <p:nvSpPr>
          <p:cNvPr id="1075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67620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70</a:t>
            </a:fld>
            <a:endParaRPr lang="en-US" altLang="en-US" sz="1200" b="0" i="0" baseline="0" dirty="0"/>
          </a:p>
        </p:txBody>
      </p:sp>
      <p:sp>
        <p:nvSpPr>
          <p:cNvPr id="1095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11018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71</a:t>
            </a:fld>
            <a:endParaRPr lang="en-US" altLang="en-US" sz="1200" b="0" i="0" baseline="0" dirty="0"/>
          </a:p>
        </p:txBody>
      </p:sp>
      <p:sp>
        <p:nvSpPr>
          <p:cNvPr id="1116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94245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72</a:t>
            </a:fld>
            <a:endParaRPr lang="en-US" altLang="en-US" sz="1200" b="0" i="0" baseline="0" dirty="0"/>
          </a:p>
        </p:txBody>
      </p:sp>
      <p:sp>
        <p:nvSpPr>
          <p:cNvPr id="1136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952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73</a:t>
            </a:fld>
            <a:endParaRPr lang="en-US" altLang="en-US" sz="1200" b="0" i="0" baseline="0" dirty="0"/>
          </a:p>
        </p:txBody>
      </p:sp>
      <p:sp>
        <p:nvSpPr>
          <p:cNvPr id="1157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71927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74</a:t>
            </a:fld>
            <a:endParaRPr lang="en-US" altLang="en-US" sz="1200" b="0" i="0" baseline="0" dirty="0"/>
          </a:p>
        </p:txBody>
      </p:sp>
      <p:sp>
        <p:nvSpPr>
          <p:cNvPr id="1177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97982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75</a:t>
            </a:fld>
            <a:endParaRPr lang="en-US" altLang="en-US" sz="1200" b="0" i="0" baseline="0" dirty="0"/>
          </a:p>
        </p:txBody>
      </p:sp>
      <p:sp>
        <p:nvSpPr>
          <p:cNvPr id="1198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33568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76</a:t>
            </a:fld>
            <a:endParaRPr lang="en-US" altLang="en-US" sz="1200" b="0" i="0" baseline="0" dirty="0"/>
          </a:p>
        </p:txBody>
      </p:sp>
      <p:sp>
        <p:nvSpPr>
          <p:cNvPr id="12185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250525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77</a:t>
            </a:fld>
            <a:endParaRPr lang="en-US" altLang="en-US" sz="1200" b="0" i="0" baseline="0" dirty="0"/>
          </a:p>
        </p:txBody>
      </p:sp>
      <p:sp>
        <p:nvSpPr>
          <p:cNvPr id="1239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68135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b="0" i="0" baseline="0" dirty="0"/>
              <a:t>78</a:t>
            </a:fld>
            <a:endParaRPr lang="en-US" altLang="en-US" sz="1200" b="0" i="0" baseline="0" dirty="0"/>
          </a:p>
        </p:txBody>
      </p:sp>
      <p:sp>
        <p:nvSpPr>
          <p:cNvPr id="1259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775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IN" altLang="en-US" sz="2800" b="1" i="1" u="none" strike="noStrike" kern="1200" cap="none" spc="0" normalizeH="0" baseline="-1000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IN" altLang="en-US" sz="2800" b="1" i="1" u="none" strike="noStrike" kern="1200" cap="none" spc="0" normalizeH="0" baseline="-1000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IN" altLang="en-US" sz="2800" b="1" i="1" u="none" strike="noStrike" kern="1200" cap="none" spc="0" normalizeH="0" baseline="-1000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i="1" baseline="-10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IN" altLang="en-US" sz="2800" b="1" i="1" u="none" strike="noStrike" kern="1200" cap="none" spc="0" normalizeH="0" baseline="-1000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IN" altLang="en-US" sz="2800" b="1" i="1" u="none" strike="noStrike" kern="1200" cap="none" spc="0" normalizeH="0" baseline="-1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IN" altLang="en-US" sz="2800" b="1" i="1" u="none" strike="noStrike" kern="1200" cap="none" spc="0" normalizeH="0" baseline="-1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0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IN" altLang="en-US" sz="2800" b="1" i="1" u="none" strike="noStrike" kern="1200" cap="none" spc="0" normalizeH="0" baseline="-1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McGraw-Hill</a:t>
            </a: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©"/>
              <a:defRPr/>
            </a:pPr>
            <a:r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The McGraw-Hill Companies, Inc., 2000</a:t>
            </a: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15" name="Date Placeholder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ooter Placeholder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Slide Number Placeholder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0912A1-CBCD-46AE-827B-5ABB7121227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I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2000" i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12.</a:t>
            </a:r>
            <a:fld id="{1B04CBBA-609A-4E83-862A-73EABE4DF1AF}" type="slidenum"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/>
          <p:nvPr/>
        </p:nvSpPr>
        <p:spPr>
          <a:xfrm>
            <a:off x="2667000" y="2438400"/>
            <a:ext cx="4359275" cy="769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IN" altLang="en-US" sz="4400" i="0" baseline="0" dirty="0">
                <a:solidFill>
                  <a:srgbClr val="FF0000"/>
                </a:solidFill>
                <a:latin typeface="CIDFont+F2"/>
              </a:rPr>
              <a:t>Multiple access</a:t>
            </a:r>
            <a:endParaRPr lang="en-IN" altLang="en-US" sz="4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3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" name="Text Box 4"/>
          <p:cNvSpPr txBox="1"/>
          <p:nvPr/>
        </p:nvSpPr>
        <p:spPr>
          <a:xfrm>
            <a:off x="76200" y="381000"/>
            <a:ext cx="8959850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600" baseline="0" dirty="0">
                <a:solidFill>
                  <a:srgbClr val="00B0F0"/>
                </a:solidFill>
                <a:latin typeface="Times New Roman" panose="02020603050405020304" pitchFamily="18" charset="0"/>
              </a:rPr>
              <a:t>Data link layer divided into two functionality-oriented sublayers</a:t>
            </a:r>
          </a:p>
        </p:txBody>
      </p:sp>
      <p:sp>
        <p:nvSpPr>
          <p:cNvPr id="5125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512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" y="1619250"/>
            <a:ext cx="788035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04800"/>
            <a:ext cx="8534400" cy="59610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0" normalizeH="0" baseline="-1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Data Link control </a:t>
            </a: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/>
            </a:r>
            <a:b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 data link control is responsible for </a:t>
            </a: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reliable transmission of message </a:t>
            </a: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over transmission channel by using techniques like framing, error control and flow control.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-1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0" normalizeH="0" baseline="-1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Multiple Access Control </a:t>
            </a:r>
            <a:endParaRPr kumimoji="0" lang="en-US" sz="4400" b="0" i="0" u="none" strike="noStrike" kern="1200" cap="none" spc="0" normalizeH="0" baseline="-1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Dedicated link between the sender and the receiver then data link control layer is sufficient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There is no dedicated link present then multiple stations can access the channel simultaneously.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-1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Hence multiple access protocols are required to decrease collision and avoid crosstalk.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5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" name="Text Box 4"/>
          <p:cNvSpPr txBox="1"/>
          <p:nvPr/>
        </p:nvSpPr>
        <p:spPr>
          <a:xfrm>
            <a:off x="304800" y="228600"/>
            <a:ext cx="674846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latin typeface="Times New Roman" panose="02020603050405020304" pitchFamily="18" charset="0"/>
              </a:rPr>
              <a:t>Taxonomy of multiple-access protocols</a:t>
            </a:r>
          </a:p>
        </p:txBody>
      </p:sp>
      <p:pic>
        <p:nvPicPr>
          <p:cNvPr id="819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1524000"/>
            <a:ext cx="8669337" cy="4729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5250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37766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en-US" sz="3200" i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+mn-ea"/>
                <a:cs typeface="+mn-cs"/>
              </a:rPr>
              <a:t>RANDOM ACCESS</a:t>
            </a:r>
          </a:p>
        </p:txBody>
      </p:sp>
      <p:sp>
        <p:nvSpPr>
          <p:cNvPr id="10245" name="Text Box 4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en-US" altLang="en-US" sz="1800" i="0" baseline="0" dirty="0">
              <a:latin typeface="Times New Roman" panose="02020603050405020304" pitchFamily="18" charset="0"/>
            </a:endParaRPr>
          </a:p>
        </p:txBody>
      </p:sp>
      <p:sp>
        <p:nvSpPr>
          <p:cNvPr id="565253" name="Rectangle 5"/>
          <p:cNvSpPr>
            <a:spLocks noChangeArrowheads="1"/>
          </p:cNvSpPr>
          <p:nvPr/>
        </p:nvSpPr>
        <p:spPr bwMode="auto"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random access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or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contention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methods, no station is superior to another station 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</a:p>
        </p:txBody>
      </p:sp>
      <p:sp>
        <p:nvSpPr>
          <p:cNvPr id="10247" name="Rectangle 29"/>
          <p:cNvSpPr/>
          <p:nvPr/>
        </p:nvSpPr>
        <p:spPr>
          <a:xfrm>
            <a:off x="304800" y="4743450"/>
            <a:ext cx="79248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ALOHA</a:t>
            </a: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/>
            </a:r>
            <a:b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Carrier Sense Multiple Access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Carrier Sense Multiple Access with Collision Detection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Carrier Sense Multiple Access with Collision Avoidance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0" y="314325"/>
            <a:ext cx="9144000" cy="11430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ALOHA</a:t>
            </a:r>
            <a:endParaRPr lang="en-US" altLang="en-US" b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76200" y="1563688"/>
            <a:ext cx="9067800" cy="4519612"/>
          </a:xfrm>
          <a:noFill/>
          <a:ln>
            <a:noFill/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1970 Hawaii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Norman Abramson and colleagues have enabled wireless communication between users in a remote island to the central computer in Honolulu.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versions of the protocol now called ALOHA:</a:t>
            </a:r>
          </a:p>
          <a:p>
            <a:pPr lvl="1" eaLnBrk="1" hangingPunct="1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Pure ALOHA and</a:t>
            </a:r>
          </a:p>
          <a:p>
            <a:pPr lvl="1" eaLnBrk="1" hangingPunct="1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Slotted ALOHA</a:t>
            </a:r>
          </a:p>
          <a:p>
            <a:pPr eaLnBrk="1" hangingPunct="1">
              <a:buFontTx/>
              <a:buChar char="•"/>
            </a:pPr>
            <a:endParaRPr lang="en-US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b="1" dirty="0"/>
              <a:t>Aloha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368300" y="1143000"/>
            <a:ext cx="9144000" cy="838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2400" dirty="0"/>
              <a:t>If you have a packet, just send it.</a:t>
            </a:r>
          </a:p>
          <a:p>
            <a:pPr eaLnBrk="1" hangingPunct="1"/>
            <a:r>
              <a:rPr lang="en-US" altLang="en-US" sz="2400" dirty="0"/>
              <a:t>If multiple people try it and so there is collision, then try resending it later!</a:t>
            </a:r>
          </a:p>
          <a:p>
            <a:pPr eaLnBrk="1" hangingPunct="1"/>
            <a:r>
              <a:rPr lang="en-US" altLang="en-US" sz="2400" dirty="0"/>
              <a:t>Theoretical analysis (based on Poisson distribution) shows a throughput of only 18%.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b="1" dirty="0"/>
              <a:t>Pure ALOHA</a:t>
            </a:r>
          </a:p>
        </p:txBody>
      </p:sp>
      <p:sp>
        <p:nvSpPr>
          <p:cNvPr id="14339" name="Content Placeholder 4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2400" dirty="0"/>
              <a:t>Each user is free to transmit whenever they have data to be sent.</a:t>
            </a:r>
          </a:p>
          <a:p>
            <a:pPr lvl="1" eaLnBrk="1" hangingPunct="1"/>
            <a:r>
              <a:rPr lang="en-US" altLang="en-US" sz="2400" dirty="0"/>
              <a:t>There will be collisions</a:t>
            </a:r>
          </a:p>
          <a:p>
            <a:pPr lvl="1" eaLnBrk="1" hangingPunct="1"/>
            <a:r>
              <a:rPr lang="en-US" altLang="en-US" sz="2400" dirty="0"/>
              <a:t>Senders need some way to fond out if this is the case.</a:t>
            </a:r>
          </a:p>
          <a:p>
            <a:pPr eaLnBrk="1" hangingPunct="1"/>
            <a:r>
              <a:rPr lang="en-US" altLang="en-US" sz="2400" dirty="0"/>
              <a:t>In ALOHA after the satiation transmits its message to the central computer, the computer rebroadcast's the frame to all of the stations.</a:t>
            </a:r>
          </a:p>
          <a:p>
            <a:pPr lvl="1" eaLnBrk="1" hangingPunct="1"/>
            <a:r>
              <a:rPr lang="en-US" altLang="en-US" sz="2400" dirty="0"/>
              <a:t>Original sending station can listen for the broadcast from the hub to see if its frame has gone through.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Pure ALOHA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other wired systems the sender might be able to listen for collisions while transmitting.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frame is destroyed, the sender just waits a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random amount of time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sends it again.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Waiting time must be random or the sending frames will collide over and over.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Contention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systems: that use the same channel in the way that might lead to conflicts.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4000" dirty="0"/>
              <a:t>Pure ALOHA</a:t>
            </a:r>
          </a:p>
        </p:txBody>
      </p:sp>
      <p:sp>
        <p:nvSpPr>
          <p:cNvPr id="5" name="Content Placeholder 4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52400" y="1136461"/>
            <a:ext cx="8534400" cy="4297363"/>
          </a:xfrm>
          <a:blipFill rotWithShape="0">
            <a:blip r:embed="rId2"/>
            <a:stretch>
              <a:fillRect l="-357" t="-1277"/>
            </a:stretch>
          </a:blip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1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Text Box 4"/>
          <p:cNvSpPr txBox="1"/>
          <p:nvPr/>
        </p:nvSpPr>
        <p:spPr>
          <a:xfrm>
            <a:off x="304800" y="381000"/>
            <a:ext cx="38576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000" baseline="0" dirty="0">
                <a:latin typeface="Times New Roman" panose="02020603050405020304" pitchFamily="18" charset="0"/>
              </a:rPr>
              <a:t>Frames in a pure ALOHA network</a:t>
            </a:r>
          </a:p>
        </p:txBody>
      </p:sp>
      <p:pic>
        <p:nvPicPr>
          <p:cNvPr id="174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200150"/>
            <a:ext cx="8620125" cy="5200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/>
          <p:nvPr/>
        </p:nvSpPr>
        <p:spPr>
          <a:xfrm>
            <a:off x="304800" y="285750"/>
            <a:ext cx="48402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it-IT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Procedure for pure ALOHA protocol</a:t>
            </a:r>
            <a:endParaRPr lang="en-US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45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14400"/>
            <a:ext cx="8534400" cy="574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21507" name="Rectangle 9"/>
          <p:cNvSpPr/>
          <p:nvPr/>
        </p:nvSpPr>
        <p:spPr>
          <a:xfrm>
            <a:off x="228600" y="1143000"/>
            <a:ext cx="8686800" cy="47894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The stations on a wireless ALOHA network are a maximum of 600 km apart. If we assume that signals propagate at 3 × 10</a:t>
            </a:r>
            <a:r>
              <a:rPr lang="en-US" altLang="en-US" baseline="20000" dirty="0">
                <a:latin typeface="Times New Roman" panose="02020603050405020304" pitchFamily="18" charset="0"/>
              </a:rPr>
              <a:t>8</a:t>
            </a:r>
            <a:r>
              <a:rPr lang="en-US" altLang="en-US" baseline="0" dirty="0">
                <a:latin typeface="Times New Roman" panose="02020603050405020304" pitchFamily="18" charset="0"/>
              </a:rPr>
              <a:t> m/s,  we find  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en-US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= (600 × 10</a:t>
            </a:r>
            <a:r>
              <a:rPr lang="en-US" altLang="en-US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 ) / (3 × 10</a:t>
            </a:r>
            <a:r>
              <a:rPr lang="en-US" altLang="en-US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en-US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 ) = 2 ms.</a:t>
            </a:r>
            <a:r>
              <a:rPr lang="en-US" altLang="en-US" baseline="0" dirty="0">
                <a:latin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Now we can find the value of T</a:t>
            </a:r>
            <a:r>
              <a:rPr lang="en-US" altLang="en-US" baseline="-12000" dirty="0">
                <a:latin typeface="Times New Roman" panose="02020603050405020304" pitchFamily="18" charset="0"/>
              </a:rPr>
              <a:t>B</a:t>
            </a:r>
            <a:r>
              <a:rPr lang="en-US" altLang="en-US" baseline="0" dirty="0">
                <a:latin typeface="Times New Roman" panose="02020603050405020304" pitchFamily="18" charset="0"/>
              </a:rPr>
              <a:t> for different values of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K .</a:t>
            </a:r>
          </a:p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baseline="0" dirty="0">
                <a:latin typeface="Times New Roman" panose="02020603050405020304" pitchFamily="18" charset="0"/>
              </a:rPr>
              <a:t>. For K = 1, the range is {0, 1}. The station needs to|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generate a random number with a value of 0 or 1.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means that T</a:t>
            </a:r>
            <a:r>
              <a:rPr lang="en-US" altLang="en-US" baseline="-12000" dirty="0">
                <a:latin typeface="Times New Roman" panose="02020603050405020304" pitchFamily="18" charset="0"/>
              </a:rPr>
              <a:t>B</a:t>
            </a:r>
            <a:r>
              <a:rPr lang="en-US" altLang="en-US" baseline="0" dirty="0">
                <a:latin typeface="Times New Roman" panose="02020603050405020304" pitchFamily="18" charset="0"/>
              </a:rPr>
              <a:t> is either 0 ms (0 × 2) or 2 ms (1 × 2),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based on the outcome of the random variable.</a:t>
            </a:r>
          </a:p>
        </p:txBody>
      </p:sp>
      <p:sp>
        <p:nvSpPr>
          <p:cNvPr id="21508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0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14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23556" name="Rectangle 9"/>
          <p:cNvSpPr/>
          <p:nvPr/>
        </p:nvSpPr>
        <p:spPr>
          <a:xfrm>
            <a:off x="228600" y="1143000"/>
            <a:ext cx="8686800" cy="43624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For K = 2, the range is {0, 1, 2, 3}. This means that T</a:t>
            </a:r>
            <a:r>
              <a:rPr lang="en-US" altLang="en-US" baseline="-12000" dirty="0">
                <a:latin typeface="Times New Roman" panose="02020603050405020304" pitchFamily="18" charset="0"/>
              </a:rPr>
              <a:t>B</a:t>
            </a:r>
            <a:br>
              <a:rPr lang="en-US" altLang="en-US" baseline="-12000" dirty="0">
                <a:latin typeface="Times New Roman" panose="02020603050405020304" pitchFamily="18" charset="0"/>
              </a:rPr>
            </a:br>
            <a:r>
              <a:rPr lang="en-US" altLang="en-US" baseline="-12000" dirty="0">
                <a:latin typeface="Times New Roman" panose="02020603050405020304" pitchFamily="18" charset="0"/>
              </a:rPr>
              <a:t>      </a:t>
            </a:r>
            <a:r>
              <a:rPr lang="en-US" altLang="en-US" baseline="0" dirty="0">
                <a:latin typeface="Times New Roman" panose="02020603050405020304" pitchFamily="18" charset="0"/>
              </a:rPr>
              <a:t>can be 0, 2, 4, or 6 ms, based on the outcome of the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random variable.</a:t>
            </a:r>
          </a:p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baseline="0" dirty="0">
                <a:latin typeface="Times New Roman" panose="02020603050405020304" pitchFamily="18" charset="0"/>
              </a:rPr>
              <a:t> For K = 3, the range is {0, 1, 2, 3, 4, 5, 6, 7}.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means that T</a:t>
            </a:r>
            <a:r>
              <a:rPr lang="en-US" altLang="en-US" baseline="-12000" dirty="0">
                <a:latin typeface="Times New Roman" panose="02020603050405020304" pitchFamily="18" charset="0"/>
              </a:rPr>
              <a:t>B</a:t>
            </a:r>
            <a:r>
              <a:rPr lang="en-US" altLang="en-US" baseline="0" dirty="0">
                <a:latin typeface="Times New Roman" panose="02020603050405020304" pitchFamily="18" charset="0"/>
              </a:rPr>
              <a:t> can be 0, 2, 4, . . . , 14 ms, based on the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outcome of the random variable.</a:t>
            </a:r>
          </a:p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baseline="0" dirty="0">
                <a:latin typeface="Times New Roman" panose="02020603050405020304" pitchFamily="18" charset="0"/>
              </a:rPr>
              <a:t> We need to mention that if K &gt; 10, it is normally set to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10.</a:t>
            </a:r>
          </a:p>
        </p:txBody>
      </p:sp>
      <p:sp>
        <p:nvSpPr>
          <p:cNvPr id="23557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15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Text Box 4"/>
          <p:cNvSpPr txBox="1"/>
          <p:nvPr/>
        </p:nvSpPr>
        <p:spPr>
          <a:xfrm>
            <a:off x="304800" y="381000"/>
            <a:ext cx="46513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000" baseline="0" dirty="0">
                <a:latin typeface="Times New Roman" panose="02020603050405020304" pitchFamily="18" charset="0"/>
              </a:rPr>
              <a:t>Vulnerable time for pure ALOHA protocol</a:t>
            </a:r>
          </a:p>
        </p:txBody>
      </p:sp>
      <p:pic>
        <p:nvPicPr>
          <p:cNvPr id="2560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6363"/>
            <a:ext cx="7896225" cy="507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16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27652" name="Rectangle 9"/>
          <p:cNvSpPr/>
          <p:nvPr/>
        </p:nvSpPr>
        <p:spPr>
          <a:xfrm>
            <a:off x="228600" y="1143000"/>
            <a:ext cx="8686800" cy="13731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A pure ALOHA network transmits 200-bit frames on a shared channel of 200 kbps. What is the requirement to make this frame collision-free?</a:t>
            </a:r>
          </a:p>
        </p:txBody>
      </p:sp>
      <p:sp>
        <p:nvSpPr>
          <p:cNvPr id="27653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27654" name="Rectangle 11"/>
          <p:cNvSpPr/>
          <p:nvPr/>
        </p:nvSpPr>
        <p:spPr>
          <a:xfrm>
            <a:off x="152400" y="2819400"/>
            <a:ext cx="8839200" cy="30813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Average frame transmission time T</a:t>
            </a:r>
            <a:r>
              <a:rPr lang="en-US" altLang="en-US" baseline="-12000" dirty="0">
                <a:latin typeface="Times New Roman" panose="02020603050405020304" pitchFamily="18" charset="0"/>
              </a:rPr>
              <a:t>fr</a:t>
            </a:r>
            <a:r>
              <a:rPr lang="en-US" altLang="en-US" baseline="0" dirty="0">
                <a:latin typeface="Times New Roman" panose="02020603050405020304" pitchFamily="18" charset="0"/>
              </a:rPr>
              <a:t> is 200 bits/200 kbps or 1 ms. The vulnerable time is  2 × 1 ms = 2 ms. This means no station should send later than 1 ms before this station starts transmission and no station should start sending during the one 1-ms period that this station is sending.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699" name="Line 10"/>
          <p:cNvSpPr/>
          <p:nvPr/>
        </p:nvSpPr>
        <p:spPr>
          <a:xfrm>
            <a:off x="458788" y="4953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0" name="Rectangle 11"/>
          <p:cNvSpPr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The throughput for pure ALOHA is </a:t>
            </a:r>
            <a:br>
              <a:rPr lang="en-US" altLang="en-US" sz="3200" i="0" baseline="0" dirty="0">
                <a:latin typeface="Arial" panose="020B0604020202020204" pitchFamily="34" charset="0"/>
              </a:rPr>
            </a:br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S = G × e </a:t>
            </a:r>
            <a:r>
              <a:rPr lang="en-US" altLang="en-US" sz="3200" i="0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−2G  </a:t>
            </a:r>
            <a:r>
              <a:rPr lang="en-US" altLang="en-US" sz="3200" i="0" baseline="0" dirty="0"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The maximum throughput</a:t>
            </a:r>
          </a:p>
          <a:p>
            <a:pPr algn="ctr"/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en-US" sz="3200" i="0" baseline="-18000" dirty="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 = 0.184 </a:t>
            </a:r>
            <a:r>
              <a:rPr lang="en-US" altLang="en-US" sz="3200" i="0" baseline="0" dirty="0">
                <a:latin typeface="Arial" panose="020B0604020202020204" pitchFamily="34" charset="0"/>
              </a:rPr>
              <a:t>when G= (1/2).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1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18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9"/>
          <p:cNvSpPr/>
          <p:nvPr/>
        </p:nvSpPr>
        <p:spPr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A pure ALOHA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1000 frames per second    </a:t>
            </a:r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500 frames per second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baseline="0" dirty="0">
                <a:latin typeface="Times New Roman" panose="02020603050405020304" pitchFamily="18" charset="0"/>
              </a:rPr>
              <a:t> 250 frames per second.</a:t>
            </a:r>
          </a:p>
        </p:txBody>
      </p:sp>
      <p:sp>
        <p:nvSpPr>
          <p:cNvPr id="31748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31749" name="Rectangle 11"/>
          <p:cNvSpPr/>
          <p:nvPr/>
        </p:nvSpPr>
        <p:spPr>
          <a:xfrm>
            <a:off x="228600" y="3200400"/>
            <a:ext cx="8305800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The frame transmission time is 200/200 kbps or 1 ms.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1000 frames per second, this is 1 frame per millisecond. The load is 1. In this case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S = G× e</a:t>
            </a:r>
            <a:r>
              <a:rPr lang="en-US" altLang="en-US" baseline="30000" dirty="0">
                <a:latin typeface="Times New Roman" panose="02020603050405020304" pitchFamily="18" charset="0"/>
              </a:rPr>
              <a:t>−2 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0.135 (13.5 percent). This means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that the throughput is 1000 × 0.135 = 135 frames. Only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135 frames out of 1000 will probably survive.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10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19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33796" name="Rectangle 11"/>
          <p:cNvSpPr/>
          <p:nvPr/>
        </p:nvSpPr>
        <p:spPr>
          <a:xfrm>
            <a:off x="228600" y="838200"/>
            <a:ext cx="8686800" cy="56435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500 frames per second, this 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(1/2) frame per millisecond. The load is (1/2). In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case S = G × e </a:t>
            </a:r>
            <a:r>
              <a:rPr lang="en-US" altLang="en-US" baseline="30000" dirty="0">
                <a:latin typeface="Times New Roman" panose="02020603050405020304" pitchFamily="18" charset="0"/>
              </a:rPr>
              <a:t>−2G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0.184 (18.4 percent).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means that the throughput is 500 × 0.184 = 92 and that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only 92 frames out of 500 will probably survive. Note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that this is the maximum throughput case,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percentagewise.</a:t>
            </a:r>
          </a:p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250 frames per second, this is (1/4)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frame per millisecond. The load is (1/4). In this case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S = G × e −</a:t>
            </a:r>
            <a:r>
              <a:rPr lang="en-US" altLang="en-US" baseline="30000" dirty="0">
                <a:latin typeface="Times New Roman" panose="02020603050405020304" pitchFamily="18" charset="0"/>
              </a:rPr>
              <a:t>2G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0.152 (15.2 percent). This means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that the throughput is 250 × 0.152 = 38. Only 38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frames out of 250 will probably survive.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Slotted ALOHA</a:t>
            </a:r>
          </a:p>
        </p:txBody>
      </p:sp>
      <p:sp>
        <p:nvSpPr>
          <p:cNvPr id="35843" name="Content Placeholder 4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Roberts in 1972 doubled the capacity of an ALOHA system.</a:t>
            </a:r>
          </a:p>
          <a:p>
            <a:pPr lvl="1" eaLnBrk="1" hangingPunct="1"/>
            <a:r>
              <a:rPr lang="en-US" altLang="en-US" dirty="0"/>
              <a:t>Divide time into discrete intervals called </a:t>
            </a:r>
            <a:r>
              <a:rPr lang="en-US" altLang="en-US" b="1" dirty="0"/>
              <a:t>slots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/>
              <a:t>Each interval corresponds to one frame.</a:t>
            </a:r>
          </a:p>
          <a:p>
            <a:pPr lvl="1" eaLnBrk="1" hangingPunct="1"/>
            <a:r>
              <a:rPr lang="en-US" altLang="en-US" dirty="0"/>
              <a:t>Users will have to agree on slot boundaries.</a:t>
            </a:r>
          </a:p>
          <a:p>
            <a:pPr eaLnBrk="1" hangingPunct="1"/>
            <a:r>
              <a:rPr lang="en-US" altLang="en-US" dirty="0"/>
              <a:t>Synchronization is required:</a:t>
            </a:r>
          </a:p>
          <a:p>
            <a:pPr lvl="1" eaLnBrk="1" hangingPunct="1"/>
            <a:r>
              <a:rPr lang="en-US" altLang="en-US" dirty="0"/>
              <a:t>One special station emit a pip at the start of each interval, like clock.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/>
          <p:cNvSpPr>
            <a:spLocks noGrp="1"/>
          </p:cNvSpPr>
          <p:nvPr>
            <p:ph type="title"/>
          </p:nvPr>
        </p:nvSpPr>
        <p:spPr>
          <a:xfrm>
            <a:off x="457200" y="-28575"/>
            <a:ext cx="7886700" cy="13255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Sloted ALOHA</a:t>
            </a:r>
          </a:p>
        </p:txBody>
      </p:sp>
      <p:sp>
        <p:nvSpPr>
          <p:cNvPr id="5" name="Content Placeholder 4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0">
            <a:blip r:embed="rId2"/>
            <a:stretch>
              <a:fillRect l="-541" t="-1821" r="-1932" b="-18067"/>
            </a:stretch>
          </a:blip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3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Slotted ALOHA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Slotted ALOHA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peaks at the G = 1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Throughput S = 1/e = 0.367 or 37%.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best case scenario: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37% of slots are empty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37% of successes, and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26% collisions.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7886700" cy="13255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ALOHA (3)</a:t>
            </a:r>
            <a:endParaRPr lang="en-US" altLang="en-US" b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152400" y="5715000"/>
            <a:ext cx="8991600" cy="838200"/>
          </a:xfrm>
          <a:noFill/>
          <a:ln>
            <a:noFill/>
          </a:ln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Throughput versus offered traffic for ALOHA systems.</a:t>
            </a:r>
            <a:endParaRPr lang="en-US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891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235075"/>
            <a:ext cx="8196263" cy="4251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"/>
          <p:cNvSpPr txBox="1"/>
          <p:nvPr/>
        </p:nvSpPr>
        <p:spPr>
          <a:xfrm>
            <a:off x="304800" y="381000"/>
            <a:ext cx="56022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Frames in a slotted ALOHA network</a:t>
            </a:r>
          </a:p>
        </p:txBody>
      </p:sp>
      <p:pic>
        <p:nvPicPr>
          <p:cNvPr id="39939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8" y="1433513"/>
            <a:ext cx="8659812" cy="4281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7" name="Line 10"/>
          <p:cNvSpPr/>
          <p:nvPr/>
        </p:nvSpPr>
        <p:spPr>
          <a:xfrm>
            <a:off x="458788" y="48768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Rectangle 11"/>
          <p:cNvSpPr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The throughput for slotted ALOHA is </a:t>
            </a:r>
            <a:br>
              <a:rPr lang="en-US" altLang="en-US" sz="3200" i="0" baseline="0" dirty="0">
                <a:latin typeface="Arial" panose="020B0604020202020204" pitchFamily="34" charset="0"/>
              </a:rPr>
            </a:br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S = G × e</a:t>
            </a:r>
            <a:r>
              <a:rPr lang="en-US" altLang="en-US" sz="3200" i="0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−G</a:t>
            </a:r>
            <a:r>
              <a:rPr lang="en-US" altLang="en-US" sz="3200" i="0" baseline="0" dirty="0">
                <a:latin typeface="Arial" panose="020B0604020202020204" pitchFamily="34" charset="0"/>
              </a:rPr>
              <a:t> .</a:t>
            </a:r>
          </a:p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The maximum throughput </a:t>
            </a:r>
            <a:br>
              <a:rPr lang="en-US" altLang="en-US" sz="3200" i="0" baseline="0" dirty="0">
                <a:latin typeface="Arial" panose="020B0604020202020204" pitchFamily="34" charset="0"/>
              </a:rPr>
            </a:br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en-US" sz="3200" i="0" baseline="-18000" dirty="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en-US" sz="3200" i="0" baseline="0" dirty="0">
                <a:solidFill>
                  <a:schemeClr val="hlink"/>
                </a:solidFill>
                <a:latin typeface="Arial" panose="020B0604020202020204" pitchFamily="34" charset="0"/>
              </a:rPr>
              <a:t> = 0.368</a:t>
            </a:r>
            <a:r>
              <a:rPr lang="en-US" altLang="en-US" sz="3200" i="0" baseline="0" dirty="0">
                <a:latin typeface="Arial" panose="020B0604020202020204" pitchFamily="34" charset="0"/>
              </a:rPr>
              <a:t> when G =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/>
          <p:nvPr/>
        </p:nvSpPr>
        <p:spPr>
          <a:xfrm>
            <a:off x="304800" y="381000"/>
            <a:ext cx="57848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Vulnerable time for slotted ALOHA protocol</a:t>
            </a:r>
          </a:p>
        </p:txBody>
      </p:sp>
      <p:pic>
        <p:nvPicPr>
          <p:cNvPr id="4403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430338"/>
            <a:ext cx="7632700" cy="4360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1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27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083" name="Rectangle 9"/>
          <p:cNvSpPr/>
          <p:nvPr/>
        </p:nvSpPr>
        <p:spPr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A slotted ALOHA 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1000 frames per second    </a:t>
            </a:r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500 frames per second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baseline="0" dirty="0">
                <a:latin typeface="Times New Roman" panose="02020603050405020304" pitchFamily="18" charset="0"/>
              </a:rPr>
              <a:t> 250 frames per second.</a:t>
            </a:r>
          </a:p>
        </p:txBody>
      </p:sp>
      <p:sp>
        <p:nvSpPr>
          <p:cNvPr id="46084" name="Text Box 10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46085" name="Rectangle 11"/>
          <p:cNvSpPr/>
          <p:nvPr/>
        </p:nvSpPr>
        <p:spPr>
          <a:xfrm>
            <a:off x="228600" y="3200400"/>
            <a:ext cx="8077200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The frame transmission time is </a:t>
            </a:r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200/200 kbps </a:t>
            </a:r>
            <a:r>
              <a:rPr lang="en-US" altLang="en-US" baseline="0" dirty="0">
                <a:latin typeface="Times New Roman" panose="02020603050405020304" pitchFamily="18" charset="0"/>
              </a:rPr>
              <a:t>or </a:t>
            </a:r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1 ms.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1000 frames per second, this is </a:t>
            </a:r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1 frame </a:t>
            </a:r>
            <a:r>
              <a:rPr lang="en-US" altLang="en-US" baseline="0" dirty="0">
                <a:latin typeface="Times New Roman" panose="02020603050405020304" pitchFamily="18" charset="0"/>
              </a:rPr>
              <a:t>per millisecond. The </a:t>
            </a:r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load is 1</a:t>
            </a:r>
            <a:r>
              <a:rPr lang="en-US" altLang="en-US" baseline="0" dirty="0">
                <a:latin typeface="Times New Roman" panose="02020603050405020304" pitchFamily="18" charset="0"/>
              </a:rPr>
              <a:t>. In this case S = G× e</a:t>
            </a:r>
            <a:r>
              <a:rPr lang="en-US" altLang="en-US" baseline="30000" dirty="0">
                <a:latin typeface="Times New Roman" panose="02020603050405020304" pitchFamily="18" charset="0"/>
              </a:rPr>
              <a:t>−G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0.368 (36.8 percent). This means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that the throughput is 1000 × 0.0368 = 368 frames.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Only 386 frames out of 1000 will probably survive.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48131" name="Text Box 9"/>
          <p:cNvSpPr txBox="1"/>
          <p:nvPr/>
        </p:nvSpPr>
        <p:spPr>
          <a:xfrm>
            <a:off x="1143000" y="0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48132" name="Rectangle 10"/>
          <p:cNvSpPr/>
          <p:nvPr/>
        </p:nvSpPr>
        <p:spPr>
          <a:xfrm>
            <a:off x="76200" y="838200"/>
            <a:ext cx="8458200" cy="4832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500 frames per second, this 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(1/2) frame per millisecond. The load is (1/2). In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case S = G × e</a:t>
            </a:r>
            <a:r>
              <a:rPr lang="en-US" altLang="en-US" baseline="30000" dirty="0">
                <a:latin typeface="Times New Roman" panose="02020603050405020304" pitchFamily="18" charset="0"/>
              </a:rPr>
              <a:t>−G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0.303 (30.3 percent). This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means that the throughput is 500 × 0.0303 = 151.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Only 151 frames out of 500 will probably survive.</a:t>
            </a:r>
          </a:p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baseline="0" dirty="0">
                <a:latin typeface="Times New Roman" panose="02020603050405020304" pitchFamily="18" charset="0"/>
              </a:rPr>
              <a:t> If the system creates 250 frames per second, this is (1/4) frame per millisecond. The load is (1/4). In this case S = G × e </a:t>
            </a:r>
            <a:r>
              <a:rPr lang="en-US" altLang="en-US" baseline="30000" dirty="0">
                <a:latin typeface="Times New Roman" panose="02020603050405020304" pitchFamily="18" charset="0"/>
              </a:rPr>
              <a:t>−G</a:t>
            </a:r>
            <a:r>
              <a:rPr lang="en-US" altLang="en-US" baseline="0" dirty="0">
                <a:latin typeface="Times New Roman" panose="02020603050405020304" pitchFamily="18" charset="0"/>
              </a:rPr>
              <a:t> or S = 0.195 (19.5 percent). This means that the throughput is 250 × 0.195 = 49. Only 49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frames out of 250 will probably survive.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29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" y="65088"/>
          <a:ext cx="8839200" cy="6716713"/>
        </p:xfrm>
        <a:graphic>
          <a:graphicData uri="http://schemas.openxmlformats.org/drawingml/2006/table">
            <a:tbl>
              <a:tblPr/>
              <a:tblGrid>
                <a:gridCol w="4419600"/>
                <a:gridCol w="4419600"/>
              </a:tblGrid>
              <a:tr h="387371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effectLst/>
                        </a:rPr>
                        <a:t>Pure Aloha</a:t>
                      </a:r>
                      <a:endParaRPr lang="en-IN" sz="2000" dirty="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effectLst/>
                        </a:rPr>
                        <a:t>Slotted Aloha</a:t>
                      </a:r>
                      <a:endParaRPr lang="en-IN" sz="200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663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Any station can transmit the data at any time.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Any station can transmit the data at the beginning of any time slot.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663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The time is continuous and not globally synchronized.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The time is discrete and globally synchronized.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19155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Vulnerable time in which collision may occur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= 2 x T</a:t>
                      </a:r>
                      <a:r>
                        <a:rPr lang="en-US" sz="2000" baseline="-25000">
                          <a:effectLst/>
                        </a:rPr>
                        <a:t>t</a:t>
                      </a:r>
                      <a:endParaRPr lang="en-US" sz="200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Vulnerable time in which collision may occur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= T</a:t>
                      </a:r>
                      <a:r>
                        <a:rPr lang="en-US" sz="2000" baseline="-25000">
                          <a:effectLst/>
                        </a:rPr>
                        <a:t>t</a:t>
                      </a:r>
                      <a:endParaRPr lang="en-US" sz="200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25889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Probability of successful transmission of data packet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= G x e-</a:t>
                      </a:r>
                      <a:r>
                        <a:rPr lang="en-US" sz="2000" baseline="30000">
                          <a:effectLst/>
                        </a:rPr>
                        <a:t>2G</a:t>
                      </a:r>
                      <a:endParaRPr lang="en-US" sz="200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Probability of successful transmission of data packet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= G x e-</a:t>
                      </a:r>
                      <a:r>
                        <a:rPr lang="en-US" sz="2000" baseline="30000">
                          <a:effectLst/>
                        </a:rPr>
                        <a:t>G</a:t>
                      </a:r>
                      <a:endParaRPr lang="en-US" sz="2000">
                        <a:effectLst/>
                      </a:endParaRP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663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Maximum efficiency = 18.4%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(Occurs at G = 1/2)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Maximum efficiency = 36.8%</a:t>
                      </a:r>
                    </a:p>
                    <a:p>
                      <a:pPr algn="l"/>
                      <a:r>
                        <a:rPr lang="en-US" sz="2000">
                          <a:effectLst/>
                        </a:rPr>
                        <a:t>( Occurs at G = 1)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6440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The main advantage of pure aloha is its simplicity in implementation.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The main advantage of slotted aloha is that it reduces the number of collisions to half and doubles the efficiency of pure aloha</a:t>
                      </a:r>
                    </a:p>
                  </a:txBody>
                  <a:tcPr marL="65026" marR="65026" marT="32510" marB="32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 txBox="1"/>
          <p:nvPr/>
        </p:nvSpPr>
        <p:spPr>
          <a:xfrm>
            <a:off x="0" y="2362200"/>
            <a:ext cx="9144000" cy="13255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eaLnBrk="1" hangingPunct="1"/>
            <a:r>
              <a:rPr lang="en-US" altLang="en-US" sz="4000" i="0" baseline="0" dirty="0">
                <a:solidFill>
                  <a:schemeClr val="tx2"/>
                </a:solidFill>
                <a:latin typeface="Tahoma" panose="020B0604030504040204" pitchFamily="34" charset="0"/>
              </a:rPr>
              <a:t>Carrier Sense Multiple Access (CSMA) </a:t>
            </a:r>
          </a:p>
          <a:p>
            <a:pPr algn="ctr" eaLnBrk="1" hangingPunct="1"/>
            <a:r>
              <a:rPr lang="en-US" altLang="en-US" sz="4000" i="0" baseline="0" dirty="0">
                <a:solidFill>
                  <a:schemeClr val="tx2"/>
                </a:solidFill>
                <a:latin typeface="Tahoma" panose="020B0604030504040204" pitchFamily="34" charset="0"/>
              </a:rPr>
              <a:t>Protocols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9144000" cy="1325563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en-US" sz="3200" b="1" dirty="0"/>
              <a:t>Carrier Sense Multiple Access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5625"/>
            <a:ext cx="8610600" cy="4727575"/>
          </a:xfr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Protocols in which stations listen for a carrier (i.e., transmission) and act accordingly are called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carrier sense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protocols.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Several Versions of those protocols will be discussed.</a:t>
            </a:r>
          </a:p>
          <a:p>
            <a:pPr marL="971550" marR="0" lvl="1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+mj-lt"/>
              <a:buAutoNum type="arabicPeriod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Persistent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Nonpersistent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CSMA</a:t>
            </a:r>
          </a:p>
          <a:p>
            <a:pPr marL="971550" marR="0" lvl="1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+mj-lt"/>
              <a:buAutoNum type="arabicPeriod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CSMA with Collision Detections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9144000" cy="1325563"/>
          </a:xfrm>
          <a:noFill/>
          <a:ln>
            <a:noFill/>
          </a:ln>
        </p:spPr>
        <p:txBody>
          <a:bodyPr/>
          <a:lstStyle/>
          <a:p>
            <a:pPr marL="342900" indent="-342900" eaLnBrk="1" hangingPunct="1"/>
            <a:r>
              <a:rPr lang="en-US" altLang="en-US" sz="3600" b="1" dirty="0"/>
              <a:t>Persistent and Nonpersistent CSMA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5625"/>
            <a:ext cx="8686800" cy="4351338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1-Persistend Carrier Sense Multiple Access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(CSMA) protocol.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 station has data to be send it first listens to the channel to see if anyone else is transmitting at that moment.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channel is idle the station sends the data,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Otherwise, the station just waits until it becomes idle.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8915400" cy="1019175"/>
          </a:xfrm>
          <a:noFill/>
          <a:ln>
            <a:noFill/>
          </a:ln>
        </p:spPr>
        <p:txBody>
          <a:bodyPr/>
          <a:lstStyle/>
          <a:p>
            <a:pPr marL="342900" indent="-342900" eaLnBrk="1" hangingPunct="1"/>
            <a:r>
              <a:rPr lang="en-US" altLang="en-US" sz="3600" b="1" dirty="0"/>
              <a:t>Persistent and Nonpersistent CSMA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228600" y="1384300"/>
            <a:ext cx="8077200" cy="42973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1-Persistend Carrier Sense Multiple Access </a:t>
            </a:r>
            <a:r>
              <a:rPr lang="en-US" altLang="en-US" sz="2400" dirty="0"/>
              <a:t>(CSMA) protocol.</a:t>
            </a:r>
          </a:p>
          <a:p>
            <a:pPr lvl="1" eaLnBrk="1" hangingPunct="1"/>
            <a:r>
              <a:rPr lang="en-US" altLang="en-US" sz="2400" dirty="0"/>
              <a:t>If a collision occurs, the station waits a random amount of time and starts all over again.</a:t>
            </a:r>
          </a:p>
          <a:p>
            <a:pPr lvl="1" eaLnBrk="1" hangingPunct="1"/>
            <a:r>
              <a:rPr lang="en-US" altLang="en-US" sz="2400" dirty="0"/>
              <a:t>This protocol has problems with collisions:</a:t>
            </a:r>
          </a:p>
          <a:p>
            <a:pPr lvl="2" eaLnBrk="1" hangingPunct="1"/>
            <a:r>
              <a:rPr lang="en-US" altLang="en-US" dirty="0"/>
              <a:t>2 patiently waiting stations will start transmitting at the same time when the channel becomes idle.</a:t>
            </a:r>
          </a:p>
          <a:p>
            <a:pPr lvl="2" eaLnBrk="1" hangingPunct="1"/>
            <a:r>
              <a:rPr lang="en-US" altLang="en-US" dirty="0"/>
              <a:t>Propagation delay can make even more subtle the collision.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5186363"/>
            <a:ext cx="86741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b="0" i="0" baseline="0" smtClean="0"/>
              <a:t>1-persistent refers to the probability of 1 of transmission when the channel if found to be idle.</a:t>
            </a:r>
          </a:p>
          <a:p>
            <a:pPr eaLnBrk="1" hangingPunct="1"/>
            <a:endParaRPr lang="en-US" altLang="en-US" sz="2800" b="0" i="0" baseline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3255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3600" b="1" dirty="0"/>
              <a:t>Persistent and Nonpersistent CSMA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215900" y="1477963"/>
            <a:ext cx="8699500" cy="4351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Nonpersistent CSMA - </a:t>
            </a:r>
            <a:r>
              <a:rPr lang="en-US" altLang="en-US" sz="2800" dirty="0"/>
              <a:t>Second Carrier Sense protocol is. In this protocol the transmitting stations are </a:t>
            </a:r>
            <a:r>
              <a:rPr lang="en-US" altLang="en-US" sz="2800" dirty="0">
                <a:solidFill>
                  <a:srgbClr val="FF0000"/>
                </a:solidFill>
              </a:rPr>
              <a:t>less greedy</a:t>
            </a:r>
            <a:r>
              <a:rPr lang="en-US" altLang="en-US" sz="2800" dirty="0"/>
              <a:t>.</a:t>
            </a:r>
          </a:p>
          <a:p>
            <a:pPr lvl="1" eaLnBrk="1" hangingPunct="1"/>
            <a:r>
              <a:rPr lang="en-US" altLang="en-US" dirty="0"/>
              <a:t>The transmitting station will send the packet if the channel is found to be idle, however</a:t>
            </a:r>
          </a:p>
          <a:p>
            <a:pPr lvl="1" eaLnBrk="1" hangingPunct="1"/>
            <a:r>
              <a:rPr lang="en-US" altLang="en-US" dirty="0"/>
              <a:t>If the channel is already in use the station does not continuously sense it for transmission. Instead it </a:t>
            </a:r>
            <a:r>
              <a:rPr lang="en-US" altLang="en-US" dirty="0">
                <a:solidFill>
                  <a:srgbClr val="FF0000"/>
                </a:solidFill>
              </a:rPr>
              <a:t>waits a random amount of time</a:t>
            </a:r>
            <a:r>
              <a:rPr lang="en-US" altLang="en-US" dirty="0"/>
              <a:t> and then repeats the algorithm.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4"/>
          <p:cNvSpPr txBox="1"/>
          <p:nvPr/>
        </p:nvSpPr>
        <p:spPr>
          <a:xfrm>
            <a:off x="304800" y="381000"/>
            <a:ext cx="40211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Vulnerable time in CSMA</a:t>
            </a:r>
          </a:p>
        </p:txBody>
      </p:sp>
      <p:pic>
        <p:nvPicPr>
          <p:cNvPr id="5734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35175"/>
            <a:ext cx="8839200" cy="3298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/>
          <p:nvPr/>
        </p:nvSpPr>
        <p:spPr>
          <a:xfrm>
            <a:off x="152400" y="152400"/>
            <a:ext cx="50212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Behavior of three persistence methods</a:t>
            </a:r>
          </a:p>
        </p:txBody>
      </p:sp>
      <p:pic>
        <p:nvPicPr>
          <p:cNvPr id="5939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62000"/>
            <a:ext cx="8763000" cy="594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4"/>
          <p:cNvSpPr txBox="1"/>
          <p:nvPr/>
        </p:nvSpPr>
        <p:spPr>
          <a:xfrm>
            <a:off x="152400" y="228600"/>
            <a:ext cx="57642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Flow diagram for three persistence methods</a:t>
            </a:r>
          </a:p>
        </p:txBody>
      </p:sp>
      <p:pic>
        <p:nvPicPr>
          <p:cNvPr id="6144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14400"/>
            <a:ext cx="8153400" cy="5776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4"/>
          <p:cNvSpPr txBox="1"/>
          <p:nvPr/>
        </p:nvSpPr>
        <p:spPr>
          <a:xfrm>
            <a:off x="304800" y="381000"/>
            <a:ext cx="49022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Collision of the first bit in CSMA/CD</a:t>
            </a:r>
          </a:p>
        </p:txBody>
      </p:sp>
      <p:pic>
        <p:nvPicPr>
          <p:cNvPr id="6349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219200"/>
            <a:ext cx="9058275" cy="4800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4"/>
          <p:cNvSpPr txBox="1"/>
          <p:nvPr/>
        </p:nvSpPr>
        <p:spPr>
          <a:xfrm>
            <a:off x="304800" y="381000"/>
            <a:ext cx="4819650" cy="830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Collision and abortion in CSMA/CD</a:t>
            </a:r>
            <a:endParaRPr lang="en-US" altLang="en-US" sz="2400" b="0" i="0" baseline="-18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en-US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539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" y="1447801"/>
            <a:ext cx="8994775" cy="449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4"/>
          <p:cNvSpPr txBox="1"/>
          <p:nvPr/>
        </p:nvSpPr>
        <p:spPr>
          <a:xfrm>
            <a:off x="76200" y="223838"/>
            <a:ext cx="449421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Flow diagram for the CSMA/CD</a:t>
            </a:r>
          </a:p>
        </p:txBody>
      </p:sp>
      <p:pic>
        <p:nvPicPr>
          <p:cNvPr id="6963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838200"/>
            <a:ext cx="8915400" cy="5867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0"/>
            <a:ext cx="8458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FF0000"/>
                </a:solidFill>
              </a:rPr>
              <a:t>Problem 1 — Minimum Frame </a:t>
            </a:r>
            <a:r>
              <a:rPr lang="en-US" sz="4000" dirty="0" smtClean="0">
                <a:solidFill>
                  <a:srgbClr val="FF0000"/>
                </a:solidFill>
              </a:rPr>
              <a:t>Size</a:t>
            </a:r>
          </a:p>
          <a:p>
            <a:pPr algn="just"/>
            <a:endParaRPr lang="en-US" sz="4000" dirty="0" smtClean="0"/>
          </a:p>
          <a:p>
            <a:pPr algn="just"/>
            <a:r>
              <a:rPr lang="en-US" sz="4000" dirty="0" smtClean="0"/>
              <a:t>A </a:t>
            </a:r>
            <a:r>
              <a:rPr lang="en-US" sz="4000" dirty="0"/>
              <a:t>CSMA/CD LAN has a bandwidth of 10 Mbps. The maximum distance between two stations is 2500 m, and the propagation speed is </a:t>
            </a:r>
            <a:r>
              <a:rPr lang="en-US" sz="4000" dirty="0" smtClean="0"/>
              <a:t>2 * 10^8 </a:t>
            </a:r>
            <a:r>
              <a:rPr lang="en-US" sz="4000" dirty="0"/>
              <a:t>m/s. Find the minimum frame size required.</a:t>
            </a:r>
          </a:p>
        </p:txBody>
      </p:sp>
    </p:spTree>
    <p:extLst>
      <p:ext uri="{BB962C8B-B14F-4D97-AF65-F5344CB8AC3E}">
        <p14:creationId xmlns:p14="http://schemas.microsoft.com/office/powerpoint/2010/main" val="3314978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3400"/>
            <a:ext cx="8878711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65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914400"/>
            <a:ext cx="8686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FF0000"/>
                </a:solidFill>
              </a:rPr>
              <a:t>Problem 2 — Given Frame Size, Find Max </a:t>
            </a:r>
            <a:r>
              <a:rPr lang="en-US" sz="4000" dirty="0" smtClean="0">
                <a:solidFill>
                  <a:srgbClr val="FF0000"/>
                </a:solidFill>
              </a:rPr>
              <a:t>Distance</a:t>
            </a:r>
          </a:p>
          <a:p>
            <a:pPr algn="just"/>
            <a:endParaRPr lang="en-US" sz="4000" dirty="0"/>
          </a:p>
          <a:p>
            <a:pPr algn="just"/>
            <a:r>
              <a:rPr lang="en-US" sz="4000" dirty="0"/>
              <a:t>A 10 Mbps CSMA/CD network has a minimum frame size of 512 bits. If the propagation speed is $2 \times 10^8$ m/s, what is the maximum allowable distance between two stations?</a:t>
            </a:r>
          </a:p>
        </p:txBody>
      </p:sp>
    </p:spTree>
    <p:extLst>
      <p:ext uri="{BB962C8B-B14F-4D97-AF65-F5344CB8AC3E}">
        <p14:creationId xmlns:p14="http://schemas.microsoft.com/office/powerpoint/2010/main" val="2407943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37554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916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219200"/>
            <a:ext cx="8610600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FF0000"/>
                </a:solidFill>
              </a:rPr>
              <a:t>Problem </a:t>
            </a:r>
            <a:r>
              <a:rPr lang="en-US" sz="4000" dirty="0" smtClean="0">
                <a:solidFill>
                  <a:srgbClr val="FF0000"/>
                </a:solidFill>
              </a:rPr>
              <a:t>3 </a:t>
            </a:r>
            <a:r>
              <a:rPr lang="en-US" sz="4000" dirty="0">
                <a:solidFill>
                  <a:srgbClr val="FF0000"/>
                </a:solidFill>
              </a:rPr>
              <a:t>— Efficiency </a:t>
            </a:r>
            <a:r>
              <a:rPr lang="en-US" sz="4000" dirty="0" smtClean="0">
                <a:solidFill>
                  <a:srgbClr val="FF0000"/>
                </a:solidFill>
              </a:rPr>
              <a:t>Calculation</a:t>
            </a:r>
          </a:p>
          <a:p>
            <a:pPr algn="just"/>
            <a:endParaRPr lang="en-US" sz="4000" dirty="0"/>
          </a:p>
          <a:p>
            <a:pPr algn="just"/>
            <a:r>
              <a:rPr lang="en-US" sz="4000" dirty="0"/>
              <a:t>A CSMA/CD LAN has bandwidth 10 Mbps, frame size 1000 bits, and </a:t>
            </a:r>
            <a:r>
              <a:rPr lang="en-US" sz="4000" dirty="0" err="1"/>
              <a:t>Tp</a:t>
            </a:r>
            <a:r>
              <a:rPr lang="en-US" sz="4000" dirty="0"/>
              <a:t>=25.6 </a:t>
            </a:r>
            <a:r>
              <a:rPr lang="en-US" sz="4000" dirty="0" err="1" smtClean="0"/>
              <a:t>μs</a:t>
            </a:r>
            <a:r>
              <a:rPr lang="en-US" sz="4000" dirty="0" smtClean="0"/>
              <a:t>. </a:t>
            </a:r>
            <a:r>
              <a:rPr lang="en-US" sz="4000" dirty="0"/>
              <a:t>Calculate the efficiency of the protocol.</a:t>
            </a:r>
          </a:p>
        </p:txBody>
      </p:sp>
    </p:spTree>
    <p:extLst>
      <p:ext uri="{BB962C8B-B14F-4D97-AF65-F5344CB8AC3E}">
        <p14:creationId xmlns:p14="http://schemas.microsoft.com/office/powerpoint/2010/main" val="5949976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850275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63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838200"/>
            <a:ext cx="8382000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FF0000"/>
                </a:solidFill>
              </a:rPr>
              <a:t>Problem </a:t>
            </a:r>
            <a:r>
              <a:rPr lang="en-US" sz="4000" dirty="0" smtClean="0">
                <a:solidFill>
                  <a:srgbClr val="FF0000"/>
                </a:solidFill>
              </a:rPr>
              <a:t>4 </a:t>
            </a:r>
            <a:r>
              <a:rPr lang="en-US" sz="4000" dirty="0">
                <a:solidFill>
                  <a:srgbClr val="FF0000"/>
                </a:solidFill>
              </a:rPr>
              <a:t>— Collision Detection </a:t>
            </a:r>
            <a:r>
              <a:rPr lang="en-US" sz="4000" dirty="0" smtClean="0">
                <a:solidFill>
                  <a:srgbClr val="FF0000"/>
                </a:solidFill>
              </a:rPr>
              <a:t>Time</a:t>
            </a:r>
          </a:p>
          <a:p>
            <a:pPr algn="just"/>
            <a:endParaRPr lang="en-US" sz="4000" dirty="0">
              <a:solidFill>
                <a:srgbClr val="FF0000"/>
              </a:solidFill>
            </a:endParaRPr>
          </a:p>
          <a:p>
            <a:pPr algn="just"/>
            <a:r>
              <a:rPr lang="en-US" sz="4000" dirty="0"/>
              <a:t>Two stations A and B are 2 km apart on a 10 Mbps CSMA/CD bus, with propagation speed </a:t>
            </a:r>
            <a:r>
              <a:rPr lang="en-US" sz="4000" dirty="0" smtClean="0"/>
              <a:t>2 * 10^8 </a:t>
            </a:r>
            <a:r>
              <a:rPr lang="en-US" sz="4000" dirty="0"/>
              <a:t>m/s. If A starts transmitting at </a:t>
            </a:r>
            <a:r>
              <a:rPr lang="en-US" sz="4000" dirty="0" smtClean="0"/>
              <a:t>t=0 </a:t>
            </a:r>
            <a:r>
              <a:rPr lang="en-US" sz="4000" dirty="0"/>
              <a:t>and B starts transmitting (having sensed the channel idle, just before A's signal arrives) at t=9 </a:t>
            </a:r>
            <a:r>
              <a:rPr lang="en-US" sz="4000" dirty="0" err="1" smtClean="0"/>
              <a:t>μs</a:t>
            </a:r>
            <a:r>
              <a:rPr lang="en-US" sz="4000" dirty="0" smtClean="0"/>
              <a:t>, </a:t>
            </a:r>
            <a:r>
              <a:rPr lang="en-US" sz="4000" dirty="0"/>
              <a:t>at what time does A detect the collision?</a:t>
            </a:r>
          </a:p>
        </p:txBody>
      </p:sp>
    </p:spTree>
    <p:extLst>
      <p:ext uri="{BB962C8B-B14F-4D97-AF65-F5344CB8AC3E}">
        <p14:creationId xmlns:p14="http://schemas.microsoft.com/office/powerpoint/2010/main" val="3716792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871255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71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066800"/>
            <a:ext cx="8763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solidFill>
                  <a:srgbClr val="FF0000"/>
                </a:solidFill>
              </a:rPr>
              <a:t>Problem </a:t>
            </a:r>
            <a:r>
              <a:rPr lang="en-US" sz="4000" dirty="0" smtClean="0">
                <a:solidFill>
                  <a:srgbClr val="FF0000"/>
                </a:solidFill>
              </a:rPr>
              <a:t>5 </a:t>
            </a:r>
            <a:r>
              <a:rPr lang="en-US" sz="4000" dirty="0">
                <a:solidFill>
                  <a:srgbClr val="FF0000"/>
                </a:solidFill>
              </a:rPr>
              <a:t>— Number of Stations vs. Slot Time (Binary Exponential </a:t>
            </a:r>
            <a:r>
              <a:rPr lang="en-US" sz="4000" dirty="0" err="1">
                <a:solidFill>
                  <a:srgbClr val="FF0000"/>
                </a:solidFill>
              </a:rPr>
              <a:t>Backoff</a:t>
            </a:r>
            <a:r>
              <a:rPr lang="en-US" sz="4000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endParaRPr lang="en-US" sz="4000" dirty="0"/>
          </a:p>
          <a:p>
            <a:pPr algn="just"/>
            <a:r>
              <a:rPr lang="en-US" sz="4000" dirty="0"/>
              <a:t>In a CSMA/CD network, the slot time is 51.2 </a:t>
            </a:r>
            <a:r>
              <a:rPr lang="en-US" sz="4000" dirty="0" err="1"/>
              <a:t>μs</a:t>
            </a:r>
            <a:r>
              <a:rPr lang="en-US" sz="4000" dirty="0"/>
              <a:t>. After the 4th collision, a station uses binary exponential </a:t>
            </a:r>
            <a:r>
              <a:rPr lang="en-US" sz="4000" dirty="0" err="1"/>
              <a:t>backoff</a:t>
            </a:r>
            <a:r>
              <a:rPr lang="en-US" sz="4000" dirty="0"/>
              <a:t>. Calculate the range of possible </a:t>
            </a:r>
            <a:r>
              <a:rPr lang="en-US" sz="4000" dirty="0" err="1"/>
              <a:t>backoff</a:t>
            </a:r>
            <a:r>
              <a:rPr lang="en-US" sz="4000" dirty="0"/>
              <a:t> times.</a:t>
            </a:r>
          </a:p>
        </p:txBody>
      </p:sp>
    </p:spTree>
    <p:extLst>
      <p:ext uri="{BB962C8B-B14F-4D97-AF65-F5344CB8AC3E}">
        <p14:creationId xmlns:p14="http://schemas.microsoft.com/office/powerpoint/2010/main" val="4230539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95400"/>
            <a:ext cx="88519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97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9"/>
          <p:cNvSpPr/>
          <p:nvPr/>
        </p:nvSpPr>
        <p:spPr>
          <a:xfrm>
            <a:off x="228600" y="973138"/>
            <a:ext cx="8686800" cy="2227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A network using CSMA/CD has a bandwidth of 10 Mbps. If the maximum propagation time (including the delays in the devices and ignoring the time needed to send a jamming signal) is 25.6 μs, what is the minimum size of the frame?</a:t>
            </a:r>
          </a:p>
        </p:txBody>
      </p:sp>
      <p:sp>
        <p:nvSpPr>
          <p:cNvPr id="67587" name="Text Box 10"/>
          <p:cNvSpPr txBox="1"/>
          <p:nvPr/>
        </p:nvSpPr>
        <p:spPr>
          <a:xfrm>
            <a:off x="203200" y="87313"/>
            <a:ext cx="1689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67588" name="Rectangle 11"/>
          <p:cNvSpPr/>
          <p:nvPr/>
        </p:nvSpPr>
        <p:spPr>
          <a:xfrm>
            <a:off x="152400" y="3276600"/>
            <a:ext cx="8686800" cy="30813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The frame transmission time is T</a:t>
            </a:r>
            <a:r>
              <a:rPr lang="en-US" altLang="en-US" baseline="-16000" dirty="0">
                <a:latin typeface="Times New Roman" panose="02020603050405020304" pitchFamily="18" charset="0"/>
              </a:rPr>
              <a:t>fr</a:t>
            </a:r>
            <a:r>
              <a:rPr lang="en-US" altLang="en-US" baseline="0" dirty="0">
                <a:latin typeface="Times New Roman" panose="02020603050405020304" pitchFamily="18" charset="0"/>
              </a:rPr>
              <a:t> = 2 × T</a:t>
            </a:r>
            <a:r>
              <a:rPr lang="en-US" altLang="en-US" baseline="-14000" dirty="0">
                <a:latin typeface="Times New Roman" panose="02020603050405020304" pitchFamily="18" charset="0"/>
              </a:rPr>
              <a:t>p</a:t>
            </a:r>
            <a:r>
              <a:rPr lang="en-US" altLang="en-US" baseline="0" dirty="0">
                <a:latin typeface="Times New Roman" panose="02020603050405020304" pitchFamily="18" charset="0"/>
              </a:rPr>
              <a:t> = 51.2 μs. This means, in the worst case, a station needs to transmit for a period of 51.2 μs to detect the collision. The minimum size of the frame is 10 Mbps × 51.2 μs = 512 bits or 64 bytes. This is actually the minimum size of the frame for Standard Ethernet.</a:t>
            </a:r>
          </a:p>
        </p:txBody>
      </p:sp>
    </p:spTree>
    <p:extLst>
      <p:ext uri="{BB962C8B-B14F-4D97-AF65-F5344CB8AC3E}">
        <p14:creationId xmlns:p14="http://schemas.microsoft.com/office/powerpoint/2010/main" val="17782614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/>
          <p:cNvSpPr txBox="1"/>
          <p:nvPr/>
        </p:nvSpPr>
        <p:spPr>
          <a:xfrm>
            <a:off x="304800" y="381000"/>
            <a:ext cx="82962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Energy level during transmission, idleness, or collision</a:t>
            </a:r>
          </a:p>
        </p:txBody>
      </p:sp>
      <p:pic>
        <p:nvPicPr>
          <p:cNvPr id="7168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229600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4" name="Text Box 8"/>
          <p:cNvSpPr txBox="1"/>
          <p:nvPr/>
        </p:nvSpPr>
        <p:spPr>
          <a:xfrm>
            <a:off x="898525" y="4598988"/>
            <a:ext cx="7348538" cy="1247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i="0" dirty="0">
                <a:latin typeface="Times New Roman" panose="02020603050405020304" pitchFamily="18" charset="0"/>
              </a:rPr>
              <a:t>On a wired network, energy level is almost double during a collision.  </a:t>
            </a:r>
          </a:p>
          <a:p>
            <a:r>
              <a:rPr lang="en-US" altLang="en-US" i="0" dirty="0">
                <a:latin typeface="Times New Roman" panose="02020603050405020304" pitchFamily="18" charset="0"/>
              </a:rPr>
              <a:t>This is how a receiver tells if there is a collision.</a:t>
            </a:r>
          </a:p>
          <a:p>
            <a:r>
              <a:rPr lang="en-US" altLang="en-US" i="0" dirty="0">
                <a:latin typeface="Times New Roman" panose="02020603050405020304" pitchFamily="18" charset="0"/>
              </a:rPr>
              <a:t>But on a wireless network, energy level is not that high (barely 5-10%</a:t>
            </a:r>
          </a:p>
          <a:p>
            <a:r>
              <a:rPr lang="en-US" altLang="en-US" i="0" dirty="0">
                <a:latin typeface="Times New Roman" panose="02020603050405020304" pitchFamily="18" charset="0"/>
              </a:rPr>
              <a:t>higher).  So with wireless, we need to </a:t>
            </a:r>
            <a:r>
              <a:rPr lang="en-US" altLang="en-US" dirty="0">
                <a:latin typeface="Times New Roman" panose="02020603050405020304" pitchFamily="18" charset="0"/>
              </a:rPr>
              <a:t>avoid </a:t>
            </a:r>
            <a:r>
              <a:rPr lang="en-US" altLang="en-US" i="0" dirty="0">
                <a:latin typeface="Times New Roman" panose="02020603050405020304" pitchFamily="18" charset="0"/>
              </a:rPr>
              <a:t>collisions.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4"/>
          <p:cNvSpPr txBox="1"/>
          <p:nvPr/>
        </p:nvSpPr>
        <p:spPr>
          <a:xfrm>
            <a:off x="26988" y="0"/>
            <a:ext cx="38528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Flow diagram for CSMA/CA</a:t>
            </a:r>
          </a:p>
        </p:txBody>
      </p:sp>
      <p:pic>
        <p:nvPicPr>
          <p:cNvPr id="7373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8" y="381000"/>
            <a:ext cx="5459412" cy="640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32" name="Text Box 8"/>
          <p:cNvSpPr txBox="1"/>
          <p:nvPr/>
        </p:nvSpPr>
        <p:spPr>
          <a:xfrm>
            <a:off x="4327525" y="1169988"/>
            <a:ext cx="184150" cy="381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3733" name="Text Box 9"/>
          <p:cNvSpPr txBox="1"/>
          <p:nvPr/>
        </p:nvSpPr>
        <p:spPr>
          <a:xfrm>
            <a:off x="5486400" y="-25400"/>
            <a:ext cx="3641724" cy="66582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en-US" sz="3200" b="0" i="0" dirty="0">
                <a:latin typeface="Times New Roman" panose="02020603050405020304" pitchFamily="18" charset="0"/>
              </a:rPr>
              <a:t>Channel idle?  Don’t transmit yet!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Wait IFS time.</a:t>
            </a:r>
          </a:p>
          <a:p>
            <a:endParaRPr lang="en-US" altLang="en-US" sz="3200" b="0" i="0" dirty="0">
              <a:latin typeface="Times New Roman" panose="02020603050405020304" pitchFamily="18" charset="0"/>
            </a:endParaRP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Still idle after IFS?  Don’t transmit yet!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Now in Contention Window.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Choose random number and wait that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many slots.  </a:t>
            </a:r>
          </a:p>
          <a:p>
            <a:endParaRPr lang="en-US" altLang="en-US" sz="3200" b="0" i="0" dirty="0">
              <a:latin typeface="Times New Roman" panose="02020603050405020304" pitchFamily="18" charset="0"/>
            </a:endParaRP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Did you wait R slots and all slots were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available?  Go ahead, transmit.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Now, wait time-out for a response.</a:t>
            </a:r>
          </a:p>
          <a:p>
            <a:endParaRPr lang="en-US" altLang="en-US" sz="3200" b="0" i="0" dirty="0">
              <a:latin typeface="Times New Roman" panose="02020603050405020304" pitchFamily="18" charset="0"/>
            </a:endParaRP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(How big is a slot? 50 µs in 802.11 FH and</a:t>
            </a:r>
          </a:p>
          <a:p>
            <a:r>
              <a:rPr lang="en-US" altLang="en-US" sz="3200" b="0" i="0" dirty="0">
                <a:latin typeface="Times New Roman" panose="02020603050405020304" pitchFamily="18" charset="0"/>
              </a:rPr>
              <a:t>20 µs in 802.11 DS</a:t>
            </a:r>
            <a:r>
              <a:rPr lang="en-US" altLang="en-US" sz="3200" b="0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54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0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1" name="Text Box 4"/>
          <p:cNvSpPr txBox="1"/>
          <p:nvPr/>
        </p:nvSpPr>
        <p:spPr>
          <a:xfrm>
            <a:off x="304800" y="381000"/>
            <a:ext cx="24114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000" baseline="0" dirty="0">
                <a:latin typeface="Times New Roman" panose="02020603050405020304" pitchFamily="18" charset="0"/>
              </a:rPr>
              <a:t>Timing in CSMA/CA</a:t>
            </a:r>
          </a:p>
        </p:txBody>
      </p:sp>
      <p:sp>
        <p:nvSpPr>
          <p:cNvPr id="75782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578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3" y="3276600"/>
            <a:ext cx="8510587" cy="266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84" name="Rectangle 1"/>
          <p:cNvSpPr/>
          <p:nvPr/>
        </p:nvSpPr>
        <p:spPr>
          <a:xfrm>
            <a:off x="252413" y="1122363"/>
            <a:ext cx="8662987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600" b="0" dirty="0">
                <a:latin typeface="Verdana" panose="020B0604030504040204" pitchFamily="34" charset="0"/>
              </a:rPr>
              <a:t>Collisions are avoided through the use of CSMA/CA's three strategies: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 b="0" dirty="0">
                <a:latin typeface="Verdana" panose="020B0604030504040204" pitchFamily="34" charset="0"/>
              </a:rPr>
              <a:t>Interframe</a:t>
            </a:r>
            <a:r>
              <a:rPr lang="en-US" altLang="en-US" sz="3600" b="0" baseline="0" dirty="0">
                <a:latin typeface="Verdana" panose="020B0604030504040204" pitchFamily="34" charset="0"/>
              </a:rPr>
              <a:t> </a:t>
            </a:r>
            <a:r>
              <a:rPr lang="en-US" altLang="en-US" sz="3600" b="0" dirty="0">
                <a:latin typeface="Verdana" panose="020B0604030504040204" pitchFamily="34" charset="0"/>
              </a:rPr>
              <a:t>space (IFS)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 b="0" dirty="0">
                <a:latin typeface="Verdana" panose="020B0604030504040204" pitchFamily="34" charset="0"/>
              </a:rPr>
              <a:t>contention window,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 b="0" dirty="0">
                <a:latin typeface="Verdana" panose="020B0604030504040204" pitchFamily="34" charset="0"/>
              </a:rPr>
              <a:t>and acknowledgments</a:t>
            </a:r>
            <a:endParaRPr lang="en-IN" altLang="en-US" sz="36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55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28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29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30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31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32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33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77834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35" name="Line 10"/>
          <p:cNvSpPr/>
          <p:nvPr/>
        </p:nvSpPr>
        <p:spPr>
          <a:xfrm>
            <a:off x="458788" y="38862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36" name="Rectangle 11"/>
          <p:cNvSpPr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In CSMA/CA, the IFS can also be used to define the priority of a station or a frame.</a:t>
            </a:r>
          </a:p>
        </p:txBody>
      </p:sp>
      <p:grpSp>
        <p:nvGrpSpPr>
          <p:cNvPr id="77837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7838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7839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56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80322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80323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830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en-US" sz="3200" i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+mn-ea"/>
                <a:cs typeface="+mn-cs"/>
              </a:rPr>
              <a:t>12-2   CONTROLLED ACCESS</a:t>
            </a:r>
          </a:p>
        </p:txBody>
      </p:sp>
      <p:sp>
        <p:nvSpPr>
          <p:cNvPr id="79877" name="Text Box 4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en-US" altLang="en-US" sz="1800" i="0" baseline="0" dirty="0">
              <a:latin typeface="Times New Roman" panose="02020603050405020304" pitchFamily="18" charset="0"/>
            </a:endParaRPr>
          </a:p>
        </p:txBody>
      </p:sp>
      <p:sp>
        <p:nvSpPr>
          <p:cNvPr id="1080325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controlled access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the stations consult one another to find which station has the right to send. A station cannot send unless it has been authorized by other stations. We discuss three popular controlled-access methods.</a:t>
            </a:r>
          </a:p>
        </p:txBody>
      </p:sp>
      <p:sp>
        <p:nvSpPr>
          <p:cNvPr id="79879" name="Rectangle 6"/>
          <p:cNvSpPr/>
          <p:nvPr/>
        </p:nvSpPr>
        <p:spPr>
          <a:xfrm>
            <a:off x="304800" y="5048250"/>
            <a:ext cx="6705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Reservation</a:t>
            </a: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/>
            </a:r>
            <a:b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Polling</a:t>
            </a:r>
            <a:b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Token Passing</a:t>
            </a:r>
          </a:p>
        </p:txBody>
      </p:sp>
      <p:sp>
        <p:nvSpPr>
          <p:cNvPr id="1080327" name="Text Box 7"/>
          <p:cNvSpPr txBox="1">
            <a:spLocks noChangeArrowheads="1"/>
          </p:cNvSpPr>
          <p:nvPr/>
        </p:nvSpPr>
        <p:spPr bwMode="auto">
          <a:xfrm>
            <a:off x="317500" y="45720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57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1923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4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5" name="Text Box 4"/>
          <p:cNvSpPr txBox="1"/>
          <p:nvPr/>
        </p:nvSpPr>
        <p:spPr>
          <a:xfrm>
            <a:off x="304800" y="381000"/>
            <a:ext cx="4764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12.18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Reservation access method</a:t>
            </a:r>
          </a:p>
        </p:txBody>
      </p:sp>
      <p:sp>
        <p:nvSpPr>
          <p:cNvPr id="81926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192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2514600"/>
            <a:ext cx="7861300" cy="182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58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3971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2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3" name="Text Box 4"/>
          <p:cNvSpPr txBox="1"/>
          <p:nvPr/>
        </p:nvSpPr>
        <p:spPr>
          <a:xfrm>
            <a:off x="304800" y="381000"/>
            <a:ext cx="7178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12.19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Select and poll functions in polling access method</a:t>
            </a:r>
          </a:p>
        </p:txBody>
      </p:sp>
      <p:sp>
        <p:nvSpPr>
          <p:cNvPr id="83974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397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951038"/>
            <a:ext cx="8483600" cy="3078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59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6019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20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21" name="Text Box 4"/>
          <p:cNvSpPr txBox="1"/>
          <p:nvPr/>
        </p:nvSpPr>
        <p:spPr>
          <a:xfrm>
            <a:off x="76200" y="381000"/>
            <a:ext cx="8934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12.20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Logical ring and physical topology in token-passing access method</a:t>
            </a:r>
          </a:p>
        </p:txBody>
      </p:sp>
      <p:sp>
        <p:nvSpPr>
          <p:cNvPr id="86022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602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36650"/>
            <a:ext cx="7102475" cy="5035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60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8237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82371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030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en-US" sz="3200" i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+mn-ea"/>
                <a:cs typeface="+mn-cs"/>
              </a:rPr>
              <a:t>12-3   CHANNELIZATION</a:t>
            </a:r>
          </a:p>
        </p:txBody>
      </p:sp>
      <p:sp>
        <p:nvSpPr>
          <p:cNvPr id="88069" name="Text Box 4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en-US" altLang="en-US" sz="1800" i="0" baseline="0" dirty="0">
              <a:latin typeface="Times New Roman" panose="02020603050405020304" pitchFamily="18" charset="0"/>
            </a:endParaRPr>
          </a:p>
        </p:txBody>
      </p:sp>
      <p:sp>
        <p:nvSpPr>
          <p:cNvPr id="1082373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Channelization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is a multiple-access method in which the available bandwidth of a link is shared in time, frequency, or through code, between different stations. In this section, we discuss three channelization protocols.</a:t>
            </a:r>
          </a:p>
        </p:txBody>
      </p:sp>
      <p:sp>
        <p:nvSpPr>
          <p:cNvPr id="88071" name="Rectangle 6"/>
          <p:cNvSpPr/>
          <p:nvPr/>
        </p:nvSpPr>
        <p:spPr>
          <a:xfrm>
            <a:off x="304800" y="4743450"/>
            <a:ext cx="6705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en-US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Frequency-Division Multiple Access (FDMA)</a:t>
            </a: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/>
            </a:r>
            <a:b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Time-Division Multiple Access (TDMA)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</a:pPr>
            <a:r>
              <a:rPr lang="fr-FR" altLang="en-US" sz="2400" i="0" baseline="0" dirty="0">
                <a:solidFill>
                  <a:srgbClr val="0033CC"/>
                </a:solidFill>
                <a:latin typeface="Times New Roman" panose="02020603050405020304" pitchFamily="18" charset="0"/>
              </a:rPr>
              <a:t>Code-Division Multiple Access (CDMA)</a:t>
            </a:r>
            <a:endParaRPr lang="en-US" altLang="en-US" sz="2400" i="0" baseline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2375" name="Text Box 7"/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61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16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17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18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19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20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21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0122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3" name="Line 10"/>
          <p:cNvSpPr/>
          <p:nvPr/>
        </p:nvSpPr>
        <p:spPr>
          <a:xfrm>
            <a:off x="458788" y="44196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4" name="Rectangle 11"/>
          <p:cNvSpPr/>
          <p:nvPr/>
        </p:nvSpPr>
        <p:spPr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We see the application of all these methods in Chapter 16 when</a:t>
            </a:r>
            <a:br>
              <a:rPr lang="en-US" altLang="en-US" sz="3200" i="0" baseline="0" dirty="0">
                <a:latin typeface="Arial" panose="020B0604020202020204" pitchFamily="34" charset="0"/>
              </a:rPr>
            </a:br>
            <a:r>
              <a:rPr lang="en-US" altLang="en-US" sz="3200" i="0" baseline="0" dirty="0">
                <a:latin typeface="Arial" panose="020B0604020202020204" pitchFamily="34" charset="0"/>
              </a:rPr>
              <a:t>we discuss cellular phone systems.</a:t>
            </a:r>
          </a:p>
        </p:txBody>
      </p:sp>
      <p:grpSp>
        <p:nvGrpSpPr>
          <p:cNvPr id="90125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0126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27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62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2163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Text Box 4"/>
          <p:cNvSpPr txBox="1"/>
          <p:nvPr/>
        </p:nvSpPr>
        <p:spPr>
          <a:xfrm>
            <a:off x="304800" y="381000"/>
            <a:ext cx="6616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12.21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Frequency-division multiple access (FDMA)</a:t>
            </a:r>
          </a:p>
        </p:txBody>
      </p:sp>
      <p:sp>
        <p:nvSpPr>
          <p:cNvPr id="92166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92167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88" y="1231900"/>
            <a:ext cx="7212012" cy="4787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63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4211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2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3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4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5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6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7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4218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10"/>
          <p:cNvSpPr/>
          <p:nvPr/>
        </p:nvSpPr>
        <p:spPr>
          <a:xfrm>
            <a:off x="458788" y="48768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0" name="Rectangle 11"/>
          <p:cNvSpPr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In FDMA, the available bandwidth </a:t>
            </a:r>
            <a:br>
              <a:rPr lang="en-US" altLang="en-US" sz="3200" i="0" baseline="0" dirty="0">
                <a:latin typeface="Arial" panose="020B0604020202020204" pitchFamily="34" charset="0"/>
              </a:rPr>
            </a:br>
            <a:r>
              <a:rPr lang="en-US" altLang="en-US" sz="3200" i="0" baseline="0" dirty="0">
                <a:latin typeface="Arial" panose="020B0604020202020204" pitchFamily="34" charset="0"/>
              </a:rPr>
              <a:t>of the common channel is divided into bands that are separated by guard bands.</a:t>
            </a:r>
          </a:p>
        </p:txBody>
      </p:sp>
      <p:grpSp>
        <p:nvGrpSpPr>
          <p:cNvPr id="94221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4222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4223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64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6259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60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61" name="Text Box 4"/>
          <p:cNvSpPr txBox="1"/>
          <p:nvPr/>
        </p:nvSpPr>
        <p:spPr>
          <a:xfrm>
            <a:off x="304800" y="381000"/>
            <a:ext cx="6008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12.22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Time-division multiple access (TDMA)</a:t>
            </a:r>
          </a:p>
        </p:txBody>
      </p:sp>
      <p:sp>
        <p:nvSpPr>
          <p:cNvPr id="96262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9626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43013"/>
            <a:ext cx="7212013" cy="4776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65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8307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08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09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10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11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12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13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98314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8315" name="Line 10"/>
          <p:cNvSpPr/>
          <p:nvPr/>
        </p:nvSpPr>
        <p:spPr>
          <a:xfrm>
            <a:off x="458788" y="44196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8316" name="Rectangle 11"/>
          <p:cNvSpPr/>
          <p:nvPr/>
        </p:nvSpPr>
        <p:spPr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In TDMA, the bandwidth is just one channel that is timeshared between different stations.</a:t>
            </a:r>
          </a:p>
        </p:txBody>
      </p:sp>
      <p:grpSp>
        <p:nvGrpSpPr>
          <p:cNvPr id="98317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98318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8319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66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56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57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58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59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60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61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00362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0363" name="Line 10"/>
          <p:cNvSpPr/>
          <p:nvPr/>
        </p:nvSpPr>
        <p:spPr>
          <a:xfrm>
            <a:off x="458788" y="39624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0364" name="Rectangle 11"/>
          <p:cNvSpPr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In CDMA, one channel carries all transmissions simultaneously.</a:t>
            </a:r>
          </a:p>
        </p:txBody>
      </p:sp>
      <p:grpSp>
        <p:nvGrpSpPr>
          <p:cNvPr id="100365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00366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0367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67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03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04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05" name="Text Box 4"/>
          <p:cNvSpPr txBox="1"/>
          <p:nvPr/>
        </p:nvSpPr>
        <p:spPr>
          <a:xfrm>
            <a:off x="304800" y="381000"/>
            <a:ext cx="6207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12.23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Simple idea of communication with code</a:t>
            </a:r>
          </a:p>
        </p:txBody>
      </p:sp>
      <p:sp>
        <p:nvSpPr>
          <p:cNvPr id="102406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240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3" y="1338263"/>
            <a:ext cx="7258050" cy="4300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68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4451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52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53" name="Text Box 4"/>
          <p:cNvSpPr txBox="1"/>
          <p:nvPr/>
        </p:nvSpPr>
        <p:spPr>
          <a:xfrm>
            <a:off x="304800" y="381000"/>
            <a:ext cx="358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12.24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Chip sequences</a:t>
            </a:r>
          </a:p>
        </p:txBody>
      </p:sp>
      <p:sp>
        <p:nvSpPr>
          <p:cNvPr id="104454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445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870200"/>
            <a:ext cx="8775700" cy="86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69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6499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500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501" name="Text Box 4"/>
          <p:cNvSpPr txBox="1"/>
          <p:nvPr/>
        </p:nvSpPr>
        <p:spPr>
          <a:xfrm>
            <a:off x="304800" y="381000"/>
            <a:ext cx="51260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12.25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Data representation in CDMA</a:t>
            </a:r>
          </a:p>
        </p:txBody>
      </p:sp>
      <p:sp>
        <p:nvSpPr>
          <p:cNvPr id="106502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650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88" y="3016250"/>
            <a:ext cx="8126412" cy="717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70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8547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548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549" name="Text Box 4"/>
          <p:cNvSpPr txBox="1"/>
          <p:nvPr/>
        </p:nvSpPr>
        <p:spPr>
          <a:xfrm>
            <a:off x="304800" y="381000"/>
            <a:ext cx="48037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12.26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Sharing channel in CDMA</a:t>
            </a:r>
          </a:p>
        </p:txBody>
      </p:sp>
      <p:sp>
        <p:nvSpPr>
          <p:cNvPr id="108550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855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1524000"/>
            <a:ext cx="8729662" cy="449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71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0595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596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0597" name="Text Box 4"/>
          <p:cNvSpPr txBox="1"/>
          <p:nvPr/>
        </p:nvSpPr>
        <p:spPr>
          <a:xfrm>
            <a:off x="304800" y="381000"/>
            <a:ext cx="6969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12.27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Digital signal created by four stations in CDMA</a:t>
            </a:r>
          </a:p>
        </p:txBody>
      </p:sp>
      <p:sp>
        <p:nvSpPr>
          <p:cNvPr id="110598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10599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552575"/>
            <a:ext cx="8026400" cy="4238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72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43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44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45" name="Text Box 4"/>
          <p:cNvSpPr txBox="1"/>
          <p:nvPr/>
        </p:nvSpPr>
        <p:spPr>
          <a:xfrm>
            <a:off x="304800" y="381000"/>
            <a:ext cx="7331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12.28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Decoding of the composite signal for one in CDMA</a:t>
            </a:r>
          </a:p>
        </p:txBody>
      </p:sp>
      <p:sp>
        <p:nvSpPr>
          <p:cNvPr id="112646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1264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301750"/>
            <a:ext cx="7358062" cy="4337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73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4691" name="Line 2"/>
          <p:cNvSpPr/>
          <p:nvPr/>
        </p:nvSpPr>
        <p:spPr>
          <a:xfrm>
            <a:off x="152400" y="152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692" name="Line 3"/>
          <p:cNvSpPr/>
          <p:nvPr/>
        </p:nvSpPr>
        <p:spPr>
          <a:xfrm>
            <a:off x="152400" y="990600"/>
            <a:ext cx="87630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693" name="Text Box 4"/>
          <p:cNvSpPr txBox="1"/>
          <p:nvPr/>
        </p:nvSpPr>
        <p:spPr>
          <a:xfrm>
            <a:off x="304800" y="381000"/>
            <a:ext cx="73771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400" i="0" baseline="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12.29  </a:t>
            </a:r>
            <a:r>
              <a:rPr lang="en-US" altLang="en-US" sz="2000" baseline="0" dirty="0">
                <a:latin typeface="Times New Roman" panose="02020603050405020304" pitchFamily="18" charset="0"/>
              </a:rPr>
              <a:t>General rule and examples of creating Walsh tables</a:t>
            </a:r>
          </a:p>
        </p:txBody>
      </p:sp>
      <p:sp>
        <p:nvSpPr>
          <p:cNvPr id="114694" name="Line 5"/>
          <p:cNvSpPr/>
          <p:nvPr/>
        </p:nvSpPr>
        <p:spPr>
          <a:xfrm>
            <a:off x="152400" y="6248400"/>
            <a:ext cx="8763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1469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" y="1417638"/>
            <a:ext cx="5988050" cy="4525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74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0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1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2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3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4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5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6746" name="Line 9"/>
          <p:cNvSpPr/>
          <p:nvPr/>
        </p:nvSpPr>
        <p:spPr>
          <a:xfrm>
            <a:off x="457200" y="26670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7" name="Line 10"/>
          <p:cNvSpPr/>
          <p:nvPr/>
        </p:nvSpPr>
        <p:spPr>
          <a:xfrm>
            <a:off x="458788" y="3886200"/>
            <a:ext cx="8153400" cy="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48" name="Rectangle 11"/>
          <p:cNvSpPr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 w="76200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i="0" baseline="0" dirty="0">
                <a:latin typeface="Arial" panose="020B0604020202020204" pitchFamily="34" charset="0"/>
              </a:rPr>
              <a:t>The number of sequences in a Walsh table needs to be N = 2</a:t>
            </a:r>
            <a:r>
              <a:rPr lang="en-US" altLang="en-US" sz="3200" i="0" baseline="30000" dirty="0">
                <a:latin typeface="Arial" panose="020B0604020202020204" pitchFamily="34" charset="0"/>
              </a:rPr>
              <a:t>m</a:t>
            </a:r>
            <a:r>
              <a:rPr lang="en-US" altLang="en-US" sz="3200" i="0" baseline="0" dirty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16749" name="Group 12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6750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6751" name="Text Box 14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en-US" baseline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75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88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89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90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91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92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93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18794" name="Rectangle 9"/>
          <p:cNvSpPr/>
          <p:nvPr/>
        </p:nvSpPr>
        <p:spPr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Find the chips for a network with</a:t>
            </a:r>
          </a:p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Two stations           </a:t>
            </a:r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baseline="0" dirty="0">
                <a:latin typeface="Times New Roman" panose="02020603050405020304" pitchFamily="18" charset="0"/>
              </a:rPr>
              <a:t> Four stations</a:t>
            </a:r>
          </a:p>
        </p:txBody>
      </p:sp>
      <p:sp>
        <p:nvSpPr>
          <p:cNvPr id="118795" name="Text Box 11"/>
          <p:cNvSpPr txBox="1"/>
          <p:nvPr/>
        </p:nvSpPr>
        <p:spPr>
          <a:xfrm>
            <a:off x="1143000" y="0"/>
            <a:ext cx="2487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12.6</a:t>
            </a:r>
          </a:p>
        </p:txBody>
      </p:sp>
      <p:sp>
        <p:nvSpPr>
          <p:cNvPr id="118796" name="Rectangle 12"/>
          <p:cNvSpPr/>
          <p:nvPr/>
        </p:nvSpPr>
        <p:spPr>
          <a:xfrm>
            <a:off x="228600" y="2438400"/>
            <a:ext cx="8686800" cy="3508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r>
              <a:rPr lang="en-US" altLang="en-US" baseline="0" dirty="0">
                <a:latin typeface="Times New Roman" panose="02020603050405020304" pitchFamily="18" charset="0"/>
              </a:rPr>
              <a:t>We can use the rows of W</a:t>
            </a:r>
            <a:r>
              <a:rPr lang="en-US" altLang="en-US" dirty="0">
                <a:latin typeface="Times New Roman" panose="02020603050405020304" pitchFamily="18" charset="0"/>
              </a:rPr>
              <a:t>2</a:t>
            </a:r>
            <a:r>
              <a:rPr lang="en-US" altLang="en-US" baseline="0" dirty="0">
                <a:latin typeface="Times New Roman" panose="02020603050405020304" pitchFamily="18" charset="0"/>
              </a:rPr>
              <a:t> and W</a:t>
            </a:r>
            <a:r>
              <a:rPr lang="en-US" altLang="en-US" dirty="0">
                <a:latin typeface="Times New Roman" panose="02020603050405020304" pitchFamily="18" charset="0"/>
              </a:rPr>
              <a:t>4</a:t>
            </a:r>
            <a:r>
              <a:rPr lang="en-US" altLang="en-US" baseline="0" dirty="0">
                <a:latin typeface="Times New Roman" panose="02020603050405020304" pitchFamily="18" charset="0"/>
              </a:rPr>
              <a:t> in Figure 12.29:</a:t>
            </a:r>
          </a:p>
          <a:p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baseline="0" dirty="0">
                <a:latin typeface="Times New Roman" panose="02020603050405020304" pitchFamily="18" charset="0"/>
              </a:rPr>
              <a:t> For a two-station network, we have </a:t>
            </a:r>
            <a:r>
              <a:rPr lang="en-US" altLang="en-US" i="0" baseline="0" dirty="0">
                <a:latin typeface="Times New Roman" panose="02020603050405020304" pitchFamily="18" charset="0"/>
              </a:rPr>
              <a:t/>
            </a:r>
            <a:br>
              <a:rPr lang="en-US" altLang="en-US" i="0" baseline="0" dirty="0">
                <a:latin typeface="Times New Roman" panose="02020603050405020304" pitchFamily="18" charset="0"/>
              </a:rPr>
            </a:br>
            <a:r>
              <a:rPr lang="en-US" altLang="en-US" i="0" baseline="0" dirty="0">
                <a:latin typeface="Times New Roman" panose="02020603050405020304" pitchFamily="18" charset="0"/>
              </a:rPr>
              <a:t>                           [+1 +1] and [+1 −1].</a:t>
            </a:r>
          </a:p>
          <a:p>
            <a:endParaRPr lang="en-US" altLang="en-US" i="0" baseline="0" dirty="0">
              <a:latin typeface="Times New Roman" panose="02020603050405020304" pitchFamily="18" charset="0"/>
            </a:endParaRPr>
          </a:p>
          <a:p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0" dirty="0">
                <a:latin typeface="Times New Roman" panose="02020603050405020304" pitchFamily="18" charset="0"/>
              </a:rPr>
              <a:t>. For a four-station network we have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                  </a:t>
            </a:r>
            <a:r>
              <a:rPr lang="en-US" altLang="en-US" i="0" baseline="0" dirty="0">
                <a:latin typeface="Times New Roman" panose="02020603050405020304" pitchFamily="18" charset="0"/>
              </a:rPr>
              <a:t>[+1 +1 +1 +1], [+1 −1 +1 −1], </a:t>
            </a:r>
            <a:br>
              <a:rPr lang="en-US" altLang="en-US" i="0" baseline="0" dirty="0">
                <a:latin typeface="Times New Roman" panose="02020603050405020304" pitchFamily="18" charset="0"/>
              </a:rPr>
            </a:br>
            <a:r>
              <a:rPr lang="en-US" altLang="en-US" i="0" baseline="0" dirty="0">
                <a:latin typeface="Times New Roman" panose="02020603050405020304" pitchFamily="18" charset="0"/>
              </a:rPr>
              <a:t>                 [+1 +1 −1 −1],</a:t>
            </a:r>
            <a:r>
              <a:rPr lang="en-US" altLang="en-US" baseline="0" dirty="0">
                <a:latin typeface="Times New Roman" panose="02020603050405020304" pitchFamily="18" charset="0"/>
              </a:rPr>
              <a:t>  and   </a:t>
            </a:r>
            <a:r>
              <a:rPr lang="en-US" altLang="en-US" i="0" baseline="0" dirty="0">
                <a:latin typeface="Times New Roman" panose="02020603050405020304" pitchFamily="18" charset="0"/>
              </a:rPr>
              <a:t>[+1 −1 −1 +1].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76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0835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36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37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38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39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40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41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0842" name="Rectangle 9"/>
          <p:cNvSpPr/>
          <p:nvPr/>
        </p:nvSpPr>
        <p:spPr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What is the number of sequences if we have 90 stations in our network?</a:t>
            </a:r>
          </a:p>
        </p:txBody>
      </p:sp>
      <p:sp>
        <p:nvSpPr>
          <p:cNvPr id="120843" name="Text Box 10"/>
          <p:cNvSpPr txBox="1"/>
          <p:nvPr/>
        </p:nvSpPr>
        <p:spPr>
          <a:xfrm>
            <a:off x="1143000" y="0"/>
            <a:ext cx="2487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12.7</a:t>
            </a:r>
          </a:p>
        </p:txBody>
      </p:sp>
      <p:sp>
        <p:nvSpPr>
          <p:cNvPr id="120844" name="Rectangle 11"/>
          <p:cNvSpPr/>
          <p:nvPr/>
        </p:nvSpPr>
        <p:spPr>
          <a:xfrm>
            <a:off x="152400" y="2438400"/>
            <a:ext cx="8686800" cy="1800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The number of sequences needs to be 2</a:t>
            </a:r>
            <a:r>
              <a:rPr lang="en-US" altLang="en-US" baseline="30000" dirty="0">
                <a:latin typeface="Times New Roman" panose="02020603050405020304" pitchFamily="18" charset="0"/>
              </a:rPr>
              <a:t>m</a:t>
            </a:r>
            <a:r>
              <a:rPr lang="en-US" altLang="en-US" baseline="0" dirty="0">
                <a:latin typeface="Times New Roman" panose="02020603050405020304" pitchFamily="18" charset="0"/>
              </a:rPr>
              <a:t>. We need to choose m = 7 and N = 2</a:t>
            </a:r>
            <a:r>
              <a:rPr lang="en-US" altLang="en-US" baseline="30000" dirty="0">
                <a:latin typeface="Times New Roman" panose="02020603050405020304" pitchFamily="18" charset="0"/>
              </a:rPr>
              <a:t>7</a:t>
            </a:r>
            <a:r>
              <a:rPr lang="en-US" altLang="en-US" baseline="0" dirty="0">
                <a:latin typeface="Times New Roman" panose="02020603050405020304" pitchFamily="18" charset="0"/>
              </a:rPr>
              <a:t> or 128. We can then use 90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of the sequences as the chips.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77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4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5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6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7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8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89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2890" name="Rectangle 9"/>
          <p:cNvSpPr/>
          <p:nvPr/>
        </p:nvSpPr>
        <p:spPr>
          <a:xfrm>
            <a:off x="228600" y="1143000"/>
            <a:ext cx="8686800" cy="1800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Prove that a receiving station can get the data sent by a specific sender if it multiplies the entire data on the channel by the sender’s chip code and then divides it by the number of stations.</a:t>
            </a:r>
          </a:p>
        </p:txBody>
      </p:sp>
      <p:sp>
        <p:nvSpPr>
          <p:cNvPr id="122891" name="Text Box 10"/>
          <p:cNvSpPr txBox="1"/>
          <p:nvPr/>
        </p:nvSpPr>
        <p:spPr>
          <a:xfrm>
            <a:off x="1143000" y="0"/>
            <a:ext cx="2487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12.8</a:t>
            </a:r>
          </a:p>
        </p:txBody>
      </p:sp>
      <p:sp>
        <p:nvSpPr>
          <p:cNvPr id="122892" name="Rectangle 11"/>
          <p:cNvSpPr/>
          <p:nvPr/>
        </p:nvSpPr>
        <p:spPr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Let us prove this for the first station, using our previous four-station example. We can say that the data on the channel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      D = (d</a:t>
            </a:r>
            <a:r>
              <a:rPr lang="en-US" altLang="en-US" dirty="0">
                <a:latin typeface="Times New Roman" panose="02020603050405020304" pitchFamily="18" charset="0"/>
              </a:rPr>
              <a:t>1</a:t>
            </a:r>
            <a:r>
              <a:rPr lang="en-US" altLang="en-US" baseline="0" dirty="0">
                <a:latin typeface="Times New Roman" panose="02020603050405020304" pitchFamily="18" charset="0"/>
              </a:rPr>
              <a:t> ⋅ c</a:t>
            </a:r>
            <a:r>
              <a:rPr lang="en-US" altLang="en-US" dirty="0">
                <a:latin typeface="Times New Roman" panose="02020603050405020304" pitchFamily="18" charset="0"/>
              </a:rPr>
              <a:t>1</a:t>
            </a:r>
            <a:r>
              <a:rPr lang="en-US" altLang="en-US" baseline="0" dirty="0">
                <a:latin typeface="Times New Roman" panose="02020603050405020304" pitchFamily="18" charset="0"/>
              </a:rPr>
              <a:t> + d</a:t>
            </a:r>
            <a:r>
              <a:rPr lang="en-US" altLang="en-US" dirty="0">
                <a:latin typeface="Times New Roman" panose="02020603050405020304" pitchFamily="18" charset="0"/>
              </a:rPr>
              <a:t>2</a:t>
            </a:r>
            <a:r>
              <a:rPr lang="en-US" altLang="en-US" baseline="0" dirty="0">
                <a:latin typeface="Times New Roman" panose="02020603050405020304" pitchFamily="18" charset="0"/>
              </a:rPr>
              <a:t> ⋅ c</a:t>
            </a:r>
            <a:r>
              <a:rPr lang="en-US" altLang="en-US" dirty="0">
                <a:latin typeface="Times New Roman" panose="02020603050405020304" pitchFamily="18" charset="0"/>
              </a:rPr>
              <a:t>2</a:t>
            </a:r>
            <a:r>
              <a:rPr lang="en-US" altLang="en-US" baseline="0" dirty="0">
                <a:latin typeface="Times New Roman" panose="02020603050405020304" pitchFamily="18" charset="0"/>
              </a:rPr>
              <a:t> + d</a:t>
            </a:r>
            <a:r>
              <a:rPr lang="en-US" altLang="en-US" dirty="0">
                <a:latin typeface="Times New Roman" panose="02020603050405020304" pitchFamily="18" charset="0"/>
              </a:rPr>
              <a:t>3</a:t>
            </a:r>
            <a:r>
              <a:rPr lang="en-US" altLang="en-US" baseline="0" dirty="0">
                <a:latin typeface="Times New Roman" panose="02020603050405020304" pitchFamily="18" charset="0"/>
              </a:rPr>
              <a:t> ⋅ c</a:t>
            </a:r>
            <a:r>
              <a:rPr lang="en-US" altLang="en-US" dirty="0">
                <a:latin typeface="Times New Roman" panose="02020603050405020304" pitchFamily="18" charset="0"/>
              </a:rPr>
              <a:t>3</a:t>
            </a:r>
            <a:r>
              <a:rPr lang="en-US" altLang="en-US" baseline="0" dirty="0">
                <a:latin typeface="Times New Roman" panose="02020603050405020304" pitchFamily="18" charset="0"/>
              </a:rPr>
              <a:t> + d</a:t>
            </a:r>
            <a:r>
              <a:rPr lang="en-US" altLang="en-US" dirty="0">
                <a:latin typeface="Times New Roman" panose="02020603050405020304" pitchFamily="18" charset="0"/>
              </a:rPr>
              <a:t>4</a:t>
            </a:r>
            <a:r>
              <a:rPr lang="en-US" altLang="en-US" baseline="0" dirty="0">
                <a:latin typeface="Times New Roman" panose="02020603050405020304" pitchFamily="18" charset="0"/>
              </a:rPr>
              <a:t> ⋅ c</a:t>
            </a:r>
            <a:r>
              <a:rPr lang="en-US" altLang="en-US" dirty="0">
                <a:latin typeface="Times New Roman" panose="02020603050405020304" pitchFamily="18" charset="0"/>
              </a:rPr>
              <a:t>4</a:t>
            </a:r>
            <a:r>
              <a:rPr lang="en-US" altLang="en-US" baseline="0" dirty="0">
                <a:latin typeface="Times New Roman" panose="02020603050405020304" pitchFamily="18" charset="0"/>
              </a:rPr>
              <a:t>). </a:t>
            </a:r>
            <a:br>
              <a:rPr lang="en-US" altLang="en-US" baseline="0" dirty="0">
                <a:latin typeface="Times New Roman" panose="02020603050405020304" pitchFamily="18" charset="0"/>
              </a:rPr>
            </a:br>
            <a:r>
              <a:rPr lang="en-US" altLang="en-US" baseline="0" dirty="0">
                <a:latin typeface="Times New Roman" panose="02020603050405020304" pitchFamily="18" charset="0"/>
              </a:rPr>
              <a:t>The receiver which wants to get the data sent by station 1 multiplies these data by c</a:t>
            </a:r>
            <a:r>
              <a:rPr lang="en-US" altLang="en-US" dirty="0">
                <a:latin typeface="Times New Roman" panose="02020603050405020304" pitchFamily="18" charset="0"/>
              </a:rPr>
              <a:t>1</a:t>
            </a:r>
            <a:r>
              <a:rPr lang="en-US" altLang="en-US" baseline="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1" u="none" kern="1200" baseline="-100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12.</a:t>
            </a:r>
            <a:fld id="{9A0DB2DC-4C9A-4742-B13C-FB6460FD3503}" type="slidenum">
              <a:rPr lang="en-US" altLang="en-US" sz="2000" i="0" baseline="0" dirty="0">
                <a:solidFill>
                  <a:schemeClr val="bg2"/>
                </a:solidFill>
                <a:latin typeface="Arial" panose="020B0604020202020204" pitchFamily="34" charset="0"/>
              </a:rPr>
              <a:t>78</a:t>
            </a:fld>
            <a:endParaRPr lang="en-US" altLang="en-US" sz="2000" i="0" baseline="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4931" name="Rectangle 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2" name="Rectangle 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3" name="Rectangle 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4" name="Rectangle 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5" name="Rectangle 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6" name="Rectangle 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7" name="Rectangle 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en-US" altLang="en-US" sz="2400" b="0" i="0" baseline="0" dirty="0">
              <a:latin typeface="Tahoma" panose="020B0604030504040204" pitchFamily="34" charset="0"/>
            </a:endParaRPr>
          </a:p>
        </p:txBody>
      </p:sp>
      <p:sp>
        <p:nvSpPr>
          <p:cNvPr id="124938" name="Rectangle 9"/>
          <p:cNvSpPr/>
          <p:nvPr/>
        </p:nvSpPr>
        <p:spPr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endParaRPr lang="en-US" altLang="en-US" baseline="0" dirty="0">
              <a:latin typeface="Times New Roman" panose="02020603050405020304" pitchFamily="18" charset="0"/>
            </a:endParaRPr>
          </a:p>
        </p:txBody>
      </p:sp>
      <p:sp>
        <p:nvSpPr>
          <p:cNvPr id="124939" name="Text Box 10"/>
          <p:cNvSpPr txBox="1"/>
          <p:nvPr/>
        </p:nvSpPr>
        <p:spPr>
          <a:xfrm>
            <a:off x="1143000" y="0"/>
            <a:ext cx="45291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3200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12.8 (continued)</a:t>
            </a:r>
          </a:p>
        </p:txBody>
      </p:sp>
      <p:sp>
        <p:nvSpPr>
          <p:cNvPr id="124940" name="Rectangle 11"/>
          <p:cNvSpPr/>
          <p:nvPr/>
        </p:nvSpPr>
        <p:spPr>
          <a:xfrm>
            <a:off x="228600" y="3810000"/>
            <a:ext cx="8686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en-US" baseline="0" dirty="0">
                <a:latin typeface="Times New Roman" panose="02020603050405020304" pitchFamily="18" charset="0"/>
              </a:rPr>
              <a:t>When we divide the result by N, we get d</a:t>
            </a:r>
            <a:r>
              <a:rPr lang="en-US" altLang="en-US" dirty="0">
                <a:latin typeface="Times New Roman" panose="02020603050405020304" pitchFamily="18" charset="0"/>
              </a:rPr>
              <a:t>1 </a:t>
            </a:r>
            <a:r>
              <a:rPr lang="en-US" altLang="en-US" baseline="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24941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1981200"/>
            <a:ext cx="6362700" cy="1503363"/>
          </a:xfrm>
          <a:prstGeom prst="rect">
            <a:avLst/>
          </a:prstGeom>
          <a:noFill/>
          <a:ln w="57150" cap="flat" cmpd="thickThin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2329</Words>
  <Application>Microsoft Office PowerPoint</Application>
  <PresentationFormat>On-screen Show (4:3)</PresentationFormat>
  <Paragraphs>332</Paragraphs>
  <Slides>78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Arial</vt:lpstr>
      <vt:lpstr>CIDFont+F2</vt:lpstr>
      <vt:lpstr>McGrawHill-Italic</vt:lpstr>
      <vt:lpstr>Tahoma</vt:lpstr>
      <vt:lpstr>Times</vt:lpstr>
      <vt:lpstr>Times New Roman</vt:lpstr>
      <vt:lpstr>Verdana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ALOHA</vt:lpstr>
      <vt:lpstr>Aloha</vt:lpstr>
      <vt:lpstr>Pure ALOHA</vt:lpstr>
      <vt:lpstr>Pure ALOHA</vt:lpstr>
      <vt:lpstr>Pure ALOHA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Slotted ALOHA</vt:lpstr>
      <vt:lpstr>Sloted ALOHA</vt:lpstr>
      <vt:lpstr>Slotted ALOHA</vt:lpstr>
      <vt:lpstr>ALOHA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Carrier Sense Multiple Access Protocols</vt:lpstr>
      <vt:lpstr>Persistent and Nonpersistent CSMA</vt:lpstr>
      <vt:lpstr>Persistent and Nonpersistent CSMA</vt:lpstr>
      <vt:lpstr>Persistent and Nonpersistent CSMA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12 - Week 7</dc:title>
  <dc:creator>Valued Gateway Client</dc:creator>
  <cp:lastModifiedBy>Admin</cp:lastModifiedBy>
  <cp:revision>253</cp:revision>
  <dcterms:created xsi:type="dcterms:W3CDTF">2000-01-15T04:50:39Z</dcterms:created>
  <dcterms:modified xsi:type="dcterms:W3CDTF">2026-09-06T14:22:06Z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50EC294DC42F4A5B8DA0A5C1609DACC2_13</vt:lpwstr>
  </property>
  <property fmtid="{D5CDD505-2E9C-101B-9397-08002B2CF9AE}" pid="3" name="KSOProductBuildVer">
    <vt:lpwstr>1033-12.1.0.28032</vt:lpwstr>
  </property>
</Properties>
</file>