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53D38-4A2F-42C6-BE28-A7A67108F25B}" type="datetimeFigureOut">
              <a:rPr lang="en-IN" smtClean="0"/>
              <a:t>27-02-2020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E3913-C569-4BC7-8827-C854914DB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67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FE3913-C569-4BC7-8827-C854914DB83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79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78E00-073A-4803-9BDE-2088AF2D9F77}" type="datetime1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273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28479-ECA9-46FB-A3E1-E81EA6B18B6B}" type="datetime1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7302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F0B0-49F9-4E33-95F2-FEECFB923DFA}" type="datetime1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94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CAD8B-9F7C-491F-B989-083CBD45E83D}" type="datetime1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519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66C4B-539A-4925-B8D2-BE1A26F845C3}" type="datetime1">
              <a:rPr lang="en-US" smtClean="0"/>
              <a:t>2/27/2020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53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7AD21-D4EF-4C1E-AED5-B53E8266152E}" type="datetime1">
              <a:rPr lang="en-US" smtClean="0"/>
              <a:t>2/27/2020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80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82AD-5C68-4F5A-ABA7-9A931204290A}" type="datetime1">
              <a:rPr lang="en-US" smtClean="0"/>
              <a:t>2/27/2020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08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50DCC-B243-4BEB-B56D-C2280532FE12}" type="datetime1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982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4FC4-22D1-4B52-A84F-C6F205117650}" type="datetime1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97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611C5-B899-4FA2-9EEE-5EA4589661DF}" type="datetime1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234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F735-7761-49F3-AACD-E1B215A8B389}" type="datetime1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75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F9F20-6C50-483F-8196-872A97CB098A}" type="datetime1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870"/>
              </a:lnSpc>
            </a:pPr>
            <a:r>
              <a:rPr lang="fr-FR" smtClean="0"/>
              <a:t>CSE 123 – </a:t>
            </a:r>
            <a:r>
              <a:rPr lang="fr-FR" spc="-5" smtClean="0"/>
              <a:t>Lecture </a:t>
            </a:r>
            <a:r>
              <a:rPr lang="fr-FR" smtClean="0"/>
              <a:t>13: </a:t>
            </a:r>
            <a:r>
              <a:rPr lang="fr-FR" spc="-5" smtClean="0"/>
              <a:t>Distance-vector</a:t>
            </a:r>
            <a:r>
              <a:rPr lang="fr-FR" smtClean="0"/>
              <a:t> </a:t>
            </a:r>
            <a:r>
              <a:rPr lang="fr-FR" spc="-5" smtClean="0"/>
              <a:t>Routing</a:t>
            </a:r>
            <a:endParaRPr lang="fr-FR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905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etf.org/rfc/rfc1388.txt" TargetMode="External"/><Relationship Id="rId2" Type="http://schemas.openxmlformats.org/officeDocument/2006/relationships/hyperlink" Target="http://www.ietf.org/rfc/rfc1058.t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1479" y="2951017"/>
            <a:ext cx="8445729" cy="187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4499" y="3005137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797" y="1"/>
                </a:lnTo>
              </a:path>
            </a:pathLst>
          </a:custGeom>
          <a:ln w="4444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8145" y="1384069"/>
            <a:ext cx="2921923" cy="8146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8145" y="2044930"/>
            <a:ext cx="6084916" cy="8104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7874" y="1413192"/>
            <a:ext cx="5989320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240"/>
              </a:lnSpc>
              <a:spcBef>
                <a:spcPts val="100"/>
              </a:spcBef>
            </a:pPr>
            <a:endParaRPr dirty="0">
              <a:solidFill>
                <a:srgbClr val="0000FF"/>
              </a:solidFill>
            </a:endParaRPr>
          </a:p>
          <a:p>
            <a:pPr marL="12700">
              <a:lnSpc>
                <a:spcPts val="5240"/>
              </a:lnSpc>
            </a:pPr>
            <a:r>
              <a:rPr spc="-5" dirty="0"/>
              <a:t>Distance-vector</a:t>
            </a:r>
            <a:r>
              <a:rPr spc="-10" dirty="0"/>
              <a:t> </a:t>
            </a:r>
            <a:r>
              <a:rPr spc="-5" dirty="0"/>
              <a:t>Routing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447" y="540327"/>
            <a:ext cx="5266112" cy="810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174" y="653754"/>
            <a:ext cx="515048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8605" algn="l"/>
              </a:tabLst>
            </a:pPr>
            <a:r>
              <a:rPr spc="-5" dirty="0" smtClean="0"/>
              <a:t>Overview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87387" y="1883374"/>
            <a:ext cx="7687309" cy="360870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Distance vector</a:t>
            </a:r>
            <a:endParaRPr sz="2400">
              <a:latin typeface="Arial"/>
              <a:cs typeface="Arial"/>
            </a:endParaRPr>
          </a:p>
          <a:p>
            <a:pPr marL="748665" marR="5080" lvl="1" indent="-279400">
              <a:lnSpc>
                <a:spcPct val="100800"/>
              </a:lnSpc>
              <a:spcBef>
                <a:spcPts val="405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Assume each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router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knows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its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own address and cost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sz="2000" spc="-7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reach  each of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its directly connected</a:t>
            </a:r>
            <a:r>
              <a:rPr sz="2000" spc="-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neighbors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99"/>
              </a:buClr>
              <a:buFont typeface="Lucida Sans Unicode"/>
              <a:buChar char="◆"/>
            </a:pP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50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Bellman-Ford algorithm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42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Distributed route computation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using only neighbor’s</a:t>
            </a:r>
            <a:r>
              <a:rPr sz="2000" spc="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info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99"/>
              </a:buClr>
              <a:buFont typeface="Lucida Sans Unicode"/>
              <a:buChar char="◆"/>
            </a:pP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70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Mitigating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loops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42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Split horizon and posion</a:t>
            </a:r>
            <a:r>
              <a:rPr sz="2000" spc="-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reverse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887" y="1623379"/>
            <a:ext cx="6149975" cy="16205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580"/>
              </a:spcBef>
              <a:buClr>
                <a:srgbClr val="333399"/>
              </a:buClr>
              <a:buSzPct val="50000"/>
              <a:buChar char=""/>
              <a:tabLst>
                <a:tab pos="405765" algn="l"/>
                <a:tab pos="4064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Define distances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at each node</a:t>
            </a:r>
            <a:r>
              <a:rPr sz="2400" spc="-1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356235" marR="641350" lvl="1" indent="-356235" algn="r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356235" algn="l"/>
                <a:tab pos="35687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d</a:t>
            </a:r>
            <a:r>
              <a:rPr sz="1950" baseline="-21367" dirty="0">
                <a:solidFill>
                  <a:srgbClr val="2F2F2F"/>
                </a:solidFill>
                <a:latin typeface="Arial"/>
                <a:cs typeface="Arial"/>
              </a:rPr>
              <a:t>x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(y) = cost of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least-cost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path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from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X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sz="2000" spc="-5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  <a:p>
            <a:pPr marL="342265" marR="617220" indent="-342265" algn="r">
              <a:lnSpc>
                <a:spcPct val="100000"/>
              </a:lnSpc>
              <a:spcBef>
                <a:spcPts val="595"/>
              </a:spcBef>
              <a:buClr>
                <a:srgbClr val="333399"/>
              </a:buClr>
              <a:buSzPct val="50000"/>
              <a:buChar char=""/>
              <a:tabLst>
                <a:tab pos="342265" algn="l"/>
                <a:tab pos="4064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Update distances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based on</a:t>
            </a:r>
            <a:r>
              <a:rPr sz="2400" spc="-3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neighbors</a:t>
            </a:r>
            <a:endParaRPr sz="2400">
              <a:latin typeface="Arial"/>
              <a:cs typeface="Arial"/>
            </a:endParaRPr>
          </a:p>
          <a:p>
            <a:pPr marL="876935" lvl="1" indent="-357505">
              <a:lnSpc>
                <a:spcPct val="100000"/>
              </a:lnSpc>
              <a:spcBef>
                <a:spcPts val="525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876935" algn="l"/>
                <a:tab pos="877569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d</a:t>
            </a:r>
            <a:r>
              <a:rPr sz="1950" baseline="-21367" dirty="0">
                <a:solidFill>
                  <a:srgbClr val="2F2F2F"/>
                </a:solidFill>
                <a:latin typeface="Arial"/>
                <a:cs typeface="Arial"/>
              </a:rPr>
              <a:t>x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(y) = min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{c(x,v)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+ d</a:t>
            </a:r>
            <a:r>
              <a:rPr sz="1950" baseline="-21367" dirty="0">
                <a:solidFill>
                  <a:srgbClr val="2F2F2F"/>
                </a:solidFill>
                <a:latin typeface="Arial"/>
                <a:cs typeface="Arial"/>
              </a:rPr>
              <a:t>v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(y)} over all neighbors</a:t>
            </a:r>
            <a:r>
              <a:rPr sz="2000" spc="-6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3137" y="4421187"/>
            <a:ext cx="287655" cy="252729"/>
          </a:xfrm>
          <a:custGeom>
            <a:avLst/>
            <a:gdLst/>
            <a:ahLst/>
            <a:cxnLst/>
            <a:rect l="l" t="t" r="r" b="b"/>
            <a:pathLst>
              <a:path w="287655" h="252729">
                <a:moveTo>
                  <a:pt x="143670" y="0"/>
                </a:moveTo>
                <a:lnTo>
                  <a:pt x="98259" y="6434"/>
                </a:lnTo>
                <a:lnTo>
                  <a:pt x="58820" y="24350"/>
                </a:lnTo>
                <a:lnTo>
                  <a:pt x="27719" y="51670"/>
                </a:lnTo>
                <a:lnTo>
                  <a:pt x="7324" y="86315"/>
                </a:lnTo>
                <a:lnTo>
                  <a:pt x="0" y="126206"/>
                </a:lnTo>
                <a:lnTo>
                  <a:pt x="7324" y="166097"/>
                </a:lnTo>
                <a:lnTo>
                  <a:pt x="27719" y="200741"/>
                </a:lnTo>
                <a:lnTo>
                  <a:pt x="58820" y="228061"/>
                </a:lnTo>
                <a:lnTo>
                  <a:pt x="98259" y="245978"/>
                </a:lnTo>
                <a:lnTo>
                  <a:pt x="143670" y="252412"/>
                </a:lnTo>
                <a:lnTo>
                  <a:pt x="189080" y="245978"/>
                </a:lnTo>
                <a:lnTo>
                  <a:pt x="228518" y="228061"/>
                </a:lnTo>
                <a:lnTo>
                  <a:pt x="259618" y="200741"/>
                </a:lnTo>
                <a:lnTo>
                  <a:pt x="280014" y="166097"/>
                </a:lnTo>
                <a:lnTo>
                  <a:pt x="287338" y="126206"/>
                </a:lnTo>
                <a:lnTo>
                  <a:pt x="280014" y="86315"/>
                </a:lnTo>
                <a:lnTo>
                  <a:pt x="259618" y="51670"/>
                </a:lnTo>
                <a:lnTo>
                  <a:pt x="228518" y="24350"/>
                </a:lnTo>
                <a:lnTo>
                  <a:pt x="189080" y="6434"/>
                </a:lnTo>
                <a:lnTo>
                  <a:pt x="143670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35149" y="5092699"/>
            <a:ext cx="287655" cy="252729"/>
          </a:xfrm>
          <a:custGeom>
            <a:avLst/>
            <a:gdLst/>
            <a:ahLst/>
            <a:cxnLst/>
            <a:rect l="l" t="t" r="r" b="b"/>
            <a:pathLst>
              <a:path w="287655" h="252729">
                <a:moveTo>
                  <a:pt x="143668" y="0"/>
                </a:moveTo>
                <a:lnTo>
                  <a:pt x="98258" y="6434"/>
                </a:lnTo>
                <a:lnTo>
                  <a:pt x="58819" y="24350"/>
                </a:lnTo>
                <a:lnTo>
                  <a:pt x="27719" y="51670"/>
                </a:lnTo>
                <a:lnTo>
                  <a:pt x="7324" y="86316"/>
                </a:lnTo>
                <a:lnTo>
                  <a:pt x="0" y="126207"/>
                </a:lnTo>
                <a:lnTo>
                  <a:pt x="7324" y="166098"/>
                </a:lnTo>
                <a:lnTo>
                  <a:pt x="27719" y="200743"/>
                </a:lnTo>
                <a:lnTo>
                  <a:pt x="58819" y="228063"/>
                </a:lnTo>
                <a:lnTo>
                  <a:pt x="98258" y="245979"/>
                </a:lnTo>
                <a:lnTo>
                  <a:pt x="143668" y="252413"/>
                </a:lnTo>
                <a:lnTo>
                  <a:pt x="189079" y="245979"/>
                </a:lnTo>
                <a:lnTo>
                  <a:pt x="228517" y="228063"/>
                </a:lnTo>
                <a:lnTo>
                  <a:pt x="259617" y="200743"/>
                </a:lnTo>
                <a:lnTo>
                  <a:pt x="280013" y="166098"/>
                </a:lnTo>
                <a:lnTo>
                  <a:pt x="287337" y="126207"/>
                </a:lnTo>
                <a:lnTo>
                  <a:pt x="280013" y="86316"/>
                </a:lnTo>
                <a:lnTo>
                  <a:pt x="259617" y="51670"/>
                </a:lnTo>
                <a:lnTo>
                  <a:pt x="228517" y="24350"/>
                </a:lnTo>
                <a:lnTo>
                  <a:pt x="189079" y="6434"/>
                </a:lnTo>
                <a:lnTo>
                  <a:pt x="14366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30399" y="3833812"/>
            <a:ext cx="287655" cy="250825"/>
          </a:xfrm>
          <a:custGeom>
            <a:avLst/>
            <a:gdLst/>
            <a:ahLst/>
            <a:cxnLst/>
            <a:rect l="l" t="t" r="r" b="b"/>
            <a:pathLst>
              <a:path w="287655" h="250825">
                <a:moveTo>
                  <a:pt x="143668" y="0"/>
                </a:moveTo>
                <a:lnTo>
                  <a:pt x="98258" y="6393"/>
                </a:lnTo>
                <a:lnTo>
                  <a:pt x="58819" y="24197"/>
                </a:lnTo>
                <a:lnTo>
                  <a:pt x="27719" y="51345"/>
                </a:lnTo>
                <a:lnTo>
                  <a:pt x="7324" y="85773"/>
                </a:lnTo>
                <a:lnTo>
                  <a:pt x="0" y="125413"/>
                </a:lnTo>
                <a:lnTo>
                  <a:pt x="7324" y="165053"/>
                </a:lnTo>
                <a:lnTo>
                  <a:pt x="27719" y="199480"/>
                </a:lnTo>
                <a:lnTo>
                  <a:pt x="58819" y="226628"/>
                </a:lnTo>
                <a:lnTo>
                  <a:pt x="98258" y="244432"/>
                </a:lnTo>
                <a:lnTo>
                  <a:pt x="143668" y="250826"/>
                </a:lnTo>
                <a:lnTo>
                  <a:pt x="189079" y="244432"/>
                </a:lnTo>
                <a:lnTo>
                  <a:pt x="228517" y="226628"/>
                </a:lnTo>
                <a:lnTo>
                  <a:pt x="259617" y="199480"/>
                </a:lnTo>
                <a:lnTo>
                  <a:pt x="280013" y="165053"/>
                </a:lnTo>
                <a:lnTo>
                  <a:pt x="287337" y="125413"/>
                </a:lnTo>
                <a:lnTo>
                  <a:pt x="280013" y="85773"/>
                </a:lnTo>
                <a:lnTo>
                  <a:pt x="259617" y="51345"/>
                </a:lnTo>
                <a:lnTo>
                  <a:pt x="228517" y="24197"/>
                </a:lnTo>
                <a:lnTo>
                  <a:pt x="189079" y="6393"/>
                </a:lnTo>
                <a:lnTo>
                  <a:pt x="14366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97162" y="4505324"/>
            <a:ext cx="287655" cy="252729"/>
          </a:xfrm>
          <a:custGeom>
            <a:avLst/>
            <a:gdLst/>
            <a:ahLst/>
            <a:cxnLst/>
            <a:rect l="l" t="t" r="r" b="b"/>
            <a:pathLst>
              <a:path w="287655" h="252729">
                <a:moveTo>
                  <a:pt x="143668" y="0"/>
                </a:moveTo>
                <a:lnTo>
                  <a:pt x="98258" y="6434"/>
                </a:lnTo>
                <a:lnTo>
                  <a:pt x="58819" y="24350"/>
                </a:lnTo>
                <a:lnTo>
                  <a:pt x="27719" y="51670"/>
                </a:lnTo>
                <a:lnTo>
                  <a:pt x="7324" y="86316"/>
                </a:lnTo>
                <a:lnTo>
                  <a:pt x="0" y="126207"/>
                </a:lnTo>
                <a:lnTo>
                  <a:pt x="7324" y="166098"/>
                </a:lnTo>
                <a:lnTo>
                  <a:pt x="27719" y="200743"/>
                </a:lnTo>
                <a:lnTo>
                  <a:pt x="58819" y="228063"/>
                </a:lnTo>
                <a:lnTo>
                  <a:pt x="98258" y="245979"/>
                </a:lnTo>
                <a:lnTo>
                  <a:pt x="143668" y="252413"/>
                </a:lnTo>
                <a:lnTo>
                  <a:pt x="189079" y="245979"/>
                </a:lnTo>
                <a:lnTo>
                  <a:pt x="228518" y="228063"/>
                </a:lnTo>
                <a:lnTo>
                  <a:pt x="259618" y="200743"/>
                </a:lnTo>
                <a:lnTo>
                  <a:pt x="280014" y="166098"/>
                </a:lnTo>
                <a:lnTo>
                  <a:pt x="287338" y="126207"/>
                </a:lnTo>
                <a:lnTo>
                  <a:pt x="280014" y="86316"/>
                </a:lnTo>
                <a:lnTo>
                  <a:pt x="259618" y="51670"/>
                </a:lnTo>
                <a:lnTo>
                  <a:pt x="228518" y="24350"/>
                </a:lnTo>
                <a:lnTo>
                  <a:pt x="189079" y="6434"/>
                </a:lnTo>
                <a:lnTo>
                  <a:pt x="14366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59175" y="5092699"/>
            <a:ext cx="287655" cy="252729"/>
          </a:xfrm>
          <a:custGeom>
            <a:avLst/>
            <a:gdLst/>
            <a:ahLst/>
            <a:cxnLst/>
            <a:rect l="l" t="t" r="r" b="b"/>
            <a:pathLst>
              <a:path w="287654" h="252729">
                <a:moveTo>
                  <a:pt x="143668" y="0"/>
                </a:moveTo>
                <a:lnTo>
                  <a:pt x="98258" y="6434"/>
                </a:lnTo>
                <a:lnTo>
                  <a:pt x="58819" y="24350"/>
                </a:lnTo>
                <a:lnTo>
                  <a:pt x="27719" y="51670"/>
                </a:lnTo>
                <a:lnTo>
                  <a:pt x="7324" y="86316"/>
                </a:lnTo>
                <a:lnTo>
                  <a:pt x="0" y="126207"/>
                </a:lnTo>
                <a:lnTo>
                  <a:pt x="7324" y="166098"/>
                </a:lnTo>
                <a:lnTo>
                  <a:pt x="27719" y="200743"/>
                </a:lnTo>
                <a:lnTo>
                  <a:pt x="58819" y="228063"/>
                </a:lnTo>
                <a:lnTo>
                  <a:pt x="98258" y="245979"/>
                </a:lnTo>
                <a:lnTo>
                  <a:pt x="143668" y="252413"/>
                </a:lnTo>
                <a:lnTo>
                  <a:pt x="189079" y="245979"/>
                </a:lnTo>
                <a:lnTo>
                  <a:pt x="228517" y="228063"/>
                </a:lnTo>
                <a:lnTo>
                  <a:pt x="259617" y="200743"/>
                </a:lnTo>
                <a:lnTo>
                  <a:pt x="280013" y="166098"/>
                </a:lnTo>
                <a:lnTo>
                  <a:pt x="287337" y="126207"/>
                </a:lnTo>
                <a:lnTo>
                  <a:pt x="280013" y="86316"/>
                </a:lnTo>
                <a:lnTo>
                  <a:pt x="259617" y="51670"/>
                </a:lnTo>
                <a:lnTo>
                  <a:pt x="228517" y="24350"/>
                </a:lnTo>
                <a:lnTo>
                  <a:pt x="189079" y="6434"/>
                </a:lnTo>
                <a:lnTo>
                  <a:pt x="14366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59175" y="3833812"/>
            <a:ext cx="287655" cy="250825"/>
          </a:xfrm>
          <a:custGeom>
            <a:avLst/>
            <a:gdLst/>
            <a:ahLst/>
            <a:cxnLst/>
            <a:rect l="l" t="t" r="r" b="b"/>
            <a:pathLst>
              <a:path w="287654" h="250825">
                <a:moveTo>
                  <a:pt x="143668" y="0"/>
                </a:moveTo>
                <a:lnTo>
                  <a:pt x="98258" y="6393"/>
                </a:lnTo>
                <a:lnTo>
                  <a:pt x="58819" y="24197"/>
                </a:lnTo>
                <a:lnTo>
                  <a:pt x="27719" y="51345"/>
                </a:lnTo>
                <a:lnTo>
                  <a:pt x="7324" y="85773"/>
                </a:lnTo>
                <a:lnTo>
                  <a:pt x="0" y="125413"/>
                </a:lnTo>
                <a:lnTo>
                  <a:pt x="7324" y="165053"/>
                </a:lnTo>
                <a:lnTo>
                  <a:pt x="27719" y="199480"/>
                </a:lnTo>
                <a:lnTo>
                  <a:pt x="58819" y="226628"/>
                </a:lnTo>
                <a:lnTo>
                  <a:pt x="98258" y="244432"/>
                </a:lnTo>
                <a:lnTo>
                  <a:pt x="143668" y="250826"/>
                </a:lnTo>
                <a:lnTo>
                  <a:pt x="189079" y="244432"/>
                </a:lnTo>
                <a:lnTo>
                  <a:pt x="228517" y="226628"/>
                </a:lnTo>
                <a:lnTo>
                  <a:pt x="259617" y="199480"/>
                </a:lnTo>
                <a:lnTo>
                  <a:pt x="280013" y="165053"/>
                </a:lnTo>
                <a:lnTo>
                  <a:pt x="287337" y="125413"/>
                </a:lnTo>
                <a:lnTo>
                  <a:pt x="280013" y="85773"/>
                </a:lnTo>
                <a:lnTo>
                  <a:pt x="259617" y="51345"/>
                </a:lnTo>
                <a:lnTo>
                  <a:pt x="228517" y="24197"/>
                </a:lnTo>
                <a:lnTo>
                  <a:pt x="189079" y="6393"/>
                </a:lnTo>
                <a:lnTo>
                  <a:pt x="14366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92412" y="5597524"/>
            <a:ext cx="287655" cy="252729"/>
          </a:xfrm>
          <a:custGeom>
            <a:avLst/>
            <a:gdLst/>
            <a:ahLst/>
            <a:cxnLst/>
            <a:rect l="l" t="t" r="r" b="b"/>
            <a:pathLst>
              <a:path w="287655" h="252729">
                <a:moveTo>
                  <a:pt x="143668" y="0"/>
                </a:moveTo>
                <a:lnTo>
                  <a:pt x="98258" y="6434"/>
                </a:lnTo>
                <a:lnTo>
                  <a:pt x="58819" y="24350"/>
                </a:lnTo>
                <a:lnTo>
                  <a:pt x="27719" y="51670"/>
                </a:lnTo>
                <a:lnTo>
                  <a:pt x="7324" y="86315"/>
                </a:lnTo>
                <a:lnTo>
                  <a:pt x="0" y="126206"/>
                </a:lnTo>
                <a:lnTo>
                  <a:pt x="7324" y="166097"/>
                </a:lnTo>
                <a:lnTo>
                  <a:pt x="27719" y="200742"/>
                </a:lnTo>
                <a:lnTo>
                  <a:pt x="58819" y="228063"/>
                </a:lnTo>
                <a:lnTo>
                  <a:pt x="98258" y="245979"/>
                </a:lnTo>
                <a:lnTo>
                  <a:pt x="143668" y="252413"/>
                </a:lnTo>
                <a:lnTo>
                  <a:pt x="189079" y="245979"/>
                </a:lnTo>
                <a:lnTo>
                  <a:pt x="228518" y="228063"/>
                </a:lnTo>
                <a:lnTo>
                  <a:pt x="259618" y="200742"/>
                </a:lnTo>
                <a:lnTo>
                  <a:pt x="280014" y="166097"/>
                </a:lnTo>
                <a:lnTo>
                  <a:pt x="287338" y="126206"/>
                </a:lnTo>
                <a:lnTo>
                  <a:pt x="280014" y="86315"/>
                </a:lnTo>
                <a:lnTo>
                  <a:pt x="259618" y="51670"/>
                </a:lnTo>
                <a:lnTo>
                  <a:pt x="228518" y="24350"/>
                </a:lnTo>
                <a:lnTo>
                  <a:pt x="189079" y="6434"/>
                </a:lnTo>
                <a:lnTo>
                  <a:pt x="14366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16437" y="4421187"/>
            <a:ext cx="287655" cy="252729"/>
          </a:xfrm>
          <a:custGeom>
            <a:avLst/>
            <a:gdLst/>
            <a:ahLst/>
            <a:cxnLst/>
            <a:rect l="l" t="t" r="r" b="b"/>
            <a:pathLst>
              <a:path w="287654" h="252729">
                <a:moveTo>
                  <a:pt x="143668" y="0"/>
                </a:moveTo>
                <a:lnTo>
                  <a:pt x="98258" y="6434"/>
                </a:lnTo>
                <a:lnTo>
                  <a:pt x="58819" y="24350"/>
                </a:lnTo>
                <a:lnTo>
                  <a:pt x="27719" y="51670"/>
                </a:lnTo>
                <a:lnTo>
                  <a:pt x="7324" y="86315"/>
                </a:lnTo>
                <a:lnTo>
                  <a:pt x="0" y="126206"/>
                </a:lnTo>
                <a:lnTo>
                  <a:pt x="7324" y="166097"/>
                </a:lnTo>
                <a:lnTo>
                  <a:pt x="27719" y="200741"/>
                </a:lnTo>
                <a:lnTo>
                  <a:pt x="58819" y="228061"/>
                </a:lnTo>
                <a:lnTo>
                  <a:pt x="98258" y="245978"/>
                </a:lnTo>
                <a:lnTo>
                  <a:pt x="143668" y="252412"/>
                </a:lnTo>
                <a:lnTo>
                  <a:pt x="189079" y="245978"/>
                </a:lnTo>
                <a:lnTo>
                  <a:pt x="228517" y="228061"/>
                </a:lnTo>
                <a:lnTo>
                  <a:pt x="259617" y="200741"/>
                </a:lnTo>
                <a:lnTo>
                  <a:pt x="280013" y="166097"/>
                </a:lnTo>
                <a:lnTo>
                  <a:pt x="287337" y="126206"/>
                </a:lnTo>
                <a:lnTo>
                  <a:pt x="280013" y="86315"/>
                </a:lnTo>
                <a:lnTo>
                  <a:pt x="259617" y="51670"/>
                </a:lnTo>
                <a:lnTo>
                  <a:pt x="228517" y="24350"/>
                </a:lnTo>
                <a:lnTo>
                  <a:pt x="189079" y="6434"/>
                </a:lnTo>
                <a:lnTo>
                  <a:pt x="14366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0474" y="4000499"/>
            <a:ext cx="669925" cy="504825"/>
          </a:xfrm>
          <a:custGeom>
            <a:avLst/>
            <a:gdLst/>
            <a:ahLst/>
            <a:cxnLst/>
            <a:rect l="l" t="t" r="r" b="b"/>
            <a:pathLst>
              <a:path w="669925" h="504825">
                <a:moveTo>
                  <a:pt x="0" y="504824"/>
                </a:moveTo>
                <a:lnTo>
                  <a:pt x="669924" y="0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04912" y="4660899"/>
            <a:ext cx="624205" cy="532130"/>
          </a:xfrm>
          <a:custGeom>
            <a:avLst/>
            <a:gdLst/>
            <a:ahLst/>
            <a:cxnLst/>
            <a:rect l="l" t="t" r="r" b="b"/>
            <a:pathLst>
              <a:path w="624205" h="532129">
                <a:moveTo>
                  <a:pt x="0" y="0"/>
                </a:moveTo>
                <a:lnTo>
                  <a:pt x="623886" y="531812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70112" y="4014787"/>
            <a:ext cx="574675" cy="532130"/>
          </a:xfrm>
          <a:custGeom>
            <a:avLst/>
            <a:gdLst/>
            <a:ahLst/>
            <a:cxnLst/>
            <a:rect l="l" t="t" r="r" b="b"/>
            <a:pathLst>
              <a:path w="574675" h="532129">
                <a:moveTo>
                  <a:pt x="0" y="0"/>
                </a:moveTo>
                <a:lnTo>
                  <a:pt x="574674" y="531811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74862" y="5260974"/>
            <a:ext cx="717550" cy="421005"/>
          </a:xfrm>
          <a:custGeom>
            <a:avLst/>
            <a:gdLst/>
            <a:ahLst/>
            <a:cxnLst/>
            <a:rect l="l" t="t" r="r" b="b"/>
            <a:pathLst>
              <a:path w="717550" h="421004">
                <a:moveTo>
                  <a:pt x="0" y="0"/>
                </a:moveTo>
                <a:lnTo>
                  <a:pt x="717549" y="420687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6612" y="4714874"/>
            <a:ext cx="638175" cy="421005"/>
          </a:xfrm>
          <a:custGeom>
            <a:avLst/>
            <a:gdLst/>
            <a:ahLst/>
            <a:cxnLst/>
            <a:rect l="l" t="t" r="r" b="b"/>
            <a:pathLst>
              <a:path w="638175" h="421004">
                <a:moveTo>
                  <a:pt x="0" y="420687"/>
                </a:moveTo>
                <a:lnTo>
                  <a:pt x="638174" y="0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36875" y="4729162"/>
            <a:ext cx="654050" cy="392430"/>
          </a:xfrm>
          <a:custGeom>
            <a:avLst/>
            <a:gdLst/>
            <a:ahLst/>
            <a:cxnLst/>
            <a:rect l="l" t="t" r="r" b="b"/>
            <a:pathLst>
              <a:path w="654050" h="392429">
                <a:moveTo>
                  <a:pt x="0" y="0"/>
                </a:moveTo>
                <a:lnTo>
                  <a:pt x="654049" y="392111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32124" y="5303836"/>
            <a:ext cx="590550" cy="335280"/>
          </a:xfrm>
          <a:custGeom>
            <a:avLst/>
            <a:gdLst/>
            <a:ahLst/>
            <a:cxnLst/>
            <a:rect l="l" t="t" r="r" b="b"/>
            <a:pathLst>
              <a:path w="590550" h="335279">
                <a:moveTo>
                  <a:pt x="0" y="334961"/>
                </a:moveTo>
                <a:lnTo>
                  <a:pt x="590549" y="0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84500" y="4546599"/>
            <a:ext cx="1532255" cy="98425"/>
          </a:xfrm>
          <a:custGeom>
            <a:avLst/>
            <a:gdLst/>
            <a:ahLst/>
            <a:cxnLst/>
            <a:rect l="l" t="t" r="r" b="b"/>
            <a:pathLst>
              <a:path w="1532254" h="98425">
                <a:moveTo>
                  <a:pt x="0" y="98424"/>
                </a:moveTo>
                <a:lnTo>
                  <a:pt x="1531937" y="0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85987" y="3944937"/>
            <a:ext cx="1373505" cy="14604"/>
          </a:xfrm>
          <a:custGeom>
            <a:avLst/>
            <a:gdLst/>
            <a:ahLst/>
            <a:cxnLst/>
            <a:rect l="l" t="t" r="r" b="b"/>
            <a:pathLst>
              <a:path w="1373504" h="14604">
                <a:moveTo>
                  <a:pt x="0" y="0"/>
                </a:moveTo>
                <a:lnTo>
                  <a:pt x="1373186" y="14287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30637" y="4043362"/>
            <a:ext cx="767080" cy="419100"/>
          </a:xfrm>
          <a:custGeom>
            <a:avLst/>
            <a:gdLst/>
            <a:ahLst/>
            <a:cxnLst/>
            <a:rect l="l" t="t" r="r" b="b"/>
            <a:pathLst>
              <a:path w="767079" h="419100">
                <a:moveTo>
                  <a:pt x="0" y="0"/>
                </a:moveTo>
                <a:lnTo>
                  <a:pt x="766761" y="419099"/>
                </a:lnTo>
              </a:path>
            </a:pathLst>
          </a:custGeom>
          <a:ln w="2857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82077" y="381285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39389" y="346360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94789" y="448595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9677" y="391128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96464" y="455580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74402" y="414940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76077" y="374300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98152" y="482885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95027" y="5395594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6589" y="4347844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29764" y="3477894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28164" y="5295582"/>
            <a:ext cx="523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2000" b="1" spc="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600" baseline="-13888" dirty="0">
                <a:solidFill>
                  <a:srgbClr val="333399"/>
                </a:solidFill>
                <a:latin typeface="Times New Roman"/>
                <a:cs typeface="Times New Roman"/>
              </a:rPr>
              <a:t>4</a:t>
            </a:r>
            <a:endParaRPr sz="3600" baseline="-13888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28289" y="4181157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36327" y="3489007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11089" y="4335144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z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77527" y="5692457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71289" y="5025707"/>
            <a:ext cx="1104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71352" y="4900294"/>
            <a:ext cx="4130675" cy="87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8745" algn="r">
              <a:lnSpc>
                <a:spcPts val="3329"/>
              </a:lnSpc>
              <a:spcBef>
                <a:spcPts val="100"/>
              </a:spcBef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</a:t>
            </a:r>
            <a:r>
              <a:rPr sz="2775" baseline="-21021" dirty="0">
                <a:solidFill>
                  <a:srgbClr val="4349AA"/>
                </a:solidFill>
                <a:latin typeface="Arial"/>
                <a:cs typeface="Arial"/>
              </a:rPr>
              <a:t>u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(z) = </a:t>
            </a:r>
            <a:r>
              <a:rPr sz="2800" spc="-5" dirty="0">
                <a:solidFill>
                  <a:srgbClr val="333399"/>
                </a:solidFill>
                <a:latin typeface="Arial"/>
                <a:cs typeface="Arial"/>
              </a:rPr>
              <a:t>min{c(u,v)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+</a:t>
            </a:r>
            <a:r>
              <a:rPr sz="28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</a:t>
            </a:r>
            <a:r>
              <a:rPr sz="2775" baseline="-21021" dirty="0">
                <a:solidFill>
                  <a:srgbClr val="4349AA"/>
                </a:solidFill>
                <a:latin typeface="Arial"/>
                <a:cs typeface="Arial"/>
              </a:rPr>
              <a:t>v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(z),</a:t>
            </a:r>
            <a:endParaRPr sz="2800">
              <a:latin typeface="Arial"/>
              <a:cs typeface="Arial"/>
            </a:endParaRPr>
          </a:p>
          <a:p>
            <a:pPr marR="30480" algn="r">
              <a:lnSpc>
                <a:spcPts val="3329"/>
              </a:lnSpc>
            </a:pPr>
            <a:r>
              <a:rPr sz="2800" spc="-5" dirty="0">
                <a:solidFill>
                  <a:srgbClr val="333399"/>
                </a:solidFill>
                <a:latin typeface="Arial"/>
                <a:cs typeface="Arial"/>
              </a:rPr>
              <a:t>c(u,w)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+</a:t>
            </a:r>
            <a:r>
              <a:rPr sz="28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</a:t>
            </a:r>
            <a:r>
              <a:rPr sz="2775" baseline="-21021" dirty="0">
                <a:solidFill>
                  <a:srgbClr val="4349AA"/>
                </a:solidFill>
                <a:latin typeface="Arial"/>
                <a:cs typeface="Arial"/>
              </a:rPr>
              <a:t>w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(z)}</a:t>
            </a:r>
            <a:endParaRPr sz="2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7447" y="540327"/>
            <a:ext cx="5993475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58953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Bellman-Ford Algorithm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174" y="1506538"/>
            <a:ext cx="4067810" cy="38735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marR="175260" indent="-342900">
              <a:lnSpc>
                <a:spcPts val="2400"/>
              </a:lnSpc>
              <a:spcBef>
                <a:spcPts val="580"/>
              </a:spcBef>
            </a:pPr>
            <a:r>
              <a:rPr sz="2400" spc="-5" dirty="0">
                <a:latin typeface="Arial"/>
                <a:cs typeface="Arial"/>
              </a:rPr>
              <a:t>Iterative, </a:t>
            </a:r>
            <a:r>
              <a:rPr sz="2400" dirty="0">
                <a:latin typeface="Arial"/>
                <a:cs typeface="Arial"/>
              </a:rPr>
              <a:t>asynchronous: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each  local </a:t>
            </a:r>
            <a:r>
              <a:rPr sz="2000" spc="-5" dirty="0">
                <a:latin typeface="Arial"/>
                <a:cs typeface="Arial"/>
              </a:rPr>
              <a:t>iteration </a:t>
            </a:r>
            <a:r>
              <a:rPr sz="2000" dirty="0">
                <a:latin typeface="Arial"/>
                <a:cs typeface="Arial"/>
              </a:rPr>
              <a:t>caused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by: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Local link cost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change</a:t>
            </a:r>
            <a:endParaRPr sz="2000">
              <a:latin typeface="Arial"/>
              <a:cs typeface="Arial"/>
            </a:endParaRPr>
          </a:p>
          <a:p>
            <a:pPr marL="354965" marR="5080" indent="-342900">
              <a:lnSpc>
                <a:spcPct val="100800"/>
              </a:lnSpc>
              <a:spcBef>
                <a:spcPts val="480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Distance vector update </a:t>
            </a:r>
            <a:r>
              <a:rPr sz="2000" dirty="0">
                <a:latin typeface="Arial"/>
                <a:cs typeface="Arial"/>
              </a:rPr>
              <a:t>message  </a:t>
            </a:r>
            <a:r>
              <a:rPr sz="2000" spc="-5" dirty="0">
                <a:latin typeface="Arial"/>
                <a:cs typeface="Arial"/>
              </a:rPr>
              <a:t>from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neighbor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99"/>
              </a:buClr>
              <a:buFont typeface="Arial"/>
              <a:buChar char=""/>
            </a:pP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Distributed: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2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Each node </a:t>
            </a:r>
            <a:r>
              <a:rPr sz="2000" spc="-5" dirty="0">
                <a:latin typeface="Arial"/>
                <a:cs typeface="Arial"/>
              </a:rPr>
              <a:t>notifies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neighbors</a:t>
            </a:r>
            <a:endParaRPr sz="20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20"/>
              </a:spcBef>
            </a:pPr>
            <a:r>
              <a:rPr sz="2000" i="1" dirty="0">
                <a:latin typeface="Arial"/>
                <a:cs typeface="Arial"/>
              </a:rPr>
              <a:t>only </a:t>
            </a:r>
            <a:r>
              <a:rPr sz="2000" dirty="0">
                <a:latin typeface="Arial"/>
                <a:cs typeface="Arial"/>
              </a:rPr>
              <a:t>when </a:t>
            </a:r>
            <a:r>
              <a:rPr sz="2000" spc="-5" dirty="0">
                <a:latin typeface="Arial"/>
                <a:cs typeface="Arial"/>
              </a:rPr>
              <a:t>its </a:t>
            </a:r>
            <a:r>
              <a:rPr sz="2000" dirty="0">
                <a:latin typeface="Arial"/>
                <a:cs typeface="Arial"/>
              </a:rPr>
              <a:t>DV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changes</a:t>
            </a:r>
            <a:endParaRPr sz="2000">
              <a:latin typeface="Arial"/>
              <a:cs typeface="Arial"/>
            </a:endParaRPr>
          </a:p>
          <a:p>
            <a:pPr marL="354965" marR="739140" indent="-342900">
              <a:lnSpc>
                <a:spcPct val="100800"/>
              </a:lnSpc>
              <a:spcBef>
                <a:spcPts val="459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Neighbors </a:t>
            </a:r>
            <a:r>
              <a:rPr sz="2000" spc="-5" dirty="0">
                <a:latin typeface="Arial"/>
                <a:cs typeface="Arial"/>
              </a:rPr>
              <a:t>then notify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their  </a:t>
            </a:r>
            <a:r>
              <a:rPr sz="2000" dirty="0">
                <a:latin typeface="Arial"/>
                <a:cs typeface="Arial"/>
              </a:rPr>
              <a:t>neighbors if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necessary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61633" y="4889499"/>
            <a:ext cx="3536315" cy="7035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40"/>
              </a:spcBef>
            </a:pP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if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distance to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any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destination 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has changed, </a:t>
            </a:r>
            <a:r>
              <a:rPr sz="2400" i="1" dirty="0">
                <a:solidFill>
                  <a:srgbClr val="0000FF"/>
                </a:solidFill>
                <a:latin typeface="Arial"/>
                <a:cs typeface="Arial"/>
              </a:rPr>
              <a:t>notify</a:t>
            </a:r>
            <a:r>
              <a:rPr sz="2400" i="1" spc="-2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neighbors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81863" y="3143249"/>
            <a:ext cx="0" cy="571500"/>
          </a:xfrm>
          <a:custGeom>
            <a:avLst/>
            <a:gdLst/>
            <a:ahLst/>
            <a:cxnLst/>
            <a:rect l="l" t="t" r="r" b="b"/>
            <a:pathLst>
              <a:path h="571500">
                <a:moveTo>
                  <a:pt x="0" y="0"/>
                </a:moveTo>
                <a:lnTo>
                  <a:pt x="0" y="571499"/>
                </a:lnTo>
              </a:path>
            </a:pathLst>
          </a:custGeom>
          <a:ln w="3174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02488" y="3638549"/>
            <a:ext cx="158750" cy="95250"/>
          </a:xfrm>
          <a:custGeom>
            <a:avLst/>
            <a:gdLst/>
            <a:ahLst/>
            <a:cxnLst/>
            <a:rect l="l" t="t" r="r" b="b"/>
            <a:pathLst>
              <a:path w="158750" h="95250">
                <a:moveTo>
                  <a:pt x="158750" y="0"/>
                </a:moveTo>
                <a:lnTo>
                  <a:pt x="0" y="0"/>
                </a:lnTo>
                <a:lnTo>
                  <a:pt x="79375" y="95250"/>
                </a:lnTo>
                <a:lnTo>
                  <a:pt x="158750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81863" y="4210050"/>
            <a:ext cx="0" cy="571500"/>
          </a:xfrm>
          <a:custGeom>
            <a:avLst/>
            <a:gdLst/>
            <a:ahLst/>
            <a:cxnLst/>
            <a:rect l="l" t="t" r="r" b="b"/>
            <a:pathLst>
              <a:path h="571500">
                <a:moveTo>
                  <a:pt x="0" y="0"/>
                </a:moveTo>
                <a:lnTo>
                  <a:pt x="0" y="571499"/>
                </a:lnTo>
              </a:path>
            </a:pathLst>
          </a:custGeom>
          <a:ln w="3174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02488" y="4705349"/>
            <a:ext cx="158750" cy="95250"/>
          </a:xfrm>
          <a:custGeom>
            <a:avLst/>
            <a:gdLst/>
            <a:ahLst/>
            <a:cxnLst/>
            <a:rect l="l" t="t" r="r" b="b"/>
            <a:pathLst>
              <a:path w="158750" h="95250">
                <a:moveTo>
                  <a:pt x="158750" y="0"/>
                </a:moveTo>
                <a:lnTo>
                  <a:pt x="0" y="0"/>
                </a:lnTo>
                <a:lnTo>
                  <a:pt x="79375" y="95250"/>
                </a:lnTo>
                <a:lnTo>
                  <a:pt x="158750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52998" y="2057399"/>
            <a:ext cx="1836420" cy="4191000"/>
          </a:xfrm>
          <a:custGeom>
            <a:avLst/>
            <a:gdLst/>
            <a:ahLst/>
            <a:cxnLst/>
            <a:rect l="l" t="t" r="r" b="b"/>
            <a:pathLst>
              <a:path w="1836420" h="4191000">
                <a:moveTo>
                  <a:pt x="1801811" y="3733798"/>
                </a:moveTo>
                <a:lnTo>
                  <a:pt x="1804193" y="4190999"/>
                </a:lnTo>
                <a:lnTo>
                  <a:pt x="0" y="4190999"/>
                </a:lnTo>
                <a:lnTo>
                  <a:pt x="0" y="0"/>
                </a:lnTo>
                <a:lnTo>
                  <a:pt x="1835943" y="0"/>
                </a:lnTo>
                <a:lnTo>
                  <a:pt x="1835943" y="269081"/>
                </a:lnTo>
              </a:path>
            </a:pathLst>
          </a:custGeom>
          <a:ln w="3174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09567" y="225028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158750" h="95250">
                <a:moveTo>
                  <a:pt x="158750" y="0"/>
                </a:moveTo>
                <a:lnTo>
                  <a:pt x="0" y="0"/>
                </a:lnTo>
                <a:lnTo>
                  <a:pt x="79375" y="95250"/>
                </a:lnTo>
                <a:lnTo>
                  <a:pt x="158750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52364" y="1412558"/>
            <a:ext cx="3921125" cy="268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Each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node: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50">
              <a:latin typeface="Times New Roman"/>
              <a:cs typeface="Times New Roman"/>
            </a:endParaRPr>
          </a:p>
          <a:p>
            <a:pPr marL="321945" marR="5080">
              <a:lnSpc>
                <a:spcPct val="102800"/>
              </a:lnSpc>
              <a:spcBef>
                <a:spcPts val="5"/>
              </a:spcBef>
            </a:pPr>
            <a:r>
              <a:rPr sz="2400" i="1" dirty="0">
                <a:solidFill>
                  <a:srgbClr val="0000FF"/>
                </a:solidFill>
                <a:latin typeface="Arial"/>
                <a:cs typeface="Arial"/>
              </a:rPr>
              <a:t>wait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for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(change in local link  cost or message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from</a:t>
            </a:r>
            <a:r>
              <a:rPr sz="20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neighbor)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marL="321945">
              <a:lnSpc>
                <a:spcPct val="100000"/>
              </a:lnSpc>
            </a:pPr>
            <a:r>
              <a:rPr sz="2400" i="1" spc="-5" dirty="0">
                <a:solidFill>
                  <a:srgbClr val="0000FF"/>
                </a:solidFill>
                <a:latin typeface="Arial"/>
                <a:cs typeface="Arial"/>
              </a:rPr>
              <a:t>recompute</a:t>
            </a:r>
            <a:r>
              <a:rPr sz="2400" i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estimates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447" y="540327"/>
            <a:ext cx="6575366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6485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Distance Vector</a:t>
            </a:r>
            <a:r>
              <a:rPr dirty="0"/>
              <a:t> </a:t>
            </a:r>
            <a:r>
              <a:rPr spc="-5" dirty="0"/>
              <a:t>Algorithm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287" y="1581722"/>
            <a:ext cx="7205345" cy="40900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265"/>
              </a:spcBef>
              <a:buClr>
                <a:srgbClr val="333399"/>
              </a:buClr>
              <a:buSzPct val="50000"/>
              <a:buFont typeface="Arial"/>
              <a:buChar char=""/>
              <a:tabLst>
                <a:tab pos="393065" algn="l"/>
                <a:tab pos="393700" algn="l"/>
              </a:tabLst>
            </a:pPr>
            <a:r>
              <a:rPr sz="2400" i="1" spc="-5" dirty="0">
                <a:solidFill>
                  <a:srgbClr val="0000FF"/>
                </a:solidFill>
                <a:latin typeface="Arial"/>
                <a:cs typeface="Arial"/>
              </a:rPr>
              <a:t>c(x,v)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=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cost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for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direct link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from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x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sz="2400" spc="-4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  <a:p>
            <a:pPr marL="793750" lvl="1" indent="-286385">
              <a:lnSpc>
                <a:spcPct val="100000"/>
              </a:lnSpc>
              <a:spcBef>
                <a:spcPts val="14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93115" algn="l"/>
                <a:tab pos="79375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Node x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maintains costs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of direct links</a:t>
            </a:r>
            <a:r>
              <a:rPr sz="2000" spc="-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i="1" spc="-5" dirty="0">
                <a:solidFill>
                  <a:srgbClr val="0000FF"/>
                </a:solidFill>
                <a:latin typeface="Arial"/>
                <a:cs typeface="Arial"/>
              </a:rPr>
              <a:t>c(x,v)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333399"/>
              </a:buClr>
              <a:buFont typeface="Lucida Sans Unicode"/>
              <a:buChar char="◆"/>
            </a:pPr>
            <a:endParaRPr sz="2100">
              <a:latin typeface="Times New Roman"/>
              <a:cs typeface="Times New Roman"/>
            </a:endParaRPr>
          </a:p>
          <a:p>
            <a:pPr marL="393700" indent="-342900"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SzPct val="50000"/>
              <a:buFont typeface="Arial"/>
              <a:buChar char=""/>
              <a:tabLst>
                <a:tab pos="393065" algn="l"/>
                <a:tab pos="393700" algn="l"/>
              </a:tabLst>
            </a:pPr>
            <a:r>
              <a:rPr sz="2400" i="1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2400" i="1" baseline="-20833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2400" i="1" dirty="0">
                <a:solidFill>
                  <a:srgbClr val="0000FF"/>
                </a:solidFill>
                <a:latin typeface="Arial"/>
                <a:cs typeface="Arial"/>
              </a:rPr>
              <a:t>(y)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=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estimate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of least cost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from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x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sz="2400" spc="-4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  <a:p>
            <a:pPr marL="793750" lvl="1" indent="-286385">
              <a:lnSpc>
                <a:spcPct val="100000"/>
              </a:lnSpc>
              <a:spcBef>
                <a:spcPts val="26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93115" algn="l"/>
                <a:tab pos="7937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Node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x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maintains distance vector </a:t>
            </a:r>
            <a:r>
              <a:rPr sz="2000" b="1" i="1" spc="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950" i="1" spc="7" baseline="-21367" dirty="0">
                <a:solidFill>
                  <a:srgbClr val="0000FF"/>
                </a:solidFill>
                <a:latin typeface="Arial"/>
                <a:cs typeface="Arial"/>
              </a:rPr>
              <a:t>x 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= [D</a:t>
            </a:r>
            <a:r>
              <a:rPr sz="1950" i="1" baseline="-21367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(y): y є N</a:t>
            </a:r>
            <a:r>
              <a:rPr sz="2000" i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99"/>
              </a:buClr>
              <a:buFont typeface="Lucida Sans Unicode"/>
              <a:buChar char="◆"/>
            </a:pPr>
            <a:endParaRPr sz="2050">
              <a:latin typeface="Times New Roman"/>
              <a:cs typeface="Times New Roman"/>
            </a:endParaRPr>
          </a:p>
          <a:p>
            <a:pPr marL="393700" indent="-342900">
              <a:lnSpc>
                <a:spcPct val="100000"/>
              </a:lnSpc>
              <a:buClr>
                <a:srgbClr val="333399"/>
              </a:buClr>
              <a:buSzPct val="50000"/>
              <a:buChar char=""/>
              <a:tabLst>
                <a:tab pos="393065" algn="l"/>
                <a:tab pos="3937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Node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x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maintains its </a:t>
            </a:r>
            <a:r>
              <a:rPr sz="2400" spc="-125" dirty="0">
                <a:solidFill>
                  <a:srgbClr val="232323"/>
                </a:solidFill>
                <a:latin typeface="Arial"/>
                <a:cs typeface="Arial"/>
              </a:rPr>
              <a:t>neighbors</a:t>
            </a:r>
            <a:r>
              <a:rPr sz="2400" spc="-125" dirty="0">
                <a:solidFill>
                  <a:srgbClr val="232323"/>
                </a:solidFill>
                <a:latin typeface="MS PGothic"/>
                <a:cs typeface="MS PGothic"/>
              </a:rPr>
              <a:t>ʼ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distance</a:t>
            </a:r>
            <a:r>
              <a:rPr sz="2400" spc="10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vectors</a:t>
            </a:r>
            <a:endParaRPr sz="2400">
              <a:latin typeface="Arial"/>
              <a:cs typeface="Arial"/>
            </a:endParaRPr>
          </a:p>
          <a:p>
            <a:pPr marL="793750" lvl="1" indent="-286385">
              <a:lnSpc>
                <a:spcPct val="100000"/>
              </a:lnSpc>
              <a:spcBef>
                <a:spcPts val="265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93115" algn="l"/>
                <a:tab pos="7937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For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each neighbor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v, x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maintains </a:t>
            </a:r>
            <a:r>
              <a:rPr sz="2000" b="1" i="1" spc="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950" i="1" spc="7" baseline="-21367" dirty="0">
                <a:solidFill>
                  <a:srgbClr val="0000FF"/>
                </a:solidFill>
                <a:latin typeface="Arial"/>
                <a:cs typeface="Arial"/>
              </a:rPr>
              <a:t>v 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= [D</a:t>
            </a:r>
            <a:r>
              <a:rPr sz="1950" i="1" baseline="-21367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(y): y є N</a:t>
            </a:r>
            <a:r>
              <a:rPr sz="2000" i="1" spc="-2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333399"/>
              </a:buClr>
              <a:buFont typeface="Lucida Sans Unicode"/>
              <a:buChar char="◆"/>
            </a:pPr>
            <a:endParaRPr sz="2000">
              <a:latin typeface="Times New Roman"/>
              <a:cs typeface="Times New Roman"/>
            </a:endParaRPr>
          </a:p>
          <a:p>
            <a:pPr marL="393700" indent="-342900">
              <a:lnSpc>
                <a:spcPct val="100000"/>
              </a:lnSpc>
              <a:buClr>
                <a:srgbClr val="333399"/>
              </a:buClr>
              <a:buSzPct val="50000"/>
              <a:buChar char=""/>
              <a:tabLst>
                <a:tab pos="393065" algn="l"/>
                <a:tab pos="393700" algn="l"/>
              </a:tabLst>
            </a:pP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Each node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v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periodically sends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D</a:t>
            </a:r>
            <a:r>
              <a:rPr sz="2400" i="1" baseline="-20833" dirty="0">
                <a:solidFill>
                  <a:srgbClr val="232323"/>
                </a:solidFill>
                <a:latin typeface="Arial"/>
                <a:cs typeface="Arial"/>
              </a:rPr>
              <a:t>v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to its</a:t>
            </a:r>
            <a:r>
              <a:rPr sz="2400" spc="-3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neighbors</a:t>
            </a:r>
            <a:endParaRPr sz="2400">
              <a:latin typeface="Arial"/>
              <a:cs typeface="Arial"/>
            </a:endParaRPr>
          </a:p>
          <a:p>
            <a:pPr marL="793750" lvl="1" indent="-286385">
              <a:lnSpc>
                <a:spcPct val="100000"/>
              </a:lnSpc>
              <a:spcBef>
                <a:spcPts val="265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93115" algn="l"/>
                <a:tab pos="79375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And neighbors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update their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own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distance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vectors</a:t>
            </a:r>
            <a:endParaRPr sz="2000">
              <a:latin typeface="Arial"/>
              <a:cs typeface="Arial"/>
            </a:endParaRPr>
          </a:p>
          <a:p>
            <a:pPr marL="793750" lvl="1" indent="-286385">
              <a:lnSpc>
                <a:spcPct val="100000"/>
              </a:lnSpc>
              <a:spcBef>
                <a:spcPts val="15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93115" algn="l"/>
                <a:tab pos="793750" algn="l"/>
              </a:tabLst>
            </a:pP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950" i="1" baseline="-21367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(y) ← min</a:t>
            </a:r>
            <a:r>
              <a:rPr sz="1950" i="1" baseline="-21367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{c(x,v) + D</a:t>
            </a:r>
            <a:r>
              <a:rPr sz="1950" i="1" baseline="-21367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2000" i="1" dirty="0">
                <a:solidFill>
                  <a:srgbClr val="0000FF"/>
                </a:solidFill>
                <a:latin typeface="Arial"/>
                <a:cs typeface="Arial"/>
              </a:rPr>
              <a:t>(y)}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for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each node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y </a:t>
            </a:r>
            <a:r>
              <a:rPr sz="2050" i="1" spc="-25" dirty="0">
                <a:solidFill>
                  <a:srgbClr val="2F2F2F"/>
                </a:solidFill>
                <a:latin typeface="MS PGothic"/>
                <a:cs typeface="MS PGothic"/>
              </a:rPr>
              <a:t>∊</a:t>
            </a:r>
            <a:r>
              <a:rPr sz="2050" i="1" spc="-110" dirty="0">
                <a:solidFill>
                  <a:srgbClr val="2F2F2F"/>
                </a:solidFill>
                <a:latin typeface="MS PGothic"/>
                <a:cs typeface="MS PGothic"/>
              </a:rPr>
              <a:t>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447" y="540327"/>
            <a:ext cx="3374967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32867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Step-by-Step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339" y="3333325"/>
            <a:ext cx="719455" cy="534670"/>
          </a:xfrm>
          <a:custGeom>
            <a:avLst/>
            <a:gdLst/>
            <a:ahLst/>
            <a:cxnLst/>
            <a:rect l="l" t="t" r="r" b="b"/>
            <a:pathLst>
              <a:path w="719455" h="534670">
                <a:moveTo>
                  <a:pt x="0" y="534248"/>
                </a:moveTo>
                <a:lnTo>
                  <a:pt x="719295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399" y="37990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43261" y="0"/>
                </a:moveTo>
                <a:lnTo>
                  <a:pt x="0" y="85524"/>
                </a:lnTo>
                <a:lnTo>
                  <a:pt x="94376" y="68820"/>
                </a:lnTo>
                <a:lnTo>
                  <a:pt x="4326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4198" y="33162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94376" y="0"/>
                </a:moveTo>
                <a:lnTo>
                  <a:pt x="0" y="16705"/>
                </a:lnTo>
                <a:lnTo>
                  <a:pt x="51114" y="85524"/>
                </a:lnTo>
                <a:lnTo>
                  <a:pt x="9437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196" y="4422213"/>
            <a:ext cx="713740" cy="704850"/>
          </a:xfrm>
          <a:custGeom>
            <a:avLst/>
            <a:gdLst/>
            <a:ahLst/>
            <a:cxnLst/>
            <a:rect l="l" t="t" r="r" b="b"/>
            <a:pathLst>
              <a:path w="713740" h="704850">
                <a:moveTo>
                  <a:pt x="0" y="0"/>
                </a:moveTo>
                <a:lnTo>
                  <a:pt x="713395" y="704384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0862" y="4402137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0" y="0"/>
                </a:moveTo>
                <a:lnTo>
                  <a:pt x="30885" y="90731"/>
                </a:lnTo>
                <a:lnTo>
                  <a:pt x="91115" y="29730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3810" y="5055944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60229" y="0"/>
                </a:moveTo>
                <a:lnTo>
                  <a:pt x="0" y="61000"/>
                </a:lnTo>
                <a:lnTo>
                  <a:pt x="91114" y="90730"/>
                </a:lnTo>
                <a:lnTo>
                  <a:pt x="6022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1373" y="5308806"/>
            <a:ext cx="1030605" cy="7620"/>
          </a:xfrm>
          <a:custGeom>
            <a:avLst/>
            <a:gdLst/>
            <a:ahLst/>
            <a:cxnLst/>
            <a:rect l="l" t="t" r="r" b="b"/>
            <a:pathLst>
              <a:path w="1030605" h="7620">
                <a:moveTo>
                  <a:pt x="1030289" y="0"/>
                </a:moveTo>
                <a:lnTo>
                  <a:pt x="0" y="752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84202" y="5266363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0" y="0"/>
                </a:moveTo>
                <a:lnTo>
                  <a:pt x="624" y="85722"/>
                </a:lnTo>
                <a:lnTo>
                  <a:pt x="86034" y="4223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82799" y="5273049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85410" y="0"/>
                </a:moveTo>
                <a:lnTo>
                  <a:pt x="0" y="43487"/>
                </a:lnTo>
                <a:lnTo>
                  <a:pt x="86034" y="85722"/>
                </a:lnTo>
                <a:lnTo>
                  <a:pt x="8541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43607" y="3498848"/>
            <a:ext cx="15875" cy="1417955"/>
          </a:xfrm>
          <a:custGeom>
            <a:avLst/>
            <a:gdLst/>
            <a:ahLst/>
            <a:cxnLst/>
            <a:rect l="l" t="t" r="r" b="b"/>
            <a:pathLst>
              <a:path w="15875" h="1417954">
                <a:moveTo>
                  <a:pt x="15259" y="0"/>
                </a:moveTo>
                <a:lnTo>
                  <a:pt x="0" y="1417641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15391" y="3470274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783" y="0"/>
                </a:moveTo>
                <a:lnTo>
                  <a:pt x="0" y="85258"/>
                </a:lnTo>
                <a:lnTo>
                  <a:pt x="85719" y="86180"/>
                </a:lnTo>
                <a:lnTo>
                  <a:pt x="43783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01361" y="4858881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1937" y="86180"/>
                </a:lnTo>
                <a:lnTo>
                  <a:pt x="85719" y="92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05024" y="3316287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5">
                <a:moveTo>
                  <a:pt x="0" y="0"/>
                </a:moveTo>
                <a:lnTo>
                  <a:pt x="10366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76449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84512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3500" y="3498848"/>
            <a:ext cx="13970" cy="1425575"/>
          </a:xfrm>
          <a:custGeom>
            <a:avLst/>
            <a:gdLst/>
            <a:ahLst/>
            <a:cxnLst/>
            <a:rect l="l" t="t" r="r" b="b"/>
            <a:pathLst>
              <a:path w="13969" h="1425575">
                <a:moveTo>
                  <a:pt x="0" y="1425578"/>
                </a:moveTo>
                <a:lnTo>
                  <a:pt x="137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31190" y="4866865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2034" y="86133"/>
                </a:lnTo>
                <a:lnTo>
                  <a:pt x="85721" y="82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43825" y="3470273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686" y="0"/>
                </a:moveTo>
                <a:lnTo>
                  <a:pt x="0" y="85308"/>
                </a:lnTo>
                <a:lnTo>
                  <a:pt x="85721" y="86135"/>
                </a:lnTo>
                <a:lnTo>
                  <a:pt x="4368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5002" y="4787582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4539" y="3309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12289" y="4028757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7139" y="49860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60139" y="3995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7139" y="30048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9101" y="410193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6524" y="411971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6524" y="394981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2399" y="407822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1678" y="409403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4" y="306189"/>
                </a:lnTo>
                <a:lnTo>
                  <a:pt x="511666" y="300349"/>
                </a:lnTo>
                <a:lnTo>
                  <a:pt x="567449" y="291005"/>
                </a:lnTo>
                <a:lnTo>
                  <a:pt x="618391" y="278473"/>
                </a:lnTo>
                <a:lnTo>
                  <a:pt x="663691" y="263070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4" y="129106"/>
                </a:lnTo>
                <a:lnTo>
                  <a:pt x="734168" y="83284"/>
                </a:lnTo>
                <a:lnTo>
                  <a:pt x="663691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1678" y="3924127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3"/>
                </a:lnTo>
                <a:lnTo>
                  <a:pt x="0" y="154101"/>
                </a:lnTo>
                <a:lnTo>
                  <a:pt x="5088" y="179098"/>
                </a:lnTo>
                <a:lnTo>
                  <a:pt x="43395" y="224921"/>
                </a:lnTo>
                <a:lnTo>
                  <a:pt x="113871" y="263069"/>
                </a:lnTo>
                <a:lnTo>
                  <a:pt x="159172" y="278471"/>
                </a:lnTo>
                <a:lnTo>
                  <a:pt x="210114" y="291004"/>
                </a:lnTo>
                <a:lnTo>
                  <a:pt x="265896" y="300348"/>
                </a:lnTo>
                <a:lnTo>
                  <a:pt x="325719" y="306187"/>
                </a:lnTo>
                <a:lnTo>
                  <a:pt x="388781" y="308204"/>
                </a:lnTo>
                <a:lnTo>
                  <a:pt x="451844" y="306187"/>
                </a:lnTo>
                <a:lnTo>
                  <a:pt x="511666" y="300348"/>
                </a:lnTo>
                <a:lnTo>
                  <a:pt x="567449" y="291004"/>
                </a:lnTo>
                <a:lnTo>
                  <a:pt x="618391" y="278471"/>
                </a:lnTo>
                <a:lnTo>
                  <a:pt x="663691" y="263069"/>
                </a:lnTo>
                <a:lnTo>
                  <a:pt x="702551" y="245113"/>
                </a:lnTo>
                <a:lnTo>
                  <a:pt x="757743" y="202810"/>
                </a:lnTo>
                <a:lnTo>
                  <a:pt x="777563" y="154101"/>
                </a:lnTo>
                <a:lnTo>
                  <a:pt x="772474" y="129105"/>
                </a:lnTo>
                <a:lnTo>
                  <a:pt x="734168" y="83283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69101" y="3963352"/>
            <a:ext cx="785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312101" y="5170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19524" y="51881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19524" y="5018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5399" y="51466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04678" y="5162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04678" y="49925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591264" y="5031739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05751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4" h="170814">
                <a:moveTo>
                  <a:pt x="0" y="170407"/>
                </a:moveTo>
                <a:lnTo>
                  <a:pt x="784985" y="170407"/>
                </a:lnTo>
                <a:lnTo>
                  <a:pt x="784985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313174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9" y="289989"/>
                </a:lnTo>
                <a:lnTo>
                  <a:pt x="618391" y="277501"/>
                </a:lnTo>
                <a:lnTo>
                  <a:pt x="663692" y="262152"/>
                </a:lnTo>
                <a:lnTo>
                  <a:pt x="702551" y="244259"/>
                </a:lnTo>
                <a:lnTo>
                  <a:pt x="757743" y="202104"/>
                </a:lnTo>
                <a:lnTo>
                  <a:pt x="777563" y="153565"/>
                </a:lnTo>
                <a:lnTo>
                  <a:pt x="772475" y="128656"/>
                </a:lnTo>
                <a:lnTo>
                  <a:pt x="734168" y="82993"/>
                </a:lnTo>
                <a:lnTo>
                  <a:pt x="663692" y="44978"/>
                </a:lnTo>
                <a:lnTo>
                  <a:pt x="618391" y="29629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13174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9" y="289988"/>
                </a:lnTo>
                <a:lnTo>
                  <a:pt x="618391" y="277500"/>
                </a:lnTo>
                <a:lnTo>
                  <a:pt x="663692" y="262151"/>
                </a:lnTo>
                <a:lnTo>
                  <a:pt x="702551" y="244258"/>
                </a:lnTo>
                <a:lnTo>
                  <a:pt x="757743" y="202103"/>
                </a:lnTo>
                <a:lnTo>
                  <a:pt x="777563" y="153564"/>
                </a:lnTo>
                <a:lnTo>
                  <a:pt x="772475" y="128655"/>
                </a:lnTo>
                <a:lnTo>
                  <a:pt x="734168" y="82992"/>
                </a:lnTo>
                <a:lnTo>
                  <a:pt x="663692" y="44977"/>
                </a:lnTo>
                <a:lnTo>
                  <a:pt x="618391" y="29628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89049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1" y="170407"/>
                </a:lnTo>
                <a:lnTo>
                  <a:pt x="786841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98328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98328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84914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177414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5" h="170814">
                <a:moveTo>
                  <a:pt x="0" y="170407"/>
                </a:moveTo>
                <a:lnTo>
                  <a:pt x="784984" y="170407"/>
                </a:lnTo>
                <a:lnTo>
                  <a:pt x="784984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84837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8" y="289989"/>
                </a:lnTo>
                <a:lnTo>
                  <a:pt x="618390" y="277501"/>
                </a:lnTo>
                <a:lnTo>
                  <a:pt x="663691" y="262152"/>
                </a:lnTo>
                <a:lnTo>
                  <a:pt x="702550" y="244259"/>
                </a:lnTo>
                <a:lnTo>
                  <a:pt x="757742" y="202104"/>
                </a:lnTo>
                <a:lnTo>
                  <a:pt x="777562" y="153565"/>
                </a:lnTo>
                <a:lnTo>
                  <a:pt x="772474" y="128656"/>
                </a:lnTo>
                <a:lnTo>
                  <a:pt x="734167" y="82993"/>
                </a:lnTo>
                <a:lnTo>
                  <a:pt x="663691" y="44978"/>
                </a:lnTo>
                <a:lnTo>
                  <a:pt x="618390" y="29629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84837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8" y="289988"/>
                </a:lnTo>
                <a:lnTo>
                  <a:pt x="618390" y="277500"/>
                </a:lnTo>
                <a:lnTo>
                  <a:pt x="663691" y="262151"/>
                </a:lnTo>
                <a:lnTo>
                  <a:pt x="702550" y="244258"/>
                </a:lnTo>
                <a:lnTo>
                  <a:pt x="757742" y="202103"/>
                </a:lnTo>
                <a:lnTo>
                  <a:pt x="777562" y="153564"/>
                </a:lnTo>
                <a:lnTo>
                  <a:pt x="772474" y="128655"/>
                </a:lnTo>
                <a:lnTo>
                  <a:pt x="734167" y="82992"/>
                </a:lnTo>
                <a:lnTo>
                  <a:pt x="663691" y="44977"/>
                </a:lnTo>
                <a:lnTo>
                  <a:pt x="618390" y="29628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60712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0" y="170407"/>
                </a:lnTo>
                <a:lnTo>
                  <a:pt x="786840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69991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69991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456576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177414" y="516238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4" y="169908"/>
                </a:lnTo>
                <a:lnTo>
                  <a:pt x="784984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84837" y="518016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84837" y="501026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60712" y="513867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0" y="169908"/>
                </a:lnTo>
                <a:lnTo>
                  <a:pt x="786840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69991" y="515448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69991" y="4984575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456576" y="50238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4557712" y="2424112"/>
          <a:ext cx="4114798" cy="352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387350"/>
                <a:gridCol w="758189"/>
                <a:gridCol w="516255"/>
                <a:gridCol w="339089"/>
                <a:gridCol w="516255"/>
                <a:gridCol w="683260"/>
              </a:tblGrid>
              <a:tr h="1006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77165" marR="109220" indent="-8636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Info</a:t>
                      </a:r>
                      <a:r>
                        <a:rPr sz="2000" spc="-1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at  </a:t>
                      </a: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04800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99060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	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75692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	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146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49250" marR="336550" algn="just">
                        <a:lnSpc>
                          <a:spcPct val="1374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  C  D  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3367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2" name="object 62"/>
          <p:cNvSpPr/>
          <p:nvPr/>
        </p:nvSpPr>
        <p:spPr>
          <a:xfrm>
            <a:off x="357447" y="540327"/>
            <a:ext cx="5370021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384174" y="653754"/>
            <a:ext cx="527494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56685" algn="l"/>
              </a:tabLst>
            </a:pPr>
            <a:r>
              <a:rPr dirty="0"/>
              <a:t>Example:</a:t>
            </a:r>
            <a:r>
              <a:rPr spc="-5" dirty="0"/>
              <a:t> </a:t>
            </a:r>
            <a:r>
              <a:rPr spc="-5" dirty="0" smtClean="0"/>
              <a:t>I</a:t>
            </a:r>
            <a:r>
              <a:rPr dirty="0" smtClean="0"/>
              <a:t>ni</a:t>
            </a:r>
            <a:r>
              <a:rPr spc="-5" dirty="0" smtClean="0"/>
              <a:t>t</a:t>
            </a:r>
            <a:r>
              <a:rPr dirty="0" smtClean="0"/>
              <a:t>ial</a:t>
            </a:r>
            <a:r>
              <a:rPr lang="en-IN" dirty="0" smtClean="0"/>
              <a:t> </a:t>
            </a:r>
            <a:r>
              <a:rPr dirty="0" smtClean="0"/>
              <a:t>S</a:t>
            </a:r>
            <a:r>
              <a:rPr spc="-5" dirty="0" smtClean="0"/>
              <a:t>t</a:t>
            </a:r>
            <a:r>
              <a:rPr dirty="0" smtClean="0"/>
              <a:t>a</a:t>
            </a:r>
            <a:r>
              <a:rPr spc="-5" dirty="0" smtClean="0"/>
              <a:t>t</a:t>
            </a:r>
            <a:r>
              <a:rPr dirty="0" smtClean="0"/>
              <a:t>e</a:t>
            </a:r>
            <a:endParaRPr dirty="0"/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5000" y="4825999"/>
            <a:ext cx="4419600" cy="736600"/>
          </a:xfrm>
          <a:custGeom>
            <a:avLst/>
            <a:gdLst/>
            <a:ahLst/>
            <a:cxnLst/>
            <a:rect l="l" t="t" r="r" b="b"/>
            <a:pathLst>
              <a:path w="4419600" h="736600">
                <a:moveTo>
                  <a:pt x="2209800" y="0"/>
                </a:moveTo>
                <a:lnTo>
                  <a:pt x="2133830" y="213"/>
                </a:lnTo>
                <a:lnTo>
                  <a:pt x="2058503" y="849"/>
                </a:lnTo>
                <a:lnTo>
                  <a:pt x="1983860" y="1901"/>
                </a:lnTo>
                <a:lnTo>
                  <a:pt x="1909943" y="3362"/>
                </a:lnTo>
                <a:lnTo>
                  <a:pt x="1836791" y="5224"/>
                </a:lnTo>
                <a:lnTo>
                  <a:pt x="1622347" y="13155"/>
                </a:lnTo>
                <a:lnTo>
                  <a:pt x="1416280" y="24458"/>
                </a:lnTo>
                <a:lnTo>
                  <a:pt x="1219703" y="38946"/>
                </a:lnTo>
                <a:lnTo>
                  <a:pt x="1094471" y="50283"/>
                </a:lnTo>
                <a:lnTo>
                  <a:pt x="974279" y="62899"/>
                </a:lnTo>
                <a:lnTo>
                  <a:pt x="859456" y="76739"/>
                </a:lnTo>
                <a:lnTo>
                  <a:pt x="750332" y="91748"/>
                </a:lnTo>
                <a:lnTo>
                  <a:pt x="647235" y="107872"/>
                </a:lnTo>
                <a:lnTo>
                  <a:pt x="598049" y="116334"/>
                </a:lnTo>
                <a:lnTo>
                  <a:pt x="550494" y="125055"/>
                </a:lnTo>
                <a:lnTo>
                  <a:pt x="504610" y="134026"/>
                </a:lnTo>
                <a:lnTo>
                  <a:pt x="460439" y="143242"/>
                </a:lnTo>
                <a:lnTo>
                  <a:pt x="418021" y="152695"/>
                </a:lnTo>
                <a:lnTo>
                  <a:pt x="377398" y="162379"/>
                </a:lnTo>
                <a:lnTo>
                  <a:pt x="338612" y="172287"/>
                </a:lnTo>
                <a:lnTo>
                  <a:pt x="301702" y="182411"/>
                </a:lnTo>
                <a:lnTo>
                  <a:pt x="233678" y="203283"/>
                </a:lnTo>
                <a:lnTo>
                  <a:pt x="173656" y="224940"/>
                </a:lnTo>
                <a:lnTo>
                  <a:pt x="121966" y="247328"/>
                </a:lnTo>
                <a:lnTo>
                  <a:pt x="78936" y="270391"/>
                </a:lnTo>
                <a:lnTo>
                  <a:pt x="44895" y="294074"/>
                </a:lnTo>
                <a:lnTo>
                  <a:pt x="11408" y="330643"/>
                </a:lnTo>
                <a:lnTo>
                  <a:pt x="0" y="368300"/>
                </a:lnTo>
                <a:lnTo>
                  <a:pt x="1281" y="380961"/>
                </a:lnTo>
                <a:lnTo>
                  <a:pt x="20172" y="418275"/>
                </a:lnTo>
                <a:lnTo>
                  <a:pt x="60771" y="454440"/>
                </a:lnTo>
                <a:lnTo>
                  <a:pt x="99348" y="477820"/>
                </a:lnTo>
                <a:lnTo>
                  <a:pt x="146749" y="500552"/>
                </a:lnTo>
                <a:lnTo>
                  <a:pt x="202646" y="522581"/>
                </a:lnTo>
                <a:lnTo>
                  <a:pt x="266710" y="543853"/>
                </a:lnTo>
                <a:lnTo>
                  <a:pt x="338612" y="564311"/>
                </a:lnTo>
                <a:lnTo>
                  <a:pt x="377398" y="574219"/>
                </a:lnTo>
                <a:lnTo>
                  <a:pt x="418021" y="583903"/>
                </a:lnTo>
                <a:lnTo>
                  <a:pt x="460439" y="593356"/>
                </a:lnTo>
                <a:lnTo>
                  <a:pt x="504610" y="602572"/>
                </a:lnTo>
                <a:lnTo>
                  <a:pt x="550494" y="611543"/>
                </a:lnTo>
                <a:lnTo>
                  <a:pt x="598049" y="620264"/>
                </a:lnTo>
                <a:lnTo>
                  <a:pt x="647235" y="628726"/>
                </a:lnTo>
                <a:lnTo>
                  <a:pt x="698009" y="636924"/>
                </a:lnTo>
                <a:lnTo>
                  <a:pt x="804161" y="652497"/>
                </a:lnTo>
                <a:lnTo>
                  <a:pt x="916176" y="666928"/>
                </a:lnTo>
                <a:lnTo>
                  <a:pt x="1033724" y="680163"/>
                </a:lnTo>
                <a:lnTo>
                  <a:pt x="1156477" y="692147"/>
                </a:lnTo>
                <a:lnTo>
                  <a:pt x="1284106" y="702824"/>
                </a:lnTo>
                <a:lnTo>
                  <a:pt x="1483970" y="716271"/>
                </a:lnTo>
                <a:lnTo>
                  <a:pt x="1692952" y="726470"/>
                </a:lnTo>
                <a:lnTo>
                  <a:pt x="1909943" y="733236"/>
                </a:lnTo>
                <a:lnTo>
                  <a:pt x="1983860" y="734697"/>
                </a:lnTo>
                <a:lnTo>
                  <a:pt x="2058503" y="735749"/>
                </a:lnTo>
                <a:lnTo>
                  <a:pt x="2133830" y="736385"/>
                </a:lnTo>
                <a:lnTo>
                  <a:pt x="2209800" y="736598"/>
                </a:lnTo>
                <a:lnTo>
                  <a:pt x="2435738" y="734697"/>
                </a:lnTo>
                <a:lnTo>
                  <a:pt x="2655151" y="729116"/>
                </a:lnTo>
                <a:lnTo>
                  <a:pt x="2866926" y="720040"/>
                </a:lnTo>
                <a:lnTo>
                  <a:pt x="3069952" y="707655"/>
                </a:lnTo>
                <a:lnTo>
                  <a:pt x="3199895" y="697652"/>
                </a:lnTo>
                <a:lnTo>
                  <a:pt x="3325127" y="686315"/>
                </a:lnTo>
                <a:lnTo>
                  <a:pt x="3445318" y="673699"/>
                </a:lnTo>
                <a:lnTo>
                  <a:pt x="3560141" y="659859"/>
                </a:lnTo>
                <a:lnTo>
                  <a:pt x="3669266" y="644849"/>
                </a:lnTo>
                <a:lnTo>
                  <a:pt x="3772363" y="628726"/>
                </a:lnTo>
                <a:lnTo>
                  <a:pt x="3821548" y="620264"/>
                </a:lnTo>
                <a:lnTo>
                  <a:pt x="3869103" y="611543"/>
                </a:lnTo>
                <a:lnTo>
                  <a:pt x="3914987" y="602572"/>
                </a:lnTo>
                <a:lnTo>
                  <a:pt x="3959159" y="593356"/>
                </a:lnTo>
                <a:lnTo>
                  <a:pt x="4001576" y="583903"/>
                </a:lnTo>
                <a:lnTo>
                  <a:pt x="4042199" y="574219"/>
                </a:lnTo>
                <a:lnTo>
                  <a:pt x="4080986" y="564311"/>
                </a:lnTo>
                <a:lnTo>
                  <a:pt x="4117896" y="554187"/>
                </a:lnTo>
                <a:lnTo>
                  <a:pt x="4185919" y="533315"/>
                </a:lnTo>
                <a:lnTo>
                  <a:pt x="4245941" y="511658"/>
                </a:lnTo>
                <a:lnTo>
                  <a:pt x="4297632" y="489271"/>
                </a:lnTo>
                <a:lnTo>
                  <a:pt x="4340662" y="466208"/>
                </a:lnTo>
                <a:lnTo>
                  <a:pt x="4374703" y="442525"/>
                </a:lnTo>
                <a:lnTo>
                  <a:pt x="4408189" y="405956"/>
                </a:lnTo>
                <a:lnTo>
                  <a:pt x="4419598" y="368300"/>
                </a:lnTo>
                <a:lnTo>
                  <a:pt x="4418317" y="355638"/>
                </a:lnTo>
                <a:lnTo>
                  <a:pt x="4399425" y="318323"/>
                </a:lnTo>
                <a:lnTo>
                  <a:pt x="4358827" y="282158"/>
                </a:lnTo>
                <a:lnTo>
                  <a:pt x="4320250" y="258778"/>
                </a:lnTo>
                <a:lnTo>
                  <a:pt x="4272848" y="236046"/>
                </a:lnTo>
                <a:lnTo>
                  <a:pt x="4216951" y="214017"/>
                </a:lnTo>
                <a:lnTo>
                  <a:pt x="4152887" y="192746"/>
                </a:lnTo>
                <a:lnTo>
                  <a:pt x="4080986" y="172287"/>
                </a:lnTo>
                <a:lnTo>
                  <a:pt x="4042199" y="162379"/>
                </a:lnTo>
                <a:lnTo>
                  <a:pt x="4001576" y="152695"/>
                </a:lnTo>
                <a:lnTo>
                  <a:pt x="3959159" y="143242"/>
                </a:lnTo>
                <a:lnTo>
                  <a:pt x="3914987" y="134026"/>
                </a:lnTo>
                <a:lnTo>
                  <a:pt x="3869103" y="125055"/>
                </a:lnTo>
                <a:lnTo>
                  <a:pt x="3821548" y="116334"/>
                </a:lnTo>
                <a:lnTo>
                  <a:pt x="3772363" y="107872"/>
                </a:lnTo>
                <a:lnTo>
                  <a:pt x="3669266" y="91748"/>
                </a:lnTo>
                <a:lnTo>
                  <a:pt x="3560141" y="76739"/>
                </a:lnTo>
                <a:lnTo>
                  <a:pt x="3445318" y="62899"/>
                </a:lnTo>
                <a:lnTo>
                  <a:pt x="3325127" y="50283"/>
                </a:lnTo>
                <a:lnTo>
                  <a:pt x="3199895" y="38946"/>
                </a:lnTo>
                <a:lnTo>
                  <a:pt x="3003317" y="24458"/>
                </a:lnTo>
                <a:lnTo>
                  <a:pt x="2797251" y="13155"/>
                </a:lnTo>
                <a:lnTo>
                  <a:pt x="2582807" y="5224"/>
                </a:lnTo>
                <a:lnTo>
                  <a:pt x="2361096" y="849"/>
                </a:lnTo>
                <a:lnTo>
                  <a:pt x="2209800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6339" y="3333325"/>
            <a:ext cx="719455" cy="534670"/>
          </a:xfrm>
          <a:custGeom>
            <a:avLst/>
            <a:gdLst/>
            <a:ahLst/>
            <a:cxnLst/>
            <a:rect l="l" t="t" r="r" b="b"/>
            <a:pathLst>
              <a:path w="719455" h="534670">
                <a:moveTo>
                  <a:pt x="0" y="534248"/>
                </a:moveTo>
                <a:lnTo>
                  <a:pt x="719295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3399" y="37990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43261" y="0"/>
                </a:moveTo>
                <a:lnTo>
                  <a:pt x="0" y="85524"/>
                </a:lnTo>
                <a:lnTo>
                  <a:pt x="94376" y="68820"/>
                </a:lnTo>
                <a:lnTo>
                  <a:pt x="4326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04198" y="33162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94376" y="0"/>
                </a:moveTo>
                <a:lnTo>
                  <a:pt x="0" y="16705"/>
                </a:lnTo>
                <a:lnTo>
                  <a:pt x="51114" y="85524"/>
                </a:lnTo>
                <a:lnTo>
                  <a:pt x="9437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196" y="4422213"/>
            <a:ext cx="713740" cy="704850"/>
          </a:xfrm>
          <a:custGeom>
            <a:avLst/>
            <a:gdLst/>
            <a:ahLst/>
            <a:cxnLst/>
            <a:rect l="l" t="t" r="r" b="b"/>
            <a:pathLst>
              <a:path w="713740" h="704850">
                <a:moveTo>
                  <a:pt x="0" y="0"/>
                </a:moveTo>
                <a:lnTo>
                  <a:pt x="713395" y="704384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0862" y="4402137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0" y="0"/>
                </a:moveTo>
                <a:lnTo>
                  <a:pt x="30885" y="90731"/>
                </a:lnTo>
                <a:lnTo>
                  <a:pt x="91115" y="29730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3810" y="5055944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60229" y="0"/>
                </a:moveTo>
                <a:lnTo>
                  <a:pt x="0" y="61000"/>
                </a:lnTo>
                <a:lnTo>
                  <a:pt x="91114" y="90730"/>
                </a:lnTo>
                <a:lnTo>
                  <a:pt x="6022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11373" y="5308806"/>
            <a:ext cx="1030605" cy="7620"/>
          </a:xfrm>
          <a:custGeom>
            <a:avLst/>
            <a:gdLst/>
            <a:ahLst/>
            <a:cxnLst/>
            <a:rect l="l" t="t" r="r" b="b"/>
            <a:pathLst>
              <a:path w="1030605" h="7620">
                <a:moveTo>
                  <a:pt x="1030289" y="0"/>
                </a:moveTo>
                <a:lnTo>
                  <a:pt x="0" y="752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84202" y="5266363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0" y="0"/>
                </a:moveTo>
                <a:lnTo>
                  <a:pt x="624" y="85722"/>
                </a:lnTo>
                <a:lnTo>
                  <a:pt x="86034" y="4223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82799" y="5273049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85410" y="0"/>
                </a:moveTo>
                <a:lnTo>
                  <a:pt x="0" y="43487"/>
                </a:lnTo>
                <a:lnTo>
                  <a:pt x="86034" y="85722"/>
                </a:lnTo>
                <a:lnTo>
                  <a:pt x="8541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43607" y="3498848"/>
            <a:ext cx="15875" cy="1417955"/>
          </a:xfrm>
          <a:custGeom>
            <a:avLst/>
            <a:gdLst/>
            <a:ahLst/>
            <a:cxnLst/>
            <a:rect l="l" t="t" r="r" b="b"/>
            <a:pathLst>
              <a:path w="15875" h="1417954">
                <a:moveTo>
                  <a:pt x="15259" y="0"/>
                </a:moveTo>
                <a:lnTo>
                  <a:pt x="0" y="1417641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15391" y="3470274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783" y="0"/>
                </a:moveTo>
                <a:lnTo>
                  <a:pt x="0" y="85258"/>
                </a:lnTo>
                <a:lnTo>
                  <a:pt x="85719" y="86180"/>
                </a:lnTo>
                <a:lnTo>
                  <a:pt x="43783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1361" y="4858881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1937" y="86180"/>
                </a:lnTo>
                <a:lnTo>
                  <a:pt x="85719" y="92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5024" y="3316287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5">
                <a:moveTo>
                  <a:pt x="0" y="0"/>
                </a:moveTo>
                <a:lnTo>
                  <a:pt x="10366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76449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84512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3500" y="3498848"/>
            <a:ext cx="13970" cy="1425575"/>
          </a:xfrm>
          <a:custGeom>
            <a:avLst/>
            <a:gdLst/>
            <a:ahLst/>
            <a:cxnLst/>
            <a:rect l="l" t="t" r="r" b="b"/>
            <a:pathLst>
              <a:path w="13969" h="1425575">
                <a:moveTo>
                  <a:pt x="0" y="1425578"/>
                </a:moveTo>
                <a:lnTo>
                  <a:pt x="137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1190" y="4866865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2034" y="86133"/>
                </a:lnTo>
                <a:lnTo>
                  <a:pt x="85721" y="82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43825" y="3470273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686" y="0"/>
                </a:moveTo>
                <a:lnTo>
                  <a:pt x="0" y="85308"/>
                </a:lnTo>
                <a:lnTo>
                  <a:pt x="85721" y="86135"/>
                </a:lnTo>
                <a:lnTo>
                  <a:pt x="4368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8339" y="4757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4539" y="3309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2289" y="4028757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7139" y="49860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60139" y="3995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17139" y="30048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9101" y="410193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6524" y="411971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6524" y="394981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2399" y="407822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1678" y="409403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4" y="306189"/>
                </a:lnTo>
                <a:lnTo>
                  <a:pt x="511666" y="300349"/>
                </a:lnTo>
                <a:lnTo>
                  <a:pt x="567449" y="291005"/>
                </a:lnTo>
                <a:lnTo>
                  <a:pt x="618391" y="278473"/>
                </a:lnTo>
                <a:lnTo>
                  <a:pt x="663691" y="263070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4" y="129106"/>
                </a:lnTo>
                <a:lnTo>
                  <a:pt x="734168" y="83284"/>
                </a:lnTo>
                <a:lnTo>
                  <a:pt x="663691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1678" y="3924127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3"/>
                </a:lnTo>
                <a:lnTo>
                  <a:pt x="0" y="154101"/>
                </a:lnTo>
                <a:lnTo>
                  <a:pt x="5088" y="179098"/>
                </a:lnTo>
                <a:lnTo>
                  <a:pt x="43395" y="224921"/>
                </a:lnTo>
                <a:lnTo>
                  <a:pt x="113871" y="263069"/>
                </a:lnTo>
                <a:lnTo>
                  <a:pt x="159172" y="278471"/>
                </a:lnTo>
                <a:lnTo>
                  <a:pt x="210114" y="291004"/>
                </a:lnTo>
                <a:lnTo>
                  <a:pt x="265896" y="300348"/>
                </a:lnTo>
                <a:lnTo>
                  <a:pt x="325719" y="306187"/>
                </a:lnTo>
                <a:lnTo>
                  <a:pt x="388781" y="308204"/>
                </a:lnTo>
                <a:lnTo>
                  <a:pt x="451844" y="306187"/>
                </a:lnTo>
                <a:lnTo>
                  <a:pt x="511666" y="300348"/>
                </a:lnTo>
                <a:lnTo>
                  <a:pt x="567449" y="291004"/>
                </a:lnTo>
                <a:lnTo>
                  <a:pt x="618391" y="278471"/>
                </a:lnTo>
                <a:lnTo>
                  <a:pt x="663691" y="263069"/>
                </a:lnTo>
                <a:lnTo>
                  <a:pt x="702551" y="245113"/>
                </a:lnTo>
                <a:lnTo>
                  <a:pt x="757743" y="202810"/>
                </a:lnTo>
                <a:lnTo>
                  <a:pt x="777563" y="154101"/>
                </a:lnTo>
                <a:lnTo>
                  <a:pt x="772474" y="129105"/>
                </a:lnTo>
                <a:lnTo>
                  <a:pt x="734168" y="83283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69101" y="3963352"/>
            <a:ext cx="785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12101" y="5170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19524" y="51881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19524" y="5018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95399" y="51466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04678" y="5162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304678" y="49925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591264" y="5031739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305751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4" h="170814">
                <a:moveTo>
                  <a:pt x="0" y="170407"/>
                </a:moveTo>
                <a:lnTo>
                  <a:pt x="784985" y="170407"/>
                </a:lnTo>
                <a:lnTo>
                  <a:pt x="784985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13174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9" y="289989"/>
                </a:lnTo>
                <a:lnTo>
                  <a:pt x="618391" y="277501"/>
                </a:lnTo>
                <a:lnTo>
                  <a:pt x="663692" y="262152"/>
                </a:lnTo>
                <a:lnTo>
                  <a:pt x="702551" y="244259"/>
                </a:lnTo>
                <a:lnTo>
                  <a:pt x="757743" y="202104"/>
                </a:lnTo>
                <a:lnTo>
                  <a:pt x="777563" y="153565"/>
                </a:lnTo>
                <a:lnTo>
                  <a:pt x="772475" y="128656"/>
                </a:lnTo>
                <a:lnTo>
                  <a:pt x="734168" y="82993"/>
                </a:lnTo>
                <a:lnTo>
                  <a:pt x="663692" y="44978"/>
                </a:lnTo>
                <a:lnTo>
                  <a:pt x="618391" y="29629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13174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9" y="289988"/>
                </a:lnTo>
                <a:lnTo>
                  <a:pt x="618391" y="277500"/>
                </a:lnTo>
                <a:lnTo>
                  <a:pt x="663692" y="262151"/>
                </a:lnTo>
                <a:lnTo>
                  <a:pt x="702551" y="244258"/>
                </a:lnTo>
                <a:lnTo>
                  <a:pt x="757743" y="202103"/>
                </a:lnTo>
                <a:lnTo>
                  <a:pt x="777563" y="153564"/>
                </a:lnTo>
                <a:lnTo>
                  <a:pt x="772475" y="128655"/>
                </a:lnTo>
                <a:lnTo>
                  <a:pt x="734168" y="82992"/>
                </a:lnTo>
                <a:lnTo>
                  <a:pt x="663692" y="44977"/>
                </a:lnTo>
                <a:lnTo>
                  <a:pt x="618391" y="29628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89049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1" y="170407"/>
                </a:lnTo>
                <a:lnTo>
                  <a:pt x="786841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98328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98328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584914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177414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5" h="170814">
                <a:moveTo>
                  <a:pt x="0" y="170407"/>
                </a:moveTo>
                <a:lnTo>
                  <a:pt x="784984" y="170407"/>
                </a:lnTo>
                <a:lnTo>
                  <a:pt x="784984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84837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8" y="289989"/>
                </a:lnTo>
                <a:lnTo>
                  <a:pt x="618390" y="277501"/>
                </a:lnTo>
                <a:lnTo>
                  <a:pt x="663691" y="262152"/>
                </a:lnTo>
                <a:lnTo>
                  <a:pt x="702550" y="244259"/>
                </a:lnTo>
                <a:lnTo>
                  <a:pt x="757742" y="202104"/>
                </a:lnTo>
                <a:lnTo>
                  <a:pt x="777562" y="153565"/>
                </a:lnTo>
                <a:lnTo>
                  <a:pt x="772474" y="128656"/>
                </a:lnTo>
                <a:lnTo>
                  <a:pt x="734167" y="82993"/>
                </a:lnTo>
                <a:lnTo>
                  <a:pt x="663691" y="44978"/>
                </a:lnTo>
                <a:lnTo>
                  <a:pt x="618390" y="29629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84837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8" y="289988"/>
                </a:lnTo>
                <a:lnTo>
                  <a:pt x="618390" y="277500"/>
                </a:lnTo>
                <a:lnTo>
                  <a:pt x="663691" y="262151"/>
                </a:lnTo>
                <a:lnTo>
                  <a:pt x="702550" y="244258"/>
                </a:lnTo>
                <a:lnTo>
                  <a:pt x="757742" y="202103"/>
                </a:lnTo>
                <a:lnTo>
                  <a:pt x="777562" y="153564"/>
                </a:lnTo>
                <a:lnTo>
                  <a:pt x="772474" y="128655"/>
                </a:lnTo>
                <a:lnTo>
                  <a:pt x="734167" y="82992"/>
                </a:lnTo>
                <a:lnTo>
                  <a:pt x="663691" y="44977"/>
                </a:lnTo>
                <a:lnTo>
                  <a:pt x="618390" y="29628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60712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0" y="170407"/>
                </a:lnTo>
                <a:lnTo>
                  <a:pt x="786840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69991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169991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456576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177414" y="516238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4" y="169908"/>
                </a:lnTo>
                <a:lnTo>
                  <a:pt x="784984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84837" y="518016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84837" y="501026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60712" y="513867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0" y="169908"/>
                </a:lnTo>
                <a:lnTo>
                  <a:pt x="786840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69991" y="515448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169991" y="4984575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3456576" y="50238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4557712" y="2424112"/>
          <a:ext cx="4114798" cy="352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387350"/>
                <a:gridCol w="758189"/>
                <a:gridCol w="516255"/>
                <a:gridCol w="339089"/>
                <a:gridCol w="516255"/>
                <a:gridCol w="683260"/>
              </a:tblGrid>
              <a:tr h="1006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77165" marR="109220" indent="-8636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Info</a:t>
                      </a:r>
                      <a:r>
                        <a:rPr sz="2000" spc="-1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at  </a:t>
                      </a: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04800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99060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	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75692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	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146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49250" marR="336550" algn="just">
                        <a:lnSpc>
                          <a:spcPct val="1374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  C  D  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3" name="object 63"/>
          <p:cNvSpPr/>
          <p:nvPr/>
        </p:nvSpPr>
        <p:spPr>
          <a:xfrm>
            <a:off x="1442865" y="1519175"/>
            <a:ext cx="2981667" cy="3586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961749" y="1781287"/>
            <a:ext cx="1775460" cy="7518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b="1" spc="-270" dirty="0">
                <a:latin typeface="Arial"/>
                <a:cs typeface="Arial"/>
              </a:rPr>
              <a:t>I</a:t>
            </a:r>
            <a:r>
              <a:rPr sz="1600" b="1" spc="-270" dirty="0">
                <a:latin typeface="MS PGothic"/>
                <a:cs typeface="MS PGothic"/>
              </a:rPr>
              <a:t>ʼ</a:t>
            </a:r>
            <a:r>
              <a:rPr sz="1600" b="1" spc="-270" dirty="0">
                <a:latin typeface="Arial"/>
                <a:cs typeface="Arial"/>
              </a:rPr>
              <a:t>m </a:t>
            </a:r>
            <a:r>
              <a:rPr sz="1600" b="1" dirty="0">
                <a:latin typeface="Arial"/>
                <a:cs typeface="Arial"/>
              </a:rPr>
              <a:t>2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C, 0 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D </a:t>
            </a:r>
            <a:r>
              <a:rPr sz="1600" b="1" spc="-5" dirty="0">
                <a:latin typeface="Arial"/>
                <a:cs typeface="Arial"/>
              </a:rPr>
              <a:t>and </a:t>
            </a:r>
            <a:r>
              <a:rPr sz="1600" b="1" dirty="0">
                <a:latin typeface="Arial"/>
                <a:cs typeface="Arial"/>
              </a:rPr>
              <a:t>2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from  </a:t>
            </a: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524394" y="5403852"/>
            <a:ext cx="3276600" cy="996950"/>
          </a:xfrm>
          <a:custGeom>
            <a:avLst/>
            <a:gdLst/>
            <a:ahLst/>
            <a:cxnLst/>
            <a:rect l="l" t="t" r="r" b="b"/>
            <a:pathLst>
              <a:path w="3276600" h="996950">
                <a:moveTo>
                  <a:pt x="529792" y="0"/>
                </a:moveTo>
                <a:lnTo>
                  <a:pt x="805791" y="358670"/>
                </a:lnTo>
                <a:lnTo>
                  <a:pt x="725416" y="369254"/>
                </a:lnTo>
                <a:lnTo>
                  <a:pt x="648722" y="380694"/>
                </a:lnTo>
                <a:lnTo>
                  <a:pt x="575802" y="392948"/>
                </a:lnTo>
                <a:lnTo>
                  <a:pt x="506755" y="405974"/>
                </a:lnTo>
                <a:lnTo>
                  <a:pt x="441673" y="419729"/>
                </a:lnTo>
                <a:lnTo>
                  <a:pt x="380654" y="434173"/>
                </a:lnTo>
                <a:lnTo>
                  <a:pt x="323792" y="449263"/>
                </a:lnTo>
                <a:lnTo>
                  <a:pt x="271183" y="464957"/>
                </a:lnTo>
                <a:lnTo>
                  <a:pt x="222922" y="481213"/>
                </a:lnTo>
                <a:lnTo>
                  <a:pt x="179105" y="497989"/>
                </a:lnTo>
                <a:lnTo>
                  <a:pt x="139827" y="515244"/>
                </a:lnTo>
                <a:lnTo>
                  <a:pt x="105184" y="532935"/>
                </a:lnTo>
                <a:lnTo>
                  <a:pt x="50184" y="569460"/>
                </a:lnTo>
                <a:lnTo>
                  <a:pt x="14868" y="607226"/>
                </a:lnTo>
                <a:lnTo>
                  <a:pt x="0" y="645900"/>
                </a:lnTo>
                <a:lnTo>
                  <a:pt x="472" y="665473"/>
                </a:lnTo>
                <a:lnTo>
                  <a:pt x="17707" y="704878"/>
                </a:lnTo>
                <a:lnTo>
                  <a:pt x="43778" y="733219"/>
                </a:lnTo>
                <a:lnTo>
                  <a:pt x="80378" y="760561"/>
                </a:lnTo>
                <a:lnTo>
                  <a:pt x="126988" y="786824"/>
                </a:lnTo>
                <a:lnTo>
                  <a:pt x="183091" y="811928"/>
                </a:lnTo>
                <a:lnTo>
                  <a:pt x="248170" y="835794"/>
                </a:lnTo>
                <a:lnTo>
                  <a:pt x="321708" y="858341"/>
                </a:lnTo>
                <a:lnTo>
                  <a:pt x="361488" y="869094"/>
                </a:lnTo>
                <a:lnTo>
                  <a:pt x="403188" y="879488"/>
                </a:lnTo>
                <a:lnTo>
                  <a:pt x="446744" y="889513"/>
                </a:lnTo>
                <a:lnTo>
                  <a:pt x="492091" y="899157"/>
                </a:lnTo>
                <a:lnTo>
                  <a:pt x="539165" y="908412"/>
                </a:lnTo>
                <a:lnTo>
                  <a:pt x="587901" y="917267"/>
                </a:lnTo>
                <a:lnTo>
                  <a:pt x="638235" y="925712"/>
                </a:lnTo>
                <a:lnTo>
                  <a:pt x="690101" y="933738"/>
                </a:lnTo>
                <a:lnTo>
                  <a:pt x="743435" y="941334"/>
                </a:lnTo>
                <a:lnTo>
                  <a:pt x="798172" y="948489"/>
                </a:lnTo>
                <a:lnTo>
                  <a:pt x="854249" y="955196"/>
                </a:lnTo>
                <a:lnTo>
                  <a:pt x="911599" y="961442"/>
                </a:lnTo>
                <a:lnTo>
                  <a:pt x="970159" y="967219"/>
                </a:lnTo>
                <a:lnTo>
                  <a:pt x="1090647" y="977322"/>
                </a:lnTo>
                <a:lnTo>
                  <a:pt x="1215198" y="985427"/>
                </a:lnTo>
                <a:lnTo>
                  <a:pt x="1343292" y="991452"/>
                </a:lnTo>
                <a:lnTo>
                  <a:pt x="1474413" y="995318"/>
                </a:lnTo>
                <a:lnTo>
                  <a:pt x="1608044" y="996944"/>
                </a:lnTo>
                <a:lnTo>
                  <a:pt x="1743668" y="996251"/>
                </a:lnTo>
                <a:lnTo>
                  <a:pt x="1880766" y="993158"/>
                </a:lnTo>
                <a:lnTo>
                  <a:pt x="1956772" y="990396"/>
                </a:lnTo>
                <a:lnTo>
                  <a:pt x="2031349" y="986936"/>
                </a:lnTo>
                <a:lnTo>
                  <a:pt x="2104432" y="982795"/>
                </a:lnTo>
                <a:lnTo>
                  <a:pt x="2175954" y="977992"/>
                </a:lnTo>
                <a:lnTo>
                  <a:pt x="2245849" y="972547"/>
                </a:lnTo>
                <a:lnTo>
                  <a:pt x="2314051" y="966478"/>
                </a:lnTo>
                <a:lnTo>
                  <a:pt x="2380493" y="959804"/>
                </a:lnTo>
                <a:lnTo>
                  <a:pt x="2445110" y="952543"/>
                </a:lnTo>
                <a:lnTo>
                  <a:pt x="2507836" y="944714"/>
                </a:lnTo>
                <a:lnTo>
                  <a:pt x="2568604" y="936336"/>
                </a:lnTo>
                <a:lnTo>
                  <a:pt x="2627348" y="927428"/>
                </a:lnTo>
                <a:lnTo>
                  <a:pt x="2684002" y="918009"/>
                </a:lnTo>
                <a:lnTo>
                  <a:pt x="2738501" y="908096"/>
                </a:lnTo>
                <a:lnTo>
                  <a:pt x="2790777" y="897709"/>
                </a:lnTo>
                <a:lnTo>
                  <a:pt x="2840764" y="886867"/>
                </a:lnTo>
                <a:lnTo>
                  <a:pt x="2888397" y="875588"/>
                </a:lnTo>
                <a:lnTo>
                  <a:pt x="2933610" y="863891"/>
                </a:lnTo>
                <a:lnTo>
                  <a:pt x="2976335" y="851795"/>
                </a:lnTo>
                <a:lnTo>
                  <a:pt x="3016508" y="839318"/>
                </a:lnTo>
                <a:lnTo>
                  <a:pt x="3054062" y="826479"/>
                </a:lnTo>
                <a:lnTo>
                  <a:pt x="3121047" y="799792"/>
                </a:lnTo>
                <a:lnTo>
                  <a:pt x="3176763" y="771881"/>
                </a:lnTo>
                <a:lnTo>
                  <a:pt x="3220680" y="742898"/>
                </a:lnTo>
                <a:lnTo>
                  <a:pt x="3252268" y="712992"/>
                </a:lnTo>
                <a:lnTo>
                  <a:pt x="3275378" y="666730"/>
                </a:lnTo>
                <a:lnTo>
                  <a:pt x="3276344" y="651010"/>
                </a:lnTo>
                <a:lnTo>
                  <a:pt x="3273831" y="635172"/>
                </a:lnTo>
                <a:lnTo>
                  <a:pt x="3246416" y="588925"/>
                </a:lnTo>
                <a:lnTo>
                  <a:pt x="3215016" y="561074"/>
                </a:lnTo>
                <a:lnTo>
                  <a:pt x="3173347" y="534261"/>
                </a:lnTo>
                <a:lnTo>
                  <a:pt x="3121925" y="508568"/>
                </a:lnTo>
                <a:lnTo>
                  <a:pt x="3061269" y="484073"/>
                </a:lnTo>
                <a:lnTo>
                  <a:pt x="2991896" y="460857"/>
                </a:lnTo>
                <a:lnTo>
                  <a:pt x="2954102" y="449753"/>
                </a:lnTo>
                <a:lnTo>
                  <a:pt x="2914322" y="438999"/>
                </a:lnTo>
                <a:lnTo>
                  <a:pt x="2872622" y="428605"/>
                </a:lnTo>
                <a:lnTo>
                  <a:pt x="2829066" y="418581"/>
                </a:lnTo>
                <a:lnTo>
                  <a:pt x="2783719" y="408937"/>
                </a:lnTo>
                <a:lnTo>
                  <a:pt x="2736645" y="399682"/>
                </a:lnTo>
                <a:lnTo>
                  <a:pt x="2687909" y="390827"/>
                </a:lnTo>
                <a:lnTo>
                  <a:pt x="2637575" y="382382"/>
                </a:lnTo>
                <a:lnTo>
                  <a:pt x="2585709" y="374356"/>
                </a:lnTo>
                <a:lnTo>
                  <a:pt x="2532375" y="366760"/>
                </a:lnTo>
                <a:lnTo>
                  <a:pt x="2477637" y="359604"/>
                </a:lnTo>
                <a:lnTo>
                  <a:pt x="2421561" y="352898"/>
                </a:lnTo>
                <a:lnTo>
                  <a:pt x="2364211" y="346652"/>
                </a:lnTo>
                <a:lnTo>
                  <a:pt x="2245947" y="335579"/>
                </a:lnTo>
                <a:lnTo>
                  <a:pt x="2123362" y="326464"/>
                </a:lnTo>
                <a:lnTo>
                  <a:pt x="1996975" y="319390"/>
                </a:lnTo>
                <a:lnTo>
                  <a:pt x="1882108" y="314935"/>
                </a:lnTo>
                <a:lnTo>
                  <a:pt x="1395043" y="314935"/>
                </a:lnTo>
                <a:lnTo>
                  <a:pt x="529792" y="0"/>
                </a:lnTo>
                <a:close/>
              </a:path>
              <a:path w="3276600" h="996950">
                <a:moveTo>
                  <a:pt x="1667765" y="311150"/>
                </a:moveTo>
                <a:lnTo>
                  <a:pt x="1532141" y="311843"/>
                </a:lnTo>
                <a:lnTo>
                  <a:pt x="1395043" y="314935"/>
                </a:lnTo>
                <a:lnTo>
                  <a:pt x="1882108" y="314935"/>
                </a:lnTo>
                <a:lnTo>
                  <a:pt x="1801396" y="312776"/>
                </a:lnTo>
                <a:lnTo>
                  <a:pt x="1667765" y="311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524394" y="5403852"/>
            <a:ext cx="3276600" cy="996950"/>
          </a:xfrm>
          <a:custGeom>
            <a:avLst/>
            <a:gdLst/>
            <a:ahLst/>
            <a:cxnLst/>
            <a:rect l="l" t="t" r="r" b="b"/>
            <a:pathLst>
              <a:path w="3276600" h="996950">
                <a:moveTo>
                  <a:pt x="529792" y="0"/>
                </a:moveTo>
                <a:lnTo>
                  <a:pt x="1395044" y="314935"/>
                </a:lnTo>
                <a:lnTo>
                  <a:pt x="1463745" y="313084"/>
                </a:lnTo>
                <a:lnTo>
                  <a:pt x="1532142" y="311843"/>
                </a:lnTo>
                <a:lnTo>
                  <a:pt x="1600170" y="311201"/>
                </a:lnTo>
                <a:lnTo>
                  <a:pt x="1667765" y="311150"/>
                </a:lnTo>
                <a:lnTo>
                  <a:pt x="1734862" y="311678"/>
                </a:lnTo>
                <a:lnTo>
                  <a:pt x="1801396" y="312776"/>
                </a:lnTo>
                <a:lnTo>
                  <a:pt x="1867303" y="314434"/>
                </a:lnTo>
                <a:lnTo>
                  <a:pt x="1932518" y="316642"/>
                </a:lnTo>
                <a:lnTo>
                  <a:pt x="1996976" y="319390"/>
                </a:lnTo>
                <a:lnTo>
                  <a:pt x="2060612" y="322667"/>
                </a:lnTo>
                <a:lnTo>
                  <a:pt x="2123363" y="326464"/>
                </a:lnTo>
                <a:lnTo>
                  <a:pt x="2185162" y="330771"/>
                </a:lnTo>
                <a:lnTo>
                  <a:pt x="2245947" y="335578"/>
                </a:lnTo>
                <a:lnTo>
                  <a:pt x="2305651" y="340875"/>
                </a:lnTo>
                <a:lnTo>
                  <a:pt x="2364211" y="346652"/>
                </a:lnTo>
                <a:lnTo>
                  <a:pt x="2421561" y="352898"/>
                </a:lnTo>
                <a:lnTo>
                  <a:pt x="2477637" y="359604"/>
                </a:lnTo>
                <a:lnTo>
                  <a:pt x="2532375" y="366760"/>
                </a:lnTo>
                <a:lnTo>
                  <a:pt x="2585709" y="374356"/>
                </a:lnTo>
                <a:lnTo>
                  <a:pt x="2637575" y="382381"/>
                </a:lnTo>
                <a:lnTo>
                  <a:pt x="2687909" y="390827"/>
                </a:lnTo>
                <a:lnTo>
                  <a:pt x="2736645" y="399682"/>
                </a:lnTo>
                <a:lnTo>
                  <a:pt x="2783719" y="408936"/>
                </a:lnTo>
                <a:lnTo>
                  <a:pt x="2829067" y="418581"/>
                </a:lnTo>
                <a:lnTo>
                  <a:pt x="2872623" y="428605"/>
                </a:lnTo>
                <a:lnTo>
                  <a:pt x="2914323" y="438999"/>
                </a:lnTo>
                <a:lnTo>
                  <a:pt x="2954102" y="449753"/>
                </a:lnTo>
                <a:lnTo>
                  <a:pt x="2991896" y="460857"/>
                </a:lnTo>
                <a:lnTo>
                  <a:pt x="3061270" y="484073"/>
                </a:lnTo>
                <a:lnTo>
                  <a:pt x="3121926" y="508568"/>
                </a:lnTo>
                <a:lnTo>
                  <a:pt x="3173347" y="534261"/>
                </a:lnTo>
                <a:lnTo>
                  <a:pt x="3215017" y="561074"/>
                </a:lnTo>
                <a:lnTo>
                  <a:pt x="3246417" y="588925"/>
                </a:lnTo>
                <a:lnTo>
                  <a:pt x="3273831" y="635172"/>
                </a:lnTo>
                <a:lnTo>
                  <a:pt x="3276344" y="651010"/>
                </a:lnTo>
                <a:lnTo>
                  <a:pt x="3275378" y="666730"/>
                </a:lnTo>
                <a:lnTo>
                  <a:pt x="3252268" y="712992"/>
                </a:lnTo>
                <a:lnTo>
                  <a:pt x="3220680" y="742898"/>
                </a:lnTo>
                <a:lnTo>
                  <a:pt x="3176763" y="771881"/>
                </a:lnTo>
                <a:lnTo>
                  <a:pt x="3121047" y="799792"/>
                </a:lnTo>
                <a:lnTo>
                  <a:pt x="3054062" y="826479"/>
                </a:lnTo>
                <a:lnTo>
                  <a:pt x="3016508" y="839318"/>
                </a:lnTo>
                <a:lnTo>
                  <a:pt x="2976335" y="851795"/>
                </a:lnTo>
                <a:lnTo>
                  <a:pt x="2933610" y="863891"/>
                </a:lnTo>
                <a:lnTo>
                  <a:pt x="2888397" y="875588"/>
                </a:lnTo>
                <a:lnTo>
                  <a:pt x="2840764" y="886867"/>
                </a:lnTo>
                <a:lnTo>
                  <a:pt x="2790777" y="897709"/>
                </a:lnTo>
                <a:lnTo>
                  <a:pt x="2738501" y="908096"/>
                </a:lnTo>
                <a:lnTo>
                  <a:pt x="2684003" y="918008"/>
                </a:lnTo>
                <a:lnTo>
                  <a:pt x="2627348" y="927428"/>
                </a:lnTo>
                <a:lnTo>
                  <a:pt x="2568604" y="936336"/>
                </a:lnTo>
                <a:lnTo>
                  <a:pt x="2507836" y="944714"/>
                </a:lnTo>
                <a:lnTo>
                  <a:pt x="2445111" y="952542"/>
                </a:lnTo>
                <a:lnTo>
                  <a:pt x="2380494" y="959803"/>
                </a:lnTo>
                <a:lnTo>
                  <a:pt x="2314051" y="966478"/>
                </a:lnTo>
                <a:lnTo>
                  <a:pt x="2245849" y="972547"/>
                </a:lnTo>
                <a:lnTo>
                  <a:pt x="2175954" y="977992"/>
                </a:lnTo>
                <a:lnTo>
                  <a:pt x="2104433" y="982794"/>
                </a:lnTo>
                <a:lnTo>
                  <a:pt x="2031350" y="986935"/>
                </a:lnTo>
                <a:lnTo>
                  <a:pt x="1956773" y="990396"/>
                </a:lnTo>
                <a:lnTo>
                  <a:pt x="1880767" y="993158"/>
                </a:lnTo>
                <a:lnTo>
                  <a:pt x="1812066" y="995009"/>
                </a:lnTo>
                <a:lnTo>
                  <a:pt x="1743669" y="996251"/>
                </a:lnTo>
                <a:lnTo>
                  <a:pt x="1675640" y="996892"/>
                </a:lnTo>
                <a:lnTo>
                  <a:pt x="1608045" y="996944"/>
                </a:lnTo>
                <a:lnTo>
                  <a:pt x="1540948" y="996415"/>
                </a:lnTo>
                <a:lnTo>
                  <a:pt x="1474414" y="995317"/>
                </a:lnTo>
                <a:lnTo>
                  <a:pt x="1408507" y="993659"/>
                </a:lnTo>
                <a:lnTo>
                  <a:pt x="1343293" y="991452"/>
                </a:lnTo>
                <a:lnTo>
                  <a:pt x="1278835" y="988704"/>
                </a:lnTo>
                <a:lnTo>
                  <a:pt x="1215198" y="985426"/>
                </a:lnTo>
                <a:lnTo>
                  <a:pt x="1152448" y="981629"/>
                </a:lnTo>
                <a:lnTo>
                  <a:pt x="1090648" y="977322"/>
                </a:lnTo>
                <a:lnTo>
                  <a:pt x="1029863" y="972515"/>
                </a:lnTo>
                <a:lnTo>
                  <a:pt x="970159" y="967218"/>
                </a:lnTo>
                <a:lnTo>
                  <a:pt x="911599" y="961442"/>
                </a:lnTo>
                <a:lnTo>
                  <a:pt x="854249" y="955195"/>
                </a:lnTo>
                <a:lnTo>
                  <a:pt x="798173" y="948489"/>
                </a:lnTo>
                <a:lnTo>
                  <a:pt x="743435" y="941333"/>
                </a:lnTo>
                <a:lnTo>
                  <a:pt x="690101" y="933738"/>
                </a:lnTo>
                <a:lnTo>
                  <a:pt x="638235" y="925712"/>
                </a:lnTo>
                <a:lnTo>
                  <a:pt x="587901" y="917267"/>
                </a:lnTo>
                <a:lnTo>
                  <a:pt x="539165" y="908412"/>
                </a:lnTo>
                <a:lnTo>
                  <a:pt x="492091" y="899157"/>
                </a:lnTo>
                <a:lnTo>
                  <a:pt x="446744" y="889513"/>
                </a:lnTo>
                <a:lnTo>
                  <a:pt x="403188" y="879488"/>
                </a:lnTo>
                <a:lnTo>
                  <a:pt x="361488" y="869094"/>
                </a:lnTo>
                <a:lnTo>
                  <a:pt x="321708" y="858340"/>
                </a:lnTo>
                <a:lnTo>
                  <a:pt x="283914" y="847237"/>
                </a:lnTo>
                <a:lnTo>
                  <a:pt x="214541" y="824021"/>
                </a:lnTo>
                <a:lnTo>
                  <a:pt x="153885" y="799526"/>
                </a:lnTo>
                <a:lnTo>
                  <a:pt x="102463" y="773832"/>
                </a:lnTo>
                <a:lnTo>
                  <a:pt x="60794" y="747020"/>
                </a:lnTo>
                <a:lnTo>
                  <a:pt x="29394" y="719168"/>
                </a:lnTo>
                <a:lnTo>
                  <a:pt x="6342" y="685146"/>
                </a:lnTo>
                <a:lnTo>
                  <a:pt x="0" y="645900"/>
                </a:lnTo>
                <a:lnTo>
                  <a:pt x="4830" y="626471"/>
                </a:lnTo>
                <a:lnTo>
                  <a:pt x="30018" y="588208"/>
                </a:lnTo>
                <a:lnTo>
                  <a:pt x="75272" y="551021"/>
                </a:lnTo>
                <a:lnTo>
                  <a:pt x="139828" y="515244"/>
                </a:lnTo>
                <a:lnTo>
                  <a:pt x="179105" y="497989"/>
                </a:lnTo>
                <a:lnTo>
                  <a:pt x="222922" y="481213"/>
                </a:lnTo>
                <a:lnTo>
                  <a:pt x="271183" y="464956"/>
                </a:lnTo>
                <a:lnTo>
                  <a:pt x="323792" y="449263"/>
                </a:lnTo>
                <a:lnTo>
                  <a:pt x="380654" y="434173"/>
                </a:lnTo>
                <a:lnTo>
                  <a:pt x="441673" y="419729"/>
                </a:lnTo>
                <a:lnTo>
                  <a:pt x="506755" y="405974"/>
                </a:lnTo>
                <a:lnTo>
                  <a:pt x="575802" y="392948"/>
                </a:lnTo>
                <a:lnTo>
                  <a:pt x="648721" y="380694"/>
                </a:lnTo>
                <a:lnTo>
                  <a:pt x="725416" y="369254"/>
                </a:lnTo>
                <a:lnTo>
                  <a:pt x="805791" y="358670"/>
                </a:lnTo>
                <a:lnTo>
                  <a:pt x="529792" y="0"/>
                </a:lnTo>
                <a:close/>
              </a:path>
            </a:pathLst>
          </a:custGeom>
          <a:ln w="952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082586" y="5802732"/>
            <a:ext cx="20694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 </a:t>
            </a:r>
            <a:r>
              <a:rPr sz="1600" b="1" spc="-5" dirty="0">
                <a:latin typeface="Arial"/>
                <a:cs typeface="Arial"/>
              </a:rPr>
              <a:t>is </a:t>
            </a:r>
            <a:r>
              <a:rPr sz="1600" b="1" dirty="0">
                <a:latin typeface="Arial"/>
                <a:cs typeface="Arial"/>
              </a:rPr>
              <a:t>2 </a:t>
            </a:r>
            <a:r>
              <a:rPr sz="1600" b="1" spc="-25" dirty="0">
                <a:latin typeface="Arial"/>
                <a:cs typeface="Arial"/>
              </a:rPr>
              <a:t>away, </a:t>
            </a:r>
            <a:r>
              <a:rPr sz="1600" b="1" dirty="0">
                <a:latin typeface="Arial"/>
                <a:cs typeface="Arial"/>
              </a:rPr>
              <a:t>2+2&lt; </a:t>
            </a:r>
            <a:r>
              <a:rPr sz="2000" b="1" spc="-5" dirty="0">
                <a:solidFill>
                  <a:srgbClr val="232323"/>
                </a:solidFill>
                <a:latin typeface="Symbol"/>
                <a:cs typeface="Symbol"/>
              </a:rPr>
              <a:t></a:t>
            </a:r>
            <a:r>
              <a:rPr sz="1600" b="1" spc="-5" dirty="0">
                <a:latin typeface="Arial"/>
                <a:cs typeface="Arial"/>
              </a:rPr>
              <a:t>,  </a:t>
            </a:r>
            <a:r>
              <a:rPr sz="1600" b="1" dirty="0">
                <a:latin typeface="Arial"/>
                <a:cs typeface="Arial"/>
              </a:rPr>
              <a:t>so </a:t>
            </a:r>
            <a:r>
              <a:rPr sz="1600" b="1" spc="-5" dirty="0">
                <a:latin typeface="Arial"/>
                <a:cs typeface="Arial"/>
              </a:rPr>
              <a:t>best path </a:t>
            </a:r>
            <a:r>
              <a:rPr sz="1600" b="1" dirty="0">
                <a:latin typeface="Arial"/>
                <a:cs typeface="Arial"/>
              </a:rPr>
              <a:t>to C </a:t>
            </a:r>
            <a:r>
              <a:rPr sz="1600" b="1" spc="-5" dirty="0">
                <a:latin typeface="Arial"/>
                <a:cs typeface="Arial"/>
              </a:rPr>
              <a:t>is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32508" y="540327"/>
            <a:ext cx="5116483" cy="810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4901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D </a:t>
            </a:r>
            <a:r>
              <a:rPr dirty="0"/>
              <a:t>sends </a:t>
            </a:r>
            <a:r>
              <a:rPr spc="-5" dirty="0"/>
              <a:t>vector to</a:t>
            </a:r>
            <a:r>
              <a:rPr spc="-85" dirty="0"/>
              <a:t> </a:t>
            </a:r>
            <a:r>
              <a:rPr i="1" dirty="0">
                <a:latin typeface="Arial"/>
                <a:cs typeface="Arial"/>
              </a:rPr>
              <a:t>E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68798" y="3822699"/>
            <a:ext cx="4419600" cy="736600"/>
          </a:xfrm>
          <a:custGeom>
            <a:avLst/>
            <a:gdLst/>
            <a:ahLst/>
            <a:cxnLst/>
            <a:rect l="l" t="t" r="r" b="b"/>
            <a:pathLst>
              <a:path w="4419600" h="736600">
                <a:moveTo>
                  <a:pt x="2209800" y="0"/>
                </a:moveTo>
                <a:lnTo>
                  <a:pt x="2133830" y="213"/>
                </a:lnTo>
                <a:lnTo>
                  <a:pt x="2058503" y="849"/>
                </a:lnTo>
                <a:lnTo>
                  <a:pt x="1983860" y="1901"/>
                </a:lnTo>
                <a:lnTo>
                  <a:pt x="1909943" y="3362"/>
                </a:lnTo>
                <a:lnTo>
                  <a:pt x="1836792" y="5224"/>
                </a:lnTo>
                <a:lnTo>
                  <a:pt x="1622347" y="13155"/>
                </a:lnTo>
                <a:lnTo>
                  <a:pt x="1416281" y="24458"/>
                </a:lnTo>
                <a:lnTo>
                  <a:pt x="1219703" y="38946"/>
                </a:lnTo>
                <a:lnTo>
                  <a:pt x="1094471" y="50283"/>
                </a:lnTo>
                <a:lnTo>
                  <a:pt x="974280" y="62899"/>
                </a:lnTo>
                <a:lnTo>
                  <a:pt x="859457" y="76739"/>
                </a:lnTo>
                <a:lnTo>
                  <a:pt x="750332" y="91748"/>
                </a:lnTo>
                <a:lnTo>
                  <a:pt x="647235" y="107872"/>
                </a:lnTo>
                <a:lnTo>
                  <a:pt x="598050" y="116334"/>
                </a:lnTo>
                <a:lnTo>
                  <a:pt x="550494" y="125055"/>
                </a:lnTo>
                <a:lnTo>
                  <a:pt x="504611" y="134026"/>
                </a:lnTo>
                <a:lnTo>
                  <a:pt x="460439" y="143242"/>
                </a:lnTo>
                <a:lnTo>
                  <a:pt x="418022" y="152695"/>
                </a:lnTo>
                <a:lnTo>
                  <a:pt x="377399" y="162379"/>
                </a:lnTo>
                <a:lnTo>
                  <a:pt x="338612" y="172287"/>
                </a:lnTo>
                <a:lnTo>
                  <a:pt x="301702" y="182411"/>
                </a:lnTo>
                <a:lnTo>
                  <a:pt x="233678" y="203283"/>
                </a:lnTo>
                <a:lnTo>
                  <a:pt x="173657" y="224940"/>
                </a:lnTo>
                <a:lnTo>
                  <a:pt x="121966" y="247328"/>
                </a:lnTo>
                <a:lnTo>
                  <a:pt x="78936" y="270391"/>
                </a:lnTo>
                <a:lnTo>
                  <a:pt x="44895" y="294074"/>
                </a:lnTo>
                <a:lnTo>
                  <a:pt x="11408" y="330643"/>
                </a:lnTo>
                <a:lnTo>
                  <a:pt x="0" y="368300"/>
                </a:lnTo>
                <a:lnTo>
                  <a:pt x="1281" y="380961"/>
                </a:lnTo>
                <a:lnTo>
                  <a:pt x="20172" y="418275"/>
                </a:lnTo>
                <a:lnTo>
                  <a:pt x="60771" y="454440"/>
                </a:lnTo>
                <a:lnTo>
                  <a:pt x="99348" y="477820"/>
                </a:lnTo>
                <a:lnTo>
                  <a:pt x="146749" y="500552"/>
                </a:lnTo>
                <a:lnTo>
                  <a:pt x="202647" y="522581"/>
                </a:lnTo>
                <a:lnTo>
                  <a:pt x="266711" y="543853"/>
                </a:lnTo>
                <a:lnTo>
                  <a:pt x="338612" y="564312"/>
                </a:lnTo>
                <a:lnTo>
                  <a:pt x="377399" y="574219"/>
                </a:lnTo>
                <a:lnTo>
                  <a:pt x="418022" y="583903"/>
                </a:lnTo>
                <a:lnTo>
                  <a:pt x="460439" y="593356"/>
                </a:lnTo>
                <a:lnTo>
                  <a:pt x="504611" y="602572"/>
                </a:lnTo>
                <a:lnTo>
                  <a:pt x="550494" y="611544"/>
                </a:lnTo>
                <a:lnTo>
                  <a:pt x="598050" y="620264"/>
                </a:lnTo>
                <a:lnTo>
                  <a:pt x="647235" y="628727"/>
                </a:lnTo>
                <a:lnTo>
                  <a:pt x="750332" y="644850"/>
                </a:lnTo>
                <a:lnTo>
                  <a:pt x="859457" y="659859"/>
                </a:lnTo>
                <a:lnTo>
                  <a:pt x="974280" y="673699"/>
                </a:lnTo>
                <a:lnTo>
                  <a:pt x="1094471" y="686316"/>
                </a:lnTo>
                <a:lnTo>
                  <a:pt x="1219703" y="697653"/>
                </a:lnTo>
                <a:lnTo>
                  <a:pt x="1349646" y="707657"/>
                </a:lnTo>
                <a:lnTo>
                  <a:pt x="1552673" y="720041"/>
                </a:lnTo>
                <a:lnTo>
                  <a:pt x="1764448" y="729117"/>
                </a:lnTo>
                <a:lnTo>
                  <a:pt x="1983860" y="734698"/>
                </a:lnTo>
                <a:lnTo>
                  <a:pt x="2209800" y="736600"/>
                </a:lnTo>
                <a:lnTo>
                  <a:pt x="2285769" y="736386"/>
                </a:lnTo>
                <a:lnTo>
                  <a:pt x="2361096" y="735750"/>
                </a:lnTo>
                <a:lnTo>
                  <a:pt x="2582807" y="731375"/>
                </a:lnTo>
                <a:lnTo>
                  <a:pt x="2797252" y="723443"/>
                </a:lnTo>
                <a:lnTo>
                  <a:pt x="3003318" y="712141"/>
                </a:lnTo>
                <a:lnTo>
                  <a:pt x="3199896" y="697653"/>
                </a:lnTo>
                <a:lnTo>
                  <a:pt x="3325128" y="686316"/>
                </a:lnTo>
                <a:lnTo>
                  <a:pt x="3445319" y="673699"/>
                </a:lnTo>
                <a:lnTo>
                  <a:pt x="3560142" y="659859"/>
                </a:lnTo>
                <a:lnTo>
                  <a:pt x="3669267" y="644850"/>
                </a:lnTo>
                <a:lnTo>
                  <a:pt x="3772364" y="628727"/>
                </a:lnTo>
                <a:lnTo>
                  <a:pt x="3821549" y="620264"/>
                </a:lnTo>
                <a:lnTo>
                  <a:pt x="3869105" y="611544"/>
                </a:lnTo>
                <a:lnTo>
                  <a:pt x="3914988" y="602572"/>
                </a:lnTo>
                <a:lnTo>
                  <a:pt x="3959160" y="593356"/>
                </a:lnTo>
                <a:lnTo>
                  <a:pt x="4001577" y="583903"/>
                </a:lnTo>
                <a:lnTo>
                  <a:pt x="4042200" y="574219"/>
                </a:lnTo>
                <a:lnTo>
                  <a:pt x="4080987" y="564312"/>
                </a:lnTo>
                <a:lnTo>
                  <a:pt x="4117897" y="554187"/>
                </a:lnTo>
                <a:lnTo>
                  <a:pt x="4185921" y="533315"/>
                </a:lnTo>
                <a:lnTo>
                  <a:pt x="4245942" y="511658"/>
                </a:lnTo>
                <a:lnTo>
                  <a:pt x="4297633" y="489271"/>
                </a:lnTo>
                <a:lnTo>
                  <a:pt x="4340663" y="466208"/>
                </a:lnTo>
                <a:lnTo>
                  <a:pt x="4374704" y="442525"/>
                </a:lnTo>
                <a:lnTo>
                  <a:pt x="4408191" y="405956"/>
                </a:lnTo>
                <a:lnTo>
                  <a:pt x="4419600" y="368300"/>
                </a:lnTo>
                <a:lnTo>
                  <a:pt x="4418318" y="355638"/>
                </a:lnTo>
                <a:lnTo>
                  <a:pt x="4399427" y="318323"/>
                </a:lnTo>
                <a:lnTo>
                  <a:pt x="4358828" y="282158"/>
                </a:lnTo>
                <a:lnTo>
                  <a:pt x="4320251" y="258778"/>
                </a:lnTo>
                <a:lnTo>
                  <a:pt x="4272850" y="236046"/>
                </a:lnTo>
                <a:lnTo>
                  <a:pt x="4216952" y="214017"/>
                </a:lnTo>
                <a:lnTo>
                  <a:pt x="4152888" y="192746"/>
                </a:lnTo>
                <a:lnTo>
                  <a:pt x="4080987" y="172287"/>
                </a:lnTo>
                <a:lnTo>
                  <a:pt x="4042200" y="162379"/>
                </a:lnTo>
                <a:lnTo>
                  <a:pt x="4001577" y="152695"/>
                </a:lnTo>
                <a:lnTo>
                  <a:pt x="3959160" y="143242"/>
                </a:lnTo>
                <a:lnTo>
                  <a:pt x="3914988" y="134026"/>
                </a:lnTo>
                <a:lnTo>
                  <a:pt x="3869105" y="125055"/>
                </a:lnTo>
                <a:lnTo>
                  <a:pt x="3821549" y="116334"/>
                </a:lnTo>
                <a:lnTo>
                  <a:pt x="3772364" y="107872"/>
                </a:lnTo>
                <a:lnTo>
                  <a:pt x="3669267" y="91748"/>
                </a:lnTo>
                <a:lnTo>
                  <a:pt x="3560142" y="76739"/>
                </a:lnTo>
                <a:lnTo>
                  <a:pt x="3445319" y="62899"/>
                </a:lnTo>
                <a:lnTo>
                  <a:pt x="3325128" y="50283"/>
                </a:lnTo>
                <a:lnTo>
                  <a:pt x="3199896" y="38946"/>
                </a:lnTo>
                <a:lnTo>
                  <a:pt x="3003318" y="24458"/>
                </a:lnTo>
                <a:lnTo>
                  <a:pt x="2797252" y="13155"/>
                </a:lnTo>
                <a:lnTo>
                  <a:pt x="2582807" y="5224"/>
                </a:lnTo>
                <a:lnTo>
                  <a:pt x="2361096" y="849"/>
                </a:lnTo>
                <a:lnTo>
                  <a:pt x="2209800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6339" y="3333325"/>
            <a:ext cx="719455" cy="534670"/>
          </a:xfrm>
          <a:custGeom>
            <a:avLst/>
            <a:gdLst/>
            <a:ahLst/>
            <a:cxnLst/>
            <a:rect l="l" t="t" r="r" b="b"/>
            <a:pathLst>
              <a:path w="719455" h="534670">
                <a:moveTo>
                  <a:pt x="0" y="534248"/>
                </a:moveTo>
                <a:lnTo>
                  <a:pt x="719295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3399" y="37990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43261" y="0"/>
                </a:moveTo>
                <a:lnTo>
                  <a:pt x="0" y="85524"/>
                </a:lnTo>
                <a:lnTo>
                  <a:pt x="94376" y="68820"/>
                </a:lnTo>
                <a:lnTo>
                  <a:pt x="4326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04198" y="33162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94376" y="0"/>
                </a:moveTo>
                <a:lnTo>
                  <a:pt x="0" y="16705"/>
                </a:lnTo>
                <a:lnTo>
                  <a:pt x="51114" y="85524"/>
                </a:lnTo>
                <a:lnTo>
                  <a:pt x="9437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196" y="4422213"/>
            <a:ext cx="713740" cy="704850"/>
          </a:xfrm>
          <a:custGeom>
            <a:avLst/>
            <a:gdLst/>
            <a:ahLst/>
            <a:cxnLst/>
            <a:rect l="l" t="t" r="r" b="b"/>
            <a:pathLst>
              <a:path w="713740" h="704850">
                <a:moveTo>
                  <a:pt x="0" y="0"/>
                </a:moveTo>
                <a:lnTo>
                  <a:pt x="713395" y="704384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0862" y="4402137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0" y="0"/>
                </a:moveTo>
                <a:lnTo>
                  <a:pt x="30885" y="90731"/>
                </a:lnTo>
                <a:lnTo>
                  <a:pt x="91115" y="29730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3810" y="5055944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60229" y="0"/>
                </a:moveTo>
                <a:lnTo>
                  <a:pt x="0" y="61000"/>
                </a:lnTo>
                <a:lnTo>
                  <a:pt x="91114" y="90730"/>
                </a:lnTo>
                <a:lnTo>
                  <a:pt x="6022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11373" y="5308806"/>
            <a:ext cx="1030605" cy="7620"/>
          </a:xfrm>
          <a:custGeom>
            <a:avLst/>
            <a:gdLst/>
            <a:ahLst/>
            <a:cxnLst/>
            <a:rect l="l" t="t" r="r" b="b"/>
            <a:pathLst>
              <a:path w="1030605" h="7620">
                <a:moveTo>
                  <a:pt x="1030289" y="0"/>
                </a:moveTo>
                <a:lnTo>
                  <a:pt x="0" y="752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84202" y="5266363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0" y="0"/>
                </a:moveTo>
                <a:lnTo>
                  <a:pt x="624" y="85722"/>
                </a:lnTo>
                <a:lnTo>
                  <a:pt x="86034" y="4223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82799" y="5273049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85410" y="0"/>
                </a:moveTo>
                <a:lnTo>
                  <a:pt x="0" y="43487"/>
                </a:lnTo>
                <a:lnTo>
                  <a:pt x="86034" y="85722"/>
                </a:lnTo>
                <a:lnTo>
                  <a:pt x="8541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43607" y="3498848"/>
            <a:ext cx="15875" cy="1417955"/>
          </a:xfrm>
          <a:custGeom>
            <a:avLst/>
            <a:gdLst/>
            <a:ahLst/>
            <a:cxnLst/>
            <a:rect l="l" t="t" r="r" b="b"/>
            <a:pathLst>
              <a:path w="15875" h="1417954">
                <a:moveTo>
                  <a:pt x="15259" y="0"/>
                </a:moveTo>
                <a:lnTo>
                  <a:pt x="0" y="1417641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15391" y="3470274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783" y="0"/>
                </a:moveTo>
                <a:lnTo>
                  <a:pt x="0" y="85258"/>
                </a:lnTo>
                <a:lnTo>
                  <a:pt x="85719" y="86180"/>
                </a:lnTo>
                <a:lnTo>
                  <a:pt x="43783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1361" y="4858881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1937" y="86180"/>
                </a:lnTo>
                <a:lnTo>
                  <a:pt x="85719" y="92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5024" y="3316287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5">
                <a:moveTo>
                  <a:pt x="0" y="0"/>
                </a:moveTo>
                <a:lnTo>
                  <a:pt x="10366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76449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84512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3500" y="3498848"/>
            <a:ext cx="13970" cy="1425575"/>
          </a:xfrm>
          <a:custGeom>
            <a:avLst/>
            <a:gdLst/>
            <a:ahLst/>
            <a:cxnLst/>
            <a:rect l="l" t="t" r="r" b="b"/>
            <a:pathLst>
              <a:path w="13969" h="1425575">
                <a:moveTo>
                  <a:pt x="0" y="1425578"/>
                </a:moveTo>
                <a:lnTo>
                  <a:pt x="137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1190" y="4866865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2034" y="86133"/>
                </a:lnTo>
                <a:lnTo>
                  <a:pt x="85721" y="82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43825" y="3470273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686" y="0"/>
                </a:moveTo>
                <a:lnTo>
                  <a:pt x="0" y="85308"/>
                </a:lnTo>
                <a:lnTo>
                  <a:pt x="85721" y="86135"/>
                </a:lnTo>
                <a:lnTo>
                  <a:pt x="4368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55002" y="4787582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4539" y="3309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2289" y="4028757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7139" y="49860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60139" y="3995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17139" y="30048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9101" y="410193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6524" y="411971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6524" y="394981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2399" y="407822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1678" y="409403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4" y="306189"/>
                </a:lnTo>
                <a:lnTo>
                  <a:pt x="511666" y="300349"/>
                </a:lnTo>
                <a:lnTo>
                  <a:pt x="567449" y="291005"/>
                </a:lnTo>
                <a:lnTo>
                  <a:pt x="618391" y="278473"/>
                </a:lnTo>
                <a:lnTo>
                  <a:pt x="663691" y="263070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4" y="129106"/>
                </a:lnTo>
                <a:lnTo>
                  <a:pt x="734168" y="83284"/>
                </a:lnTo>
                <a:lnTo>
                  <a:pt x="663691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1678" y="3924127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3"/>
                </a:lnTo>
                <a:lnTo>
                  <a:pt x="0" y="154101"/>
                </a:lnTo>
                <a:lnTo>
                  <a:pt x="5088" y="179098"/>
                </a:lnTo>
                <a:lnTo>
                  <a:pt x="43395" y="224921"/>
                </a:lnTo>
                <a:lnTo>
                  <a:pt x="113871" y="263069"/>
                </a:lnTo>
                <a:lnTo>
                  <a:pt x="159172" y="278471"/>
                </a:lnTo>
                <a:lnTo>
                  <a:pt x="210114" y="291004"/>
                </a:lnTo>
                <a:lnTo>
                  <a:pt x="265896" y="300348"/>
                </a:lnTo>
                <a:lnTo>
                  <a:pt x="325719" y="306187"/>
                </a:lnTo>
                <a:lnTo>
                  <a:pt x="388781" y="308204"/>
                </a:lnTo>
                <a:lnTo>
                  <a:pt x="451844" y="306187"/>
                </a:lnTo>
                <a:lnTo>
                  <a:pt x="511666" y="300348"/>
                </a:lnTo>
                <a:lnTo>
                  <a:pt x="567449" y="291004"/>
                </a:lnTo>
                <a:lnTo>
                  <a:pt x="618391" y="278471"/>
                </a:lnTo>
                <a:lnTo>
                  <a:pt x="663691" y="263069"/>
                </a:lnTo>
                <a:lnTo>
                  <a:pt x="702551" y="245113"/>
                </a:lnTo>
                <a:lnTo>
                  <a:pt x="757743" y="202810"/>
                </a:lnTo>
                <a:lnTo>
                  <a:pt x="777563" y="154101"/>
                </a:lnTo>
                <a:lnTo>
                  <a:pt x="772474" y="129105"/>
                </a:lnTo>
                <a:lnTo>
                  <a:pt x="734168" y="83283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69101" y="3963352"/>
            <a:ext cx="785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12101" y="5170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19524" y="51881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19524" y="5018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95399" y="51466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04678" y="5162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304678" y="49925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591264" y="5031739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305751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4" h="170814">
                <a:moveTo>
                  <a:pt x="0" y="170407"/>
                </a:moveTo>
                <a:lnTo>
                  <a:pt x="784985" y="170407"/>
                </a:lnTo>
                <a:lnTo>
                  <a:pt x="784985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13174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9" y="289989"/>
                </a:lnTo>
                <a:lnTo>
                  <a:pt x="618391" y="277501"/>
                </a:lnTo>
                <a:lnTo>
                  <a:pt x="663692" y="262152"/>
                </a:lnTo>
                <a:lnTo>
                  <a:pt x="702551" y="244259"/>
                </a:lnTo>
                <a:lnTo>
                  <a:pt x="757743" y="202104"/>
                </a:lnTo>
                <a:lnTo>
                  <a:pt x="777563" y="153565"/>
                </a:lnTo>
                <a:lnTo>
                  <a:pt x="772475" y="128656"/>
                </a:lnTo>
                <a:lnTo>
                  <a:pt x="734168" y="82993"/>
                </a:lnTo>
                <a:lnTo>
                  <a:pt x="663692" y="44978"/>
                </a:lnTo>
                <a:lnTo>
                  <a:pt x="618391" y="29629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13174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9" y="289988"/>
                </a:lnTo>
                <a:lnTo>
                  <a:pt x="618391" y="277500"/>
                </a:lnTo>
                <a:lnTo>
                  <a:pt x="663692" y="262151"/>
                </a:lnTo>
                <a:lnTo>
                  <a:pt x="702551" y="244258"/>
                </a:lnTo>
                <a:lnTo>
                  <a:pt x="757743" y="202103"/>
                </a:lnTo>
                <a:lnTo>
                  <a:pt x="777563" y="153564"/>
                </a:lnTo>
                <a:lnTo>
                  <a:pt x="772475" y="128655"/>
                </a:lnTo>
                <a:lnTo>
                  <a:pt x="734168" y="82992"/>
                </a:lnTo>
                <a:lnTo>
                  <a:pt x="663692" y="44977"/>
                </a:lnTo>
                <a:lnTo>
                  <a:pt x="618391" y="29628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89049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1" y="170407"/>
                </a:lnTo>
                <a:lnTo>
                  <a:pt x="786841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98328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98328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584914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177414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5" h="170814">
                <a:moveTo>
                  <a:pt x="0" y="170407"/>
                </a:moveTo>
                <a:lnTo>
                  <a:pt x="784984" y="170407"/>
                </a:lnTo>
                <a:lnTo>
                  <a:pt x="784984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84837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8" y="289989"/>
                </a:lnTo>
                <a:lnTo>
                  <a:pt x="618390" y="277501"/>
                </a:lnTo>
                <a:lnTo>
                  <a:pt x="663691" y="262152"/>
                </a:lnTo>
                <a:lnTo>
                  <a:pt x="702550" y="244259"/>
                </a:lnTo>
                <a:lnTo>
                  <a:pt x="757742" y="202104"/>
                </a:lnTo>
                <a:lnTo>
                  <a:pt x="777562" y="153565"/>
                </a:lnTo>
                <a:lnTo>
                  <a:pt x="772474" y="128656"/>
                </a:lnTo>
                <a:lnTo>
                  <a:pt x="734167" y="82993"/>
                </a:lnTo>
                <a:lnTo>
                  <a:pt x="663691" y="44978"/>
                </a:lnTo>
                <a:lnTo>
                  <a:pt x="618390" y="29629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84837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8" y="289988"/>
                </a:lnTo>
                <a:lnTo>
                  <a:pt x="618390" y="277500"/>
                </a:lnTo>
                <a:lnTo>
                  <a:pt x="663691" y="262151"/>
                </a:lnTo>
                <a:lnTo>
                  <a:pt x="702550" y="244258"/>
                </a:lnTo>
                <a:lnTo>
                  <a:pt x="757742" y="202103"/>
                </a:lnTo>
                <a:lnTo>
                  <a:pt x="777562" y="153564"/>
                </a:lnTo>
                <a:lnTo>
                  <a:pt x="772474" y="128655"/>
                </a:lnTo>
                <a:lnTo>
                  <a:pt x="734167" y="82992"/>
                </a:lnTo>
                <a:lnTo>
                  <a:pt x="663691" y="44977"/>
                </a:lnTo>
                <a:lnTo>
                  <a:pt x="618390" y="29628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60712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0" y="170407"/>
                </a:lnTo>
                <a:lnTo>
                  <a:pt x="786840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69991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169991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456576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177414" y="516238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4" y="169908"/>
                </a:lnTo>
                <a:lnTo>
                  <a:pt x="784984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84837" y="518016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84837" y="501026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60712" y="513867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0" y="169908"/>
                </a:lnTo>
                <a:lnTo>
                  <a:pt x="786840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69991" y="515448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169991" y="4984575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3456576" y="50238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4557712" y="2424112"/>
          <a:ext cx="4115434" cy="352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387350"/>
                <a:gridCol w="770255"/>
                <a:gridCol w="504825"/>
                <a:gridCol w="339089"/>
                <a:gridCol w="516255"/>
                <a:gridCol w="683260"/>
              </a:tblGrid>
              <a:tr h="1006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77165" marR="109220" indent="-8636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Info</a:t>
                      </a:r>
                      <a:r>
                        <a:rPr sz="2000" spc="-1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at  </a:t>
                      </a: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04800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99060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	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75692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	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146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49250" marR="336550" algn="just">
                        <a:lnSpc>
                          <a:spcPct val="1374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  C  D  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032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032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032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6032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3" name="object 63"/>
          <p:cNvSpPr/>
          <p:nvPr/>
        </p:nvSpPr>
        <p:spPr>
          <a:xfrm>
            <a:off x="1524137" y="1523961"/>
            <a:ext cx="2819400" cy="1462405"/>
          </a:xfrm>
          <a:custGeom>
            <a:avLst/>
            <a:gdLst/>
            <a:ahLst/>
            <a:cxnLst/>
            <a:rect l="l" t="t" r="r" b="b"/>
            <a:pathLst>
              <a:path w="2819400" h="1462405">
                <a:moveTo>
                  <a:pt x="345887" y="1462150"/>
                </a:moveTo>
                <a:lnTo>
                  <a:pt x="612515" y="973394"/>
                </a:lnTo>
                <a:lnTo>
                  <a:pt x="549898" y="956196"/>
                </a:lnTo>
                <a:lnTo>
                  <a:pt x="490498" y="937951"/>
                </a:lnTo>
                <a:lnTo>
                  <a:pt x="434344" y="918717"/>
                </a:lnTo>
                <a:lnTo>
                  <a:pt x="381463" y="898549"/>
                </a:lnTo>
                <a:lnTo>
                  <a:pt x="331883" y="877505"/>
                </a:lnTo>
                <a:lnTo>
                  <a:pt x="285632" y="855641"/>
                </a:lnTo>
                <a:lnTo>
                  <a:pt x="242738" y="833012"/>
                </a:lnTo>
                <a:lnTo>
                  <a:pt x="203229" y="809677"/>
                </a:lnTo>
                <a:lnTo>
                  <a:pt x="167133" y="785691"/>
                </a:lnTo>
                <a:lnTo>
                  <a:pt x="134477" y="761111"/>
                </a:lnTo>
                <a:lnTo>
                  <a:pt x="105289" y="735994"/>
                </a:lnTo>
                <a:lnTo>
                  <a:pt x="57431" y="684373"/>
                </a:lnTo>
                <a:lnTo>
                  <a:pt x="23781" y="631281"/>
                </a:lnTo>
                <a:lnTo>
                  <a:pt x="4563" y="577170"/>
                </a:lnTo>
                <a:lnTo>
                  <a:pt x="0" y="522492"/>
                </a:lnTo>
                <a:lnTo>
                  <a:pt x="3283" y="495082"/>
                </a:lnTo>
                <a:lnTo>
                  <a:pt x="21119" y="440403"/>
                </a:lnTo>
                <a:lnTo>
                  <a:pt x="54168" y="386288"/>
                </a:lnTo>
                <a:lnTo>
                  <a:pt x="102652" y="333189"/>
                </a:lnTo>
                <a:lnTo>
                  <a:pt x="132752" y="307163"/>
                </a:lnTo>
                <a:lnTo>
                  <a:pt x="166795" y="281560"/>
                </a:lnTo>
                <a:lnTo>
                  <a:pt x="204808" y="256438"/>
                </a:lnTo>
                <a:lnTo>
                  <a:pt x="246819" y="231852"/>
                </a:lnTo>
                <a:lnTo>
                  <a:pt x="280643" y="213969"/>
                </a:lnTo>
                <a:lnTo>
                  <a:pt x="316044" y="196769"/>
                </a:lnTo>
                <a:lnTo>
                  <a:pt x="352958" y="180256"/>
                </a:lnTo>
                <a:lnTo>
                  <a:pt x="391323" y="164436"/>
                </a:lnTo>
                <a:lnTo>
                  <a:pt x="431075" y="149313"/>
                </a:lnTo>
                <a:lnTo>
                  <a:pt x="472151" y="134890"/>
                </a:lnTo>
                <a:lnTo>
                  <a:pt x="514489" y="121174"/>
                </a:lnTo>
                <a:lnTo>
                  <a:pt x="558025" y="108167"/>
                </a:lnTo>
                <a:lnTo>
                  <a:pt x="602696" y="95875"/>
                </a:lnTo>
                <a:lnTo>
                  <a:pt x="648440" y="84301"/>
                </a:lnTo>
                <a:lnTo>
                  <a:pt x="695192" y="73451"/>
                </a:lnTo>
                <a:lnTo>
                  <a:pt x="742891" y="63329"/>
                </a:lnTo>
                <a:lnTo>
                  <a:pt x="791473" y="53939"/>
                </a:lnTo>
                <a:lnTo>
                  <a:pt x="840875" y="45286"/>
                </a:lnTo>
                <a:lnTo>
                  <a:pt x="891034" y="37374"/>
                </a:lnTo>
                <a:lnTo>
                  <a:pt x="941886" y="30208"/>
                </a:lnTo>
                <a:lnTo>
                  <a:pt x="993370" y="23792"/>
                </a:lnTo>
                <a:lnTo>
                  <a:pt x="1045422" y="18130"/>
                </a:lnTo>
                <a:lnTo>
                  <a:pt x="1097978" y="13228"/>
                </a:lnTo>
                <a:lnTo>
                  <a:pt x="1150976" y="9088"/>
                </a:lnTo>
                <a:lnTo>
                  <a:pt x="1204352" y="5717"/>
                </a:lnTo>
                <a:lnTo>
                  <a:pt x="1258045" y="3118"/>
                </a:lnTo>
                <a:lnTo>
                  <a:pt x="1311990" y="1296"/>
                </a:lnTo>
                <a:lnTo>
                  <a:pt x="1366124" y="255"/>
                </a:lnTo>
                <a:lnTo>
                  <a:pt x="1420385" y="0"/>
                </a:lnTo>
                <a:lnTo>
                  <a:pt x="1474709" y="534"/>
                </a:lnTo>
                <a:lnTo>
                  <a:pt x="1529034" y="1864"/>
                </a:lnTo>
                <a:lnTo>
                  <a:pt x="1583296" y="3992"/>
                </a:lnTo>
                <a:lnTo>
                  <a:pt x="1637433" y="6924"/>
                </a:lnTo>
                <a:lnTo>
                  <a:pt x="1691381" y="10664"/>
                </a:lnTo>
                <a:lnTo>
                  <a:pt x="1745077" y="15217"/>
                </a:lnTo>
                <a:lnTo>
                  <a:pt x="1798458" y="20586"/>
                </a:lnTo>
                <a:lnTo>
                  <a:pt x="1851461" y="26777"/>
                </a:lnTo>
                <a:lnTo>
                  <a:pt x="1904024" y="33793"/>
                </a:lnTo>
                <a:lnTo>
                  <a:pt x="1956082" y="41639"/>
                </a:lnTo>
                <a:lnTo>
                  <a:pt x="2007573" y="50321"/>
                </a:lnTo>
                <a:lnTo>
                  <a:pt x="2058435" y="59841"/>
                </a:lnTo>
                <a:lnTo>
                  <a:pt x="2108603" y="70205"/>
                </a:lnTo>
                <a:lnTo>
                  <a:pt x="2158015" y="81417"/>
                </a:lnTo>
                <a:lnTo>
                  <a:pt x="2206608" y="93481"/>
                </a:lnTo>
                <a:lnTo>
                  <a:pt x="2269225" y="110679"/>
                </a:lnTo>
                <a:lnTo>
                  <a:pt x="2328625" y="128924"/>
                </a:lnTo>
                <a:lnTo>
                  <a:pt x="2384779" y="148158"/>
                </a:lnTo>
                <a:lnTo>
                  <a:pt x="2437660" y="168326"/>
                </a:lnTo>
                <a:lnTo>
                  <a:pt x="2487240" y="189370"/>
                </a:lnTo>
                <a:lnTo>
                  <a:pt x="2533491" y="211235"/>
                </a:lnTo>
                <a:lnTo>
                  <a:pt x="2576385" y="233863"/>
                </a:lnTo>
                <a:lnTo>
                  <a:pt x="2615894" y="257198"/>
                </a:lnTo>
                <a:lnTo>
                  <a:pt x="2651991" y="281184"/>
                </a:lnTo>
                <a:lnTo>
                  <a:pt x="2684646" y="305764"/>
                </a:lnTo>
                <a:lnTo>
                  <a:pt x="2713834" y="330881"/>
                </a:lnTo>
                <a:lnTo>
                  <a:pt x="2761692" y="382502"/>
                </a:lnTo>
                <a:lnTo>
                  <a:pt x="2795342" y="435594"/>
                </a:lnTo>
                <a:lnTo>
                  <a:pt x="2814560" y="489705"/>
                </a:lnTo>
                <a:lnTo>
                  <a:pt x="2819124" y="544383"/>
                </a:lnTo>
                <a:lnTo>
                  <a:pt x="2815840" y="571793"/>
                </a:lnTo>
                <a:lnTo>
                  <a:pt x="2798004" y="626472"/>
                </a:lnTo>
                <a:lnTo>
                  <a:pt x="2764955" y="680587"/>
                </a:lnTo>
                <a:lnTo>
                  <a:pt x="2716470" y="733686"/>
                </a:lnTo>
                <a:lnTo>
                  <a:pt x="2686370" y="759712"/>
                </a:lnTo>
                <a:lnTo>
                  <a:pt x="2652328" y="785315"/>
                </a:lnTo>
                <a:lnTo>
                  <a:pt x="2614315" y="810437"/>
                </a:lnTo>
                <a:lnTo>
                  <a:pt x="2572303" y="835023"/>
                </a:lnTo>
                <a:lnTo>
                  <a:pt x="2504000" y="869645"/>
                </a:lnTo>
                <a:lnTo>
                  <a:pt x="2467449" y="886008"/>
                </a:lnTo>
                <a:lnTo>
                  <a:pt x="2429380" y="901726"/>
                </a:lnTo>
                <a:lnTo>
                  <a:pt x="2389853" y="916791"/>
                </a:lnTo>
                <a:lnTo>
                  <a:pt x="2348929" y="931192"/>
                </a:lnTo>
                <a:lnTo>
                  <a:pt x="2306670" y="944923"/>
                </a:lnTo>
                <a:lnTo>
                  <a:pt x="2263135" y="957972"/>
                </a:lnTo>
                <a:lnTo>
                  <a:pt x="2218387" y="970331"/>
                </a:lnTo>
                <a:lnTo>
                  <a:pt x="2172486" y="981991"/>
                </a:lnTo>
                <a:lnTo>
                  <a:pt x="2125493" y="992942"/>
                </a:lnTo>
                <a:lnTo>
                  <a:pt x="2077468" y="1003176"/>
                </a:lnTo>
                <a:lnTo>
                  <a:pt x="2028473" y="1012684"/>
                </a:lnTo>
                <a:lnTo>
                  <a:pt x="1978569" y="1021456"/>
                </a:lnTo>
                <a:lnTo>
                  <a:pt x="1927816" y="1029484"/>
                </a:lnTo>
                <a:lnTo>
                  <a:pt x="1876275" y="1036757"/>
                </a:lnTo>
                <a:lnTo>
                  <a:pt x="1824008" y="1043268"/>
                </a:lnTo>
                <a:lnTo>
                  <a:pt x="1771075" y="1049007"/>
                </a:lnTo>
                <a:lnTo>
                  <a:pt x="1717538" y="1053964"/>
                </a:lnTo>
                <a:lnTo>
                  <a:pt x="1663456" y="1058131"/>
                </a:lnTo>
                <a:lnTo>
                  <a:pt x="1608892" y="1061499"/>
                </a:lnTo>
                <a:lnTo>
                  <a:pt x="1553905" y="1064058"/>
                </a:lnTo>
                <a:lnTo>
                  <a:pt x="1498557" y="1065800"/>
                </a:lnTo>
                <a:lnTo>
                  <a:pt x="1442909" y="1066715"/>
                </a:lnTo>
                <a:lnTo>
                  <a:pt x="1387021" y="1066794"/>
                </a:lnTo>
                <a:lnTo>
                  <a:pt x="1330955" y="1066029"/>
                </a:lnTo>
                <a:lnTo>
                  <a:pt x="1274771" y="1064409"/>
                </a:lnTo>
                <a:lnTo>
                  <a:pt x="1218531" y="1061926"/>
                </a:lnTo>
                <a:lnTo>
                  <a:pt x="1162295" y="1058571"/>
                </a:lnTo>
                <a:lnTo>
                  <a:pt x="1106124" y="1054334"/>
                </a:lnTo>
                <a:lnTo>
                  <a:pt x="345887" y="1462150"/>
                </a:lnTo>
                <a:close/>
              </a:path>
            </a:pathLst>
          </a:custGeom>
          <a:ln w="952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2015632" y="1758968"/>
            <a:ext cx="1820545" cy="7518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b="1" spc="-270" dirty="0">
                <a:latin typeface="Arial"/>
                <a:cs typeface="Arial"/>
              </a:rPr>
              <a:t>I</a:t>
            </a:r>
            <a:r>
              <a:rPr sz="1600" b="1" spc="-270" dirty="0">
                <a:latin typeface="MS PGothic"/>
                <a:cs typeface="MS PGothic"/>
              </a:rPr>
              <a:t>ʼ</a:t>
            </a:r>
            <a:r>
              <a:rPr sz="1600" b="1" spc="-270" dirty="0">
                <a:latin typeface="Arial"/>
                <a:cs typeface="Arial"/>
              </a:rPr>
              <a:t>m </a:t>
            </a:r>
            <a:r>
              <a:rPr sz="1600" b="1" dirty="0">
                <a:latin typeface="Arial"/>
                <a:cs typeface="Arial"/>
              </a:rPr>
              <a:t>7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A, 0 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B, 1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C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&amp;  8 </a:t>
            </a:r>
            <a:r>
              <a:rPr sz="1600" b="1" spc="-5" dirty="0">
                <a:latin typeface="Arial"/>
                <a:cs typeface="Arial"/>
              </a:rPr>
              <a:t>from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04651" y="4360864"/>
            <a:ext cx="3638550" cy="1964055"/>
          </a:xfrm>
          <a:custGeom>
            <a:avLst/>
            <a:gdLst/>
            <a:ahLst/>
            <a:cxnLst/>
            <a:rect l="l" t="t" r="r" b="b"/>
            <a:pathLst>
              <a:path w="3638550" h="1964054">
                <a:moveTo>
                  <a:pt x="0" y="0"/>
                </a:moveTo>
                <a:lnTo>
                  <a:pt x="1778419" y="1202454"/>
                </a:lnTo>
                <a:lnTo>
                  <a:pt x="1850614" y="1201806"/>
                </a:lnTo>
                <a:lnTo>
                  <a:pt x="1922245" y="1201794"/>
                </a:lnTo>
                <a:lnTo>
                  <a:pt x="1993251" y="1202407"/>
                </a:lnTo>
                <a:lnTo>
                  <a:pt x="2063572" y="1203633"/>
                </a:lnTo>
                <a:lnTo>
                  <a:pt x="2133150" y="1205460"/>
                </a:lnTo>
                <a:lnTo>
                  <a:pt x="2201924" y="1207878"/>
                </a:lnTo>
                <a:lnTo>
                  <a:pt x="2269834" y="1210875"/>
                </a:lnTo>
                <a:lnTo>
                  <a:pt x="2336821" y="1214439"/>
                </a:lnTo>
                <a:lnTo>
                  <a:pt x="2402825" y="1218559"/>
                </a:lnTo>
                <a:lnTo>
                  <a:pt x="2467786" y="1223223"/>
                </a:lnTo>
                <a:lnTo>
                  <a:pt x="2531644" y="1228420"/>
                </a:lnTo>
                <a:lnTo>
                  <a:pt x="2594341" y="1234138"/>
                </a:lnTo>
                <a:lnTo>
                  <a:pt x="2655815" y="1240366"/>
                </a:lnTo>
                <a:lnTo>
                  <a:pt x="2716008" y="1247093"/>
                </a:lnTo>
                <a:lnTo>
                  <a:pt x="2774860" y="1254306"/>
                </a:lnTo>
                <a:lnTo>
                  <a:pt x="2832310" y="1261995"/>
                </a:lnTo>
                <a:lnTo>
                  <a:pt x="2888299" y="1270148"/>
                </a:lnTo>
                <a:lnTo>
                  <a:pt x="2942768" y="1278753"/>
                </a:lnTo>
                <a:lnTo>
                  <a:pt x="2995656" y="1287800"/>
                </a:lnTo>
                <a:lnTo>
                  <a:pt x="3046904" y="1297276"/>
                </a:lnTo>
                <a:lnTo>
                  <a:pt x="3096452" y="1307170"/>
                </a:lnTo>
                <a:lnTo>
                  <a:pt x="3144240" y="1317470"/>
                </a:lnTo>
                <a:lnTo>
                  <a:pt x="3190209" y="1328166"/>
                </a:lnTo>
                <a:lnTo>
                  <a:pt x="3234299" y="1339245"/>
                </a:lnTo>
                <a:lnTo>
                  <a:pt x="3276451" y="1350696"/>
                </a:lnTo>
                <a:lnTo>
                  <a:pt x="3316603" y="1362508"/>
                </a:lnTo>
                <a:lnTo>
                  <a:pt x="3354697" y="1374669"/>
                </a:lnTo>
                <a:lnTo>
                  <a:pt x="3424472" y="1399993"/>
                </a:lnTo>
                <a:lnTo>
                  <a:pt x="3485296" y="1426576"/>
                </a:lnTo>
                <a:lnTo>
                  <a:pt x="3536692" y="1454326"/>
                </a:lnTo>
                <a:lnTo>
                  <a:pt x="3578182" y="1483151"/>
                </a:lnTo>
                <a:lnTo>
                  <a:pt x="3609289" y="1512959"/>
                </a:lnTo>
                <a:lnTo>
                  <a:pt x="3635433" y="1559314"/>
                </a:lnTo>
                <a:lnTo>
                  <a:pt x="3638489" y="1575832"/>
                </a:lnTo>
                <a:lnTo>
                  <a:pt x="3638307" y="1592212"/>
                </a:lnTo>
                <a:lnTo>
                  <a:pt x="3618939" y="1640382"/>
                </a:lnTo>
                <a:lnTo>
                  <a:pt x="3590958" y="1671533"/>
                </a:lnTo>
                <a:lnTo>
                  <a:pt x="3551499" y="1701773"/>
                </a:lnTo>
                <a:lnTo>
                  <a:pt x="3501052" y="1730982"/>
                </a:lnTo>
                <a:lnTo>
                  <a:pt x="3440112" y="1759037"/>
                </a:lnTo>
                <a:lnTo>
                  <a:pt x="3369170" y="1785818"/>
                </a:lnTo>
                <a:lnTo>
                  <a:pt x="3330103" y="1798693"/>
                </a:lnTo>
                <a:lnTo>
                  <a:pt x="3288720" y="1811203"/>
                </a:lnTo>
                <a:lnTo>
                  <a:pt x="3245083" y="1823335"/>
                </a:lnTo>
                <a:lnTo>
                  <a:pt x="3199254" y="1835072"/>
                </a:lnTo>
                <a:lnTo>
                  <a:pt x="3151294" y="1846400"/>
                </a:lnTo>
                <a:lnTo>
                  <a:pt x="3101265" y="1857303"/>
                </a:lnTo>
                <a:lnTo>
                  <a:pt x="3049229" y="1867766"/>
                </a:lnTo>
                <a:lnTo>
                  <a:pt x="2995246" y="1877775"/>
                </a:lnTo>
                <a:lnTo>
                  <a:pt x="2939379" y="1887313"/>
                </a:lnTo>
                <a:lnTo>
                  <a:pt x="2881689" y="1896366"/>
                </a:lnTo>
                <a:lnTo>
                  <a:pt x="2822238" y="1904919"/>
                </a:lnTo>
                <a:lnTo>
                  <a:pt x="2761088" y="1912957"/>
                </a:lnTo>
                <a:lnTo>
                  <a:pt x="2698299" y="1920463"/>
                </a:lnTo>
                <a:lnTo>
                  <a:pt x="2633934" y="1927424"/>
                </a:lnTo>
                <a:lnTo>
                  <a:pt x="2568055" y="1933824"/>
                </a:lnTo>
                <a:lnTo>
                  <a:pt x="2500722" y="1939648"/>
                </a:lnTo>
                <a:lnTo>
                  <a:pt x="2431997" y="1944881"/>
                </a:lnTo>
                <a:lnTo>
                  <a:pt x="2361943" y="1949507"/>
                </a:lnTo>
                <a:lnTo>
                  <a:pt x="2290620" y="1953512"/>
                </a:lnTo>
                <a:lnTo>
                  <a:pt x="2218090" y="1956880"/>
                </a:lnTo>
                <a:lnTo>
                  <a:pt x="2144415" y="1959597"/>
                </a:lnTo>
                <a:lnTo>
                  <a:pt x="2069656" y="1961646"/>
                </a:lnTo>
                <a:lnTo>
                  <a:pt x="1993875" y="1963013"/>
                </a:lnTo>
                <a:lnTo>
                  <a:pt x="1921680" y="1963661"/>
                </a:lnTo>
                <a:lnTo>
                  <a:pt x="1850049" y="1963673"/>
                </a:lnTo>
                <a:lnTo>
                  <a:pt x="1779043" y="1963061"/>
                </a:lnTo>
                <a:lnTo>
                  <a:pt x="1708722" y="1961835"/>
                </a:lnTo>
                <a:lnTo>
                  <a:pt x="1639144" y="1960007"/>
                </a:lnTo>
                <a:lnTo>
                  <a:pt x="1570371" y="1957589"/>
                </a:lnTo>
                <a:lnTo>
                  <a:pt x="1502461" y="1954592"/>
                </a:lnTo>
                <a:lnTo>
                  <a:pt x="1435474" y="1951029"/>
                </a:lnTo>
                <a:lnTo>
                  <a:pt x="1369470" y="1946909"/>
                </a:lnTo>
                <a:lnTo>
                  <a:pt x="1304509" y="1942245"/>
                </a:lnTo>
                <a:lnTo>
                  <a:pt x="1240650" y="1937048"/>
                </a:lnTo>
                <a:lnTo>
                  <a:pt x="1177954" y="1931330"/>
                </a:lnTo>
                <a:lnTo>
                  <a:pt x="1116479" y="1925101"/>
                </a:lnTo>
                <a:lnTo>
                  <a:pt x="1056286" y="1918375"/>
                </a:lnTo>
                <a:lnTo>
                  <a:pt x="997435" y="1911161"/>
                </a:lnTo>
                <a:lnTo>
                  <a:pt x="939985" y="1903472"/>
                </a:lnTo>
                <a:lnTo>
                  <a:pt x="883996" y="1895319"/>
                </a:lnTo>
                <a:lnTo>
                  <a:pt x="829527" y="1886714"/>
                </a:lnTo>
                <a:lnTo>
                  <a:pt x="776639" y="1877668"/>
                </a:lnTo>
                <a:lnTo>
                  <a:pt x="725391" y="1868192"/>
                </a:lnTo>
                <a:lnTo>
                  <a:pt x="675843" y="1858298"/>
                </a:lnTo>
                <a:lnTo>
                  <a:pt x="628054" y="1847997"/>
                </a:lnTo>
                <a:lnTo>
                  <a:pt x="582085" y="1837302"/>
                </a:lnTo>
                <a:lnTo>
                  <a:pt x="537995" y="1826222"/>
                </a:lnTo>
                <a:lnTo>
                  <a:pt x="495844" y="1814771"/>
                </a:lnTo>
                <a:lnTo>
                  <a:pt x="455692" y="1802959"/>
                </a:lnTo>
                <a:lnTo>
                  <a:pt x="417597" y="1790798"/>
                </a:lnTo>
                <a:lnTo>
                  <a:pt x="347823" y="1765474"/>
                </a:lnTo>
                <a:lnTo>
                  <a:pt x="286998" y="1738891"/>
                </a:lnTo>
                <a:lnTo>
                  <a:pt x="235602" y="1711142"/>
                </a:lnTo>
                <a:lnTo>
                  <a:pt x="194112" y="1682317"/>
                </a:lnTo>
                <a:lnTo>
                  <a:pt x="163006" y="1652508"/>
                </a:lnTo>
                <a:lnTo>
                  <a:pt x="136862" y="1606153"/>
                </a:lnTo>
                <a:lnTo>
                  <a:pt x="133636" y="1586831"/>
                </a:lnTo>
                <a:lnTo>
                  <a:pt x="134885" y="1567641"/>
                </a:lnTo>
                <a:lnTo>
                  <a:pt x="150480" y="1529772"/>
                </a:lnTo>
                <a:lnTo>
                  <a:pt x="183003" y="1492785"/>
                </a:lnTo>
                <a:lnTo>
                  <a:pt x="231808" y="1456919"/>
                </a:lnTo>
                <a:lnTo>
                  <a:pt x="296250" y="1422411"/>
                </a:lnTo>
                <a:lnTo>
                  <a:pt x="334133" y="1405741"/>
                </a:lnTo>
                <a:lnTo>
                  <a:pt x="375683" y="1389499"/>
                </a:lnTo>
                <a:lnTo>
                  <a:pt x="420820" y="1373717"/>
                </a:lnTo>
                <a:lnTo>
                  <a:pt x="469462" y="1358424"/>
                </a:lnTo>
                <a:lnTo>
                  <a:pt x="521530" y="1343649"/>
                </a:lnTo>
                <a:lnTo>
                  <a:pt x="576943" y="1329422"/>
                </a:lnTo>
                <a:lnTo>
                  <a:pt x="635619" y="1315773"/>
                </a:lnTo>
                <a:lnTo>
                  <a:pt x="697479" y="1302732"/>
                </a:lnTo>
                <a:lnTo>
                  <a:pt x="762442" y="1290328"/>
                </a:lnTo>
                <a:lnTo>
                  <a:pt x="830426" y="1278592"/>
                </a:lnTo>
                <a:lnTo>
                  <a:pt x="901351" y="1267553"/>
                </a:lnTo>
                <a:lnTo>
                  <a:pt x="975138" y="1257241"/>
                </a:lnTo>
                <a:lnTo>
                  <a:pt x="1051704" y="1247686"/>
                </a:lnTo>
                <a:lnTo>
                  <a:pt x="1130969" y="123891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430264" y="5661490"/>
            <a:ext cx="2270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 </a:t>
            </a:r>
            <a:r>
              <a:rPr sz="1600" b="1" spc="-5" dirty="0">
                <a:latin typeface="Arial"/>
                <a:cs typeface="Arial"/>
              </a:rPr>
              <a:t>is </a:t>
            </a:r>
            <a:r>
              <a:rPr sz="1600" b="1" dirty="0">
                <a:latin typeface="Arial"/>
                <a:cs typeface="Arial"/>
              </a:rPr>
              <a:t>7 </a:t>
            </a:r>
            <a:r>
              <a:rPr sz="1600" b="1" spc="-25" dirty="0">
                <a:latin typeface="Arial"/>
                <a:cs typeface="Arial"/>
              </a:rPr>
              <a:t>away, </a:t>
            </a:r>
            <a:r>
              <a:rPr sz="1600" b="1" dirty="0">
                <a:latin typeface="Arial"/>
                <a:cs typeface="Arial"/>
              </a:rPr>
              <a:t>1+7&lt; </a:t>
            </a:r>
            <a:r>
              <a:rPr sz="2000" b="1" spc="-5" dirty="0">
                <a:solidFill>
                  <a:srgbClr val="232323"/>
                </a:solidFill>
                <a:latin typeface="Symbol"/>
                <a:cs typeface="Symbol"/>
              </a:rPr>
              <a:t></a:t>
            </a:r>
            <a:r>
              <a:rPr sz="2000" b="1" spc="-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Arial"/>
                <a:cs typeface="Arial"/>
              </a:rPr>
              <a:t>so  best path </a:t>
            </a:r>
            <a:r>
              <a:rPr sz="1600" b="1" dirty="0">
                <a:latin typeface="Arial"/>
                <a:cs typeface="Arial"/>
              </a:rPr>
              <a:t>to C </a:t>
            </a:r>
            <a:r>
              <a:rPr sz="1600" b="1" spc="-5" dirty="0">
                <a:latin typeface="Arial"/>
                <a:cs typeface="Arial"/>
              </a:rPr>
              <a:t>is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23506" y="3127374"/>
            <a:ext cx="1094118" cy="841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32508" y="540327"/>
            <a:ext cx="5079075" cy="810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48710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B </a:t>
            </a:r>
            <a:r>
              <a:rPr dirty="0"/>
              <a:t>sends </a:t>
            </a:r>
            <a:r>
              <a:rPr spc="-5" dirty="0"/>
              <a:t>vector to</a:t>
            </a:r>
            <a:r>
              <a:rPr spc="-85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399" y="3924127"/>
            <a:ext cx="8712198" cy="2722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98477" y="5810268"/>
            <a:ext cx="2690495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b="1" spc="-270" dirty="0">
                <a:latin typeface="Arial"/>
                <a:cs typeface="Arial"/>
              </a:rPr>
              <a:t>I</a:t>
            </a:r>
            <a:r>
              <a:rPr sz="1600" b="1" spc="-270" dirty="0">
                <a:latin typeface="MS PGothic"/>
                <a:cs typeface="MS PGothic"/>
              </a:rPr>
              <a:t>ʼ</a:t>
            </a:r>
            <a:r>
              <a:rPr sz="1600" b="1" spc="-270" dirty="0">
                <a:latin typeface="Arial"/>
                <a:cs typeface="Arial"/>
              </a:rPr>
              <a:t>m </a:t>
            </a:r>
            <a:r>
              <a:rPr sz="1600" b="1" dirty="0">
                <a:latin typeface="Arial"/>
                <a:cs typeface="Arial"/>
              </a:rPr>
              <a:t>1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A, 8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B, 4 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C, 2 </a:t>
            </a:r>
            <a:r>
              <a:rPr sz="1600" b="1" spc="-5" dirty="0">
                <a:latin typeface="Arial"/>
                <a:cs typeface="Arial"/>
              </a:rPr>
              <a:t>from </a:t>
            </a:r>
            <a:r>
              <a:rPr sz="1600" b="1" dirty="0">
                <a:latin typeface="Arial"/>
                <a:cs typeface="Arial"/>
              </a:rPr>
              <a:t>D &amp; 0 </a:t>
            </a:r>
            <a:r>
              <a:rPr sz="1600" b="1" spc="-5" dirty="0">
                <a:latin typeface="Arial"/>
                <a:cs typeface="Arial"/>
              </a:rPr>
              <a:t>from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6339" y="3333325"/>
            <a:ext cx="719455" cy="534670"/>
          </a:xfrm>
          <a:custGeom>
            <a:avLst/>
            <a:gdLst/>
            <a:ahLst/>
            <a:cxnLst/>
            <a:rect l="l" t="t" r="r" b="b"/>
            <a:pathLst>
              <a:path w="719455" h="534670">
                <a:moveTo>
                  <a:pt x="0" y="534248"/>
                </a:moveTo>
                <a:lnTo>
                  <a:pt x="719295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399" y="37990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43261" y="0"/>
                </a:moveTo>
                <a:lnTo>
                  <a:pt x="0" y="85524"/>
                </a:lnTo>
                <a:lnTo>
                  <a:pt x="94376" y="68820"/>
                </a:lnTo>
                <a:lnTo>
                  <a:pt x="4326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4198" y="33162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94376" y="0"/>
                </a:moveTo>
                <a:lnTo>
                  <a:pt x="0" y="16705"/>
                </a:lnTo>
                <a:lnTo>
                  <a:pt x="51114" y="85524"/>
                </a:lnTo>
                <a:lnTo>
                  <a:pt x="9437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43607" y="3498848"/>
            <a:ext cx="15875" cy="1417955"/>
          </a:xfrm>
          <a:custGeom>
            <a:avLst/>
            <a:gdLst/>
            <a:ahLst/>
            <a:cxnLst/>
            <a:rect l="l" t="t" r="r" b="b"/>
            <a:pathLst>
              <a:path w="15875" h="1417954">
                <a:moveTo>
                  <a:pt x="15259" y="0"/>
                </a:moveTo>
                <a:lnTo>
                  <a:pt x="0" y="1417641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15391" y="3470274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783" y="0"/>
                </a:moveTo>
                <a:lnTo>
                  <a:pt x="0" y="85258"/>
                </a:lnTo>
                <a:lnTo>
                  <a:pt x="85719" y="86180"/>
                </a:lnTo>
                <a:lnTo>
                  <a:pt x="43783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1361" y="4858881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1937" y="86180"/>
                </a:lnTo>
                <a:lnTo>
                  <a:pt x="85719" y="92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05024" y="3316287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5">
                <a:moveTo>
                  <a:pt x="0" y="0"/>
                </a:moveTo>
                <a:lnTo>
                  <a:pt x="10366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6449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84512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73500" y="3498848"/>
            <a:ext cx="13970" cy="1425575"/>
          </a:xfrm>
          <a:custGeom>
            <a:avLst/>
            <a:gdLst/>
            <a:ahLst/>
            <a:cxnLst/>
            <a:rect l="l" t="t" r="r" b="b"/>
            <a:pathLst>
              <a:path w="13969" h="1425575">
                <a:moveTo>
                  <a:pt x="0" y="1425578"/>
                </a:moveTo>
                <a:lnTo>
                  <a:pt x="137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31190" y="4866865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2034" y="86133"/>
                </a:lnTo>
                <a:lnTo>
                  <a:pt x="85721" y="82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43825" y="3470273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686" y="0"/>
                </a:moveTo>
                <a:lnTo>
                  <a:pt x="0" y="85308"/>
                </a:lnTo>
                <a:lnTo>
                  <a:pt x="85721" y="86135"/>
                </a:lnTo>
                <a:lnTo>
                  <a:pt x="4368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64539" y="4757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39" y="3309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12289" y="4028757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7139" y="49860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60139" y="3995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7139" y="30048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6407" y="396335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91264" y="5031739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305751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4" h="170814">
                <a:moveTo>
                  <a:pt x="0" y="170407"/>
                </a:moveTo>
                <a:lnTo>
                  <a:pt x="784985" y="170407"/>
                </a:lnTo>
                <a:lnTo>
                  <a:pt x="784985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13174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9" y="289989"/>
                </a:lnTo>
                <a:lnTo>
                  <a:pt x="618391" y="277501"/>
                </a:lnTo>
                <a:lnTo>
                  <a:pt x="663692" y="262152"/>
                </a:lnTo>
                <a:lnTo>
                  <a:pt x="702551" y="244259"/>
                </a:lnTo>
                <a:lnTo>
                  <a:pt x="757743" y="202104"/>
                </a:lnTo>
                <a:lnTo>
                  <a:pt x="777563" y="153565"/>
                </a:lnTo>
                <a:lnTo>
                  <a:pt x="772475" y="128656"/>
                </a:lnTo>
                <a:lnTo>
                  <a:pt x="734168" y="82993"/>
                </a:lnTo>
                <a:lnTo>
                  <a:pt x="663692" y="44978"/>
                </a:lnTo>
                <a:lnTo>
                  <a:pt x="618391" y="29629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13174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9" y="289988"/>
                </a:lnTo>
                <a:lnTo>
                  <a:pt x="618391" y="277500"/>
                </a:lnTo>
                <a:lnTo>
                  <a:pt x="663692" y="262151"/>
                </a:lnTo>
                <a:lnTo>
                  <a:pt x="702551" y="244258"/>
                </a:lnTo>
                <a:lnTo>
                  <a:pt x="757743" y="202103"/>
                </a:lnTo>
                <a:lnTo>
                  <a:pt x="777563" y="153564"/>
                </a:lnTo>
                <a:lnTo>
                  <a:pt x="772475" y="128655"/>
                </a:lnTo>
                <a:lnTo>
                  <a:pt x="734168" y="82992"/>
                </a:lnTo>
                <a:lnTo>
                  <a:pt x="663692" y="44977"/>
                </a:lnTo>
                <a:lnTo>
                  <a:pt x="618391" y="29628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89049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1" y="170407"/>
                </a:lnTo>
                <a:lnTo>
                  <a:pt x="786841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98328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98328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84914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177414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5" h="170814">
                <a:moveTo>
                  <a:pt x="0" y="170407"/>
                </a:moveTo>
                <a:lnTo>
                  <a:pt x="784984" y="170407"/>
                </a:lnTo>
                <a:lnTo>
                  <a:pt x="784984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84837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8" y="289989"/>
                </a:lnTo>
                <a:lnTo>
                  <a:pt x="618390" y="277501"/>
                </a:lnTo>
                <a:lnTo>
                  <a:pt x="663691" y="262152"/>
                </a:lnTo>
                <a:lnTo>
                  <a:pt x="702550" y="244259"/>
                </a:lnTo>
                <a:lnTo>
                  <a:pt x="757742" y="202104"/>
                </a:lnTo>
                <a:lnTo>
                  <a:pt x="777562" y="153565"/>
                </a:lnTo>
                <a:lnTo>
                  <a:pt x="772474" y="128656"/>
                </a:lnTo>
                <a:lnTo>
                  <a:pt x="734167" y="82993"/>
                </a:lnTo>
                <a:lnTo>
                  <a:pt x="663691" y="44978"/>
                </a:lnTo>
                <a:lnTo>
                  <a:pt x="618390" y="29629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84837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8" y="289988"/>
                </a:lnTo>
                <a:lnTo>
                  <a:pt x="618390" y="277500"/>
                </a:lnTo>
                <a:lnTo>
                  <a:pt x="663691" y="262151"/>
                </a:lnTo>
                <a:lnTo>
                  <a:pt x="702550" y="244258"/>
                </a:lnTo>
                <a:lnTo>
                  <a:pt x="757742" y="202103"/>
                </a:lnTo>
                <a:lnTo>
                  <a:pt x="777562" y="153564"/>
                </a:lnTo>
                <a:lnTo>
                  <a:pt x="772474" y="128655"/>
                </a:lnTo>
                <a:lnTo>
                  <a:pt x="734167" y="82992"/>
                </a:lnTo>
                <a:lnTo>
                  <a:pt x="663691" y="44977"/>
                </a:lnTo>
                <a:lnTo>
                  <a:pt x="618390" y="29628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60712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0" y="170407"/>
                </a:lnTo>
                <a:lnTo>
                  <a:pt x="786840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69991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69991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456576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56576" y="50238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4557712" y="2424112"/>
          <a:ext cx="4115434" cy="352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387350"/>
                <a:gridCol w="770255"/>
                <a:gridCol w="504825"/>
                <a:gridCol w="339089"/>
                <a:gridCol w="516255"/>
                <a:gridCol w="683260"/>
              </a:tblGrid>
              <a:tr h="1006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77165" marR="109220" indent="-8636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Info</a:t>
                      </a:r>
                      <a:r>
                        <a:rPr sz="2000" spc="-1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at  </a:t>
                      </a: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04800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99060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	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75692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	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146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49250" marR="336550" algn="just">
                        <a:lnSpc>
                          <a:spcPct val="1374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  C  D  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032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032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032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6032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Symbol"/>
                          <a:cs typeface="Symbol"/>
                        </a:rPr>
                        <a:t></a:t>
                      </a:r>
                      <a:endParaRPr sz="2400">
                        <a:latin typeface="Symbol"/>
                        <a:cs typeface="Symbo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-381" y="1523929"/>
            <a:ext cx="3125470" cy="2410460"/>
          </a:xfrm>
          <a:custGeom>
            <a:avLst/>
            <a:gdLst/>
            <a:ahLst/>
            <a:cxnLst/>
            <a:rect l="l" t="t" r="r" b="b"/>
            <a:pathLst>
              <a:path w="3125470" h="2410460">
                <a:moveTo>
                  <a:pt x="370224" y="2409890"/>
                </a:moveTo>
                <a:lnTo>
                  <a:pt x="918458" y="1092239"/>
                </a:lnTo>
                <a:lnTo>
                  <a:pt x="850248" y="1080222"/>
                </a:lnTo>
                <a:lnTo>
                  <a:pt x="784347" y="1067164"/>
                </a:lnTo>
                <a:lnTo>
                  <a:pt x="720796" y="1053102"/>
                </a:lnTo>
                <a:lnTo>
                  <a:pt x="659637" y="1038077"/>
                </a:lnTo>
                <a:lnTo>
                  <a:pt x="600910" y="1022129"/>
                </a:lnTo>
                <a:lnTo>
                  <a:pt x="544657" y="1005297"/>
                </a:lnTo>
                <a:lnTo>
                  <a:pt x="490917" y="987620"/>
                </a:lnTo>
                <a:lnTo>
                  <a:pt x="439732" y="969139"/>
                </a:lnTo>
                <a:lnTo>
                  <a:pt x="391142" y="949892"/>
                </a:lnTo>
                <a:lnTo>
                  <a:pt x="345189" y="929921"/>
                </a:lnTo>
                <a:lnTo>
                  <a:pt x="301913" y="909263"/>
                </a:lnTo>
                <a:lnTo>
                  <a:pt x="261354" y="887959"/>
                </a:lnTo>
                <a:lnTo>
                  <a:pt x="223555" y="866048"/>
                </a:lnTo>
                <a:lnTo>
                  <a:pt x="188555" y="843570"/>
                </a:lnTo>
                <a:lnTo>
                  <a:pt x="156395" y="820565"/>
                </a:lnTo>
                <a:lnTo>
                  <a:pt x="100760" y="773131"/>
                </a:lnTo>
                <a:lnTo>
                  <a:pt x="56977" y="724063"/>
                </a:lnTo>
                <a:lnTo>
                  <a:pt x="25371" y="673678"/>
                </a:lnTo>
                <a:lnTo>
                  <a:pt x="6270" y="622292"/>
                </a:lnTo>
                <a:lnTo>
                  <a:pt x="0" y="570223"/>
                </a:lnTo>
                <a:lnTo>
                  <a:pt x="1778" y="544031"/>
                </a:lnTo>
                <a:lnTo>
                  <a:pt x="15366" y="491531"/>
                </a:lnTo>
                <a:lnTo>
                  <a:pt x="42601" y="439140"/>
                </a:lnTo>
                <a:lnTo>
                  <a:pt x="83809" y="387174"/>
                </a:lnTo>
                <a:lnTo>
                  <a:pt x="139318" y="335952"/>
                </a:lnTo>
                <a:lnTo>
                  <a:pt x="192575" y="296875"/>
                </a:lnTo>
                <a:lnTo>
                  <a:pt x="252800" y="259934"/>
                </a:lnTo>
                <a:lnTo>
                  <a:pt x="319565" y="225186"/>
                </a:lnTo>
                <a:lnTo>
                  <a:pt x="355267" y="208654"/>
                </a:lnTo>
                <a:lnTo>
                  <a:pt x="392442" y="192692"/>
                </a:lnTo>
                <a:lnTo>
                  <a:pt x="431038" y="177308"/>
                </a:lnTo>
                <a:lnTo>
                  <a:pt x="471002" y="162510"/>
                </a:lnTo>
                <a:lnTo>
                  <a:pt x="512279" y="148305"/>
                </a:lnTo>
                <a:lnTo>
                  <a:pt x="554817" y="134699"/>
                </a:lnTo>
                <a:lnTo>
                  <a:pt x="598562" y="121701"/>
                </a:lnTo>
                <a:lnTo>
                  <a:pt x="643459" y="109319"/>
                </a:lnTo>
                <a:lnTo>
                  <a:pt x="689456" y="97558"/>
                </a:lnTo>
                <a:lnTo>
                  <a:pt x="736500" y="86427"/>
                </a:lnTo>
                <a:lnTo>
                  <a:pt x="784536" y="75934"/>
                </a:lnTo>
                <a:lnTo>
                  <a:pt x="833511" y="66084"/>
                </a:lnTo>
                <a:lnTo>
                  <a:pt x="883371" y="56887"/>
                </a:lnTo>
                <a:lnTo>
                  <a:pt x="934064" y="48349"/>
                </a:lnTo>
                <a:lnTo>
                  <a:pt x="985535" y="40478"/>
                </a:lnTo>
                <a:lnTo>
                  <a:pt x="1037731" y="33280"/>
                </a:lnTo>
                <a:lnTo>
                  <a:pt x="1090598" y="26764"/>
                </a:lnTo>
                <a:lnTo>
                  <a:pt x="1144083" y="20937"/>
                </a:lnTo>
                <a:lnTo>
                  <a:pt x="1198133" y="15806"/>
                </a:lnTo>
                <a:lnTo>
                  <a:pt x="1252693" y="11378"/>
                </a:lnTo>
                <a:lnTo>
                  <a:pt x="1307711" y="7661"/>
                </a:lnTo>
                <a:lnTo>
                  <a:pt x="1363132" y="4663"/>
                </a:lnTo>
                <a:lnTo>
                  <a:pt x="1418904" y="2390"/>
                </a:lnTo>
                <a:lnTo>
                  <a:pt x="1474972" y="850"/>
                </a:lnTo>
                <a:lnTo>
                  <a:pt x="1531283" y="51"/>
                </a:lnTo>
                <a:lnTo>
                  <a:pt x="1587785" y="0"/>
                </a:lnTo>
                <a:lnTo>
                  <a:pt x="1644422" y="703"/>
                </a:lnTo>
                <a:lnTo>
                  <a:pt x="1701141" y="2170"/>
                </a:lnTo>
                <a:lnTo>
                  <a:pt x="1757890" y="4406"/>
                </a:lnTo>
                <a:lnTo>
                  <a:pt x="1814615" y="7420"/>
                </a:lnTo>
                <a:lnTo>
                  <a:pt x="1871261" y="11218"/>
                </a:lnTo>
                <a:lnTo>
                  <a:pt x="1927776" y="15808"/>
                </a:lnTo>
                <a:lnTo>
                  <a:pt x="1984105" y="21198"/>
                </a:lnTo>
                <a:lnTo>
                  <a:pt x="2040196" y="27395"/>
                </a:lnTo>
                <a:lnTo>
                  <a:pt x="2095995" y="34406"/>
                </a:lnTo>
                <a:lnTo>
                  <a:pt x="2151448" y="42239"/>
                </a:lnTo>
                <a:lnTo>
                  <a:pt x="2206502" y="50901"/>
                </a:lnTo>
                <a:lnTo>
                  <a:pt x="2274713" y="62917"/>
                </a:lnTo>
                <a:lnTo>
                  <a:pt x="2340614" y="75976"/>
                </a:lnTo>
                <a:lnTo>
                  <a:pt x="2404165" y="90037"/>
                </a:lnTo>
                <a:lnTo>
                  <a:pt x="2465324" y="105062"/>
                </a:lnTo>
                <a:lnTo>
                  <a:pt x="2524050" y="121010"/>
                </a:lnTo>
                <a:lnTo>
                  <a:pt x="2580304" y="137843"/>
                </a:lnTo>
                <a:lnTo>
                  <a:pt x="2634044" y="155519"/>
                </a:lnTo>
                <a:lnTo>
                  <a:pt x="2685229" y="174000"/>
                </a:lnTo>
                <a:lnTo>
                  <a:pt x="2733819" y="193247"/>
                </a:lnTo>
                <a:lnTo>
                  <a:pt x="2779772" y="213219"/>
                </a:lnTo>
                <a:lnTo>
                  <a:pt x="2823048" y="233877"/>
                </a:lnTo>
                <a:lnTo>
                  <a:pt x="2863607" y="255181"/>
                </a:lnTo>
                <a:lnTo>
                  <a:pt x="2901406" y="277091"/>
                </a:lnTo>
                <a:lnTo>
                  <a:pt x="2936406" y="299569"/>
                </a:lnTo>
                <a:lnTo>
                  <a:pt x="2968566" y="322574"/>
                </a:lnTo>
                <a:lnTo>
                  <a:pt x="3024200" y="370008"/>
                </a:lnTo>
                <a:lnTo>
                  <a:pt x="3067984" y="419076"/>
                </a:lnTo>
                <a:lnTo>
                  <a:pt x="3099590" y="469462"/>
                </a:lnTo>
                <a:lnTo>
                  <a:pt x="3118691" y="520847"/>
                </a:lnTo>
                <a:lnTo>
                  <a:pt x="3124961" y="572917"/>
                </a:lnTo>
                <a:lnTo>
                  <a:pt x="3123183" y="599108"/>
                </a:lnTo>
                <a:lnTo>
                  <a:pt x="3109595" y="651608"/>
                </a:lnTo>
                <a:lnTo>
                  <a:pt x="3082360" y="704000"/>
                </a:lnTo>
                <a:lnTo>
                  <a:pt x="3041152" y="755965"/>
                </a:lnTo>
                <a:lnTo>
                  <a:pt x="2985643" y="807187"/>
                </a:lnTo>
                <a:lnTo>
                  <a:pt x="2930836" y="847257"/>
                </a:lnTo>
                <a:lnTo>
                  <a:pt x="2868339" y="885239"/>
                </a:lnTo>
                <a:lnTo>
                  <a:pt x="2834347" y="903416"/>
                </a:lnTo>
                <a:lnTo>
                  <a:pt x="2798600" y="921033"/>
                </a:lnTo>
                <a:lnTo>
                  <a:pt x="2761155" y="938078"/>
                </a:lnTo>
                <a:lnTo>
                  <a:pt x="2722067" y="954537"/>
                </a:lnTo>
                <a:lnTo>
                  <a:pt x="2681393" y="970399"/>
                </a:lnTo>
                <a:lnTo>
                  <a:pt x="2639188" y="985650"/>
                </a:lnTo>
                <a:lnTo>
                  <a:pt x="2595508" y="1000279"/>
                </a:lnTo>
                <a:lnTo>
                  <a:pt x="2550410" y="1014272"/>
                </a:lnTo>
                <a:lnTo>
                  <a:pt x="2503949" y="1027617"/>
                </a:lnTo>
                <a:lnTo>
                  <a:pt x="2456181" y="1040301"/>
                </a:lnTo>
                <a:lnTo>
                  <a:pt x="2407163" y="1052312"/>
                </a:lnTo>
                <a:lnTo>
                  <a:pt x="2356950" y="1063636"/>
                </a:lnTo>
                <a:lnTo>
                  <a:pt x="2305599" y="1074262"/>
                </a:lnTo>
                <a:lnTo>
                  <a:pt x="2253165" y="1084177"/>
                </a:lnTo>
                <a:lnTo>
                  <a:pt x="2199704" y="1093367"/>
                </a:lnTo>
                <a:lnTo>
                  <a:pt x="2145273" y="1101821"/>
                </a:lnTo>
                <a:lnTo>
                  <a:pt x="2089927" y="1109526"/>
                </a:lnTo>
                <a:lnTo>
                  <a:pt x="2033722" y="1116469"/>
                </a:lnTo>
                <a:lnTo>
                  <a:pt x="1976715" y="1122637"/>
                </a:lnTo>
                <a:lnTo>
                  <a:pt x="1918961" y="1128019"/>
                </a:lnTo>
                <a:lnTo>
                  <a:pt x="1860516" y="1132601"/>
                </a:lnTo>
                <a:lnTo>
                  <a:pt x="1801437" y="1136370"/>
                </a:lnTo>
                <a:lnTo>
                  <a:pt x="1741779" y="1139314"/>
                </a:lnTo>
                <a:lnTo>
                  <a:pt x="1681598" y="1141421"/>
                </a:lnTo>
                <a:lnTo>
                  <a:pt x="1620951" y="1142678"/>
                </a:lnTo>
                <a:lnTo>
                  <a:pt x="1559892" y="1143072"/>
                </a:lnTo>
                <a:lnTo>
                  <a:pt x="1498479" y="1142590"/>
                </a:lnTo>
                <a:lnTo>
                  <a:pt x="370224" y="2409890"/>
                </a:lnTo>
                <a:close/>
              </a:path>
            </a:pathLst>
          </a:custGeom>
          <a:ln w="952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36267" y="1678688"/>
            <a:ext cx="1976120" cy="81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5" dirty="0">
                <a:latin typeface="Arial"/>
                <a:cs typeface="Arial"/>
              </a:rPr>
              <a:t>is </a:t>
            </a:r>
            <a:r>
              <a:rPr sz="1600" b="1" dirty="0">
                <a:latin typeface="Arial"/>
                <a:cs typeface="Arial"/>
              </a:rPr>
              <a:t>1 </a:t>
            </a:r>
            <a:r>
              <a:rPr sz="1600" b="1" spc="-25" dirty="0">
                <a:latin typeface="Arial"/>
                <a:cs typeface="Arial"/>
              </a:rPr>
              <a:t>away,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4+1&lt;8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900"/>
              </a:lnSpc>
            </a:pPr>
            <a:r>
              <a:rPr sz="1600" b="1" dirty="0">
                <a:latin typeface="Arial"/>
                <a:cs typeface="Arial"/>
              </a:rPr>
              <a:t>so C </a:t>
            </a:r>
            <a:r>
              <a:rPr sz="1600" b="1" spc="-5" dirty="0">
                <a:latin typeface="Arial"/>
                <a:cs typeface="Arial"/>
              </a:rPr>
              <a:t>is </a:t>
            </a:r>
            <a:r>
              <a:rPr sz="1600" b="1" dirty="0">
                <a:latin typeface="Arial"/>
                <a:cs typeface="Arial"/>
              </a:rPr>
              <a:t>5 </a:t>
            </a:r>
            <a:r>
              <a:rPr sz="1600" b="1" spc="-25" dirty="0">
                <a:latin typeface="Arial"/>
                <a:cs typeface="Arial"/>
              </a:rPr>
              <a:t>away,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1+2&lt;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2390"/>
              </a:lnSpc>
            </a:pPr>
            <a:r>
              <a:rPr sz="2000" b="1" spc="-5" dirty="0">
                <a:solidFill>
                  <a:srgbClr val="232323"/>
                </a:solidFill>
                <a:latin typeface="Symbol"/>
                <a:cs typeface="Symbol"/>
              </a:rPr>
              <a:t></a:t>
            </a:r>
            <a:r>
              <a:rPr sz="2000" b="1" spc="-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Arial"/>
                <a:cs typeface="Arial"/>
              </a:rPr>
              <a:t>so </a:t>
            </a:r>
            <a:r>
              <a:rPr sz="1600" b="1" dirty="0">
                <a:latin typeface="Arial"/>
                <a:cs typeface="Arial"/>
              </a:rPr>
              <a:t>D is 3</a:t>
            </a:r>
            <a:r>
              <a:rPr sz="1600" b="1" spc="-1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away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2420" y="4357687"/>
            <a:ext cx="1101554" cy="977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2508" y="540327"/>
            <a:ext cx="5079075" cy="8104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48710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E </a:t>
            </a:r>
            <a:r>
              <a:rPr dirty="0"/>
              <a:t>sends </a:t>
            </a:r>
            <a:r>
              <a:rPr spc="-5" dirty="0"/>
              <a:t>vector to</a:t>
            </a:r>
            <a:r>
              <a:rPr spc="-85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339" y="3333325"/>
            <a:ext cx="719455" cy="534670"/>
          </a:xfrm>
          <a:custGeom>
            <a:avLst/>
            <a:gdLst/>
            <a:ahLst/>
            <a:cxnLst/>
            <a:rect l="l" t="t" r="r" b="b"/>
            <a:pathLst>
              <a:path w="719455" h="534670">
                <a:moveTo>
                  <a:pt x="0" y="534248"/>
                </a:moveTo>
                <a:lnTo>
                  <a:pt x="719295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399" y="37990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43261" y="0"/>
                </a:moveTo>
                <a:lnTo>
                  <a:pt x="0" y="85524"/>
                </a:lnTo>
                <a:lnTo>
                  <a:pt x="94376" y="68820"/>
                </a:lnTo>
                <a:lnTo>
                  <a:pt x="4326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4198" y="33162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94376" y="0"/>
                </a:moveTo>
                <a:lnTo>
                  <a:pt x="0" y="16705"/>
                </a:lnTo>
                <a:lnTo>
                  <a:pt x="51114" y="85524"/>
                </a:lnTo>
                <a:lnTo>
                  <a:pt x="9437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196" y="4422213"/>
            <a:ext cx="713740" cy="704850"/>
          </a:xfrm>
          <a:custGeom>
            <a:avLst/>
            <a:gdLst/>
            <a:ahLst/>
            <a:cxnLst/>
            <a:rect l="l" t="t" r="r" b="b"/>
            <a:pathLst>
              <a:path w="713740" h="704850">
                <a:moveTo>
                  <a:pt x="0" y="0"/>
                </a:moveTo>
                <a:lnTo>
                  <a:pt x="713395" y="704384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0862" y="4402137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0" y="0"/>
                </a:moveTo>
                <a:lnTo>
                  <a:pt x="30885" y="90731"/>
                </a:lnTo>
                <a:lnTo>
                  <a:pt x="91115" y="29730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3810" y="5055944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60229" y="0"/>
                </a:moveTo>
                <a:lnTo>
                  <a:pt x="0" y="61000"/>
                </a:lnTo>
                <a:lnTo>
                  <a:pt x="91114" y="90730"/>
                </a:lnTo>
                <a:lnTo>
                  <a:pt x="6022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1373" y="5308806"/>
            <a:ext cx="1030605" cy="7620"/>
          </a:xfrm>
          <a:custGeom>
            <a:avLst/>
            <a:gdLst/>
            <a:ahLst/>
            <a:cxnLst/>
            <a:rect l="l" t="t" r="r" b="b"/>
            <a:pathLst>
              <a:path w="1030605" h="7620">
                <a:moveTo>
                  <a:pt x="1030289" y="0"/>
                </a:moveTo>
                <a:lnTo>
                  <a:pt x="0" y="752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84202" y="5266363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0" y="0"/>
                </a:moveTo>
                <a:lnTo>
                  <a:pt x="624" y="85722"/>
                </a:lnTo>
                <a:lnTo>
                  <a:pt x="86034" y="4223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82799" y="5273049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85410" y="0"/>
                </a:moveTo>
                <a:lnTo>
                  <a:pt x="0" y="43487"/>
                </a:lnTo>
                <a:lnTo>
                  <a:pt x="86034" y="85722"/>
                </a:lnTo>
                <a:lnTo>
                  <a:pt x="8541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43607" y="3498848"/>
            <a:ext cx="15875" cy="1417955"/>
          </a:xfrm>
          <a:custGeom>
            <a:avLst/>
            <a:gdLst/>
            <a:ahLst/>
            <a:cxnLst/>
            <a:rect l="l" t="t" r="r" b="b"/>
            <a:pathLst>
              <a:path w="15875" h="1417954">
                <a:moveTo>
                  <a:pt x="15259" y="0"/>
                </a:moveTo>
                <a:lnTo>
                  <a:pt x="0" y="1417641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15391" y="3470274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783" y="0"/>
                </a:moveTo>
                <a:lnTo>
                  <a:pt x="0" y="85258"/>
                </a:lnTo>
                <a:lnTo>
                  <a:pt x="85719" y="86180"/>
                </a:lnTo>
                <a:lnTo>
                  <a:pt x="43783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01361" y="4858881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1937" y="86180"/>
                </a:lnTo>
                <a:lnTo>
                  <a:pt x="85719" y="92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05024" y="3316287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5">
                <a:moveTo>
                  <a:pt x="0" y="0"/>
                </a:moveTo>
                <a:lnTo>
                  <a:pt x="10366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76449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84512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3500" y="3498848"/>
            <a:ext cx="13970" cy="1425575"/>
          </a:xfrm>
          <a:custGeom>
            <a:avLst/>
            <a:gdLst/>
            <a:ahLst/>
            <a:cxnLst/>
            <a:rect l="l" t="t" r="r" b="b"/>
            <a:pathLst>
              <a:path w="13969" h="1425575">
                <a:moveTo>
                  <a:pt x="0" y="1425578"/>
                </a:moveTo>
                <a:lnTo>
                  <a:pt x="137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31190" y="4866865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2034" y="86133"/>
                </a:lnTo>
                <a:lnTo>
                  <a:pt x="85721" y="82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43825" y="3470273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686" y="0"/>
                </a:moveTo>
                <a:lnTo>
                  <a:pt x="0" y="85308"/>
                </a:lnTo>
                <a:lnTo>
                  <a:pt x="85721" y="86135"/>
                </a:lnTo>
                <a:lnTo>
                  <a:pt x="4368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4539" y="4757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4539" y="3309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12289" y="4028757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7139" y="49860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60139" y="3995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7139" y="30048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9101" y="410193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6524" y="411971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6524" y="394981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2399" y="407822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1678" y="409403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4" y="306189"/>
                </a:lnTo>
                <a:lnTo>
                  <a:pt x="511666" y="300349"/>
                </a:lnTo>
                <a:lnTo>
                  <a:pt x="567449" y="291005"/>
                </a:lnTo>
                <a:lnTo>
                  <a:pt x="618391" y="278473"/>
                </a:lnTo>
                <a:lnTo>
                  <a:pt x="663691" y="263070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4" y="129106"/>
                </a:lnTo>
                <a:lnTo>
                  <a:pt x="734168" y="83284"/>
                </a:lnTo>
                <a:lnTo>
                  <a:pt x="663691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1678" y="3924127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3"/>
                </a:lnTo>
                <a:lnTo>
                  <a:pt x="0" y="154101"/>
                </a:lnTo>
                <a:lnTo>
                  <a:pt x="5088" y="179098"/>
                </a:lnTo>
                <a:lnTo>
                  <a:pt x="43395" y="224921"/>
                </a:lnTo>
                <a:lnTo>
                  <a:pt x="113871" y="263069"/>
                </a:lnTo>
                <a:lnTo>
                  <a:pt x="159172" y="278471"/>
                </a:lnTo>
                <a:lnTo>
                  <a:pt x="210114" y="291004"/>
                </a:lnTo>
                <a:lnTo>
                  <a:pt x="265896" y="300348"/>
                </a:lnTo>
                <a:lnTo>
                  <a:pt x="325719" y="306187"/>
                </a:lnTo>
                <a:lnTo>
                  <a:pt x="388781" y="308204"/>
                </a:lnTo>
                <a:lnTo>
                  <a:pt x="451844" y="306187"/>
                </a:lnTo>
                <a:lnTo>
                  <a:pt x="511666" y="300348"/>
                </a:lnTo>
                <a:lnTo>
                  <a:pt x="567449" y="291004"/>
                </a:lnTo>
                <a:lnTo>
                  <a:pt x="618391" y="278471"/>
                </a:lnTo>
                <a:lnTo>
                  <a:pt x="663691" y="263069"/>
                </a:lnTo>
                <a:lnTo>
                  <a:pt x="702551" y="245113"/>
                </a:lnTo>
                <a:lnTo>
                  <a:pt x="757743" y="202810"/>
                </a:lnTo>
                <a:lnTo>
                  <a:pt x="777563" y="154101"/>
                </a:lnTo>
                <a:lnTo>
                  <a:pt x="772474" y="129105"/>
                </a:lnTo>
                <a:lnTo>
                  <a:pt x="734168" y="83283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69101" y="3963352"/>
            <a:ext cx="785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312101" y="5170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19524" y="51881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19524" y="5018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5399" y="51466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04678" y="5162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04678" y="49925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591264" y="5031739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05751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4" h="170814">
                <a:moveTo>
                  <a:pt x="0" y="170407"/>
                </a:moveTo>
                <a:lnTo>
                  <a:pt x="784985" y="170407"/>
                </a:lnTo>
                <a:lnTo>
                  <a:pt x="784985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313174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9" y="289989"/>
                </a:lnTo>
                <a:lnTo>
                  <a:pt x="618391" y="277501"/>
                </a:lnTo>
                <a:lnTo>
                  <a:pt x="663692" y="262152"/>
                </a:lnTo>
                <a:lnTo>
                  <a:pt x="702551" y="244259"/>
                </a:lnTo>
                <a:lnTo>
                  <a:pt x="757743" y="202104"/>
                </a:lnTo>
                <a:lnTo>
                  <a:pt x="777563" y="153565"/>
                </a:lnTo>
                <a:lnTo>
                  <a:pt x="772475" y="128656"/>
                </a:lnTo>
                <a:lnTo>
                  <a:pt x="734168" y="82993"/>
                </a:lnTo>
                <a:lnTo>
                  <a:pt x="663692" y="44978"/>
                </a:lnTo>
                <a:lnTo>
                  <a:pt x="618391" y="29629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13174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9" y="289988"/>
                </a:lnTo>
                <a:lnTo>
                  <a:pt x="618391" y="277500"/>
                </a:lnTo>
                <a:lnTo>
                  <a:pt x="663692" y="262151"/>
                </a:lnTo>
                <a:lnTo>
                  <a:pt x="702551" y="244258"/>
                </a:lnTo>
                <a:lnTo>
                  <a:pt x="757743" y="202103"/>
                </a:lnTo>
                <a:lnTo>
                  <a:pt x="777563" y="153564"/>
                </a:lnTo>
                <a:lnTo>
                  <a:pt x="772475" y="128655"/>
                </a:lnTo>
                <a:lnTo>
                  <a:pt x="734168" y="82992"/>
                </a:lnTo>
                <a:lnTo>
                  <a:pt x="663692" y="44977"/>
                </a:lnTo>
                <a:lnTo>
                  <a:pt x="618391" y="29628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89049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1" y="170407"/>
                </a:lnTo>
                <a:lnTo>
                  <a:pt x="786841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98328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98328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84914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177414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5" h="170814">
                <a:moveTo>
                  <a:pt x="0" y="170407"/>
                </a:moveTo>
                <a:lnTo>
                  <a:pt x="784984" y="170407"/>
                </a:lnTo>
                <a:lnTo>
                  <a:pt x="784984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84837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8" y="289989"/>
                </a:lnTo>
                <a:lnTo>
                  <a:pt x="618390" y="277501"/>
                </a:lnTo>
                <a:lnTo>
                  <a:pt x="663691" y="262152"/>
                </a:lnTo>
                <a:lnTo>
                  <a:pt x="702550" y="244259"/>
                </a:lnTo>
                <a:lnTo>
                  <a:pt x="757742" y="202104"/>
                </a:lnTo>
                <a:lnTo>
                  <a:pt x="777562" y="153565"/>
                </a:lnTo>
                <a:lnTo>
                  <a:pt x="772474" y="128656"/>
                </a:lnTo>
                <a:lnTo>
                  <a:pt x="734167" y="82993"/>
                </a:lnTo>
                <a:lnTo>
                  <a:pt x="663691" y="44978"/>
                </a:lnTo>
                <a:lnTo>
                  <a:pt x="618390" y="29629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84837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8" y="289988"/>
                </a:lnTo>
                <a:lnTo>
                  <a:pt x="618390" y="277500"/>
                </a:lnTo>
                <a:lnTo>
                  <a:pt x="663691" y="262151"/>
                </a:lnTo>
                <a:lnTo>
                  <a:pt x="702550" y="244258"/>
                </a:lnTo>
                <a:lnTo>
                  <a:pt x="757742" y="202103"/>
                </a:lnTo>
                <a:lnTo>
                  <a:pt x="777562" y="153564"/>
                </a:lnTo>
                <a:lnTo>
                  <a:pt x="772474" y="128655"/>
                </a:lnTo>
                <a:lnTo>
                  <a:pt x="734167" y="82992"/>
                </a:lnTo>
                <a:lnTo>
                  <a:pt x="663691" y="44977"/>
                </a:lnTo>
                <a:lnTo>
                  <a:pt x="618390" y="29628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60712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0" y="170407"/>
                </a:lnTo>
                <a:lnTo>
                  <a:pt x="786840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69991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69991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456576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177414" y="516238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4" y="169908"/>
                </a:lnTo>
                <a:lnTo>
                  <a:pt x="784984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84837" y="518016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84837" y="501026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60712" y="513867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0" y="169908"/>
                </a:lnTo>
                <a:lnTo>
                  <a:pt x="786840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69991" y="515448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69991" y="4984575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456576" y="50238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4557712" y="2424112"/>
          <a:ext cx="4114798" cy="352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387350"/>
                <a:gridCol w="758189"/>
                <a:gridCol w="516255"/>
                <a:gridCol w="339089"/>
                <a:gridCol w="516255"/>
                <a:gridCol w="683260"/>
              </a:tblGrid>
              <a:tr h="1006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77165" marR="109220" indent="-8636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Info</a:t>
                      </a:r>
                      <a:r>
                        <a:rPr sz="2000" spc="-1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at  </a:t>
                      </a:r>
                      <a:r>
                        <a:rPr sz="20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04800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99060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	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756920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	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146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49250" marR="336550" algn="just">
                        <a:lnSpc>
                          <a:spcPct val="1374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  C  D  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5781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6891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445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6891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68910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68910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2" name="object 62"/>
          <p:cNvSpPr/>
          <p:nvPr/>
        </p:nvSpPr>
        <p:spPr>
          <a:xfrm>
            <a:off x="357447" y="540327"/>
            <a:ext cx="5178828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5089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1330" algn="l"/>
              </a:tabLst>
            </a:pPr>
            <a:r>
              <a:rPr dirty="0"/>
              <a:t>…un</a:t>
            </a:r>
            <a:r>
              <a:rPr spc="-5" dirty="0"/>
              <a:t>t</a:t>
            </a:r>
            <a:r>
              <a:rPr dirty="0"/>
              <a:t>il	Convergence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339" y="3333325"/>
            <a:ext cx="719455" cy="534670"/>
          </a:xfrm>
          <a:custGeom>
            <a:avLst/>
            <a:gdLst/>
            <a:ahLst/>
            <a:cxnLst/>
            <a:rect l="l" t="t" r="r" b="b"/>
            <a:pathLst>
              <a:path w="719455" h="534670">
                <a:moveTo>
                  <a:pt x="0" y="534248"/>
                </a:moveTo>
                <a:lnTo>
                  <a:pt x="719295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399" y="37990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43261" y="0"/>
                </a:moveTo>
                <a:lnTo>
                  <a:pt x="0" y="85524"/>
                </a:lnTo>
                <a:lnTo>
                  <a:pt x="94376" y="68820"/>
                </a:lnTo>
                <a:lnTo>
                  <a:pt x="4326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4198" y="33162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94376" y="0"/>
                </a:moveTo>
                <a:lnTo>
                  <a:pt x="0" y="16705"/>
                </a:lnTo>
                <a:lnTo>
                  <a:pt x="51114" y="85524"/>
                </a:lnTo>
                <a:lnTo>
                  <a:pt x="9437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196" y="4422213"/>
            <a:ext cx="713740" cy="704850"/>
          </a:xfrm>
          <a:custGeom>
            <a:avLst/>
            <a:gdLst/>
            <a:ahLst/>
            <a:cxnLst/>
            <a:rect l="l" t="t" r="r" b="b"/>
            <a:pathLst>
              <a:path w="713740" h="704850">
                <a:moveTo>
                  <a:pt x="0" y="0"/>
                </a:moveTo>
                <a:lnTo>
                  <a:pt x="713395" y="704384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0862" y="4402137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0" y="0"/>
                </a:moveTo>
                <a:lnTo>
                  <a:pt x="30885" y="90731"/>
                </a:lnTo>
                <a:lnTo>
                  <a:pt x="91115" y="29730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3810" y="5055944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60229" y="0"/>
                </a:moveTo>
                <a:lnTo>
                  <a:pt x="0" y="61000"/>
                </a:lnTo>
                <a:lnTo>
                  <a:pt x="91114" y="90730"/>
                </a:lnTo>
                <a:lnTo>
                  <a:pt x="6022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1373" y="5308806"/>
            <a:ext cx="1030605" cy="7620"/>
          </a:xfrm>
          <a:custGeom>
            <a:avLst/>
            <a:gdLst/>
            <a:ahLst/>
            <a:cxnLst/>
            <a:rect l="l" t="t" r="r" b="b"/>
            <a:pathLst>
              <a:path w="1030605" h="7620">
                <a:moveTo>
                  <a:pt x="1030289" y="0"/>
                </a:moveTo>
                <a:lnTo>
                  <a:pt x="0" y="752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84202" y="5266363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0" y="0"/>
                </a:moveTo>
                <a:lnTo>
                  <a:pt x="624" y="85722"/>
                </a:lnTo>
                <a:lnTo>
                  <a:pt x="86034" y="4223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82799" y="5273049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85410" y="0"/>
                </a:moveTo>
                <a:lnTo>
                  <a:pt x="0" y="43487"/>
                </a:lnTo>
                <a:lnTo>
                  <a:pt x="86034" y="85722"/>
                </a:lnTo>
                <a:lnTo>
                  <a:pt x="8541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43607" y="3498848"/>
            <a:ext cx="15875" cy="1417955"/>
          </a:xfrm>
          <a:custGeom>
            <a:avLst/>
            <a:gdLst/>
            <a:ahLst/>
            <a:cxnLst/>
            <a:rect l="l" t="t" r="r" b="b"/>
            <a:pathLst>
              <a:path w="15875" h="1417954">
                <a:moveTo>
                  <a:pt x="15259" y="0"/>
                </a:moveTo>
                <a:lnTo>
                  <a:pt x="0" y="1417641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15391" y="3470274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783" y="0"/>
                </a:moveTo>
                <a:lnTo>
                  <a:pt x="0" y="85258"/>
                </a:lnTo>
                <a:lnTo>
                  <a:pt x="85719" y="86180"/>
                </a:lnTo>
                <a:lnTo>
                  <a:pt x="43783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01361" y="4858881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1937" y="86180"/>
                </a:lnTo>
                <a:lnTo>
                  <a:pt x="85719" y="92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05024" y="3316287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5">
                <a:moveTo>
                  <a:pt x="0" y="0"/>
                </a:moveTo>
                <a:lnTo>
                  <a:pt x="10366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76449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84512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3500" y="3498848"/>
            <a:ext cx="13970" cy="1425575"/>
          </a:xfrm>
          <a:custGeom>
            <a:avLst/>
            <a:gdLst/>
            <a:ahLst/>
            <a:cxnLst/>
            <a:rect l="l" t="t" r="r" b="b"/>
            <a:pathLst>
              <a:path w="13969" h="1425575">
                <a:moveTo>
                  <a:pt x="0" y="1425578"/>
                </a:moveTo>
                <a:lnTo>
                  <a:pt x="137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31190" y="4866865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2034" y="86133"/>
                </a:lnTo>
                <a:lnTo>
                  <a:pt x="85721" y="82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43825" y="3470273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686" y="0"/>
                </a:moveTo>
                <a:lnTo>
                  <a:pt x="0" y="85308"/>
                </a:lnTo>
                <a:lnTo>
                  <a:pt x="85721" y="86135"/>
                </a:lnTo>
                <a:lnTo>
                  <a:pt x="4368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4539" y="4757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4539" y="3309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12289" y="4028757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7139" y="49860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60139" y="3995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7139" y="30048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9101" y="410193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6524" y="411971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6524" y="394981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2399" y="407822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1678" y="409403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4" y="306189"/>
                </a:lnTo>
                <a:lnTo>
                  <a:pt x="511666" y="300349"/>
                </a:lnTo>
                <a:lnTo>
                  <a:pt x="567449" y="291005"/>
                </a:lnTo>
                <a:lnTo>
                  <a:pt x="618391" y="278473"/>
                </a:lnTo>
                <a:lnTo>
                  <a:pt x="663691" y="263070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4" y="129106"/>
                </a:lnTo>
                <a:lnTo>
                  <a:pt x="734168" y="83284"/>
                </a:lnTo>
                <a:lnTo>
                  <a:pt x="663691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1678" y="3924127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3"/>
                </a:lnTo>
                <a:lnTo>
                  <a:pt x="0" y="154101"/>
                </a:lnTo>
                <a:lnTo>
                  <a:pt x="5088" y="179098"/>
                </a:lnTo>
                <a:lnTo>
                  <a:pt x="43395" y="224921"/>
                </a:lnTo>
                <a:lnTo>
                  <a:pt x="113871" y="263069"/>
                </a:lnTo>
                <a:lnTo>
                  <a:pt x="159172" y="278471"/>
                </a:lnTo>
                <a:lnTo>
                  <a:pt x="210114" y="291004"/>
                </a:lnTo>
                <a:lnTo>
                  <a:pt x="265896" y="300348"/>
                </a:lnTo>
                <a:lnTo>
                  <a:pt x="325719" y="306187"/>
                </a:lnTo>
                <a:lnTo>
                  <a:pt x="388781" y="308204"/>
                </a:lnTo>
                <a:lnTo>
                  <a:pt x="451844" y="306187"/>
                </a:lnTo>
                <a:lnTo>
                  <a:pt x="511666" y="300348"/>
                </a:lnTo>
                <a:lnTo>
                  <a:pt x="567449" y="291004"/>
                </a:lnTo>
                <a:lnTo>
                  <a:pt x="618391" y="278471"/>
                </a:lnTo>
                <a:lnTo>
                  <a:pt x="663691" y="263069"/>
                </a:lnTo>
                <a:lnTo>
                  <a:pt x="702551" y="245113"/>
                </a:lnTo>
                <a:lnTo>
                  <a:pt x="757743" y="202810"/>
                </a:lnTo>
                <a:lnTo>
                  <a:pt x="777563" y="154101"/>
                </a:lnTo>
                <a:lnTo>
                  <a:pt x="772474" y="129105"/>
                </a:lnTo>
                <a:lnTo>
                  <a:pt x="734168" y="83283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69101" y="3963352"/>
            <a:ext cx="785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312101" y="5170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19524" y="51881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19524" y="5018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5399" y="51466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04678" y="5162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04678" y="49925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591264" y="5031739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05751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4" h="170814">
                <a:moveTo>
                  <a:pt x="0" y="170407"/>
                </a:moveTo>
                <a:lnTo>
                  <a:pt x="784985" y="170407"/>
                </a:lnTo>
                <a:lnTo>
                  <a:pt x="784985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313174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9" y="289989"/>
                </a:lnTo>
                <a:lnTo>
                  <a:pt x="618391" y="277501"/>
                </a:lnTo>
                <a:lnTo>
                  <a:pt x="663692" y="262152"/>
                </a:lnTo>
                <a:lnTo>
                  <a:pt x="702551" y="244259"/>
                </a:lnTo>
                <a:lnTo>
                  <a:pt x="757743" y="202104"/>
                </a:lnTo>
                <a:lnTo>
                  <a:pt x="777563" y="153565"/>
                </a:lnTo>
                <a:lnTo>
                  <a:pt x="772475" y="128656"/>
                </a:lnTo>
                <a:lnTo>
                  <a:pt x="734168" y="82993"/>
                </a:lnTo>
                <a:lnTo>
                  <a:pt x="663692" y="44978"/>
                </a:lnTo>
                <a:lnTo>
                  <a:pt x="618391" y="29629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13174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9" y="289988"/>
                </a:lnTo>
                <a:lnTo>
                  <a:pt x="618391" y="277500"/>
                </a:lnTo>
                <a:lnTo>
                  <a:pt x="663692" y="262151"/>
                </a:lnTo>
                <a:lnTo>
                  <a:pt x="702551" y="244258"/>
                </a:lnTo>
                <a:lnTo>
                  <a:pt x="757743" y="202103"/>
                </a:lnTo>
                <a:lnTo>
                  <a:pt x="777563" y="153564"/>
                </a:lnTo>
                <a:lnTo>
                  <a:pt x="772475" y="128655"/>
                </a:lnTo>
                <a:lnTo>
                  <a:pt x="734168" y="82992"/>
                </a:lnTo>
                <a:lnTo>
                  <a:pt x="663692" y="44977"/>
                </a:lnTo>
                <a:lnTo>
                  <a:pt x="618391" y="29628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89049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1" y="170407"/>
                </a:lnTo>
                <a:lnTo>
                  <a:pt x="786841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98328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98328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84914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177414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5" h="170814">
                <a:moveTo>
                  <a:pt x="0" y="170407"/>
                </a:moveTo>
                <a:lnTo>
                  <a:pt x="784984" y="170407"/>
                </a:lnTo>
                <a:lnTo>
                  <a:pt x="784984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84837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8" y="289989"/>
                </a:lnTo>
                <a:lnTo>
                  <a:pt x="618390" y="277501"/>
                </a:lnTo>
                <a:lnTo>
                  <a:pt x="663691" y="262152"/>
                </a:lnTo>
                <a:lnTo>
                  <a:pt x="702550" y="244259"/>
                </a:lnTo>
                <a:lnTo>
                  <a:pt x="757742" y="202104"/>
                </a:lnTo>
                <a:lnTo>
                  <a:pt x="777562" y="153565"/>
                </a:lnTo>
                <a:lnTo>
                  <a:pt x="772474" y="128656"/>
                </a:lnTo>
                <a:lnTo>
                  <a:pt x="734167" y="82993"/>
                </a:lnTo>
                <a:lnTo>
                  <a:pt x="663691" y="44978"/>
                </a:lnTo>
                <a:lnTo>
                  <a:pt x="618390" y="29629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84837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8" y="289988"/>
                </a:lnTo>
                <a:lnTo>
                  <a:pt x="618390" y="277500"/>
                </a:lnTo>
                <a:lnTo>
                  <a:pt x="663691" y="262151"/>
                </a:lnTo>
                <a:lnTo>
                  <a:pt x="702550" y="244258"/>
                </a:lnTo>
                <a:lnTo>
                  <a:pt x="757742" y="202103"/>
                </a:lnTo>
                <a:lnTo>
                  <a:pt x="777562" y="153564"/>
                </a:lnTo>
                <a:lnTo>
                  <a:pt x="772474" y="128655"/>
                </a:lnTo>
                <a:lnTo>
                  <a:pt x="734167" y="82992"/>
                </a:lnTo>
                <a:lnTo>
                  <a:pt x="663691" y="44977"/>
                </a:lnTo>
                <a:lnTo>
                  <a:pt x="618390" y="29628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60712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0" y="170407"/>
                </a:lnTo>
                <a:lnTo>
                  <a:pt x="786840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69991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69991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456576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177414" y="516238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4" y="169908"/>
                </a:lnTo>
                <a:lnTo>
                  <a:pt x="784984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84837" y="518016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84837" y="501026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60712" y="513867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0" y="169908"/>
                </a:lnTo>
                <a:lnTo>
                  <a:pt x="786840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69991" y="515448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69991" y="4984575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456576" y="50238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4862512" y="2195512"/>
          <a:ext cx="3581400" cy="27797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4125"/>
                <a:gridCol w="2327275"/>
              </a:tblGrid>
              <a:tr h="914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  <a:p>
                      <a:pPr marL="31623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Dest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56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Next</a:t>
                      </a:r>
                      <a:r>
                        <a:rPr sz="2400" spc="-2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hop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48945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1161415" algn="l"/>
                          <a:tab pos="1863725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	E	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28575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  <a:tr h="1865312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519430" marR="506730" algn="just">
                        <a:lnSpc>
                          <a:spcPct val="128299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C  D  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4345"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pos="1177925" algn="l"/>
                          <a:tab pos="1889125" algn="l"/>
                        </a:tabLst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	9	</a:t>
                      </a:r>
                      <a:r>
                        <a:rPr sz="24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89255">
                        <a:lnSpc>
                          <a:spcPct val="100000"/>
                        </a:lnSpc>
                        <a:spcBef>
                          <a:spcPts val="819"/>
                        </a:spcBef>
                        <a:tabLst>
                          <a:tab pos="1093470" algn="l"/>
                          <a:tab pos="1889125" algn="l"/>
                        </a:tabLst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12	12	</a:t>
                      </a:r>
                      <a:r>
                        <a:rPr sz="24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89255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1093470" algn="l"/>
                          <a:tab pos="1889125" algn="l"/>
                        </a:tabLst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10	10	</a:t>
                      </a:r>
                      <a:r>
                        <a:rPr sz="24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74345">
                        <a:lnSpc>
                          <a:spcPct val="100000"/>
                        </a:lnSpc>
                        <a:spcBef>
                          <a:spcPts val="819"/>
                        </a:spcBef>
                        <a:tabLst>
                          <a:tab pos="1177925" algn="l"/>
                          <a:tab pos="1889125" algn="l"/>
                        </a:tabLst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8	8	</a:t>
                      </a:r>
                      <a:r>
                        <a:rPr sz="24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2" name="object 62"/>
          <p:cNvSpPr/>
          <p:nvPr/>
        </p:nvSpPr>
        <p:spPr>
          <a:xfrm>
            <a:off x="1652587" y="1847860"/>
            <a:ext cx="3240411" cy="11223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57447" y="540327"/>
            <a:ext cx="6575366" cy="810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6485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Node </a:t>
            </a:r>
            <a:r>
              <a:rPr i="1" dirty="0">
                <a:latin typeface="Arial"/>
                <a:cs typeface="Arial"/>
              </a:rPr>
              <a:t>B</a:t>
            </a:r>
            <a:r>
              <a:rPr dirty="0"/>
              <a:t>ʼs </a:t>
            </a:r>
            <a:r>
              <a:rPr spc="-5" dirty="0"/>
              <a:t>distance</a:t>
            </a:r>
            <a:r>
              <a:rPr spc="-30" dirty="0"/>
              <a:t> </a:t>
            </a:r>
            <a:r>
              <a:rPr spc="-5" dirty="0"/>
              <a:t>vectors</a:t>
            </a: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339" y="3333325"/>
            <a:ext cx="719455" cy="534670"/>
          </a:xfrm>
          <a:custGeom>
            <a:avLst/>
            <a:gdLst/>
            <a:ahLst/>
            <a:cxnLst/>
            <a:rect l="l" t="t" r="r" b="b"/>
            <a:pathLst>
              <a:path w="719455" h="534670">
                <a:moveTo>
                  <a:pt x="0" y="534248"/>
                </a:moveTo>
                <a:lnTo>
                  <a:pt x="719295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399" y="37990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43261" y="0"/>
                </a:moveTo>
                <a:lnTo>
                  <a:pt x="0" y="85524"/>
                </a:lnTo>
                <a:lnTo>
                  <a:pt x="94376" y="68820"/>
                </a:lnTo>
                <a:lnTo>
                  <a:pt x="43261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4198" y="3316287"/>
            <a:ext cx="94615" cy="85725"/>
          </a:xfrm>
          <a:custGeom>
            <a:avLst/>
            <a:gdLst/>
            <a:ahLst/>
            <a:cxnLst/>
            <a:rect l="l" t="t" r="r" b="b"/>
            <a:pathLst>
              <a:path w="94615" h="85725">
                <a:moveTo>
                  <a:pt x="94376" y="0"/>
                </a:moveTo>
                <a:lnTo>
                  <a:pt x="0" y="16705"/>
                </a:lnTo>
                <a:lnTo>
                  <a:pt x="51114" y="85524"/>
                </a:lnTo>
                <a:lnTo>
                  <a:pt x="9437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196" y="4422213"/>
            <a:ext cx="713740" cy="704850"/>
          </a:xfrm>
          <a:custGeom>
            <a:avLst/>
            <a:gdLst/>
            <a:ahLst/>
            <a:cxnLst/>
            <a:rect l="l" t="t" r="r" b="b"/>
            <a:pathLst>
              <a:path w="713740" h="704850">
                <a:moveTo>
                  <a:pt x="0" y="0"/>
                </a:moveTo>
                <a:lnTo>
                  <a:pt x="713395" y="704384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0862" y="4402137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0" y="0"/>
                </a:moveTo>
                <a:lnTo>
                  <a:pt x="30885" y="90731"/>
                </a:lnTo>
                <a:lnTo>
                  <a:pt x="91115" y="29730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3810" y="5055944"/>
            <a:ext cx="91440" cy="90805"/>
          </a:xfrm>
          <a:custGeom>
            <a:avLst/>
            <a:gdLst/>
            <a:ahLst/>
            <a:cxnLst/>
            <a:rect l="l" t="t" r="r" b="b"/>
            <a:pathLst>
              <a:path w="91440" h="90804">
                <a:moveTo>
                  <a:pt x="60229" y="0"/>
                </a:moveTo>
                <a:lnTo>
                  <a:pt x="0" y="61000"/>
                </a:lnTo>
                <a:lnTo>
                  <a:pt x="91114" y="90730"/>
                </a:lnTo>
                <a:lnTo>
                  <a:pt x="6022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1373" y="5308806"/>
            <a:ext cx="1030605" cy="7620"/>
          </a:xfrm>
          <a:custGeom>
            <a:avLst/>
            <a:gdLst/>
            <a:ahLst/>
            <a:cxnLst/>
            <a:rect l="l" t="t" r="r" b="b"/>
            <a:pathLst>
              <a:path w="1030605" h="7620">
                <a:moveTo>
                  <a:pt x="1030289" y="0"/>
                </a:moveTo>
                <a:lnTo>
                  <a:pt x="0" y="752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84202" y="5266363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0" y="0"/>
                </a:moveTo>
                <a:lnTo>
                  <a:pt x="624" y="85722"/>
                </a:lnTo>
                <a:lnTo>
                  <a:pt x="86034" y="4223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82799" y="5273049"/>
            <a:ext cx="86360" cy="85725"/>
          </a:xfrm>
          <a:custGeom>
            <a:avLst/>
            <a:gdLst/>
            <a:ahLst/>
            <a:cxnLst/>
            <a:rect l="l" t="t" r="r" b="b"/>
            <a:pathLst>
              <a:path w="86360" h="85725">
                <a:moveTo>
                  <a:pt x="85410" y="0"/>
                </a:moveTo>
                <a:lnTo>
                  <a:pt x="0" y="43487"/>
                </a:lnTo>
                <a:lnTo>
                  <a:pt x="86034" y="85722"/>
                </a:lnTo>
                <a:lnTo>
                  <a:pt x="8541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43607" y="3498848"/>
            <a:ext cx="15875" cy="1417955"/>
          </a:xfrm>
          <a:custGeom>
            <a:avLst/>
            <a:gdLst/>
            <a:ahLst/>
            <a:cxnLst/>
            <a:rect l="l" t="t" r="r" b="b"/>
            <a:pathLst>
              <a:path w="15875" h="1417954">
                <a:moveTo>
                  <a:pt x="15259" y="0"/>
                </a:moveTo>
                <a:lnTo>
                  <a:pt x="0" y="1417641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15391" y="3470274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783" y="0"/>
                </a:moveTo>
                <a:lnTo>
                  <a:pt x="0" y="85258"/>
                </a:lnTo>
                <a:lnTo>
                  <a:pt x="85719" y="86180"/>
                </a:lnTo>
                <a:lnTo>
                  <a:pt x="43783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01361" y="4858881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1937" y="86180"/>
                </a:lnTo>
                <a:lnTo>
                  <a:pt x="85719" y="92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05024" y="3316287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5">
                <a:moveTo>
                  <a:pt x="0" y="0"/>
                </a:moveTo>
                <a:lnTo>
                  <a:pt x="10366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76449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84512" y="327342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3500" y="3498848"/>
            <a:ext cx="13970" cy="1425575"/>
          </a:xfrm>
          <a:custGeom>
            <a:avLst/>
            <a:gdLst/>
            <a:ahLst/>
            <a:cxnLst/>
            <a:rect l="l" t="t" r="r" b="b"/>
            <a:pathLst>
              <a:path w="13969" h="1425575">
                <a:moveTo>
                  <a:pt x="0" y="1425578"/>
                </a:moveTo>
                <a:lnTo>
                  <a:pt x="13736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31190" y="4866865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0" y="0"/>
                </a:moveTo>
                <a:lnTo>
                  <a:pt x="42034" y="86133"/>
                </a:lnTo>
                <a:lnTo>
                  <a:pt x="85721" y="82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43825" y="3470273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43686" y="0"/>
                </a:moveTo>
                <a:lnTo>
                  <a:pt x="0" y="85308"/>
                </a:lnTo>
                <a:lnTo>
                  <a:pt x="85721" y="86135"/>
                </a:lnTo>
                <a:lnTo>
                  <a:pt x="43686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4539" y="4757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4539" y="3309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12289" y="4028757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7139" y="49860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60139" y="3995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7139" y="30048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9101" y="410193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6524" y="411971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6524" y="394981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4" y="304225"/>
                </a:lnTo>
                <a:lnTo>
                  <a:pt x="511667" y="298424"/>
                </a:lnTo>
                <a:lnTo>
                  <a:pt x="567449" y="289139"/>
                </a:lnTo>
                <a:lnTo>
                  <a:pt x="618391" y="276687"/>
                </a:lnTo>
                <a:lnTo>
                  <a:pt x="663692" y="261383"/>
                </a:lnTo>
                <a:lnTo>
                  <a:pt x="702551" y="243542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2399" y="407822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1678" y="409403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4" y="306189"/>
                </a:lnTo>
                <a:lnTo>
                  <a:pt x="511666" y="300349"/>
                </a:lnTo>
                <a:lnTo>
                  <a:pt x="567449" y="291005"/>
                </a:lnTo>
                <a:lnTo>
                  <a:pt x="618391" y="278473"/>
                </a:lnTo>
                <a:lnTo>
                  <a:pt x="663691" y="263070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4" y="129106"/>
                </a:lnTo>
                <a:lnTo>
                  <a:pt x="734168" y="83284"/>
                </a:lnTo>
                <a:lnTo>
                  <a:pt x="663691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1678" y="3924127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3"/>
                </a:lnTo>
                <a:lnTo>
                  <a:pt x="0" y="154101"/>
                </a:lnTo>
                <a:lnTo>
                  <a:pt x="5088" y="179098"/>
                </a:lnTo>
                <a:lnTo>
                  <a:pt x="43395" y="224921"/>
                </a:lnTo>
                <a:lnTo>
                  <a:pt x="113871" y="263069"/>
                </a:lnTo>
                <a:lnTo>
                  <a:pt x="159172" y="278471"/>
                </a:lnTo>
                <a:lnTo>
                  <a:pt x="210114" y="291004"/>
                </a:lnTo>
                <a:lnTo>
                  <a:pt x="265896" y="300348"/>
                </a:lnTo>
                <a:lnTo>
                  <a:pt x="325719" y="306187"/>
                </a:lnTo>
                <a:lnTo>
                  <a:pt x="388781" y="308204"/>
                </a:lnTo>
                <a:lnTo>
                  <a:pt x="451844" y="306187"/>
                </a:lnTo>
                <a:lnTo>
                  <a:pt x="511666" y="300348"/>
                </a:lnTo>
                <a:lnTo>
                  <a:pt x="567449" y="291004"/>
                </a:lnTo>
                <a:lnTo>
                  <a:pt x="618391" y="278471"/>
                </a:lnTo>
                <a:lnTo>
                  <a:pt x="663691" y="263069"/>
                </a:lnTo>
                <a:lnTo>
                  <a:pt x="702551" y="245113"/>
                </a:lnTo>
                <a:lnTo>
                  <a:pt x="757743" y="202810"/>
                </a:lnTo>
                <a:lnTo>
                  <a:pt x="777563" y="154101"/>
                </a:lnTo>
                <a:lnTo>
                  <a:pt x="772474" y="129105"/>
                </a:lnTo>
                <a:lnTo>
                  <a:pt x="734168" y="83283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4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69101" y="3963352"/>
            <a:ext cx="785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312101" y="5170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19524" y="51881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19524" y="5018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5399" y="51466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04678" y="5162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04678" y="49925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591264" y="5031739"/>
            <a:ext cx="161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05751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4" h="170814">
                <a:moveTo>
                  <a:pt x="0" y="170407"/>
                </a:moveTo>
                <a:lnTo>
                  <a:pt x="784985" y="170407"/>
                </a:lnTo>
                <a:lnTo>
                  <a:pt x="784985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313174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9" y="289989"/>
                </a:lnTo>
                <a:lnTo>
                  <a:pt x="618391" y="277501"/>
                </a:lnTo>
                <a:lnTo>
                  <a:pt x="663692" y="262152"/>
                </a:lnTo>
                <a:lnTo>
                  <a:pt x="702551" y="244259"/>
                </a:lnTo>
                <a:lnTo>
                  <a:pt x="757743" y="202104"/>
                </a:lnTo>
                <a:lnTo>
                  <a:pt x="777563" y="153565"/>
                </a:lnTo>
                <a:lnTo>
                  <a:pt x="772475" y="128656"/>
                </a:lnTo>
                <a:lnTo>
                  <a:pt x="734168" y="82993"/>
                </a:lnTo>
                <a:lnTo>
                  <a:pt x="663692" y="44978"/>
                </a:lnTo>
                <a:lnTo>
                  <a:pt x="618391" y="29629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13174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9" y="289988"/>
                </a:lnTo>
                <a:lnTo>
                  <a:pt x="618391" y="277500"/>
                </a:lnTo>
                <a:lnTo>
                  <a:pt x="663692" y="262151"/>
                </a:lnTo>
                <a:lnTo>
                  <a:pt x="702551" y="244258"/>
                </a:lnTo>
                <a:lnTo>
                  <a:pt x="757743" y="202103"/>
                </a:lnTo>
                <a:lnTo>
                  <a:pt x="777563" y="153564"/>
                </a:lnTo>
                <a:lnTo>
                  <a:pt x="772475" y="128655"/>
                </a:lnTo>
                <a:lnTo>
                  <a:pt x="734168" y="82992"/>
                </a:lnTo>
                <a:lnTo>
                  <a:pt x="663692" y="44977"/>
                </a:lnTo>
                <a:lnTo>
                  <a:pt x="618391" y="29628"/>
                </a:lnTo>
                <a:lnTo>
                  <a:pt x="567449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89049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1" y="170407"/>
                </a:lnTo>
                <a:lnTo>
                  <a:pt x="786841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98328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98328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2" y="0"/>
                </a:moveTo>
                <a:lnTo>
                  <a:pt x="325719" y="2022"/>
                </a:lnTo>
                <a:lnTo>
                  <a:pt x="265897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7" y="301232"/>
                </a:lnTo>
                <a:lnTo>
                  <a:pt x="325719" y="307088"/>
                </a:lnTo>
                <a:lnTo>
                  <a:pt x="388782" y="309111"/>
                </a:lnTo>
                <a:lnTo>
                  <a:pt x="451844" y="307088"/>
                </a:lnTo>
                <a:lnTo>
                  <a:pt x="511667" y="301232"/>
                </a:lnTo>
                <a:lnTo>
                  <a:pt x="567449" y="291860"/>
                </a:lnTo>
                <a:lnTo>
                  <a:pt x="618391" y="279291"/>
                </a:lnTo>
                <a:lnTo>
                  <a:pt x="663692" y="263843"/>
                </a:lnTo>
                <a:lnTo>
                  <a:pt x="702551" y="245834"/>
                </a:lnTo>
                <a:lnTo>
                  <a:pt x="757743" y="203407"/>
                </a:lnTo>
                <a:lnTo>
                  <a:pt x="777563" y="154556"/>
                </a:lnTo>
                <a:lnTo>
                  <a:pt x="772475" y="129486"/>
                </a:lnTo>
                <a:lnTo>
                  <a:pt x="734168" y="83528"/>
                </a:lnTo>
                <a:lnTo>
                  <a:pt x="663692" y="45268"/>
                </a:lnTo>
                <a:lnTo>
                  <a:pt x="618391" y="29820"/>
                </a:lnTo>
                <a:lnTo>
                  <a:pt x="567449" y="17251"/>
                </a:lnTo>
                <a:lnTo>
                  <a:pt x="511667" y="7879"/>
                </a:lnTo>
                <a:lnTo>
                  <a:pt x="451844" y="2022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84914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177414" y="3169124"/>
            <a:ext cx="785495" cy="170815"/>
          </a:xfrm>
          <a:custGeom>
            <a:avLst/>
            <a:gdLst/>
            <a:ahLst/>
            <a:cxnLst/>
            <a:rect l="l" t="t" r="r" b="b"/>
            <a:pathLst>
              <a:path w="785495" h="170814">
                <a:moveTo>
                  <a:pt x="0" y="170407"/>
                </a:moveTo>
                <a:lnTo>
                  <a:pt x="784984" y="170407"/>
                </a:lnTo>
                <a:lnTo>
                  <a:pt x="784984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84837" y="3186957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9"/>
                </a:lnTo>
                <a:lnTo>
                  <a:pt x="113871" y="44978"/>
                </a:lnTo>
                <a:lnTo>
                  <a:pt x="75012" y="62871"/>
                </a:lnTo>
                <a:lnTo>
                  <a:pt x="19820" y="105027"/>
                </a:lnTo>
                <a:lnTo>
                  <a:pt x="0" y="153565"/>
                </a:lnTo>
                <a:lnTo>
                  <a:pt x="5088" y="178474"/>
                </a:lnTo>
                <a:lnTo>
                  <a:pt x="43395" y="224137"/>
                </a:lnTo>
                <a:lnTo>
                  <a:pt x="113871" y="262152"/>
                </a:lnTo>
                <a:lnTo>
                  <a:pt x="159172" y="277501"/>
                </a:lnTo>
                <a:lnTo>
                  <a:pt x="210114" y="289989"/>
                </a:lnTo>
                <a:lnTo>
                  <a:pt x="265896" y="299301"/>
                </a:lnTo>
                <a:lnTo>
                  <a:pt x="325719" y="305120"/>
                </a:lnTo>
                <a:lnTo>
                  <a:pt x="388781" y="307130"/>
                </a:lnTo>
                <a:lnTo>
                  <a:pt x="451843" y="305120"/>
                </a:lnTo>
                <a:lnTo>
                  <a:pt x="511666" y="299301"/>
                </a:lnTo>
                <a:lnTo>
                  <a:pt x="567448" y="289989"/>
                </a:lnTo>
                <a:lnTo>
                  <a:pt x="618390" y="277501"/>
                </a:lnTo>
                <a:lnTo>
                  <a:pt x="663691" y="262152"/>
                </a:lnTo>
                <a:lnTo>
                  <a:pt x="702550" y="244259"/>
                </a:lnTo>
                <a:lnTo>
                  <a:pt x="757742" y="202104"/>
                </a:lnTo>
                <a:lnTo>
                  <a:pt x="777562" y="153565"/>
                </a:lnTo>
                <a:lnTo>
                  <a:pt x="772474" y="128656"/>
                </a:lnTo>
                <a:lnTo>
                  <a:pt x="734167" y="82993"/>
                </a:lnTo>
                <a:lnTo>
                  <a:pt x="663691" y="44978"/>
                </a:lnTo>
                <a:lnTo>
                  <a:pt x="618390" y="29629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84837" y="3016551"/>
            <a:ext cx="777875" cy="307340"/>
          </a:xfrm>
          <a:custGeom>
            <a:avLst/>
            <a:gdLst/>
            <a:ahLst/>
            <a:cxnLst/>
            <a:rect l="l" t="t" r="r" b="b"/>
            <a:pathLst>
              <a:path w="777875" h="307339">
                <a:moveTo>
                  <a:pt x="388781" y="0"/>
                </a:moveTo>
                <a:lnTo>
                  <a:pt x="325719" y="2009"/>
                </a:lnTo>
                <a:lnTo>
                  <a:pt x="265896" y="7828"/>
                </a:lnTo>
                <a:lnTo>
                  <a:pt x="210114" y="17140"/>
                </a:lnTo>
                <a:lnTo>
                  <a:pt x="159172" y="29628"/>
                </a:lnTo>
                <a:lnTo>
                  <a:pt x="113871" y="44977"/>
                </a:lnTo>
                <a:lnTo>
                  <a:pt x="75012" y="62871"/>
                </a:lnTo>
                <a:lnTo>
                  <a:pt x="19820" y="105026"/>
                </a:lnTo>
                <a:lnTo>
                  <a:pt x="0" y="153564"/>
                </a:lnTo>
                <a:lnTo>
                  <a:pt x="5088" y="178473"/>
                </a:lnTo>
                <a:lnTo>
                  <a:pt x="43395" y="224136"/>
                </a:lnTo>
                <a:lnTo>
                  <a:pt x="113871" y="262151"/>
                </a:lnTo>
                <a:lnTo>
                  <a:pt x="159172" y="277500"/>
                </a:lnTo>
                <a:lnTo>
                  <a:pt x="210114" y="289988"/>
                </a:lnTo>
                <a:lnTo>
                  <a:pt x="265896" y="299300"/>
                </a:lnTo>
                <a:lnTo>
                  <a:pt x="325719" y="305119"/>
                </a:lnTo>
                <a:lnTo>
                  <a:pt x="388781" y="307129"/>
                </a:lnTo>
                <a:lnTo>
                  <a:pt x="451843" y="305119"/>
                </a:lnTo>
                <a:lnTo>
                  <a:pt x="511666" y="299300"/>
                </a:lnTo>
                <a:lnTo>
                  <a:pt x="567448" y="289988"/>
                </a:lnTo>
                <a:lnTo>
                  <a:pt x="618390" y="277500"/>
                </a:lnTo>
                <a:lnTo>
                  <a:pt x="663691" y="262151"/>
                </a:lnTo>
                <a:lnTo>
                  <a:pt x="702550" y="244258"/>
                </a:lnTo>
                <a:lnTo>
                  <a:pt x="757742" y="202103"/>
                </a:lnTo>
                <a:lnTo>
                  <a:pt x="777562" y="153564"/>
                </a:lnTo>
                <a:lnTo>
                  <a:pt x="772474" y="128655"/>
                </a:lnTo>
                <a:lnTo>
                  <a:pt x="734167" y="82992"/>
                </a:lnTo>
                <a:lnTo>
                  <a:pt x="663691" y="44977"/>
                </a:lnTo>
                <a:lnTo>
                  <a:pt x="618390" y="29628"/>
                </a:lnTo>
                <a:lnTo>
                  <a:pt x="567448" y="17140"/>
                </a:lnTo>
                <a:lnTo>
                  <a:pt x="511666" y="7828"/>
                </a:lnTo>
                <a:lnTo>
                  <a:pt x="451843" y="2009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60712" y="3145347"/>
            <a:ext cx="787400" cy="170815"/>
          </a:xfrm>
          <a:custGeom>
            <a:avLst/>
            <a:gdLst/>
            <a:ahLst/>
            <a:cxnLst/>
            <a:rect l="l" t="t" r="r" b="b"/>
            <a:pathLst>
              <a:path w="787400" h="170814">
                <a:moveTo>
                  <a:pt x="0" y="170407"/>
                </a:moveTo>
                <a:lnTo>
                  <a:pt x="786840" y="170407"/>
                </a:lnTo>
                <a:lnTo>
                  <a:pt x="786840" y="0"/>
                </a:lnTo>
                <a:lnTo>
                  <a:pt x="0" y="0"/>
                </a:lnTo>
                <a:lnTo>
                  <a:pt x="0" y="170407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69991" y="3161199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69991" y="2990792"/>
            <a:ext cx="777875" cy="309245"/>
          </a:xfrm>
          <a:custGeom>
            <a:avLst/>
            <a:gdLst/>
            <a:ahLst/>
            <a:cxnLst/>
            <a:rect l="l" t="t" r="r" b="b"/>
            <a:pathLst>
              <a:path w="777875" h="309245">
                <a:moveTo>
                  <a:pt x="388781" y="0"/>
                </a:moveTo>
                <a:lnTo>
                  <a:pt x="325719" y="2022"/>
                </a:lnTo>
                <a:lnTo>
                  <a:pt x="265896" y="7879"/>
                </a:lnTo>
                <a:lnTo>
                  <a:pt x="210114" y="17251"/>
                </a:lnTo>
                <a:lnTo>
                  <a:pt x="159172" y="29820"/>
                </a:lnTo>
                <a:lnTo>
                  <a:pt x="113871" y="45268"/>
                </a:lnTo>
                <a:lnTo>
                  <a:pt x="75012" y="63277"/>
                </a:lnTo>
                <a:lnTo>
                  <a:pt x="19820" y="105704"/>
                </a:lnTo>
                <a:lnTo>
                  <a:pt x="0" y="154556"/>
                </a:lnTo>
                <a:lnTo>
                  <a:pt x="5088" y="179625"/>
                </a:lnTo>
                <a:lnTo>
                  <a:pt x="43395" y="225583"/>
                </a:lnTo>
                <a:lnTo>
                  <a:pt x="113871" y="263843"/>
                </a:lnTo>
                <a:lnTo>
                  <a:pt x="159172" y="279291"/>
                </a:lnTo>
                <a:lnTo>
                  <a:pt x="210114" y="291860"/>
                </a:lnTo>
                <a:lnTo>
                  <a:pt x="265896" y="301232"/>
                </a:lnTo>
                <a:lnTo>
                  <a:pt x="325719" y="307088"/>
                </a:lnTo>
                <a:lnTo>
                  <a:pt x="388781" y="309111"/>
                </a:lnTo>
                <a:lnTo>
                  <a:pt x="451843" y="307088"/>
                </a:lnTo>
                <a:lnTo>
                  <a:pt x="511666" y="301232"/>
                </a:lnTo>
                <a:lnTo>
                  <a:pt x="567448" y="291860"/>
                </a:lnTo>
                <a:lnTo>
                  <a:pt x="618390" y="279291"/>
                </a:lnTo>
                <a:lnTo>
                  <a:pt x="663691" y="263843"/>
                </a:lnTo>
                <a:lnTo>
                  <a:pt x="702550" y="245834"/>
                </a:lnTo>
                <a:lnTo>
                  <a:pt x="757742" y="203407"/>
                </a:lnTo>
                <a:lnTo>
                  <a:pt x="777562" y="154556"/>
                </a:lnTo>
                <a:lnTo>
                  <a:pt x="772474" y="129486"/>
                </a:lnTo>
                <a:lnTo>
                  <a:pt x="734167" y="83528"/>
                </a:lnTo>
                <a:lnTo>
                  <a:pt x="663691" y="45268"/>
                </a:lnTo>
                <a:lnTo>
                  <a:pt x="618390" y="29820"/>
                </a:lnTo>
                <a:lnTo>
                  <a:pt x="567448" y="17251"/>
                </a:lnTo>
                <a:lnTo>
                  <a:pt x="511666" y="7879"/>
                </a:lnTo>
                <a:lnTo>
                  <a:pt x="451843" y="2022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456576" y="30299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177414" y="5162387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4" y="169908"/>
                </a:lnTo>
                <a:lnTo>
                  <a:pt x="784984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84837" y="5180169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84837" y="5010260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3"/>
                </a:lnTo>
                <a:lnTo>
                  <a:pt x="159172" y="276687"/>
                </a:lnTo>
                <a:lnTo>
                  <a:pt x="210114" y="289139"/>
                </a:lnTo>
                <a:lnTo>
                  <a:pt x="265896" y="298424"/>
                </a:lnTo>
                <a:lnTo>
                  <a:pt x="325719" y="304225"/>
                </a:lnTo>
                <a:lnTo>
                  <a:pt x="388781" y="306230"/>
                </a:lnTo>
                <a:lnTo>
                  <a:pt x="451843" y="304225"/>
                </a:lnTo>
                <a:lnTo>
                  <a:pt x="511666" y="298424"/>
                </a:lnTo>
                <a:lnTo>
                  <a:pt x="567448" y="289139"/>
                </a:lnTo>
                <a:lnTo>
                  <a:pt x="618390" y="276687"/>
                </a:lnTo>
                <a:lnTo>
                  <a:pt x="663691" y="261383"/>
                </a:lnTo>
                <a:lnTo>
                  <a:pt x="702550" y="243542"/>
                </a:lnTo>
                <a:lnTo>
                  <a:pt x="757742" y="201511"/>
                </a:lnTo>
                <a:lnTo>
                  <a:pt x="777562" y="153115"/>
                </a:lnTo>
                <a:lnTo>
                  <a:pt x="772474" y="128278"/>
                </a:lnTo>
                <a:lnTo>
                  <a:pt x="734167" y="82749"/>
                </a:lnTo>
                <a:lnTo>
                  <a:pt x="663691" y="44846"/>
                </a:lnTo>
                <a:lnTo>
                  <a:pt x="618390" y="29542"/>
                </a:lnTo>
                <a:lnTo>
                  <a:pt x="567448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60712" y="5138679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0" y="169908"/>
                </a:lnTo>
                <a:lnTo>
                  <a:pt x="786840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69991" y="515448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69991" y="4984575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0"/>
                </a:lnTo>
                <a:lnTo>
                  <a:pt x="159172" y="278473"/>
                </a:lnTo>
                <a:lnTo>
                  <a:pt x="210114" y="291005"/>
                </a:lnTo>
                <a:lnTo>
                  <a:pt x="265896" y="300349"/>
                </a:lnTo>
                <a:lnTo>
                  <a:pt x="325719" y="306189"/>
                </a:lnTo>
                <a:lnTo>
                  <a:pt x="388781" y="308206"/>
                </a:lnTo>
                <a:lnTo>
                  <a:pt x="451843" y="306189"/>
                </a:lnTo>
                <a:lnTo>
                  <a:pt x="511666" y="300349"/>
                </a:lnTo>
                <a:lnTo>
                  <a:pt x="567448" y="291005"/>
                </a:lnTo>
                <a:lnTo>
                  <a:pt x="618390" y="278473"/>
                </a:lnTo>
                <a:lnTo>
                  <a:pt x="663691" y="263070"/>
                </a:lnTo>
                <a:lnTo>
                  <a:pt x="702550" y="245114"/>
                </a:lnTo>
                <a:lnTo>
                  <a:pt x="757742" y="202811"/>
                </a:lnTo>
                <a:lnTo>
                  <a:pt x="777562" y="154103"/>
                </a:lnTo>
                <a:lnTo>
                  <a:pt x="772474" y="129106"/>
                </a:lnTo>
                <a:lnTo>
                  <a:pt x="734167" y="83284"/>
                </a:lnTo>
                <a:lnTo>
                  <a:pt x="663691" y="45136"/>
                </a:lnTo>
                <a:lnTo>
                  <a:pt x="618390" y="29733"/>
                </a:lnTo>
                <a:lnTo>
                  <a:pt x="567448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456576" y="5023802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4329112" y="2424112"/>
          <a:ext cx="4344666" cy="37195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493394"/>
                <a:gridCol w="766444"/>
                <a:gridCol w="516255"/>
                <a:gridCol w="339089"/>
                <a:gridCol w="778509"/>
                <a:gridCol w="536575"/>
              </a:tblGrid>
              <a:tr h="1188822">
                <a:tc>
                  <a:txBody>
                    <a:bodyPr/>
                    <a:lstStyle/>
                    <a:p>
                      <a:pPr marL="120650" marR="107950" indent="-85090" algn="ctr">
                        <a:lnSpc>
                          <a:spcPct val="99000"/>
                        </a:lnSpc>
                        <a:spcBef>
                          <a:spcPts val="39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Info  </a:t>
                      </a: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at  </a:t>
                      </a: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5875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94005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1017905" algn="l"/>
                        </a:tabLst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	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spc="-5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20014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  <a:tr h="2530691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349250" marR="336550" algn="just">
                        <a:lnSpc>
                          <a:spcPct val="137500"/>
                        </a:lnSpc>
                        <a:spcBef>
                          <a:spcPts val="125"/>
                        </a:spcBef>
                      </a:pPr>
                      <a:r>
                        <a:rPr sz="2400" b="1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B  C  D  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545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54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54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4254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R="5461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159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1590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21590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dirty="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28575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2" name="object 62"/>
          <p:cNvSpPr/>
          <p:nvPr/>
        </p:nvSpPr>
        <p:spPr>
          <a:xfrm>
            <a:off x="685800" y="4419599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24188" y="0"/>
                </a:moveTo>
                <a:lnTo>
                  <a:pt x="215828" y="128692"/>
                </a:lnTo>
                <a:lnTo>
                  <a:pt x="260526" y="143869"/>
                </a:lnTo>
                <a:lnTo>
                  <a:pt x="124040" y="254148"/>
                </a:lnTo>
                <a:lnTo>
                  <a:pt x="168737" y="272562"/>
                </a:lnTo>
                <a:lnTo>
                  <a:pt x="0" y="457200"/>
                </a:lnTo>
                <a:lnTo>
                  <a:pt x="286158" y="315700"/>
                </a:lnTo>
                <a:lnTo>
                  <a:pt x="231584" y="296058"/>
                </a:lnTo>
                <a:lnTo>
                  <a:pt x="409384" y="205422"/>
                </a:lnTo>
                <a:lnTo>
                  <a:pt x="345672" y="177419"/>
                </a:lnTo>
                <a:lnTo>
                  <a:pt x="533399" y="82337"/>
                </a:lnTo>
                <a:lnTo>
                  <a:pt x="324188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85799" y="4419600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24188" y="0"/>
                </a:moveTo>
                <a:lnTo>
                  <a:pt x="215829" y="128693"/>
                </a:lnTo>
                <a:lnTo>
                  <a:pt x="260526" y="143869"/>
                </a:lnTo>
                <a:lnTo>
                  <a:pt x="124040" y="254148"/>
                </a:lnTo>
                <a:lnTo>
                  <a:pt x="168737" y="272562"/>
                </a:lnTo>
                <a:lnTo>
                  <a:pt x="0" y="457199"/>
                </a:lnTo>
                <a:lnTo>
                  <a:pt x="286159" y="315700"/>
                </a:lnTo>
                <a:lnTo>
                  <a:pt x="231584" y="296058"/>
                </a:lnTo>
                <a:lnTo>
                  <a:pt x="409384" y="205422"/>
                </a:lnTo>
                <a:lnTo>
                  <a:pt x="345672" y="177418"/>
                </a:lnTo>
                <a:lnTo>
                  <a:pt x="533399" y="82338"/>
                </a:lnTo>
                <a:lnTo>
                  <a:pt x="324188" y="0"/>
                </a:lnTo>
                <a:close/>
              </a:path>
            </a:pathLst>
          </a:custGeom>
          <a:ln w="952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384174" y="1352858"/>
            <a:ext cx="7235826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 indent="-127635">
              <a:lnSpc>
                <a:spcPts val="1910"/>
              </a:lnSpc>
              <a:spcBef>
                <a:spcPts val="100"/>
              </a:spcBef>
              <a:buChar char="•"/>
              <a:tabLst>
                <a:tab pos="140335" algn="l"/>
              </a:tabLst>
            </a:pPr>
            <a:r>
              <a:rPr sz="2000" dirty="0">
                <a:latin typeface="Arial"/>
                <a:cs typeface="Arial"/>
              </a:rPr>
              <a:t>A marks </a:t>
            </a:r>
            <a:r>
              <a:rPr sz="2000" spc="-5" dirty="0">
                <a:latin typeface="Arial"/>
                <a:cs typeface="Arial"/>
              </a:rPr>
              <a:t>distance to </a:t>
            </a:r>
            <a:r>
              <a:rPr sz="2000" dirty="0">
                <a:latin typeface="Arial"/>
                <a:cs typeface="Arial"/>
              </a:rPr>
              <a:t>E as </a:t>
            </a:r>
            <a:r>
              <a:rPr sz="2000" dirty="0">
                <a:solidFill>
                  <a:srgbClr val="232323"/>
                </a:solidFill>
                <a:latin typeface="Symbol"/>
                <a:cs typeface="Symbol"/>
              </a:rPr>
              <a:t></a:t>
            </a:r>
            <a:r>
              <a:rPr sz="200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, and </a:t>
            </a:r>
            <a:r>
              <a:rPr sz="2000" spc="-5" dirty="0">
                <a:latin typeface="Arial"/>
                <a:cs typeface="Arial"/>
              </a:rPr>
              <a:t>tells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</a:p>
          <a:p>
            <a:pPr marL="139700" indent="-127635">
              <a:lnSpc>
                <a:spcPts val="1900"/>
              </a:lnSpc>
              <a:buChar char="•"/>
              <a:tabLst>
                <a:tab pos="140335" algn="l"/>
              </a:tabLst>
            </a:pPr>
            <a:r>
              <a:rPr sz="2000" dirty="0">
                <a:latin typeface="Arial"/>
                <a:cs typeface="Arial"/>
              </a:rPr>
              <a:t>E marks </a:t>
            </a:r>
            <a:r>
              <a:rPr sz="2000" spc="-5" dirty="0">
                <a:latin typeface="Arial"/>
                <a:cs typeface="Arial"/>
              </a:rPr>
              <a:t>distance to </a:t>
            </a:r>
            <a:r>
              <a:rPr sz="2000" dirty="0">
                <a:latin typeface="Arial"/>
                <a:cs typeface="Arial"/>
              </a:rPr>
              <a:t>A as </a:t>
            </a:r>
            <a:r>
              <a:rPr sz="2000" dirty="0">
                <a:solidFill>
                  <a:srgbClr val="232323"/>
                </a:solidFill>
                <a:latin typeface="Symbol"/>
                <a:cs typeface="Symbol"/>
              </a:rPr>
              <a:t></a:t>
            </a:r>
            <a:r>
              <a:rPr sz="200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, and </a:t>
            </a:r>
            <a:r>
              <a:rPr sz="2000" spc="-5" dirty="0">
                <a:latin typeface="Arial"/>
                <a:cs typeface="Arial"/>
              </a:rPr>
              <a:t>tells </a:t>
            </a:r>
            <a:r>
              <a:rPr sz="2000" dirty="0">
                <a:latin typeface="Arial"/>
                <a:cs typeface="Arial"/>
              </a:rPr>
              <a:t>B and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</a:t>
            </a:r>
          </a:p>
          <a:p>
            <a:pPr marL="139700" indent="-127635">
              <a:lnSpc>
                <a:spcPts val="1900"/>
              </a:lnSpc>
              <a:buChar char="•"/>
              <a:tabLst>
                <a:tab pos="140335" algn="l"/>
              </a:tabLst>
            </a:pPr>
            <a:r>
              <a:rPr sz="2000" dirty="0">
                <a:latin typeface="Arial"/>
                <a:cs typeface="Arial"/>
              </a:rPr>
              <a:t>B and D </a:t>
            </a:r>
            <a:r>
              <a:rPr sz="2000" spc="-5" dirty="0">
                <a:latin typeface="Arial"/>
                <a:cs typeface="Arial"/>
              </a:rPr>
              <a:t>recompute routes </a:t>
            </a:r>
            <a:r>
              <a:rPr sz="2000" dirty="0">
                <a:latin typeface="Arial"/>
                <a:cs typeface="Arial"/>
              </a:rPr>
              <a:t>and </a:t>
            </a:r>
            <a:r>
              <a:rPr sz="2000" spc="-5" dirty="0">
                <a:latin typeface="Arial"/>
                <a:cs typeface="Arial"/>
              </a:rPr>
              <a:t>tell </a:t>
            </a:r>
            <a:r>
              <a:rPr sz="2000" dirty="0">
                <a:latin typeface="Arial"/>
                <a:cs typeface="Arial"/>
              </a:rPr>
              <a:t>C, E 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</a:p>
          <a:p>
            <a:pPr marL="139700" indent="-127635">
              <a:lnSpc>
                <a:spcPts val="1910"/>
              </a:lnSpc>
              <a:buChar char="•"/>
              <a:tabLst>
                <a:tab pos="140335" algn="l"/>
              </a:tabLst>
            </a:pPr>
            <a:r>
              <a:rPr sz="2000" spc="-5" dirty="0">
                <a:latin typeface="Arial"/>
                <a:cs typeface="Arial"/>
              </a:rPr>
              <a:t>etc… until </a:t>
            </a:r>
            <a:r>
              <a:rPr sz="2000" dirty="0">
                <a:latin typeface="Arial"/>
                <a:cs typeface="Arial"/>
              </a:rPr>
              <a:t>converge</a:t>
            </a:r>
          </a:p>
        </p:txBody>
      </p:sp>
      <p:sp>
        <p:nvSpPr>
          <p:cNvPr id="65" name="object 65"/>
          <p:cNvSpPr/>
          <p:nvPr/>
        </p:nvSpPr>
        <p:spPr>
          <a:xfrm>
            <a:off x="1687512" y="3470275"/>
            <a:ext cx="3175" cy="1482725"/>
          </a:xfrm>
          <a:custGeom>
            <a:avLst/>
            <a:gdLst/>
            <a:ahLst/>
            <a:cxnLst/>
            <a:rect l="l" t="t" r="r" b="b"/>
            <a:pathLst>
              <a:path w="3175" h="1482725">
                <a:moveTo>
                  <a:pt x="3174" y="1482724"/>
                </a:moveTo>
                <a:lnTo>
                  <a:pt x="0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57447" y="540327"/>
            <a:ext cx="5370021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384174" y="653754"/>
            <a:ext cx="527558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3630" algn="l"/>
              </a:tabLst>
            </a:pPr>
            <a:r>
              <a:rPr dirty="0" smtClean="0"/>
              <a:t>Handling</a:t>
            </a:r>
            <a:r>
              <a:rPr lang="en-IN" dirty="0" smtClean="0"/>
              <a:t> </a:t>
            </a:r>
            <a:r>
              <a:rPr dirty="0" smtClean="0"/>
              <a:t>Link</a:t>
            </a:r>
            <a:r>
              <a:rPr spc="-70" dirty="0" smtClean="0"/>
              <a:t> </a:t>
            </a:r>
            <a:r>
              <a:rPr spc="-5" dirty="0"/>
              <a:t>Failure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25973" y="2479674"/>
            <a:ext cx="1450975" cy="0"/>
          </a:xfrm>
          <a:custGeom>
            <a:avLst/>
            <a:gdLst/>
            <a:ahLst/>
            <a:cxnLst/>
            <a:rect l="l" t="t" r="r" b="b"/>
            <a:pathLst>
              <a:path w="1450975">
                <a:moveTo>
                  <a:pt x="0" y="0"/>
                </a:moveTo>
                <a:lnTo>
                  <a:pt x="1450974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97398" y="24368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19798" y="24368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98139" y="2166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4501" y="2503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80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71924" y="252110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5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71924" y="2351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5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5"/>
                </a:lnTo>
                <a:lnTo>
                  <a:pt x="159172" y="276689"/>
                </a:lnTo>
                <a:lnTo>
                  <a:pt x="210114" y="289141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1"/>
                </a:lnTo>
                <a:lnTo>
                  <a:pt x="618391" y="276689"/>
                </a:lnTo>
                <a:lnTo>
                  <a:pt x="663692" y="261385"/>
                </a:lnTo>
                <a:lnTo>
                  <a:pt x="702551" y="243544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47799" y="24796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80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57078" y="2495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57078" y="2325514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12700" y="2503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80">
                <a:moveTo>
                  <a:pt x="0" y="169908"/>
                </a:moveTo>
                <a:lnTo>
                  <a:pt x="784986" y="169908"/>
                </a:lnTo>
                <a:lnTo>
                  <a:pt x="784986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20124" y="252110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5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20124" y="2351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5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5"/>
                </a:lnTo>
                <a:lnTo>
                  <a:pt x="159172" y="276689"/>
                </a:lnTo>
                <a:lnTo>
                  <a:pt x="210114" y="289141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1"/>
                </a:lnTo>
                <a:lnTo>
                  <a:pt x="618391" y="276689"/>
                </a:lnTo>
                <a:lnTo>
                  <a:pt x="663692" y="261385"/>
                </a:lnTo>
                <a:lnTo>
                  <a:pt x="702551" y="243544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5998" y="24796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80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05278" y="2495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6" y="300351"/>
                </a:lnTo>
                <a:lnTo>
                  <a:pt x="325719" y="306190"/>
                </a:lnTo>
                <a:lnTo>
                  <a:pt x="388781" y="308207"/>
                </a:lnTo>
                <a:lnTo>
                  <a:pt x="451843" y="306190"/>
                </a:lnTo>
                <a:lnTo>
                  <a:pt x="511666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05278" y="2325514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6" y="300351"/>
                </a:lnTo>
                <a:lnTo>
                  <a:pt x="325719" y="306190"/>
                </a:lnTo>
                <a:lnTo>
                  <a:pt x="388781" y="308207"/>
                </a:lnTo>
                <a:lnTo>
                  <a:pt x="451843" y="306190"/>
                </a:lnTo>
                <a:lnTo>
                  <a:pt x="511666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91864" y="2364739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26701" y="25033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80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34124" y="252110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5">
                <a:moveTo>
                  <a:pt x="388781" y="0"/>
                </a:moveTo>
                <a:lnTo>
                  <a:pt x="325718" y="2004"/>
                </a:lnTo>
                <a:lnTo>
                  <a:pt x="265895" y="7805"/>
                </a:lnTo>
                <a:lnTo>
                  <a:pt x="210113" y="17090"/>
                </a:lnTo>
                <a:lnTo>
                  <a:pt x="159171" y="29542"/>
                </a:lnTo>
                <a:lnTo>
                  <a:pt x="113871" y="44846"/>
                </a:lnTo>
                <a:lnTo>
                  <a:pt x="75011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4" y="223480"/>
                </a:lnTo>
                <a:lnTo>
                  <a:pt x="113871" y="261384"/>
                </a:lnTo>
                <a:lnTo>
                  <a:pt x="159171" y="276688"/>
                </a:lnTo>
                <a:lnTo>
                  <a:pt x="210113" y="289140"/>
                </a:lnTo>
                <a:lnTo>
                  <a:pt x="265895" y="298425"/>
                </a:lnTo>
                <a:lnTo>
                  <a:pt x="325718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34124" y="23511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5">
                <a:moveTo>
                  <a:pt x="388781" y="0"/>
                </a:moveTo>
                <a:lnTo>
                  <a:pt x="325718" y="2004"/>
                </a:lnTo>
                <a:lnTo>
                  <a:pt x="265895" y="7805"/>
                </a:lnTo>
                <a:lnTo>
                  <a:pt x="210113" y="17090"/>
                </a:lnTo>
                <a:lnTo>
                  <a:pt x="159171" y="29542"/>
                </a:lnTo>
                <a:lnTo>
                  <a:pt x="113871" y="44846"/>
                </a:lnTo>
                <a:lnTo>
                  <a:pt x="75011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4" y="223481"/>
                </a:lnTo>
                <a:lnTo>
                  <a:pt x="113871" y="261385"/>
                </a:lnTo>
                <a:lnTo>
                  <a:pt x="159171" y="276689"/>
                </a:lnTo>
                <a:lnTo>
                  <a:pt x="210113" y="289141"/>
                </a:lnTo>
                <a:lnTo>
                  <a:pt x="265895" y="298426"/>
                </a:lnTo>
                <a:lnTo>
                  <a:pt x="325718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1"/>
                </a:lnTo>
                <a:lnTo>
                  <a:pt x="618391" y="276689"/>
                </a:lnTo>
                <a:lnTo>
                  <a:pt x="663692" y="261385"/>
                </a:lnTo>
                <a:lnTo>
                  <a:pt x="702551" y="243544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10000" y="24796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80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9278" y="24954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19278" y="2325514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63774" y="2479674"/>
            <a:ext cx="1527175" cy="0"/>
          </a:xfrm>
          <a:custGeom>
            <a:avLst/>
            <a:gdLst/>
            <a:ahLst/>
            <a:cxnLst/>
            <a:rect l="l" t="t" r="r" b="b"/>
            <a:pathLst>
              <a:path w="1527175">
                <a:moveTo>
                  <a:pt x="0" y="0"/>
                </a:moveTo>
                <a:lnTo>
                  <a:pt x="1527174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35199" y="24368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33800" y="24368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184139" y="21666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41807" y="1998979"/>
            <a:ext cx="172720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80"/>
              </a:spcBef>
            </a:pPr>
            <a:r>
              <a:rPr sz="1600" b="1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05862" y="1998979"/>
            <a:ext cx="172720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80"/>
              </a:spcBef>
            </a:pPr>
            <a:r>
              <a:rPr sz="1600" b="1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57800" y="2133599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24187" y="0"/>
                </a:moveTo>
                <a:lnTo>
                  <a:pt x="215828" y="128692"/>
                </a:lnTo>
                <a:lnTo>
                  <a:pt x="260526" y="143869"/>
                </a:lnTo>
                <a:lnTo>
                  <a:pt x="124039" y="254148"/>
                </a:lnTo>
                <a:lnTo>
                  <a:pt x="168737" y="272563"/>
                </a:lnTo>
                <a:lnTo>
                  <a:pt x="0" y="457200"/>
                </a:lnTo>
                <a:lnTo>
                  <a:pt x="286158" y="315700"/>
                </a:lnTo>
                <a:lnTo>
                  <a:pt x="231584" y="296058"/>
                </a:lnTo>
                <a:lnTo>
                  <a:pt x="409384" y="205422"/>
                </a:lnTo>
                <a:lnTo>
                  <a:pt x="345672" y="177419"/>
                </a:lnTo>
                <a:lnTo>
                  <a:pt x="533400" y="82337"/>
                </a:lnTo>
                <a:lnTo>
                  <a:pt x="324187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57800" y="2133599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24188" y="0"/>
                </a:moveTo>
                <a:lnTo>
                  <a:pt x="215829" y="128693"/>
                </a:lnTo>
                <a:lnTo>
                  <a:pt x="260526" y="143869"/>
                </a:lnTo>
                <a:lnTo>
                  <a:pt x="124040" y="254148"/>
                </a:lnTo>
                <a:lnTo>
                  <a:pt x="168737" y="272563"/>
                </a:lnTo>
                <a:lnTo>
                  <a:pt x="0" y="457199"/>
                </a:lnTo>
                <a:lnTo>
                  <a:pt x="286159" y="315700"/>
                </a:lnTo>
                <a:lnTo>
                  <a:pt x="231584" y="296058"/>
                </a:lnTo>
                <a:lnTo>
                  <a:pt x="409384" y="205422"/>
                </a:lnTo>
                <a:lnTo>
                  <a:pt x="345672" y="177418"/>
                </a:lnTo>
                <a:lnTo>
                  <a:pt x="533399" y="82338"/>
                </a:lnTo>
                <a:lnTo>
                  <a:pt x="324188" y="0"/>
                </a:lnTo>
                <a:close/>
              </a:path>
            </a:pathLst>
          </a:custGeom>
          <a:ln w="952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898139" y="36144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464501" y="39511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71924" y="39689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71924" y="37989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47799" y="39274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57078" y="39432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57078" y="37733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112700" y="39511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6" y="169908"/>
                </a:lnTo>
                <a:lnTo>
                  <a:pt x="784986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20124" y="39689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20124" y="37989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095998" y="39274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105278" y="39432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6" y="300351"/>
                </a:lnTo>
                <a:lnTo>
                  <a:pt x="325719" y="306190"/>
                </a:lnTo>
                <a:lnTo>
                  <a:pt x="388781" y="308207"/>
                </a:lnTo>
                <a:lnTo>
                  <a:pt x="451843" y="306190"/>
                </a:lnTo>
                <a:lnTo>
                  <a:pt x="511666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05278" y="37733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6" y="300352"/>
                </a:lnTo>
                <a:lnTo>
                  <a:pt x="325719" y="306191"/>
                </a:lnTo>
                <a:lnTo>
                  <a:pt x="388781" y="308208"/>
                </a:lnTo>
                <a:lnTo>
                  <a:pt x="451843" y="306191"/>
                </a:lnTo>
                <a:lnTo>
                  <a:pt x="511666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112700" y="3812539"/>
            <a:ext cx="785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26701" y="39511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834124" y="39689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8" y="2004"/>
                </a:lnTo>
                <a:lnTo>
                  <a:pt x="265895" y="7806"/>
                </a:lnTo>
                <a:lnTo>
                  <a:pt x="210113" y="17090"/>
                </a:lnTo>
                <a:lnTo>
                  <a:pt x="159171" y="29542"/>
                </a:lnTo>
                <a:lnTo>
                  <a:pt x="113871" y="44847"/>
                </a:lnTo>
                <a:lnTo>
                  <a:pt x="75011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4" y="223482"/>
                </a:lnTo>
                <a:lnTo>
                  <a:pt x="113871" y="261386"/>
                </a:lnTo>
                <a:lnTo>
                  <a:pt x="159171" y="276690"/>
                </a:lnTo>
                <a:lnTo>
                  <a:pt x="210113" y="289142"/>
                </a:lnTo>
                <a:lnTo>
                  <a:pt x="265895" y="298426"/>
                </a:lnTo>
                <a:lnTo>
                  <a:pt x="325718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34124" y="37989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8" y="2004"/>
                </a:lnTo>
                <a:lnTo>
                  <a:pt x="265895" y="7805"/>
                </a:lnTo>
                <a:lnTo>
                  <a:pt x="210113" y="17090"/>
                </a:lnTo>
                <a:lnTo>
                  <a:pt x="159171" y="29542"/>
                </a:lnTo>
                <a:lnTo>
                  <a:pt x="113871" y="44846"/>
                </a:lnTo>
                <a:lnTo>
                  <a:pt x="75011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4" y="223481"/>
                </a:lnTo>
                <a:lnTo>
                  <a:pt x="113871" y="261384"/>
                </a:lnTo>
                <a:lnTo>
                  <a:pt x="159171" y="276688"/>
                </a:lnTo>
                <a:lnTo>
                  <a:pt x="210113" y="289140"/>
                </a:lnTo>
                <a:lnTo>
                  <a:pt x="265895" y="298425"/>
                </a:lnTo>
                <a:lnTo>
                  <a:pt x="325718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10000" y="39274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19278" y="39432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19278" y="37733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263774" y="3927474"/>
            <a:ext cx="1527175" cy="0"/>
          </a:xfrm>
          <a:custGeom>
            <a:avLst/>
            <a:gdLst/>
            <a:ahLst/>
            <a:cxnLst/>
            <a:rect l="l" t="t" r="r" b="b"/>
            <a:pathLst>
              <a:path w="1527175">
                <a:moveTo>
                  <a:pt x="0" y="0"/>
                </a:moveTo>
                <a:lnTo>
                  <a:pt x="1527174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35199" y="38846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33800" y="38846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741807" y="3446779"/>
            <a:ext cx="172720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80"/>
              </a:spcBef>
            </a:pPr>
            <a:r>
              <a:rPr sz="1600" b="1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05862" y="3446779"/>
            <a:ext cx="172720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80"/>
              </a:spcBef>
            </a:pP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285999" y="4114799"/>
            <a:ext cx="1409700" cy="0"/>
          </a:xfrm>
          <a:custGeom>
            <a:avLst/>
            <a:gdLst/>
            <a:ahLst/>
            <a:cxnLst/>
            <a:rect l="l" t="t" r="r" b="b"/>
            <a:pathLst>
              <a:path w="1409700">
                <a:moveTo>
                  <a:pt x="0" y="0"/>
                </a:moveTo>
                <a:lnTo>
                  <a:pt x="1409699" y="0"/>
                </a:lnTo>
              </a:path>
            </a:pathLst>
          </a:custGeom>
          <a:ln w="3809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19500" y="405764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440939" y="4117339"/>
            <a:ext cx="88391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Update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898139" y="50622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464501" y="53989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471924" y="54167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471924" y="52467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47799" y="53752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57078" y="53910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457078" y="52211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112700" y="53989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6" y="169908"/>
                </a:lnTo>
                <a:lnTo>
                  <a:pt x="784986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120124" y="54167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120124" y="52467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095998" y="53752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05278" y="53910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6" y="300351"/>
                </a:lnTo>
                <a:lnTo>
                  <a:pt x="325719" y="306190"/>
                </a:lnTo>
                <a:lnTo>
                  <a:pt x="388781" y="308207"/>
                </a:lnTo>
                <a:lnTo>
                  <a:pt x="451843" y="306190"/>
                </a:lnTo>
                <a:lnTo>
                  <a:pt x="511666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105278" y="52211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1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6" y="300352"/>
                </a:lnTo>
                <a:lnTo>
                  <a:pt x="325719" y="306191"/>
                </a:lnTo>
                <a:lnTo>
                  <a:pt x="388781" y="308208"/>
                </a:lnTo>
                <a:lnTo>
                  <a:pt x="451843" y="306191"/>
                </a:lnTo>
                <a:lnTo>
                  <a:pt x="511666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6" y="7856"/>
                </a:lnTo>
                <a:lnTo>
                  <a:pt x="451843" y="2016"/>
                </a:lnTo>
                <a:lnTo>
                  <a:pt x="388781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6391864" y="5260339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826701" y="53989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834124" y="54167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8" y="2004"/>
                </a:lnTo>
                <a:lnTo>
                  <a:pt x="265895" y="7806"/>
                </a:lnTo>
                <a:lnTo>
                  <a:pt x="210113" y="17090"/>
                </a:lnTo>
                <a:lnTo>
                  <a:pt x="159171" y="29542"/>
                </a:lnTo>
                <a:lnTo>
                  <a:pt x="113871" y="44847"/>
                </a:lnTo>
                <a:lnTo>
                  <a:pt x="75011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4" y="223482"/>
                </a:lnTo>
                <a:lnTo>
                  <a:pt x="113871" y="261386"/>
                </a:lnTo>
                <a:lnTo>
                  <a:pt x="159171" y="276690"/>
                </a:lnTo>
                <a:lnTo>
                  <a:pt x="210113" y="289142"/>
                </a:lnTo>
                <a:lnTo>
                  <a:pt x="265895" y="298426"/>
                </a:lnTo>
                <a:lnTo>
                  <a:pt x="325718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6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834124" y="52467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8" y="2004"/>
                </a:lnTo>
                <a:lnTo>
                  <a:pt x="265895" y="7805"/>
                </a:lnTo>
                <a:lnTo>
                  <a:pt x="210113" y="17090"/>
                </a:lnTo>
                <a:lnTo>
                  <a:pt x="159171" y="29542"/>
                </a:lnTo>
                <a:lnTo>
                  <a:pt x="113871" y="44846"/>
                </a:lnTo>
                <a:lnTo>
                  <a:pt x="75011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4" y="223481"/>
                </a:lnTo>
                <a:lnTo>
                  <a:pt x="113871" y="261384"/>
                </a:lnTo>
                <a:lnTo>
                  <a:pt x="159171" y="276688"/>
                </a:lnTo>
                <a:lnTo>
                  <a:pt x="210113" y="289140"/>
                </a:lnTo>
                <a:lnTo>
                  <a:pt x="265895" y="298425"/>
                </a:lnTo>
                <a:lnTo>
                  <a:pt x="325718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810000" y="53752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819278" y="53910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819278" y="52211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263774" y="5375274"/>
            <a:ext cx="1527175" cy="0"/>
          </a:xfrm>
          <a:custGeom>
            <a:avLst/>
            <a:gdLst/>
            <a:ahLst/>
            <a:cxnLst/>
            <a:rect l="l" t="t" r="r" b="b"/>
            <a:pathLst>
              <a:path w="1527175">
                <a:moveTo>
                  <a:pt x="0" y="0"/>
                </a:moveTo>
                <a:lnTo>
                  <a:pt x="1527174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235199" y="53324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733800" y="53324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324099" y="5562599"/>
            <a:ext cx="1409700" cy="0"/>
          </a:xfrm>
          <a:custGeom>
            <a:avLst/>
            <a:gdLst/>
            <a:ahLst/>
            <a:cxnLst/>
            <a:rect l="l" t="t" r="r" b="b"/>
            <a:pathLst>
              <a:path w="1409700">
                <a:moveTo>
                  <a:pt x="0" y="0"/>
                </a:moveTo>
                <a:lnTo>
                  <a:pt x="1409699" y="0"/>
                </a:lnTo>
              </a:path>
            </a:pathLst>
          </a:custGeom>
          <a:ln w="3809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285999" y="550544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2469514" y="5565139"/>
            <a:ext cx="88391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Update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741807" y="4894579"/>
            <a:ext cx="172720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80"/>
              </a:spcBef>
            </a:pP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105862" y="4894579"/>
            <a:ext cx="172720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80"/>
              </a:spcBef>
            </a:pPr>
            <a:r>
              <a:rPr sz="1600" b="1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4038600" y="2895599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457200" y="400047"/>
                </a:moveTo>
                <a:lnTo>
                  <a:pt x="0" y="400047"/>
                </a:lnTo>
                <a:lnTo>
                  <a:pt x="228600" y="533400"/>
                </a:lnTo>
                <a:lnTo>
                  <a:pt x="457200" y="400047"/>
                </a:lnTo>
                <a:close/>
              </a:path>
              <a:path w="457200" h="533400">
                <a:moveTo>
                  <a:pt x="342900" y="0"/>
                </a:moveTo>
                <a:lnTo>
                  <a:pt x="114300" y="0"/>
                </a:lnTo>
                <a:lnTo>
                  <a:pt x="114300" y="400047"/>
                </a:lnTo>
                <a:lnTo>
                  <a:pt x="342900" y="400047"/>
                </a:lnTo>
                <a:lnTo>
                  <a:pt x="342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038599" y="2895599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400048"/>
                </a:moveTo>
                <a:lnTo>
                  <a:pt x="114300" y="400048"/>
                </a:lnTo>
                <a:lnTo>
                  <a:pt x="114300" y="0"/>
                </a:lnTo>
                <a:lnTo>
                  <a:pt x="342899" y="0"/>
                </a:lnTo>
                <a:lnTo>
                  <a:pt x="342899" y="400048"/>
                </a:lnTo>
                <a:lnTo>
                  <a:pt x="457199" y="400048"/>
                </a:lnTo>
                <a:lnTo>
                  <a:pt x="228600" y="533399"/>
                </a:lnTo>
                <a:lnTo>
                  <a:pt x="0" y="40004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038600" y="4343399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457200" y="400047"/>
                </a:moveTo>
                <a:lnTo>
                  <a:pt x="0" y="400047"/>
                </a:lnTo>
                <a:lnTo>
                  <a:pt x="228600" y="533400"/>
                </a:lnTo>
                <a:lnTo>
                  <a:pt x="457200" y="400047"/>
                </a:lnTo>
                <a:close/>
              </a:path>
              <a:path w="457200" h="533400">
                <a:moveTo>
                  <a:pt x="342900" y="0"/>
                </a:moveTo>
                <a:lnTo>
                  <a:pt x="114300" y="0"/>
                </a:lnTo>
                <a:lnTo>
                  <a:pt x="114300" y="400047"/>
                </a:lnTo>
                <a:lnTo>
                  <a:pt x="342900" y="400047"/>
                </a:lnTo>
                <a:lnTo>
                  <a:pt x="342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038599" y="4343399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400047"/>
                </a:moveTo>
                <a:lnTo>
                  <a:pt x="114300" y="400047"/>
                </a:lnTo>
                <a:lnTo>
                  <a:pt x="114300" y="0"/>
                </a:lnTo>
                <a:lnTo>
                  <a:pt x="342899" y="0"/>
                </a:lnTo>
                <a:lnTo>
                  <a:pt x="342899" y="400047"/>
                </a:lnTo>
                <a:lnTo>
                  <a:pt x="457199" y="400047"/>
                </a:lnTo>
                <a:lnTo>
                  <a:pt x="228600" y="533399"/>
                </a:lnTo>
                <a:lnTo>
                  <a:pt x="0" y="40004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600313" y="5314314"/>
            <a:ext cx="770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dirty="0">
                <a:latin typeface="Arial"/>
                <a:cs typeface="Arial"/>
              </a:rPr>
              <a:t>c…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447781" y="1752605"/>
            <a:ext cx="229235" cy="335280"/>
          </a:xfrm>
          <a:custGeom>
            <a:avLst/>
            <a:gdLst/>
            <a:ahLst/>
            <a:cxnLst/>
            <a:rect l="l" t="t" r="r" b="b"/>
            <a:pathLst>
              <a:path w="229235" h="335280">
                <a:moveTo>
                  <a:pt x="0" y="0"/>
                </a:moveTo>
                <a:lnTo>
                  <a:pt x="111145" y="0"/>
                </a:lnTo>
                <a:lnTo>
                  <a:pt x="228614" y="334945"/>
                </a:lnTo>
              </a:path>
            </a:pathLst>
          </a:custGeom>
          <a:ln w="952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244474" y="1638299"/>
            <a:ext cx="1127125" cy="647700"/>
          </a:xfrm>
          <a:prstGeom prst="rect">
            <a:avLst/>
          </a:prstGeom>
          <a:ln w="9524">
            <a:solidFill>
              <a:srgbClr val="4349AA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379730" marR="186055" indent="-237490">
              <a:lnSpc>
                <a:spcPts val="1900"/>
              </a:lnSpc>
              <a:spcBef>
                <a:spcPts val="800"/>
              </a:spcBef>
            </a:pPr>
            <a:r>
              <a:rPr sz="1600" dirty="0">
                <a:latin typeface="Arial"/>
                <a:cs typeface="Arial"/>
              </a:rPr>
              <a:t>Dis</a:t>
            </a:r>
            <a:r>
              <a:rPr sz="1600" spc="-5" dirty="0">
                <a:latin typeface="Arial"/>
                <a:cs typeface="Arial"/>
              </a:rPr>
              <a:t>t</a:t>
            </a:r>
            <a:r>
              <a:rPr sz="1600" dirty="0">
                <a:latin typeface="Arial"/>
                <a:cs typeface="Arial"/>
              </a:rPr>
              <a:t>ance  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357447" y="540327"/>
            <a:ext cx="4759036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46545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4745" algn="l"/>
                <a:tab pos="3025775" algn="l"/>
              </a:tabLst>
            </a:pPr>
            <a:r>
              <a:rPr spc="-5" dirty="0"/>
              <a:t>Counting	to	Infinity</a:t>
            </a:r>
          </a:p>
        </p:txBody>
      </p:sp>
      <p:sp>
        <p:nvSpPr>
          <p:cNvPr id="99" name="object 9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387" y="1633538"/>
            <a:ext cx="7332980" cy="338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Updates </a:t>
            </a:r>
            <a:r>
              <a:rPr sz="2400" spc="-245" dirty="0">
                <a:solidFill>
                  <a:srgbClr val="232323"/>
                </a:solidFill>
                <a:latin typeface="Arial"/>
                <a:cs typeface="Arial"/>
              </a:rPr>
              <a:t>don</a:t>
            </a:r>
            <a:r>
              <a:rPr sz="2400" spc="-245" dirty="0">
                <a:solidFill>
                  <a:srgbClr val="232323"/>
                </a:solidFill>
                <a:latin typeface="MS PGothic"/>
                <a:cs typeface="MS PGothic"/>
              </a:rPr>
              <a:t>ʼ</a:t>
            </a:r>
            <a:r>
              <a:rPr sz="2400" spc="-245" dirty="0">
                <a:solidFill>
                  <a:srgbClr val="232323"/>
                </a:solidFill>
                <a:latin typeface="Arial"/>
                <a:cs typeface="Arial"/>
              </a:rPr>
              <a:t>t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contain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enough</a:t>
            </a:r>
            <a:r>
              <a:rPr sz="2400" spc="-17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information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99"/>
              </a:buClr>
              <a:buFont typeface="Arial"/>
              <a:buChar char=""/>
            </a:pPr>
            <a:endParaRPr sz="3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spc="-245" dirty="0">
                <a:solidFill>
                  <a:srgbClr val="232323"/>
                </a:solidFill>
                <a:latin typeface="Arial"/>
                <a:cs typeface="Arial"/>
              </a:rPr>
              <a:t>Can</a:t>
            </a:r>
            <a:r>
              <a:rPr sz="2400" spc="-245" dirty="0">
                <a:solidFill>
                  <a:srgbClr val="232323"/>
                </a:solidFill>
                <a:latin typeface="MS PGothic"/>
                <a:cs typeface="MS PGothic"/>
              </a:rPr>
              <a:t>ʼ</a:t>
            </a:r>
            <a:r>
              <a:rPr sz="2400" spc="-245" dirty="0">
                <a:solidFill>
                  <a:srgbClr val="232323"/>
                </a:solidFill>
                <a:latin typeface="Arial"/>
                <a:cs typeface="Arial"/>
              </a:rPr>
              <a:t>t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totally </a:t>
            </a:r>
            <a:r>
              <a:rPr sz="2400" dirty="0">
                <a:latin typeface="Arial"/>
                <a:cs typeface="Arial"/>
              </a:rPr>
              <a:t>order bad news above good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33399"/>
              </a:buClr>
              <a:buFont typeface="Arial"/>
              <a:buChar char=""/>
            </a:pPr>
            <a:endParaRPr sz="3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SzPct val="50000"/>
              <a:buFont typeface="Arial"/>
              <a:buChar char=""/>
              <a:tabLst>
                <a:tab pos="354965" algn="l"/>
                <a:tab pos="355600" algn="l"/>
              </a:tabLst>
            </a:pP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B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accepts </a:t>
            </a:r>
            <a:r>
              <a:rPr sz="2400" i="1" spc="-400" dirty="0">
                <a:solidFill>
                  <a:srgbClr val="232323"/>
                </a:solidFill>
                <a:latin typeface="Arial"/>
                <a:cs typeface="Arial"/>
              </a:rPr>
              <a:t>A</a:t>
            </a:r>
            <a:r>
              <a:rPr sz="2400" spc="-400" dirty="0">
                <a:solidFill>
                  <a:srgbClr val="232323"/>
                </a:solidFill>
                <a:latin typeface="MS PGothic"/>
                <a:cs typeface="MS PGothic"/>
              </a:rPr>
              <a:t>ʼ</a:t>
            </a:r>
            <a:r>
              <a:rPr sz="2400" spc="-400" dirty="0">
                <a:solidFill>
                  <a:srgbClr val="232323"/>
                </a:solidFill>
                <a:latin typeface="Arial"/>
                <a:cs typeface="Arial"/>
              </a:rPr>
              <a:t>s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path to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C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that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is </a:t>
            </a:r>
            <a:r>
              <a:rPr sz="2400" i="1" spc="-5" dirty="0">
                <a:solidFill>
                  <a:srgbClr val="232323"/>
                </a:solidFill>
                <a:latin typeface="Arial"/>
                <a:cs typeface="Arial"/>
              </a:rPr>
              <a:t>implicitly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through</a:t>
            </a:r>
            <a:r>
              <a:rPr sz="2400" spc="-1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232323"/>
                </a:solidFill>
                <a:latin typeface="Arial"/>
                <a:cs typeface="Arial"/>
              </a:rPr>
              <a:t>B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!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Arial"/>
              <a:buChar char=""/>
            </a:pPr>
            <a:endParaRPr sz="345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1499"/>
              </a:lnSpc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Aside: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this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also causes delays in convergence</a:t>
            </a:r>
            <a:r>
              <a:rPr sz="2400" spc="-10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even 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when it </a:t>
            </a:r>
            <a:r>
              <a:rPr sz="2400" spc="-175" dirty="0">
                <a:solidFill>
                  <a:srgbClr val="232323"/>
                </a:solidFill>
                <a:latin typeface="Arial"/>
                <a:cs typeface="Arial"/>
              </a:rPr>
              <a:t>doesn</a:t>
            </a:r>
            <a:r>
              <a:rPr sz="2400" spc="-175" dirty="0">
                <a:solidFill>
                  <a:srgbClr val="232323"/>
                </a:solidFill>
                <a:latin typeface="MS PGothic"/>
                <a:cs typeface="MS PGothic"/>
              </a:rPr>
              <a:t>ʼ</a:t>
            </a:r>
            <a:r>
              <a:rPr sz="2400" spc="-175" dirty="0">
                <a:solidFill>
                  <a:srgbClr val="232323"/>
                </a:solidFill>
                <a:latin typeface="Arial"/>
                <a:cs typeface="Arial"/>
              </a:rPr>
              <a:t>t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count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sz="2400" spc="-3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infinity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447" y="540327"/>
            <a:ext cx="3591097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35039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Why </a:t>
            </a:r>
            <a:r>
              <a:rPr dirty="0"/>
              <a:t>so</a:t>
            </a:r>
            <a:r>
              <a:rPr spc="-90" dirty="0"/>
              <a:t> </a:t>
            </a:r>
            <a:r>
              <a:rPr dirty="0"/>
              <a:t>High?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174" y="1581722"/>
            <a:ext cx="7743825" cy="43967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6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Hold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downs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14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As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metric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increases, delay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propagating</a:t>
            </a:r>
            <a:r>
              <a:rPr sz="2000" spc="-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information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30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Limitation: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Delays</a:t>
            </a:r>
            <a:r>
              <a:rPr sz="2000" spc="-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convergence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4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Loop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avoidance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65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Full path information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in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route</a:t>
            </a:r>
            <a:r>
              <a:rPr sz="2000" spc="2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advertisement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0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Explicit queries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for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loops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(e.g.</a:t>
            </a:r>
            <a:r>
              <a:rPr sz="2000" spc="-3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DUAL)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5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Split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horizon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165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Never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advertise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a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destination through its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next</a:t>
            </a:r>
            <a:r>
              <a:rPr sz="2000" spc="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hop</a:t>
            </a:r>
            <a:endParaRPr sz="20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»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A </a:t>
            </a:r>
            <a:r>
              <a:rPr sz="1800" spc="-130" dirty="0">
                <a:solidFill>
                  <a:srgbClr val="232323"/>
                </a:solidFill>
                <a:latin typeface="Arial"/>
                <a:cs typeface="Arial"/>
              </a:rPr>
              <a:t>doesn</a:t>
            </a:r>
            <a:r>
              <a:rPr sz="1800" spc="-130" dirty="0">
                <a:solidFill>
                  <a:srgbClr val="232323"/>
                </a:solidFill>
                <a:latin typeface="MS PGothic"/>
                <a:cs typeface="MS PGothic"/>
              </a:rPr>
              <a:t>ʼ</a:t>
            </a:r>
            <a:r>
              <a:rPr sz="1800" spc="-130" dirty="0">
                <a:solidFill>
                  <a:srgbClr val="232323"/>
                </a:solidFill>
                <a:latin typeface="Arial"/>
                <a:cs typeface="Arial"/>
              </a:rPr>
              <a:t>t 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advertise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C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sz="1800" spc="-10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L="748665" marR="5080" lvl="1" indent="-279400">
              <a:lnSpc>
                <a:spcPts val="2120"/>
              </a:lnSpc>
              <a:spcBef>
                <a:spcPts val="57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Poison reverse: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Send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negative information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when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advertising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a 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destination through its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next hop</a:t>
            </a:r>
            <a:endParaRPr sz="20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»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advertises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C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to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B 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with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metric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of</a:t>
            </a:r>
            <a:r>
              <a:rPr sz="1800" spc="-229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2F2F2F"/>
                </a:solidFill>
                <a:latin typeface="Symbol"/>
                <a:cs typeface="Symbol"/>
              </a:rPr>
              <a:t></a:t>
            </a:r>
            <a:endParaRPr sz="1800">
              <a:latin typeface="Symbol"/>
              <a:cs typeface="Symbol"/>
            </a:endParaRPr>
          </a:p>
          <a:p>
            <a:pPr marL="926465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» 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Limitation: Only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works 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for </a:t>
            </a:r>
            <a:r>
              <a:rPr sz="1800" spc="-5" dirty="0">
                <a:solidFill>
                  <a:srgbClr val="232323"/>
                </a:solidFill>
                <a:latin typeface="MS PGothic"/>
                <a:cs typeface="MS PGothic"/>
              </a:rPr>
              <a:t>“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loop</a:t>
            </a:r>
            <a:r>
              <a:rPr sz="1800" spc="-5" dirty="0">
                <a:solidFill>
                  <a:srgbClr val="232323"/>
                </a:solidFill>
                <a:latin typeface="MS PGothic"/>
                <a:cs typeface="MS PGothic"/>
              </a:rPr>
              <a:t>”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s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of size</a:t>
            </a:r>
            <a:r>
              <a:rPr sz="1800" spc="-21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447" y="540327"/>
            <a:ext cx="5178828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4174" y="566102"/>
            <a:ext cx="5088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59050" algn="l"/>
              </a:tabLst>
            </a:pPr>
            <a:r>
              <a:rPr spc="-5" dirty="0"/>
              <a:t>Mitigation	Strategies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389" y="1601123"/>
            <a:ext cx="5187315" cy="139636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400" dirty="0">
                <a:latin typeface="Arial"/>
                <a:cs typeface="Arial"/>
              </a:rPr>
              <a:t>If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spc="-5" dirty="0">
                <a:latin typeface="Arial"/>
                <a:cs typeface="Arial"/>
              </a:rPr>
              <a:t>routes through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get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228600" marR="5080" indent="-215900">
              <a:lnSpc>
                <a:spcPct val="101499"/>
              </a:lnSpc>
              <a:spcBef>
                <a:spcPts val="1200"/>
              </a:spcBef>
              <a:buFont typeface="Arial"/>
              <a:buChar char="•"/>
              <a:tabLst>
                <a:tab pos="236854" algn="l"/>
              </a:tabLst>
            </a:pPr>
            <a:r>
              <a:rPr sz="2200" i="1" dirty="0">
                <a:latin typeface="Arial"/>
                <a:cs typeface="Arial"/>
              </a:rPr>
              <a:t>Z </a:t>
            </a:r>
            <a:r>
              <a:rPr sz="2200" spc="-5" dirty="0">
                <a:latin typeface="Arial"/>
                <a:cs typeface="Arial"/>
              </a:rPr>
              <a:t>tells </a:t>
            </a:r>
            <a:r>
              <a:rPr sz="2200" i="1" dirty="0">
                <a:latin typeface="Arial"/>
                <a:cs typeface="Arial"/>
              </a:rPr>
              <a:t>Y </a:t>
            </a:r>
            <a:r>
              <a:rPr sz="2200" spc="-5" dirty="0">
                <a:latin typeface="Arial"/>
                <a:cs typeface="Arial"/>
              </a:rPr>
              <a:t>its </a:t>
            </a:r>
            <a:r>
              <a:rPr sz="2200" spc="-220" dirty="0">
                <a:latin typeface="Arial"/>
                <a:cs typeface="Arial"/>
              </a:rPr>
              <a:t>(</a:t>
            </a:r>
            <a:r>
              <a:rPr sz="2200" i="1" spc="-220" dirty="0">
                <a:latin typeface="Arial"/>
                <a:cs typeface="Arial"/>
              </a:rPr>
              <a:t>Z</a:t>
            </a:r>
            <a:r>
              <a:rPr sz="2200" spc="-220" dirty="0">
                <a:latin typeface="MS PGothic"/>
                <a:cs typeface="MS PGothic"/>
              </a:rPr>
              <a:t>ʼ</a:t>
            </a:r>
            <a:r>
              <a:rPr sz="2200" spc="-220" dirty="0">
                <a:latin typeface="Arial"/>
                <a:cs typeface="Arial"/>
              </a:rPr>
              <a:t>s) </a:t>
            </a:r>
            <a:r>
              <a:rPr sz="2200" spc="-5" dirty="0">
                <a:latin typeface="Arial"/>
                <a:cs typeface="Arial"/>
              </a:rPr>
              <a:t>distance to </a:t>
            </a:r>
            <a:r>
              <a:rPr sz="2200" i="1" dirty="0">
                <a:latin typeface="Arial"/>
                <a:cs typeface="Arial"/>
              </a:rPr>
              <a:t>X </a:t>
            </a:r>
            <a:r>
              <a:rPr sz="2200" dirty="0">
                <a:latin typeface="Arial"/>
                <a:cs typeface="Arial"/>
              </a:rPr>
              <a:t>is </a:t>
            </a:r>
            <a:r>
              <a:rPr sz="2200" spc="-5" dirty="0">
                <a:latin typeface="Arial"/>
                <a:cs typeface="Arial"/>
              </a:rPr>
              <a:t>infinite  </a:t>
            </a:r>
            <a:r>
              <a:rPr sz="2200" dirty="0">
                <a:latin typeface="Arial"/>
                <a:cs typeface="Arial"/>
              </a:rPr>
              <a:t>(so </a:t>
            </a:r>
            <a:r>
              <a:rPr sz="2200" i="1" dirty="0">
                <a:latin typeface="Arial"/>
                <a:cs typeface="Arial"/>
              </a:rPr>
              <a:t>Y </a:t>
            </a:r>
            <a:r>
              <a:rPr sz="2200" spc="-225" dirty="0">
                <a:latin typeface="Arial"/>
                <a:cs typeface="Arial"/>
              </a:rPr>
              <a:t>won</a:t>
            </a:r>
            <a:r>
              <a:rPr sz="2200" spc="-225" dirty="0">
                <a:latin typeface="MS PGothic"/>
                <a:cs typeface="MS PGothic"/>
              </a:rPr>
              <a:t>ʼ</a:t>
            </a:r>
            <a:r>
              <a:rPr sz="2200" spc="-225" dirty="0">
                <a:latin typeface="Arial"/>
                <a:cs typeface="Arial"/>
              </a:rPr>
              <a:t>t </a:t>
            </a:r>
            <a:r>
              <a:rPr sz="2200" spc="-5" dirty="0">
                <a:latin typeface="Arial"/>
                <a:cs typeface="Arial"/>
              </a:rPr>
              <a:t>route to </a:t>
            </a:r>
            <a:r>
              <a:rPr sz="2200" i="1" dirty="0">
                <a:latin typeface="Arial"/>
                <a:cs typeface="Arial"/>
              </a:rPr>
              <a:t>X </a:t>
            </a:r>
            <a:r>
              <a:rPr sz="2200" dirty="0">
                <a:latin typeface="Arial"/>
                <a:cs typeface="Arial"/>
              </a:rPr>
              <a:t>via</a:t>
            </a:r>
            <a:r>
              <a:rPr sz="2200" spc="-19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Z</a:t>
            </a:r>
            <a:r>
              <a:rPr sz="2200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48061" y="1777230"/>
            <a:ext cx="2476500" cy="1387475"/>
          </a:xfrm>
          <a:custGeom>
            <a:avLst/>
            <a:gdLst/>
            <a:ahLst/>
            <a:cxnLst/>
            <a:rect l="l" t="t" r="r" b="b"/>
            <a:pathLst>
              <a:path w="2476500" h="1387475">
                <a:moveTo>
                  <a:pt x="1199745" y="0"/>
                </a:moveTo>
                <a:lnTo>
                  <a:pt x="1151972" y="5468"/>
                </a:lnTo>
                <a:lnTo>
                  <a:pt x="1105980" y="16157"/>
                </a:lnTo>
                <a:lnTo>
                  <a:pt x="1061571" y="31394"/>
                </a:lnTo>
                <a:lnTo>
                  <a:pt x="1018550" y="50507"/>
                </a:lnTo>
                <a:lnTo>
                  <a:pt x="976721" y="72821"/>
                </a:lnTo>
                <a:lnTo>
                  <a:pt x="935887" y="97665"/>
                </a:lnTo>
                <a:lnTo>
                  <a:pt x="895854" y="124365"/>
                </a:lnTo>
                <a:lnTo>
                  <a:pt x="856425" y="152247"/>
                </a:lnTo>
                <a:lnTo>
                  <a:pt x="778595" y="208869"/>
                </a:lnTo>
                <a:lnTo>
                  <a:pt x="739802" y="236262"/>
                </a:lnTo>
                <a:lnTo>
                  <a:pt x="700830" y="262146"/>
                </a:lnTo>
                <a:lnTo>
                  <a:pt x="661482" y="285848"/>
                </a:lnTo>
                <a:lnTo>
                  <a:pt x="617900" y="309849"/>
                </a:lnTo>
                <a:lnTo>
                  <a:pt x="434038" y="406261"/>
                </a:lnTo>
                <a:lnTo>
                  <a:pt x="388442" y="431230"/>
                </a:lnTo>
                <a:lnTo>
                  <a:pt x="344095" y="456851"/>
                </a:lnTo>
                <a:lnTo>
                  <a:pt x="301548" y="483277"/>
                </a:lnTo>
                <a:lnTo>
                  <a:pt x="261351" y="510661"/>
                </a:lnTo>
                <a:lnTo>
                  <a:pt x="224054" y="539155"/>
                </a:lnTo>
                <a:lnTo>
                  <a:pt x="190209" y="568913"/>
                </a:lnTo>
                <a:lnTo>
                  <a:pt x="160366" y="600088"/>
                </a:lnTo>
                <a:lnTo>
                  <a:pt x="135075" y="632831"/>
                </a:lnTo>
                <a:lnTo>
                  <a:pt x="112134" y="668316"/>
                </a:lnTo>
                <a:lnTo>
                  <a:pt x="89464" y="707153"/>
                </a:lnTo>
                <a:lnTo>
                  <a:pt x="67797" y="748654"/>
                </a:lnTo>
                <a:lnTo>
                  <a:pt x="47869" y="792132"/>
                </a:lnTo>
                <a:lnTo>
                  <a:pt x="30414" y="836899"/>
                </a:lnTo>
                <a:lnTo>
                  <a:pt x="16165" y="882268"/>
                </a:lnTo>
                <a:lnTo>
                  <a:pt x="5857" y="927549"/>
                </a:lnTo>
                <a:lnTo>
                  <a:pt x="224" y="972057"/>
                </a:lnTo>
                <a:lnTo>
                  <a:pt x="0" y="1015102"/>
                </a:lnTo>
                <a:lnTo>
                  <a:pt x="5918" y="1055997"/>
                </a:lnTo>
                <a:lnTo>
                  <a:pt x="18714" y="1094054"/>
                </a:lnTo>
                <a:lnTo>
                  <a:pt x="39121" y="1128586"/>
                </a:lnTo>
                <a:lnTo>
                  <a:pt x="67873" y="1158905"/>
                </a:lnTo>
                <a:lnTo>
                  <a:pt x="123623" y="1194899"/>
                </a:lnTo>
                <a:lnTo>
                  <a:pt x="158635" y="1211238"/>
                </a:lnTo>
                <a:lnTo>
                  <a:pt x="197844" y="1226532"/>
                </a:lnTo>
                <a:lnTo>
                  <a:pt x="240828" y="1240824"/>
                </a:lnTo>
                <a:lnTo>
                  <a:pt x="287166" y="1254158"/>
                </a:lnTo>
                <a:lnTo>
                  <a:pt x="336437" y="1266579"/>
                </a:lnTo>
                <a:lnTo>
                  <a:pt x="388219" y="1278129"/>
                </a:lnTo>
                <a:lnTo>
                  <a:pt x="442092" y="1288854"/>
                </a:lnTo>
                <a:lnTo>
                  <a:pt x="497633" y="1298797"/>
                </a:lnTo>
                <a:lnTo>
                  <a:pt x="554422" y="1308002"/>
                </a:lnTo>
                <a:lnTo>
                  <a:pt x="612037" y="1316514"/>
                </a:lnTo>
                <a:lnTo>
                  <a:pt x="670057" y="1324376"/>
                </a:lnTo>
                <a:lnTo>
                  <a:pt x="785627" y="1338329"/>
                </a:lnTo>
                <a:lnTo>
                  <a:pt x="897760" y="1350212"/>
                </a:lnTo>
                <a:lnTo>
                  <a:pt x="1101493" y="1368919"/>
                </a:lnTo>
                <a:lnTo>
                  <a:pt x="1204109" y="1376318"/>
                </a:lnTo>
                <a:lnTo>
                  <a:pt x="1309324" y="1382105"/>
                </a:lnTo>
                <a:lnTo>
                  <a:pt x="1362402" y="1384247"/>
                </a:lnTo>
                <a:lnTo>
                  <a:pt x="1415524" y="1385810"/>
                </a:lnTo>
                <a:lnTo>
                  <a:pt x="1468490" y="1386734"/>
                </a:lnTo>
                <a:lnTo>
                  <a:pt x="1521097" y="1386963"/>
                </a:lnTo>
                <a:lnTo>
                  <a:pt x="1573144" y="1386435"/>
                </a:lnTo>
                <a:lnTo>
                  <a:pt x="1624430" y="1385093"/>
                </a:lnTo>
                <a:lnTo>
                  <a:pt x="1674752" y="1382878"/>
                </a:lnTo>
                <a:lnTo>
                  <a:pt x="1723910" y="1379732"/>
                </a:lnTo>
                <a:lnTo>
                  <a:pt x="1771701" y="1375594"/>
                </a:lnTo>
                <a:lnTo>
                  <a:pt x="1817924" y="1370408"/>
                </a:lnTo>
                <a:lnTo>
                  <a:pt x="1862377" y="1364113"/>
                </a:lnTo>
                <a:lnTo>
                  <a:pt x="1904860" y="1356651"/>
                </a:lnTo>
                <a:lnTo>
                  <a:pt x="1945169" y="1347964"/>
                </a:lnTo>
                <a:lnTo>
                  <a:pt x="1983104" y="1337992"/>
                </a:lnTo>
                <a:lnTo>
                  <a:pt x="2035232" y="1321248"/>
                </a:lnTo>
                <a:lnTo>
                  <a:pt x="2086518" y="1301574"/>
                </a:lnTo>
                <a:lnTo>
                  <a:pt x="2136523" y="1279241"/>
                </a:lnTo>
                <a:lnTo>
                  <a:pt x="2184805" y="1254518"/>
                </a:lnTo>
                <a:lnTo>
                  <a:pt x="2230924" y="1227673"/>
                </a:lnTo>
                <a:lnTo>
                  <a:pt x="2274439" y="1198977"/>
                </a:lnTo>
                <a:lnTo>
                  <a:pt x="2314909" y="1168698"/>
                </a:lnTo>
                <a:lnTo>
                  <a:pt x="2351894" y="1137105"/>
                </a:lnTo>
                <a:lnTo>
                  <a:pt x="2384951" y="1104468"/>
                </a:lnTo>
                <a:lnTo>
                  <a:pt x="2413642" y="1071056"/>
                </a:lnTo>
                <a:lnTo>
                  <a:pt x="2437524" y="1037139"/>
                </a:lnTo>
                <a:lnTo>
                  <a:pt x="2456157" y="1002984"/>
                </a:lnTo>
                <a:lnTo>
                  <a:pt x="2475912" y="935043"/>
                </a:lnTo>
                <a:lnTo>
                  <a:pt x="2476276" y="900377"/>
                </a:lnTo>
                <a:lnTo>
                  <a:pt x="2470475" y="863757"/>
                </a:lnTo>
                <a:lnTo>
                  <a:pt x="2458977" y="825514"/>
                </a:lnTo>
                <a:lnTo>
                  <a:pt x="2442246" y="785977"/>
                </a:lnTo>
                <a:lnTo>
                  <a:pt x="2420748" y="745478"/>
                </a:lnTo>
                <a:lnTo>
                  <a:pt x="2394947" y="704346"/>
                </a:lnTo>
                <a:lnTo>
                  <a:pt x="2365310" y="662913"/>
                </a:lnTo>
                <a:lnTo>
                  <a:pt x="2332301" y="621508"/>
                </a:lnTo>
                <a:lnTo>
                  <a:pt x="2296386" y="580462"/>
                </a:lnTo>
                <a:lnTo>
                  <a:pt x="2258031" y="540106"/>
                </a:lnTo>
                <a:lnTo>
                  <a:pt x="2217700" y="500769"/>
                </a:lnTo>
                <a:lnTo>
                  <a:pt x="2175858" y="462782"/>
                </a:lnTo>
                <a:lnTo>
                  <a:pt x="2132972" y="426476"/>
                </a:lnTo>
                <a:lnTo>
                  <a:pt x="2089506" y="392181"/>
                </a:lnTo>
                <a:lnTo>
                  <a:pt x="2055803" y="367230"/>
                </a:lnTo>
                <a:lnTo>
                  <a:pt x="2019155" y="341428"/>
                </a:lnTo>
                <a:lnTo>
                  <a:pt x="1979877" y="315012"/>
                </a:lnTo>
                <a:lnTo>
                  <a:pt x="1938281" y="288215"/>
                </a:lnTo>
                <a:lnTo>
                  <a:pt x="1894682" y="261272"/>
                </a:lnTo>
                <a:lnTo>
                  <a:pt x="1849393" y="234420"/>
                </a:lnTo>
                <a:lnTo>
                  <a:pt x="1802728" y="207892"/>
                </a:lnTo>
                <a:lnTo>
                  <a:pt x="1754999" y="181924"/>
                </a:lnTo>
                <a:lnTo>
                  <a:pt x="1706521" y="156751"/>
                </a:lnTo>
                <a:lnTo>
                  <a:pt x="1657607" y="132607"/>
                </a:lnTo>
                <a:lnTo>
                  <a:pt x="1608570" y="109728"/>
                </a:lnTo>
                <a:lnTo>
                  <a:pt x="1559725" y="88349"/>
                </a:lnTo>
                <a:lnTo>
                  <a:pt x="1511384" y="68705"/>
                </a:lnTo>
                <a:lnTo>
                  <a:pt x="1463861" y="51030"/>
                </a:lnTo>
                <a:lnTo>
                  <a:pt x="1417470" y="35560"/>
                </a:lnTo>
                <a:lnTo>
                  <a:pt x="1372524" y="22529"/>
                </a:lnTo>
                <a:lnTo>
                  <a:pt x="1329337" y="12174"/>
                </a:lnTo>
                <a:lnTo>
                  <a:pt x="1288222" y="4727"/>
                </a:lnTo>
                <a:lnTo>
                  <a:pt x="1249492" y="426"/>
                </a:lnTo>
                <a:lnTo>
                  <a:pt x="1199745" y="0"/>
                </a:lnTo>
                <a:close/>
              </a:path>
            </a:pathLst>
          </a:custGeom>
          <a:solidFill>
            <a:srgbClr val="D4F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42342" y="2253360"/>
            <a:ext cx="414655" cy="335915"/>
          </a:xfrm>
          <a:custGeom>
            <a:avLst/>
            <a:gdLst/>
            <a:ahLst/>
            <a:cxnLst/>
            <a:rect l="l" t="t" r="r" b="b"/>
            <a:pathLst>
              <a:path w="414654" h="335914">
                <a:moveTo>
                  <a:pt x="0" y="335791"/>
                </a:moveTo>
                <a:lnTo>
                  <a:pt x="414407" y="0"/>
                </a:lnTo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57002" y="2693620"/>
            <a:ext cx="584835" cy="151130"/>
          </a:xfrm>
          <a:custGeom>
            <a:avLst/>
            <a:gdLst/>
            <a:ahLst/>
            <a:cxnLst/>
            <a:rect l="l" t="t" r="r" b="b"/>
            <a:pathLst>
              <a:path w="584834" h="151130">
                <a:moveTo>
                  <a:pt x="292138" y="0"/>
                </a:moveTo>
                <a:lnTo>
                  <a:pt x="225153" y="1995"/>
                </a:lnTo>
                <a:lnTo>
                  <a:pt x="163662" y="7679"/>
                </a:lnTo>
                <a:lnTo>
                  <a:pt x="109420" y="16597"/>
                </a:lnTo>
                <a:lnTo>
                  <a:pt x="64179" y="28297"/>
                </a:lnTo>
                <a:lnTo>
                  <a:pt x="7715" y="58228"/>
                </a:lnTo>
                <a:lnTo>
                  <a:pt x="0" y="75552"/>
                </a:lnTo>
                <a:lnTo>
                  <a:pt x="7715" y="92876"/>
                </a:lnTo>
                <a:lnTo>
                  <a:pt x="64179" y="122807"/>
                </a:lnTo>
                <a:lnTo>
                  <a:pt x="109420" y="134507"/>
                </a:lnTo>
                <a:lnTo>
                  <a:pt x="163662" y="143426"/>
                </a:lnTo>
                <a:lnTo>
                  <a:pt x="225153" y="149110"/>
                </a:lnTo>
                <a:lnTo>
                  <a:pt x="292138" y="151105"/>
                </a:lnTo>
                <a:lnTo>
                  <a:pt x="359122" y="149110"/>
                </a:lnTo>
                <a:lnTo>
                  <a:pt x="420612" y="143426"/>
                </a:lnTo>
                <a:lnTo>
                  <a:pt x="474855" y="134507"/>
                </a:lnTo>
                <a:lnTo>
                  <a:pt x="520095" y="122807"/>
                </a:lnTo>
                <a:lnTo>
                  <a:pt x="576559" y="92876"/>
                </a:lnTo>
                <a:lnTo>
                  <a:pt x="584274" y="75552"/>
                </a:lnTo>
                <a:lnTo>
                  <a:pt x="576559" y="58228"/>
                </a:lnTo>
                <a:lnTo>
                  <a:pt x="520095" y="28297"/>
                </a:lnTo>
                <a:lnTo>
                  <a:pt x="474855" y="16597"/>
                </a:lnTo>
                <a:lnTo>
                  <a:pt x="420612" y="7679"/>
                </a:lnTo>
                <a:lnTo>
                  <a:pt x="359122" y="1995"/>
                </a:lnTo>
                <a:lnTo>
                  <a:pt x="292138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57002" y="2693620"/>
            <a:ext cx="584835" cy="151130"/>
          </a:xfrm>
          <a:custGeom>
            <a:avLst/>
            <a:gdLst/>
            <a:ahLst/>
            <a:cxnLst/>
            <a:rect l="l" t="t" r="r" b="b"/>
            <a:pathLst>
              <a:path w="584834" h="151130">
                <a:moveTo>
                  <a:pt x="0" y="75553"/>
                </a:moveTo>
                <a:lnTo>
                  <a:pt x="29693" y="42326"/>
                </a:lnTo>
                <a:lnTo>
                  <a:pt x="109420" y="16598"/>
                </a:lnTo>
                <a:lnTo>
                  <a:pt x="163662" y="7679"/>
                </a:lnTo>
                <a:lnTo>
                  <a:pt x="225153" y="1995"/>
                </a:lnTo>
                <a:lnTo>
                  <a:pt x="292137" y="0"/>
                </a:lnTo>
                <a:lnTo>
                  <a:pt x="359122" y="1995"/>
                </a:lnTo>
                <a:lnTo>
                  <a:pt x="420612" y="7679"/>
                </a:lnTo>
                <a:lnTo>
                  <a:pt x="474855" y="16598"/>
                </a:lnTo>
                <a:lnTo>
                  <a:pt x="520096" y="28298"/>
                </a:lnTo>
                <a:lnTo>
                  <a:pt x="576560" y="58229"/>
                </a:lnTo>
                <a:lnTo>
                  <a:pt x="584275" y="75553"/>
                </a:lnTo>
                <a:lnTo>
                  <a:pt x="576560" y="92876"/>
                </a:lnTo>
                <a:lnTo>
                  <a:pt x="520096" y="122807"/>
                </a:lnTo>
                <a:lnTo>
                  <a:pt x="474855" y="134507"/>
                </a:lnTo>
                <a:lnTo>
                  <a:pt x="420612" y="143426"/>
                </a:lnTo>
                <a:lnTo>
                  <a:pt x="359122" y="149110"/>
                </a:lnTo>
                <a:lnTo>
                  <a:pt x="292137" y="151105"/>
                </a:lnTo>
                <a:lnTo>
                  <a:pt x="225153" y="149110"/>
                </a:lnTo>
                <a:lnTo>
                  <a:pt x="163662" y="143426"/>
                </a:lnTo>
                <a:lnTo>
                  <a:pt x="109420" y="134507"/>
                </a:lnTo>
                <a:lnTo>
                  <a:pt x="64179" y="122807"/>
                </a:lnTo>
                <a:lnTo>
                  <a:pt x="7715" y="92876"/>
                </a:lnTo>
                <a:lnTo>
                  <a:pt x="0" y="75553"/>
                </a:lnTo>
                <a:close/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57002" y="2680560"/>
            <a:ext cx="1905" cy="93345"/>
          </a:xfrm>
          <a:custGeom>
            <a:avLst/>
            <a:gdLst/>
            <a:ahLst/>
            <a:cxnLst/>
            <a:rect l="l" t="t" r="r" b="b"/>
            <a:pathLst>
              <a:path w="1904" h="93344">
                <a:moveTo>
                  <a:pt x="933" y="-6349"/>
                </a:moveTo>
                <a:lnTo>
                  <a:pt x="933" y="99624"/>
                </a:lnTo>
              </a:path>
            </a:pathLst>
          </a:custGeom>
          <a:ln w="14567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41277" y="2680560"/>
            <a:ext cx="1905" cy="93345"/>
          </a:xfrm>
          <a:custGeom>
            <a:avLst/>
            <a:gdLst/>
            <a:ahLst/>
            <a:cxnLst/>
            <a:rect l="l" t="t" r="r" b="b"/>
            <a:pathLst>
              <a:path w="1904" h="93344">
                <a:moveTo>
                  <a:pt x="933" y="-6349"/>
                </a:moveTo>
                <a:lnTo>
                  <a:pt x="933" y="99624"/>
                </a:lnTo>
              </a:path>
            </a:pathLst>
          </a:custGeom>
          <a:ln w="14567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65109" y="2680560"/>
            <a:ext cx="170815" cy="91440"/>
          </a:xfrm>
          <a:custGeom>
            <a:avLst/>
            <a:gdLst/>
            <a:ahLst/>
            <a:cxnLst/>
            <a:rect l="l" t="t" r="r" b="b"/>
            <a:pathLst>
              <a:path w="170815" h="91439">
                <a:moveTo>
                  <a:pt x="0" y="91409"/>
                </a:moveTo>
                <a:lnTo>
                  <a:pt x="170568" y="91409"/>
                </a:lnTo>
                <a:lnTo>
                  <a:pt x="170568" y="0"/>
                </a:lnTo>
                <a:lnTo>
                  <a:pt x="0" y="0"/>
                </a:lnTo>
                <a:lnTo>
                  <a:pt x="0" y="91409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002" y="2680560"/>
            <a:ext cx="142875" cy="91440"/>
          </a:xfrm>
          <a:custGeom>
            <a:avLst/>
            <a:gdLst/>
            <a:ahLst/>
            <a:cxnLst/>
            <a:rect l="l" t="t" r="r" b="b"/>
            <a:pathLst>
              <a:path w="142875" h="91439">
                <a:moveTo>
                  <a:pt x="0" y="91409"/>
                </a:moveTo>
                <a:lnTo>
                  <a:pt x="142734" y="91409"/>
                </a:lnTo>
                <a:lnTo>
                  <a:pt x="142734" y="0"/>
                </a:lnTo>
                <a:lnTo>
                  <a:pt x="0" y="0"/>
                </a:lnTo>
                <a:lnTo>
                  <a:pt x="0" y="91409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51401" y="2570496"/>
            <a:ext cx="584835" cy="177800"/>
          </a:xfrm>
          <a:custGeom>
            <a:avLst/>
            <a:gdLst/>
            <a:ahLst/>
            <a:cxnLst/>
            <a:rect l="l" t="t" r="r" b="b"/>
            <a:pathLst>
              <a:path w="584834" h="177800">
                <a:moveTo>
                  <a:pt x="292138" y="0"/>
                </a:moveTo>
                <a:lnTo>
                  <a:pt x="225153" y="2340"/>
                </a:lnTo>
                <a:lnTo>
                  <a:pt x="163663" y="9006"/>
                </a:lnTo>
                <a:lnTo>
                  <a:pt x="109420" y="19466"/>
                </a:lnTo>
                <a:lnTo>
                  <a:pt x="64179" y="33189"/>
                </a:lnTo>
                <a:lnTo>
                  <a:pt x="29693" y="49642"/>
                </a:lnTo>
                <a:lnTo>
                  <a:pt x="0" y="88611"/>
                </a:lnTo>
                <a:lnTo>
                  <a:pt x="7715" y="108929"/>
                </a:lnTo>
                <a:lnTo>
                  <a:pt x="64179" y="144034"/>
                </a:lnTo>
                <a:lnTo>
                  <a:pt x="109420" y="157756"/>
                </a:lnTo>
                <a:lnTo>
                  <a:pt x="163663" y="168216"/>
                </a:lnTo>
                <a:lnTo>
                  <a:pt x="225153" y="174883"/>
                </a:lnTo>
                <a:lnTo>
                  <a:pt x="292138" y="177223"/>
                </a:lnTo>
                <a:lnTo>
                  <a:pt x="359123" y="174883"/>
                </a:lnTo>
                <a:lnTo>
                  <a:pt x="420613" y="168216"/>
                </a:lnTo>
                <a:lnTo>
                  <a:pt x="474856" y="157756"/>
                </a:lnTo>
                <a:lnTo>
                  <a:pt x="520097" y="144034"/>
                </a:lnTo>
                <a:lnTo>
                  <a:pt x="554583" y="127581"/>
                </a:lnTo>
                <a:lnTo>
                  <a:pt x="584276" y="88611"/>
                </a:lnTo>
                <a:lnTo>
                  <a:pt x="576560" y="68293"/>
                </a:lnTo>
                <a:lnTo>
                  <a:pt x="520097" y="33189"/>
                </a:lnTo>
                <a:lnTo>
                  <a:pt x="474856" y="19466"/>
                </a:lnTo>
                <a:lnTo>
                  <a:pt x="420613" y="9006"/>
                </a:lnTo>
                <a:lnTo>
                  <a:pt x="359123" y="2340"/>
                </a:lnTo>
                <a:lnTo>
                  <a:pt x="292138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51401" y="2570496"/>
            <a:ext cx="584835" cy="177800"/>
          </a:xfrm>
          <a:custGeom>
            <a:avLst/>
            <a:gdLst/>
            <a:ahLst/>
            <a:cxnLst/>
            <a:rect l="l" t="t" r="r" b="b"/>
            <a:pathLst>
              <a:path w="584834" h="177800">
                <a:moveTo>
                  <a:pt x="0" y="88612"/>
                </a:moveTo>
                <a:lnTo>
                  <a:pt x="29693" y="49642"/>
                </a:lnTo>
                <a:lnTo>
                  <a:pt x="64179" y="33189"/>
                </a:lnTo>
                <a:lnTo>
                  <a:pt x="109420" y="19467"/>
                </a:lnTo>
                <a:lnTo>
                  <a:pt x="163662" y="9006"/>
                </a:lnTo>
                <a:lnTo>
                  <a:pt x="225153" y="2340"/>
                </a:lnTo>
                <a:lnTo>
                  <a:pt x="292137" y="0"/>
                </a:lnTo>
                <a:lnTo>
                  <a:pt x="359122" y="2340"/>
                </a:lnTo>
                <a:lnTo>
                  <a:pt x="420612" y="9006"/>
                </a:lnTo>
                <a:lnTo>
                  <a:pt x="474855" y="19467"/>
                </a:lnTo>
                <a:lnTo>
                  <a:pt x="520096" y="33189"/>
                </a:lnTo>
                <a:lnTo>
                  <a:pt x="554582" y="49642"/>
                </a:lnTo>
                <a:lnTo>
                  <a:pt x="584275" y="88612"/>
                </a:lnTo>
                <a:lnTo>
                  <a:pt x="576560" y="108929"/>
                </a:lnTo>
                <a:lnTo>
                  <a:pt x="520096" y="144034"/>
                </a:lnTo>
                <a:lnTo>
                  <a:pt x="474855" y="157756"/>
                </a:lnTo>
                <a:lnTo>
                  <a:pt x="420612" y="168217"/>
                </a:lnTo>
                <a:lnTo>
                  <a:pt x="359122" y="174883"/>
                </a:lnTo>
                <a:lnTo>
                  <a:pt x="292137" y="177224"/>
                </a:lnTo>
                <a:lnTo>
                  <a:pt x="225153" y="174883"/>
                </a:lnTo>
                <a:lnTo>
                  <a:pt x="163662" y="168217"/>
                </a:lnTo>
                <a:lnTo>
                  <a:pt x="109420" y="157756"/>
                </a:lnTo>
                <a:lnTo>
                  <a:pt x="64179" y="144034"/>
                </a:lnTo>
                <a:lnTo>
                  <a:pt x="29693" y="127581"/>
                </a:lnTo>
                <a:lnTo>
                  <a:pt x="0" y="88612"/>
                </a:lnTo>
                <a:close/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98354" y="2253360"/>
            <a:ext cx="403225" cy="353060"/>
          </a:xfrm>
          <a:custGeom>
            <a:avLst/>
            <a:gdLst/>
            <a:ahLst/>
            <a:cxnLst/>
            <a:rect l="l" t="t" r="r" b="b"/>
            <a:pathLst>
              <a:path w="403225" h="353060">
                <a:moveTo>
                  <a:pt x="0" y="0"/>
                </a:moveTo>
                <a:lnTo>
                  <a:pt x="403207" y="352580"/>
                </a:lnTo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42394" y="2748652"/>
            <a:ext cx="992505" cy="0"/>
          </a:xfrm>
          <a:custGeom>
            <a:avLst/>
            <a:gdLst/>
            <a:ahLst/>
            <a:cxnLst/>
            <a:rect l="l" t="t" r="r" b="b"/>
            <a:pathLst>
              <a:path w="992504">
                <a:moveTo>
                  <a:pt x="0" y="0"/>
                </a:moveTo>
                <a:lnTo>
                  <a:pt x="991965" y="0"/>
                </a:lnTo>
              </a:path>
            </a:pathLst>
          </a:custGeom>
          <a:ln w="18296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99736" y="2594747"/>
            <a:ext cx="265430" cy="246379"/>
          </a:xfrm>
          <a:custGeom>
            <a:avLst/>
            <a:gdLst/>
            <a:ahLst/>
            <a:cxnLst/>
            <a:rect l="l" t="t" r="r" b="b"/>
            <a:pathLst>
              <a:path w="265429" h="246380">
                <a:moveTo>
                  <a:pt x="0" y="246247"/>
                </a:moveTo>
                <a:lnTo>
                  <a:pt x="265372" y="246247"/>
                </a:lnTo>
                <a:lnTo>
                  <a:pt x="265372" y="0"/>
                </a:lnTo>
                <a:lnTo>
                  <a:pt x="0" y="0"/>
                </a:lnTo>
                <a:lnTo>
                  <a:pt x="0" y="246247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01075" y="2513972"/>
            <a:ext cx="209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00"/>
                </a:solidFill>
                <a:latin typeface="Comic Sans MS"/>
                <a:cs typeface="Comic Sans MS"/>
              </a:rPr>
              <a:t>X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34360" y="2716005"/>
            <a:ext cx="584835" cy="151130"/>
          </a:xfrm>
          <a:custGeom>
            <a:avLst/>
            <a:gdLst/>
            <a:ahLst/>
            <a:cxnLst/>
            <a:rect l="l" t="t" r="r" b="b"/>
            <a:pathLst>
              <a:path w="584834" h="151130">
                <a:moveTo>
                  <a:pt x="292138" y="0"/>
                </a:moveTo>
                <a:lnTo>
                  <a:pt x="225153" y="1995"/>
                </a:lnTo>
                <a:lnTo>
                  <a:pt x="163663" y="7679"/>
                </a:lnTo>
                <a:lnTo>
                  <a:pt x="109420" y="16598"/>
                </a:lnTo>
                <a:lnTo>
                  <a:pt x="64179" y="28298"/>
                </a:lnTo>
                <a:lnTo>
                  <a:pt x="7715" y="58229"/>
                </a:lnTo>
                <a:lnTo>
                  <a:pt x="0" y="75552"/>
                </a:lnTo>
                <a:lnTo>
                  <a:pt x="7715" y="92876"/>
                </a:lnTo>
                <a:lnTo>
                  <a:pt x="64179" y="122807"/>
                </a:lnTo>
                <a:lnTo>
                  <a:pt x="109420" y="134507"/>
                </a:lnTo>
                <a:lnTo>
                  <a:pt x="163663" y="143426"/>
                </a:lnTo>
                <a:lnTo>
                  <a:pt x="225153" y="149110"/>
                </a:lnTo>
                <a:lnTo>
                  <a:pt x="292138" y="151105"/>
                </a:lnTo>
                <a:lnTo>
                  <a:pt x="359123" y="149110"/>
                </a:lnTo>
                <a:lnTo>
                  <a:pt x="420613" y="143426"/>
                </a:lnTo>
                <a:lnTo>
                  <a:pt x="474856" y="134507"/>
                </a:lnTo>
                <a:lnTo>
                  <a:pt x="520097" y="122807"/>
                </a:lnTo>
                <a:lnTo>
                  <a:pt x="576560" y="92876"/>
                </a:lnTo>
                <a:lnTo>
                  <a:pt x="584276" y="75552"/>
                </a:lnTo>
                <a:lnTo>
                  <a:pt x="576560" y="58229"/>
                </a:lnTo>
                <a:lnTo>
                  <a:pt x="520097" y="28298"/>
                </a:lnTo>
                <a:lnTo>
                  <a:pt x="474856" y="16598"/>
                </a:lnTo>
                <a:lnTo>
                  <a:pt x="420613" y="7679"/>
                </a:lnTo>
                <a:lnTo>
                  <a:pt x="359123" y="1995"/>
                </a:lnTo>
                <a:lnTo>
                  <a:pt x="292138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934359" y="2716005"/>
            <a:ext cx="584835" cy="151130"/>
          </a:xfrm>
          <a:custGeom>
            <a:avLst/>
            <a:gdLst/>
            <a:ahLst/>
            <a:cxnLst/>
            <a:rect l="l" t="t" r="r" b="b"/>
            <a:pathLst>
              <a:path w="584834" h="151130">
                <a:moveTo>
                  <a:pt x="0" y="75553"/>
                </a:moveTo>
                <a:lnTo>
                  <a:pt x="29693" y="42326"/>
                </a:lnTo>
                <a:lnTo>
                  <a:pt x="109420" y="16598"/>
                </a:lnTo>
                <a:lnTo>
                  <a:pt x="163662" y="7679"/>
                </a:lnTo>
                <a:lnTo>
                  <a:pt x="225153" y="1995"/>
                </a:lnTo>
                <a:lnTo>
                  <a:pt x="292137" y="0"/>
                </a:lnTo>
                <a:lnTo>
                  <a:pt x="359122" y="1995"/>
                </a:lnTo>
                <a:lnTo>
                  <a:pt x="420612" y="7679"/>
                </a:lnTo>
                <a:lnTo>
                  <a:pt x="474855" y="16598"/>
                </a:lnTo>
                <a:lnTo>
                  <a:pt x="520096" y="28298"/>
                </a:lnTo>
                <a:lnTo>
                  <a:pt x="576560" y="58229"/>
                </a:lnTo>
                <a:lnTo>
                  <a:pt x="584275" y="75553"/>
                </a:lnTo>
                <a:lnTo>
                  <a:pt x="576560" y="92876"/>
                </a:lnTo>
                <a:lnTo>
                  <a:pt x="520096" y="122807"/>
                </a:lnTo>
                <a:lnTo>
                  <a:pt x="474855" y="134507"/>
                </a:lnTo>
                <a:lnTo>
                  <a:pt x="420612" y="143426"/>
                </a:lnTo>
                <a:lnTo>
                  <a:pt x="359122" y="149110"/>
                </a:lnTo>
                <a:lnTo>
                  <a:pt x="292137" y="151105"/>
                </a:lnTo>
                <a:lnTo>
                  <a:pt x="225153" y="149110"/>
                </a:lnTo>
                <a:lnTo>
                  <a:pt x="163662" y="143426"/>
                </a:lnTo>
                <a:lnTo>
                  <a:pt x="109420" y="134507"/>
                </a:lnTo>
                <a:lnTo>
                  <a:pt x="64179" y="122807"/>
                </a:lnTo>
                <a:lnTo>
                  <a:pt x="7715" y="92876"/>
                </a:lnTo>
                <a:lnTo>
                  <a:pt x="0" y="75553"/>
                </a:lnTo>
                <a:close/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34359" y="2702947"/>
            <a:ext cx="0" cy="93345"/>
          </a:xfrm>
          <a:custGeom>
            <a:avLst/>
            <a:gdLst/>
            <a:ahLst/>
            <a:cxnLst/>
            <a:rect l="l" t="t" r="r" b="b"/>
            <a:pathLst>
              <a:path h="93344">
                <a:moveTo>
                  <a:pt x="0" y="0"/>
                </a:moveTo>
                <a:lnTo>
                  <a:pt x="0" y="93274"/>
                </a:lnTo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518636" y="2702947"/>
            <a:ext cx="0" cy="93345"/>
          </a:xfrm>
          <a:custGeom>
            <a:avLst/>
            <a:gdLst/>
            <a:ahLst/>
            <a:cxnLst/>
            <a:rect l="l" t="t" r="r" b="b"/>
            <a:pathLst>
              <a:path h="93344">
                <a:moveTo>
                  <a:pt x="0" y="0"/>
                </a:moveTo>
                <a:lnTo>
                  <a:pt x="0" y="93274"/>
                </a:lnTo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55511" y="2702946"/>
            <a:ext cx="158115" cy="91440"/>
          </a:xfrm>
          <a:custGeom>
            <a:avLst/>
            <a:gdLst/>
            <a:ahLst/>
            <a:cxnLst/>
            <a:rect l="l" t="t" r="r" b="b"/>
            <a:pathLst>
              <a:path w="158115" h="91439">
                <a:moveTo>
                  <a:pt x="0" y="91409"/>
                </a:moveTo>
                <a:lnTo>
                  <a:pt x="157524" y="91409"/>
                </a:lnTo>
                <a:lnTo>
                  <a:pt x="157524" y="0"/>
                </a:lnTo>
                <a:lnTo>
                  <a:pt x="0" y="0"/>
                </a:lnTo>
                <a:lnTo>
                  <a:pt x="0" y="91409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34360" y="2702946"/>
            <a:ext cx="156210" cy="91440"/>
          </a:xfrm>
          <a:custGeom>
            <a:avLst/>
            <a:gdLst/>
            <a:ahLst/>
            <a:cxnLst/>
            <a:rect l="l" t="t" r="r" b="b"/>
            <a:pathLst>
              <a:path w="156209" h="91439">
                <a:moveTo>
                  <a:pt x="0" y="91409"/>
                </a:moveTo>
                <a:lnTo>
                  <a:pt x="155853" y="91409"/>
                </a:lnTo>
                <a:lnTo>
                  <a:pt x="155853" y="0"/>
                </a:lnTo>
                <a:lnTo>
                  <a:pt x="0" y="0"/>
                </a:lnTo>
                <a:lnTo>
                  <a:pt x="0" y="91409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28760" y="2592881"/>
            <a:ext cx="584835" cy="177800"/>
          </a:xfrm>
          <a:custGeom>
            <a:avLst/>
            <a:gdLst/>
            <a:ahLst/>
            <a:cxnLst/>
            <a:rect l="l" t="t" r="r" b="b"/>
            <a:pathLst>
              <a:path w="584834" h="177800">
                <a:moveTo>
                  <a:pt x="292136" y="0"/>
                </a:moveTo>
                <a:lnTo>
                  <a:pt x="225152" y="2340"/>
                </a:lnTo>
                <a:lnTo>
                  <a:pt x="163662" y="9006"/>
                </a:lnTo>
                <a:lnTo>
                  <a:pt x="109419" y="19467"/>
                </a:lnTo>
                <a:lnTo>
                  <a:pt x="64178" y="33190"/>
                </a:lnTo>
                <a:lnTo>
                  <a:pt x="29693" y="49643"/>
                </a:lnTo>
                <a:lnTo>
                  <a:pt x="0" y="88612"/>
                </a:lnTo>
                <a:lnTo>
                  <a:pt x="7715" y="108930"/>
                </a:lnTo>
                <a:lnTo>
                  <a:pt x="64178" y="144034"/>
                </a:lnTo>
                <a:lnTo>
                  <a:pt x="109419" y="157757"/>
                </a:lnTo>
                <a:lnTo>
                  <a:pt x="163662" y="168217"/>
                </a:lnTo>
                <a:lnTo>
                  <a:pt x="225152" y="174884"/>
                </a:lnTo>
                <a:lnTo>
                  <a:pt x="292136" y="177224"/>
                </a:lnTo>
                <a:lnTo>
                  <a:pt x="359121" y="174884"/>
                </a:lnTo>
                <a:lnTo>
                  <a:pt x="420612" y="168217"/>
                </a:lnTo>
                <a:lnTo>
                  <a:pt x="474854" y="157757"/>
                </a:lnTo>
                <a:lnTo>
                  <a:pt x="520095" y="144034"/>
                </a:lnTo>
                <a:lnTo>
                  <a:pt x="554581" y="127581"/>
                </a:lnTo>
                <a:lnTo>
                  <a:pt x="584274" y="88612"/>
                </a:lnTo>
                <a:lnTo>
                  <a:pt x="576559" y="68294"/>
                </a:lnTo>
                <a:lnTo>
                  <a:pt x="520095" y="33190"/>
                </a:lnTo>
                <a:lnTo>
                  <a:pt x="474854" y="19467"/>
                </a:lnTo>
                <a:lnTo>
                  <a:pt x="420612" y="9006"/>
                </a:lnTo>
                <a:lnTo>
                  <a:pt x="359121" y="2340"/>
                </a:lnTo>
                <a:lnTo>
                  <a:pt x="292136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28760" y="2592881"/>
            <a:ext cx="584835" cy="177800"/>
          </a:xfrm>
          <a:custGeom>
            <a:avLst/>
            <a:gdLst/>
            <a:ahLst/>
            <a:cxnLst/>
            <a:rect l="l" t="t" r="r" b="b"/>
            <a:pathLst>
              <a:path w="584834" h="177800">
                <a:moveTo>
                  <a:pt x="0" y="88612"/>
                </a:moveTo>
                <a:lnTo>
                  <a:pt x="29693" y="49642"/>
                </a:lnTo>
                <a:lnTo>
                  <a:pt x="64179" y="33189"/>
                </a:lnTo>
                <a:lnTo>
                  <a:pt x="109420" y="19467"/>
                </a:lnTo>
                <a:lnTo>
                  <a:pt x="163662" y="9006"/>
                </a:lnTo>
                <a:lnTo>
                  <a:pt x="225153" y="2340"/>
                </a:lnTo>
                <a:lnTo>
                  <a:pt x="292137" y="0"/>
                </a:lnTo>
                <a:lnTo>
                  <a:pt x="359122" y="2340"/>
                </a:lnTo>
                <a:lnTo>
                  <a:pt x="420612" y="9006"/>
                </a:lnTo>
                <a:lnTo>
                  <a:pt x="474855" y="19467"/>
                </a:lnTo>
                <a:lnTo>
                  <a:pt x="520096" y="33189"/>
                </a:lnTo>
                <a:lnTo>
                  <a:pt x="554582" y="49642"/>
                </a:lnTo>
                <a:lnTo>
                  <a:pt x="584275" y="88612"/>
                </a:lnTo>
                <a:lnTo>
                  <a:pt x="576560" y="108929"/>
                </a:lnTo>
                <a:lnTo>
                  <a:pt x="520096" y="144034"/>
                </a:lnTo>
                <a:lnTo>
                  <a:pt x="474855" y="157756"/>
                </a:lnTo>
                <a:lnTo>
                  <a:pt x="420612" y="168217"/>
                </a:lnTo>
                <a:lnTo>
                  <a:pt x="359122" y="174883"/>
                </a:lnTo>
                <a:lnTo>
                  <a:pt x="292137" y="177224"/>
                </a:lnTo>
                <a:lnTo>
                  <a:pt x="225153" y="174883"/>
                </a:lnTo>
                <a:lnTo>
                  <a:pt x="163662" y="168217"/>
                </a:lnTo>
                <a:lnTo>
                  <a:pt x="109420" y="157756"/>
                </a:lnTo>
                <a:lnTo>
                  <a:pt x="64179" y="144034"/>
                </a:lnTo>
                <a:lnTo>
                  <a:pt x="29693" y="127581"/>
                </a:lnTo>
                <a:lnTo>
                  <a:pt x="0" y="88612"/>
                </a:lnTo>
                <a:close/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90213" y="2617134"/>
            <a:ext cx="265430" cy="246379"/>
          </a:xfrm>
          <a:custGeom>
            <a:avLst/>
            <a:gdLst/>
            <a:ahLst/>
            <a:cxnLst/>
            <a:rect l="l" t="t" r="r" b="b"/>
            <a:pathLst>
              <a:path w="265429" h="246380">
                <a:moveTo>
                  <a:pt x="0" y="246247"/>
                </a:moveTo>
                <a:lnTo>
                  <a:pt x="265297" y="246247"/>
                </a:lnTo>
                <a:lnTo>
                  <a:pt x="265297" y="0"/>
                </a:lnTo>
                <a:lnTo>
                  <a:pt x="0" y="0"/>
                </a:lnTo>
                <a:lnTo>
                  <a:pt x="0" y="246247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097101" y="2536357"/>
            <a:ext cx="201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00"/>
                </a:solidFill>
                <a:latin typeface="Comic Sans MS"/>
                <a:cs typeface="Comic Sans MS"/>
              </a:rPr>
              <a:t>Z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26430" y="2144601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99"/>
                </a:solidFill>
                <a:latin typeface="Comic Sans MS"/>
                <a:cs typeface="Comic Sans MS"/>
              </a:rPr>
              <a:t>1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70155" y="2760219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99"/>
                </a:solidFill>
                <a:latin typeface="Comic Sans MS"/>
                <a:cs typeface="Comic Sans MS"/>
              </a:rPr>
              <a:t>50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50347" y="2111581"/>
            <a:ext cx="584835" cy="151130"/>
          </a:xfrm>
          <a:custGeom>
            <a:avLst/>
            <a:gdLst/>
            <a:ahLst/>
            <a:cxnLst/>
            <a:rect l="l" t="t" r="r" b="b"/>
            <a:pathLst>
              <a:path w="584834" h="151130">
                <a:moveTo>
                  <a:pt x="292138" y="0"/>
                </a:moveTo>
                <a:lnTo>
                  <a:pt x="225153" y="1995"/>
                </a:lnTo>
                <a:lnTo>
                  <a:pt x="163663" y="7679"/>
                </a:lnTo>
                <a:lnTo>
                  <a:pt x="109420" y="16598"/>
                </a:lnTo>
                <a:lnTo>
                  <a:pt x="64179" y="28298"/>
                </a:lnTo>
                <a:lnTo>
                  <a:pt x="7715" y="58229"/>
                </a:lnTo>
                <a:lnTo>
                  <a:pt x="0" y="75553"/>
                </a:lnTo>
                <a:lnTo>
                  <a:pt x="7715" y="92876"/>
                </a:lnTo>
                <a:lnTo>
                  <a:pt x="64179" y="122807"/>
                </a:lnTo>
                <a:lnTo>
                  <a:pt x="109420" y="134507"/>
                </a:lnTo>
                <a:lnTo>
                  <a:pt x="163663" y="143426"/>
                </a:lnTo>
                <a:lnTo>
                  <a:pt x="225153" y="149110"/>
                </a:lnTo>
                <a:lnTo>
                  <a:pt x="292138" y="151105"/>
                </a:lnTo>
                <a:lnTo>
                  <a:pt x="359122" y="149110"/>
                </a:lnTo>
                <a:lnTo>
                  <a:pt x="420613" y="143426"/>
                </a:lnTo>
                <a:lnTo>
                  <a:pt x="474855" y="134507"/>
                </a:lnTo>
                <a:lnTo>
                  <a:pt x="520096" y="122807"/>
                </a:lnTo>
                <a:lnTo>
                  <a:pt x="576560" y="92876"/>
                </a:lnTo>
                <a:lnTo>
                  <a:pt x="584276" y="75553"/>
                </a:lnTo>
                <a:lnTo>
                  <a:pt x="576560" y="58229"/>
                </a:lnTo>
                <a:lnTo>
                  <a:pt x="520096" y="28298"/>
                </a:lnTo>
                <a:lnTo>
                  <a:pt x="474855" y="16598"/>
                </a:lnTo>
                <a:lnTo>
                  <a:pt x="420613" y="7679"/>
                </a:lnTo>
                <a:lnTo>
                  <a:pt x="359122" y="1995"/>
                </a:lnTo>
                <a:lnTo>
                  <a:pt x="292138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150347" y="2111581"/>
            <a:ext cx="584835" cy="151130"/>
          </a:xfrm>
          <a:custGeom>
            <a:avLst/>
            <a:gdLst/>
            <a:ahLst/>
            <a:cxnLst/>
            <a:rect l="l" t="t" r="r" b="b"/>
            <a:pathLst>
              <a:path w="584834" h="151130">
                <a:moveTo>
                  <a:pt x="0" y="75553"/>
                </a:moveTo>
                <a:lnTo>
                  <a:pt x="29693" y="42326"/>
                </a:lnTo>
                <a:lnTo>
                  <a:pt x="109420" y="16598"/>
                </a:lnTo>
                <a:lnTo>
                  <a:pt x="163662" y="7679"/>
                </a:lnTo>
                <a:lnTo>
                  <a:pt x="225153" y="1995"/>
                </a:lnTo>
                <a:lnTo>
                  <a:pt x="292137" y="0"/>
                </a:lnTo>
                <a:lnTo>
                  <a:pt x="359122" y="1995"/>
                </a:lnTo>
                <a:lnTo>
                  <a:pt x="420612" y="7679"/>
                </a:lnTo>
                <a:lnTo>
                  <a:pt x="474855" y="16598"/>
                </a:lnTo>
                <a:lnTo>
                  <a:pt x="520096" y="28298"/>
                </a:lnTo>
                <a:lnTo>
                  <a:pt x="576560" y="58229"/>
                </a:lnTo>
                <a:lnTo>
                  <a:pt x="584275" y="75553"/>
                </a:lnTo>
                <a:lnTo>
                  <a:pt x="576560" y="92876"/>
                </a:lnTo>
                <a:lnTo>
                  <a:pt x="520096" y="122807"/>
                </a:lnTo>
                <a:lnTo>
                  <a:pt x="474855" y="134507"/>
                </a:lnTo>
                <a:lnTo>
                  <a:pt x="420612" y="143426"/>
                </a:lnTo>
                <a:lnTo>
                  <a:pt x="359122" y="149110"/>
                </a:lnTo>
                <a:lnTo>
                  <a:pt x="292137" y="151105"/>
                </a:lnTo>
                <a:lnTo>
                  <a:pt x="225153" y="149110"/>
                </a:lnTo>
                <a:lnTo>
                  <a:pt x="163662" y="143426"/>
                </a:lnTo>
                <a:lnTo>
                  <a:pt x="109420" y="134507"/>
                </a:lnTo>
                <a:lnTo>
                  <a:pt x="64179" y="122807"/>
                </a:lnTo>
                <a:lnTo>
                  <a:pt x="7715" y="92876"/>
                </a:lnTo>
                <a:lnTo>
                  <a:pt x="0" y="75553"/>
                </a:lnTo>
                <a:close/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50347" y="2098523"/>
            <a:ext cx="0" cy="93345"/>
          </a:xfrm>
          <a:custGeom>
            <a:avLst/>
            <a:gdLst/>
            <a:ahLst/>
            <a:cxnLst/>
            <a:rect l="l" t="t" r="r" b="b"/>
            <a:pathLst>
              <a:path h="93344">
                <a:moveTo>
                  <a:pt x="0" y="0"/>
                </a:moveTo>
                <a:lnTo>
                  <a:pt x="0" y="93274"/>
                </a:lnTo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34623" y="2098523"/>
            <a:ext cx="0" cy="93345"/>
          </a:xfrm>
          <a:custGeom>
            <a:avLst/>
            <a:gdLst/>
            <a:ahLst/>
            <a:cxnLst/>
            <a:rect l="l" t="t" r="r" b="b"/>
            <a:pathLst>
              <a:path h="93344">
                <a:moveTo>
                  <a:pt x="0" y="0"/>
                </a:moveTo>
                <a:lnTo>
                  <a:pt x="0" y="93274"/>
                </a:lnTo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71419" y="2098524"/>
            <a:ext cx="158115" cy="91440"/>
          </a:xfrm>
          <a:custGeom>
            <a:avLst/>
            <a:gdLst/>
            <a:ahLst/>
            <a:cxnLst/>
            <a:rect l="l" t="t" r="r" b="b"/>
            <a:pathLst>
              <a:path w="158115" h="91439">
                <a:moveTo>
                  <a:pt x="0" y="91409"/>
                </a:moveTo>
                <a:lnTo>
                  <a:pt x="157603" y="91409"/>
                </a:lnTo>
                <a:lnTo>
                  <a:pt x="157603" y="0"/>
                </a:lnTo>
                <a:lnTo>
                  <a:pt x="0" y="0"/>
                </a:lnTo>
                <a:lnTo>
                  <a:pt x="0" y="91409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50347" y="2098524"/>
            <a:ext cx="156210" cy="91440"/>
          </a:xfrm>
          <a:custGeom>
            <a:avLst/>
            <a:gdLst/>
            <a:ahLst/>
            <a:cxnLst/>
            <a:rect l="l" t="t" r="r" b="b"/>
            <a:pathLst>
              <a:path w="156209" h="91439">
                <a:moveTo>
                  <a:pt x="0" y="91409"/>
                </a:moveTo>
                <a:lnTo>
                  <a:pt x="155916" y="91409"/>
                </a:lnTo>
                <a:lnTo>
                  <a:pt x="155916" y="0"/>
                </a:lnTo>
                <a:lnTo>
                  <a:pt x="0" y="0"/>
                </a:lnTo>
                <a:lnTo>
                  <a:pt x="0" y="91409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44748" y="1988459"/>
            <a:ext cx="584835" cy="177800"/>
          </a:xfrm>
          <a:custGeom>
            <a:avLst/>
            <a:gdLst/>
            <a:ahLst/>
            <a:cxnLst/>
            <a:rect l="l" t="t" r="r" b="b"/>
            <a:pathLst>
              <a:path w="584834" h="177800">
                <a:moveTo>
                  <a:pt x="292138" y="0"/>
                </a:moveTo>
                <a:lnTo>
                  <a:pt x="225153" y="2340"/>
                </a:lnTo>
                <a:lnTo>
                  <a:pt x="163662" y="9006"/>
                </a:lnTo>
                <a:lnTo>
                  <a:pt x="109420" y="19466"/>
                </a:lnTo>
                <a:lnTo>
                  <a:pt x="64179" y="33189"/>
                </a:lnTo>
                <a:lnTo>
                  <a:pt x="29693" y="49642"/>
                </a:lnTo>
                <a:lnTo>
                  <a:pt x="0" y="88611"/>
                </a:lnTo>
                <a:lnTo>
                  <a:pt x="7715" y="108929"/>
                </a:lnTo>
                <a:lnTo>
                  <a:pt x="64179" y="144034"/>
                </a:lnTo>
                <a:lnTo>
                  <a:pt x="109420" y="157756"/>
                </a:lnTo>
                <a:lnTo>
                  <a:pt x="163662" y="168216"/>
                </a:lnTo>
                <a:lnTo>
                  <a:pt x="225153" y="174883"/>
                </a:lnTo>
                <a:lnTo>
                  <a:pt x="292138" y="177223"/>
                </a:lnTo>
                <a:lnTo>
                  <a:pt x="359122" y="174883"/>
                </a:lnTo>
                <a:lnTo>
                  <a:pt x="420613" y="168216"/>
                </a:lnTo>
                <a:lnTo>
                  <a:pt x="474855" y="157756"/>
                </a:lnTo>
                <a:lnTo>
                  <a:pt x="520096" y="144034"/>
                </a:lnTo>
                <a:lnTo>
                  <a:pt x="554582" y="127581"/>
                </a:lnTo>
                <a:lnTo>
                  <a:pt x="584276" y="88611"/>
                </a:lnTo>
                <a:lnTo>
                  <a:pt x="576560" y="68293"/>
                </a:lnTo>
                <a:lnTo>
                  <a:pt x="520096" y="33189"/>
                </a:lnTo>
                <a:lnTo>
                  <a:pt x="474855" y="19466"/>
                </a:lnTo>
                <a:lnTo>
                  <a:pt x="420613" y="9006"/>
                </a:lnTo>
                <a:lnTo>
                  <a:pt x="359122" y="2340"/>
                </a:lnTo>
                <a:lnTo>
                  <a:pt x="292138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44748" y="1988459"/>
            <a:ext cx="584835" cy="177800"/>
          </a:xfrm>
          <a:custGeom>
            <a:avLst/>
            <a:gdLst/>
            <a:ahLst/>
            <a:cxnLst/>
            <a:rect l="l" t="t" r="r" b="b"/>
            <a:pathLst>
              <a:path w="584834" h="177800">
                <a:moveTo>
                  <a:pt x="0" y="88612"/>
                </a:moveTo>
                <a:lnTo>
                  <a:pt x="29693" y="49642"/>
                </a:lnTo>
                <a:lnTo>
                  <a:pt x="64179" y="33189"/>
                </a:lnTo>
                <a:lnTo>
                  <a:pt x="109420" y="19467"/>
                </a:lnTo>
                <a:lnTo>
                  <a:pt x="163662" y="9006"/>
                </a:lnTo>
                <a:lnTo>
                  <a:pt x="225153" y="2340"/>
                </a:lnTo>
                <a:lnTo>
                  <a:pt x="292137" y="0"/>
                </a:lnTo>
                <a:lnTo>
                  <a:pt x="359122" y="2340"/>
                </a:lnTo>
                <a:lnTo>
                  <a:pt x="420612" y="9006"/>
                </a:lnTo>
                <a:lnTo>
                  <a:pt x="474855" y="19467"/>
                </a:lnTo>
                <a:lnTo>
                  <a:pt x="520096" y="33189"/>
                </a:lnTo>
                <a:lnTo>
                  <a:pt x="554582" y="49642"/>
                </a:lnTo>
                <a:lnTo>
                  <a:pt x="584275" y="88612"/>
                </a:lnTo>
                <a:lnTo>
                  <a:pt x="576560" y="108929"/>
                </a:lnTo>
                <a:lnTo>
                  <a:pt x="520096" y="144034"/>
                </a:lnTo>
                <a:lnTo>
                  <a:pt x="474855" y="157756"/>
                </a:lnTo>
                <a:lnTo>
                  <a:pt x="420612" y="168217"/>
                </a:lnTo>
                <a:lnTo>
                  <a:pt x="359122" y="174883"/>
                </a:lnTo>
                <a:lnTo>
                  <a:pt x="292137" y="177224"/>
                </a:lnTo>
                <a:lnTo>
                  <a:pt x="225153" y="174883"/>
                </a:lnTo>
                <a:lnTo>
                  <a:pt x="163662" y="168217"/>
                </a:lnTo>
                <a:lnTo>
                  <a:pt x="109420" y="157756"/>
                </a:lnTo>
                <a:lnTo>
                  <a:pt x="64179" y="144034"/>
                </a:lnTo>
                <a:lnTo>
                  <a:pt x="29693" y="127581"/>
                </a:lnTo>
                <a:lnTo>
                  <a:pt x="0" y="88612"/>
                </a:lnTo>
                <a:close/>
              </a:path>
            </a:pathLst>
          </a:custGeom>
          <a:ln w="12699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306264" y="2012710"/>
            <a:ext cx="265430" cy="246379"/>
          </a:xfrm>
          <a:custGeom>
            <a:avLst/>
            <a:gdLst/>
            <a:ahLst/>
            <a:cxnLst/>
            <a:rect l="l" t="t" r="r" b="b"/>
            <a:pathLst>
              <a:path w="265429" h="246380">
                <a:moveTo>
                  <a:pt x="0" y="246247"/>
                </a:moveTo>
                <a:lnTo>
                  <a:pt x="265155" y="246247"/>
                </a:lnTo>
                <a:lnTo>
                  <a:pt x="265155" y="0"/>
                </a:lnTo>
                <a:lnTo>
                  <a:pt x="0" y="0"/>
                </a:lnTo>
                <a:lnTo>
                  <a:pt x="0" y="246247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320557" y="1931935"/>
            <a:ext cx="1873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00"/>
                </a:solidFill>
                <a:latin typeface="Comic Sans MS"/>
                <a:cs typeface="Comic Sans MS"/>
              </a:rPr>
              <a:t>Y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47743" y="1674494"/>
            <a:ext cx="43751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60</a:t>
            </a:r>
            <a:endParaRPr sz="1800">
              <a:latin typeface="Comic Sans MS"/>
              <a:cs typeface="Comic Sans MS"/>
            </a:endParaRPr>
          </a:p>
          <a:p>
            <a:pPr marL="285115">
              <a:lnSpc>
                <a:spcPct val="100000"/>
              </a:lnSpc>
              <a:spcBef>
                <a:spcPts val="1495"/>
              </a:spcBef>
            </a:pPr>
            <a:r>
              <a:rPr sz="1800" dirty="0">
                <a:solidFill>
                  <a:srgbClr val="333399"/>
                </a:solidFill>
                <a:latin typeface="Comic Sans MS"/>
                <a:cs typeface="Comic Sans MS"/>
              </a:rPr>
              <a:t>4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787874" y="2029091"/>
            <a:ext cx="233679" cy="403860"/>
          </a:xfrm>
          <a:custGeom>
            <a:avLst/>
            <a:gdLst/>
            <a:ahLst/>
            <a:cxnLst/>
            <a:rect l="l" t="t" r="r" b="b"/>
            <a:pathLst>
              <a:path w="233679" h="403860">
                <a:moveTo>
                  <a:pt x="233671" y="403356"/>
                </a:moveTo>
                <a:lnTo>
                  <a:pt x="0" y="0"/>
                </a:lnTo>
              </a:path>
            </a:pathLst>
          </a:custGeom>
          <a:ln w="1904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75141" y="2007114"/>
            <a:ext cx="71755" cy="85090"/>
          </a:xfrm>
          <a:custGeom>
            <a:avLst/>
            <a:gdLst/>
            <a:ahLst/>
            <a:cxnLst/>
            <a:rect l="l" t="t" r="r" b="b"/>
            <a:pathLst>
              <a:path w="71754" h="85089">
                <a:moveTo>
                  <a:pt x="0" y="0"/>
                </a:moveTo>
                <a:lnTo>
                  <a:pt x="5229" y="85032"/>
                </a:lnTo>
                <a:lnTo>
                  <a:pt x="71165" y="46835"/>
                </a:lnTo>
                <a:lnTo>
                  <a:pt x="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14399" y="3197224"/>
            <a:ext cx="7281941" cy="30147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7447" y="540327"/>
            <a:ext cx="6396643" cy="810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384174" y="653754"/>
            <a:ext cx="630047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6425" algn="l"/>
              </a:tabLst>
            </a:pPr>
            <a:r>
              <a:rPr dirty="0" smtClean="0"/>
              <a:t>Poison</a:t>
            </a:r>
            <a:r>
              <a:rPr lang="en-IN" dirty="0" smtClean="0"/>
              <a:t> </a:t>
            </a:r>
            <a:r>
              <a:rPr dirty="0" smtClean="0"/>
              <a:t>Reverse</a:t>
            </a:r>
            <a:r>
              <a:rPr spc="-95" dirty="0" smtClean="0"/>
              <a:t> </a:t>
            </a:r>
            <a:r>
              <a:rPr dirty="0"/>
              <a:t>Example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447" y="540327"/>
            <a:ext cx="6105697" cy="810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174" y="653754"/>
            <a:ext cx="602043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35654" algn="l"/>
              </a:tabLst>
            </a:pPr>
            <a:r>
              <a:rPr dirty="0"/>
              <a:t>Split</a:t>
            </a:r>
            <a:r>
              <a:rPr spc="-5" dirty="0"/>
              <a:t> </a:t>
            </a:r>
            <a:r>
              <a:rPr dirty="0" smtClean="0"/>
              <a:t>Horizon</a:t>
            </a:r>
            <a:r>
              <a:rPr lang="en-IN" dirty="0" smtClean="0"/>
              <a:t> </a:t>
            </a:r>
            <a:r>
              <a:rPr spc="-5" dirty="0" smtClean="0"/>
              <a:t>Limitations</a:t>
            </a:r>
            <a:endParaRPr spc="-5" dirty="0"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117975" y="1798638"/>
            <a:ext cx="4265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000" spc="50" dirty="0">
                <a:solidFill>
                  <a:srgbClr val="333399"/>
                </a:solidFill>
                <a:latin typeface="Arial"/>
                <a:cs typeface="Arial"/>
              </a:rPr>
              <a:t>	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A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tells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B &amp; C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that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D is</a:t>
            </a:r>
            <a:r>
              <a:rPr sz="2000" spc="-7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unreachable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7975" y="2380296"/>
            <a:ext cx="4082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000" spc="50" dirty="0">
                <a:solidFill>
                  <a:srgbClr val="333399"/>
                </a:solidFill>
                <a:latin typeface="Arial"/>
                <a:cs typeface="Arial"/>
              </a:rPr>
              <a:t>	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B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computes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new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route through</a:t>
            </a:r>
            <a:r>
              <a:rPr sz="2000" spc="-1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5175" y="2742501"/>
            <a:ext cx="3246755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Tells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C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that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D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is</a:t>
            </a:r>
            <a:r>
              <a:rPr sz="1800" spc="-10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unreachable  (poison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reverse)</a:t>
            </a:r>
            <a:endParaRPr sz="1800">
              <a:latin typeface="Arial"/>
              <a:cs typeface="Arial"/>
            </a:endParaRPr>
          </a:p>
          <a:p>
            <a:pPr marL="291465" marR="163195" indent="-279400">
              <a:lnSpc>
                <a:spcPct val="100000"/>
              </a:lnSpc>
              <a:spcBef>
                <a:spcPts val="38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Tells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it has 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path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of cost 3  (split horizon doesn’t</a:t>
            </a:r>
            <a:r>
              <a:rPr sz="1800" spc="-1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apply)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7975" y="4145314"/>
            <a:ext cx="4072254" cy="7258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42265" marR="9525" indent="-342265" algn="r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50000"/>
              <a:buFont typeface="Arial"/>
              <a:buChar char=""/>
              <a:tabLst>
                <a:tab pos="342265" algn="l"/>
                <a:tab pos="342900" algn="l"/>
              </a:tabLst>
            </a:pP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A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computes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new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route through</a:t>
            </a:r>
            <a:r>
              <a:rPr sz="2000" spc="-2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  <a:p>
            <a:pPr marL="285115" marR="5080" lvl="1" indent="-285115" algn="r">
              <a:lnSpc>
                <a:spcPct val="100000"/>
              </a:lnSpc>
              <a:spcBef>
                <a:spcPts val="455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285115" algn="l"/>
                <a:tab pos="285750" algn="l"/>
              </a:tabLst>
            </a:pP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232323"/>
                </a:solidFill>
                <a:latin typeface="Arial"/>
                <a:cs typeface="Arial"/>
              </a:rPr>
              <a:t>tells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C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that </a:t>
            </a:r>
            <a:r>
              <a:rPr sz="1800" i="1" dirty="0">
                <a:solidFill>
                  <a:srgbClr val="232323"/>
                </a:solidFill>
                <a:latin typeface="Arial"/>
                <a:cs typeface="Arial"/>
              </a:rPr>
              <a:t>D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is now</a:t>
            </a:r>
            <a:r>
              <a:rPr sz="1800" spc="-10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reachable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7975" y="5161596"/>
            <a:ext cx="9893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000" spc="50" dirty="0">
                <a:solidFill>
                  <a:srgbClr val="333399"/>
                </a:solidFill>
                <a:latin typeface="Arial"/>
                <a:cs typeface="Arial"/>
              </a:rPr>
              <a:t>	</a:t>
            </a:r>
            <a:r>
              <a:rPr sz="2000" spc="50" dirty="0">
                <a:solidFill>
                  <a:srgbClr val="232323"/>
                </a:solidFill>
                <a:latin typeface="Arial"/>
                <a:cs typeface="Arial"/>
              </a:rPr>
              <a:t>E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c…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04087" y="2281346"/>
            <a:ext cx="765810" cy="692150"/>
          </a:xfrm>
          <a:custGeom>
            <a:avLst/>
            <a:gdLst/>
            <a:ahLst/>
            <a:cxnLst/>
            <a:rect l="l" t="t" r="r" b="b"/>
            <a:pathLst>
              <a:path w="765810" h="692150">
                <a:moveTo>
                  <a:pt x="0" y="0"/>
                </a:moveTo>
                <a:lnTo>
                  <a:pt x="765636" y="691931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82887" y="2262187"/>
            <a:ext cx="92710" cy="89535"/>
          </a:xfrm>
          <a:custGeom>
            <a:avLst/>
            <a:gdLst/>
            <a:ahLst/>
            <a:cxnLst/>
            <a:rect l="l" t="t" r="r" b="b"/>
            <a:pathLst>
              <a:path w="92710" h="89535">
                <a:moveTo>
                  <a:pt x="0" y="0"/>
                </a:moveTo>
                <a:lnTo>
                  <a:pt x="34861" y="89278"/>
                </a:lnTo>
                <a:lnTo>
                  <a:pt x="92339" y="25678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98585" y="2903158"/>
            <a:ext cx="92710" cy="89535"/>
          </a:xfrm>
          <a:custGeom>
            <a:avLst/>
            <a:gdLst/>
            <a:ahLst/>
            <a:cxnLst/>
            <a:rect l="l" t="t" r="r" b="b"/>
            <a:pathLst>
              <a:path w="92710" h="89535">
                <a:moveTo>
                  <a:pt x="57477" y="0"/>
                </a:moveTo>
                <a:lnTo>
                  <a:pt x="0" y="63601"/>
                </a:lnTo>
                <a:lnTo>
                  <a:pt x="92339" y="89278"/>
                </a:lnTo>
                <a:lnTo>
                  <a:pt x="5747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40839" y="24079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6801" y="31256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4224" y="314340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2" y="0"/>
                </a:moveTo>
                <a:lnTo>
                  <a:pt x="325719" y="2004"/>
                </a:lnTo>
                <a:lnTo>
                  <a:pt x="265897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7" y="298425"/>
                </a:lnTo>
                <a:lnTo>
                  <a:pt x="325719" y="304227"/>
                </a:lnTo>
                <a:lnTo>
                  <a:pt x="388782" y="306231"/>
                </a:lnTo>
                <a:lnTo>
                  <a:pt x="451844" y="304227"/>
                </a:lnTo>
                <a:lnTo>
                  <a:pt x="511667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4224" y="29734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2" y="0"/>
                </a:moveTo>
                <a:lnTo>
                  <a:pt x="325719" y="2004"/>
                </a:lnTo>
                <a:lnTo>
                  <a:pt x="265897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1"/>
                </a:lnTo>
                <a:lnTo>
                  <a:pt x="113871" y="261385"/>
                </a:lnTo>
                <a:lnTo>
                  <a:pt x="159172" y="276689"/>
                </a:lnTo>
                <a:lnTo>
                  <a:pt x="210114" y="289141"/>
                </a:lnTo>
                <a:lnTo>
                  <a:pt x="265897" y="298426"/>
                </a:lnTo>
                <a:lnTo>
                  <a:pt x="325719" y="304228"/>
                </a:lnTo>
                <a:lnTo>
                  <a:pt x="388782" y="306232"/>
                </a:lnTo>
                <a:lnTo>
                  <a:pt x="451844" y="304228"/>
                </a:lnTo>
                <a:lnTo>
                  <a:pt x="511667" y="298426"/>
                </a:lnTo>
                <a:lnTo>
                  <a:pt x="567449" y="289141"/>
                </a:lnTo>
                <a:lnTo>
                  <a:pt x="618391" y="276689"/>
                </a:lnTo>
                <a:lnTo>
                  <a:pt x="663692" y="261385"/>
                </a:lnTo>
                <a:lnTo>
                  <a:pt x="702551" y="243544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0099" y="31019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9378" y="31177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6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1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4" y="129107"/>
                </a:lnTo>
                <a:lnTo>
                  <a:pt x="734168" y="83284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9378" y="29478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6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1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4" y="129107"/>
                </a:lnTo>
                <a:lnTo>
                  <a:pt x="734168" y="83284"/>
                </a:lnTo>
                <a:lnTo>
                  <a:pt x="663691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94107" y="2987039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83801" y="31256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5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91224" y="314340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8" y="2004"/>
                </a:lnTo>
                <a:lnTo>
                  <a:pt x="265895" y="7805"/>
                </a:lnTo>
                <a:lnTo>
                  <a:pt x="210113" y="17090"/>
                </a:lnTo>
                <a:lnTo>
                  <a:pt x="159171" y="29542"/>
                </a:lnTo>
                <a:lnTo>
                  <a:pt x="113871" y="44846"/>
                </a:lnTo>
                <a:lnTo>
                  <a:pt x="75011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4" y="223480"/>
                </a:lnTo>
                <a:lnTo>
                  <a:pt x="113871" y="261384"/>
                </a:lnTo>
                <a:lnTo>
                  <a:pt x="159171" y="276688"/>
                </a:lnTo>
                <a:lnTo>
                  <a:pt x="210113" y="289140"/>
                </a:lnTo>
                <a:lnTo>
                  <a:pt x="265895" y="298425"/>
                </a:lnTo>
                <a:lnTo>
                  <a:pt x="325718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491224" y="29734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1" y="0"/>
                </a:moveTo>
                <a:lnTo>
                  <a:pt x="325718" y="2004"/>
                </a:lnTo>
                <a:lnTo>
                  <a:pt x="265895" y="7805"/>
                </a:lnTo>
                <a:lnTo>
                  <a:pt x="210113" y="17090"/>
                </a:lnTo>
                <a:lnTo>
                  <a:pt x="159171" y="29542"/>
                </a:lnTo>
                <a:lnTo>
                  <a:pt x="113871" y="44846"/>
                </a:lnTo>
                <a:lnTo>
                  <a:pt x="75011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4" y="223481"/>
                </a:lnTo>
                <a:lnTo>
                  <a:pt x="113871" y="261385"/>
                </a:lnTo>
                <a:lnTo>
                  <a:pt x="159171" y="276689"/>
                </a:lnTo>
                <a:lnTo>
                  <a:pt x="210113" y="289141"/>
                </a:lnTo>
                <a:lnTo>
                  <a:pt x="265895" y="298426"/>
                </a:lnTo>
                <a:lnTo>
                  <a:pt x="325718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1"/>
                </a:lnTo>
                <a:lnTo>
                  <a:pt x="618391" y="276689"/>
                </a:lnTo>
                <a:lnTo>
                  <a:pt x="663692" y="261385"/>
                </a:lnTo>
                <a:lnTo>
                  <a:pt x="702551" y="243544"/>
                </a:lnTo>
                <a:lnTo>
                  <a:pt x="757743" y="201512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67100" y="31019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76378" y="31177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76378" y="29478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762962" y="2987039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112201" y="1982626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80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19624" y="200040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5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6" y="298425"/>
                </a:lnTo>
                <a:lnTo>
                  <a:pt x="325719" y="304227"/>
                </a:lnTo>
                <a:lnTo>
                  <a:pt x="388781" y="306231"/>
                </a:lnTo>
                <a:lnTo>
                  <a:pt x="451843" y="304227"/>
                </a:lnTo>
                <a:lnTo>
                  <a:pt x="511666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9624" y="18304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5">
                <a:moveTo>
                  <a:pt x="388781" y="0"/>
                </a:moveTo>
                <a:lnTo>
                  <a:pt x="325719" y="2004"/>
                </a:lnTo>
                <a:lnTo>
                  <a:pt x="265896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9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6" y="298426"/>
                </a:lnTo>
                <a:lnTo>
                  <a:pt x="325719" y="304228"/>
                </a:lnTo>
                <a:lnTo>
                  <a:pt x="388781" y="306232"/>
                </a:lnTo>
                <a:lnTo>
                  <a:pt x="451843" y="304228"/>
                </a:lnTo>
                <a:lnTo>
                  <a:pt x="511666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79"/>
                </a:lnTo>
                <a:lnTo>
                  <a:pt x="734168" y="82750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6" y="7805"/>
                </a:lnTo>
                <a:lnTo>
                  <a:pt x="451843" y="2004"/>
                </a:lnTo>
                <a:lnTo>
                  <a:pt x="388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95499" y="1958916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80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04778" y="19747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3"/>
                </a:lnTo>
                <a:lnTo>
                  <a:pt x="113871" y="45136"/>
                </a:lnTo>
                <a:lnTo>
                  <a:pt x="75012" y="63092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2"/>
                </a:lnTo>
                <a:lnTo>
                  <a:pt x="159172" y="278475"/>
                </a:lnTo>
                <a:lnTo>
                  <a:pt x="210114" y="291007"/>
                </a:lnTo>
                <a:lnTo>
                  <a:pt x="265897" y="300352"/>
                </a:lnTo>
                <a:lnTo>
                  <a:pt x="325719" y="306191"/>
                </a:lnTo>
                <a:lnTo>
                  <a:pt x="388782" y="308208"/>
                </a:lnTo>
                <a:lnTo>
                  <a:pt x="451844" y="306191"/>
                </a:lnTo>
                <a:lnTo>
                  <a:pt x="511667" y="300352"/>
                </a:lnTo>
                <a:lnTo>
                  <a:pt x="567449" y="291007"/>
                </a:lnTo>
                <a:lnTo>
                  <a:pt x="618391" y="278475"/>
                </a:lnTo>
                <a:lnTo>
                  <a:pt x="663692" y="263072"/>
                </a:lnTo>
                <a:lnTo>
                  <a:pt x="702551" y="245116"/>
                </a:lnTo>
                <a:lnTo>
                  <a:pt x="757743" y="202813"/>
                </a:lnTo>
                <a:lnTo>
                  <a:pt x="777563" y="154104"/>
                </a:lnTo>
                <a:lnTo>
                  <a:pt x="772475" y="129107"/>
                </a:lnTo>
                <a:lnTo>
                  <a:pt x="734168" y="83284"/>
                </a:lnTo>
                <a:lnTo>
                  <a:pt x="663692" y="45136"/>
                </a:lnTo>
                <a:lnTo>
                  <a:pt x="618391" y="29733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104778" y="1804814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7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2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7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2" y="263071"/>
                </a:lnTo>
                <a:lnTo>
                  <a:pt x="702551" y="245114"/>
                </a:lnTo>
                <a:lnTo>
                  <a:pt x="757743" y="202811"/>
                </a:lnTo>
                <a:lnTo>
                  <a:pt x="777563" y="154103"/>
                </a:lnTo>
                <a:lnTo>
                  <a:pt x="772475" y="129106"/>
                </a:lnTo>
                <a:lnTo>
                  <a:pt x="734168" y="83283"/>
                </a:lnTo>
                <a:lnTo>
                  <a:pt x="663692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391364" y="1844039"/>
            <a:ext cx="172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493298" y="2258687"/>
            <a:ext cx="706120" cy="713740"/>
          </a:xfrm>
          <a:custGeom>
            <a:avLst/>
            <a:gdLst/>
            <a:ahLst/>
            <a:cxnLst/>
            <a:rect l="l" t="t" r="r" b="b"/>
            <a:pathLst>
              <a:path w="706119" h="713739">
                <a:moveTo>
                  <a:pt x="0" y="713437"/>
                </a:moveTo>
                <a:lnTo>
                  <a:pt x="705928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73199" y="2901352"/>
            <a:ext cx="90805" cy="91440"/>
          </a:xfrm>
          <a:custGeom>
            <a:avLst/>
            <a:gdLst/>
            <a:ahLst/>
            <a:cxnLst/>
            <a:rect l="l" t="t" r="r" b="b"/>
            <a:pathLst>
              <a:path w="90805" h="91439">
                <a:moveTo>
                  <a:pt x="29827" y="0"/>
                </a:moveTo>
                <a:lnTo>
                  <a:pt x="0" y="91084"/>
                </a:lnTo>
                <a:lnTo>
                  <a:pt x="90763" y="60295"/>
                </a:lnTo>
                <a:lnTo>
                  <a:pt x="2982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28561" y="2238374"/>
            <a:ext cx="90805" cy="91440"/>
          </a:xfrm>
          <a:custGeom>
            <a:avLst/>
            <a:gdLst/>
            <a:ahLst/>
            <a:cxnLst/>
            <a:rect l="l" t="t" r="r" b="b"/>
            <a:pathLst>
              <a:path w="90805" h="91439">
                <a:moveTo>
                  <a:pt x="90763" y="0"/>
                </a:moveTo>
                <a:lnTo>
                  <a:pt x="0" y="30789"/>
                </a:lnTo>
                <a:lnTo>
                  <a:pt x="60935" y="91084"/>
                </a:lnTo>
                <a:lnTo>
                  <a:pt x="90763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5801" y="5259225"/>
            <a:ext cx="785495" cy="170180"/>
          </a:xfrm>
          <a:custGeom>
            <a:avLst/>
            <a:gdLst/>
            <a:ahLst/>
            <a:cxnLst/>
            <a:rect l="l" t="t" r="r" b="b"/>
            <a:pathLst>
              <a:path w="785494" h="170179">
                <a:moveTo>
                  <a:pt x="0" y="169908"/>
                </a:moveTo>
                <a:lnTo>
                  <a:pt x="784985" y="169908"/>
                </a:lnTo>
                <a:lnTo>
                  <a:pt x="784985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3224" y="5277005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2" y="0"/>
                </a:moveTo>
                <a:lnTo>
                  <a:pt x="325719" y="2004"/>
                </a:lnTo>
                <a:lnTo>
                  <a:pt x="265897" y="7806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7"/>
                </a:lnTo>
                <a:lnTo>
                  <a:pt x="75012" y="62688"/>
                </a:lnTo>
                <a:lnTo>
                  <a:pt x="19820" y="104720"/>
                </a:lnTo>
                <a:lnTo>
                  <a:pt x="0" y="153116"/>
                </a:lnTo>
                <a:lnTo>
                  <a:pt x="5088" y="177952"/>
                </a:lnTo>
                <a:lnTo>
                  <a:pt x="43395" y="223482"/>
                </a:lnTo>
                <a:lnTo>
                  <a:pt x="113871" y="261386"/>
                </a:lnTo>
                <a:lnTo>
                  <a:pt x="159172" y="276690"/>
                </a:lnTo>
                <a:lnTo>
                  <a:pt x="210114" y="289142"/>
                </a:lnTo>
                <a:lnTo>
                  <a:pt x="265897" y="298426"/>
                </a:lnTo>
                <a:lnTo>
                  <a:pt x="325719" y="304228"/>
                </a:lnTo>
                <a:lnTo>
                  <a:pt x="388782" y="306232"/>
                </a:lnTo>
                <a:lnTo>
                  <a:pt x="451844" y="304228"/>
                </a:lnTo>
                <a:lnTo>
                  <a:pt x="511667" y="298426"/>
                </a:lnTo>
                <a:lnTo>
                  <a:pt x="567449" y="289142"/>
                </a:lnTo>
                <a:lnTo>
                  <a:pt x="618391" y="276690"/>
                </a:lnTo>
                <a:lnTo>
                  <a:pt x="663692" y="261386"/>
                </a:lnTo>
                <a:lnTo>
                  <a:pt x="702551" y="243544"/>
                </a:lnTo>
                <a:lnTo>
                  <a:pt x="757743" y="201513"/>
                </a:lnTo>
                <a:lnTo>
                  <a:pt x="777563" y="153116"/>
                </a:lnTo>
                <a:lnTo>
                  <a:pt x="772475" y="128280"/>
                </a:lnTo>
                <a:lnTo>
                  <a:pt x="734168" y="82750"/>
                </a:lnTo>
                <a:lnTo>
                  <a:pt x="663692" y="44847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6"/>
                </a:lnTo>
                <a:lnTo>
                  <a:pt x="451844" y="2004"/>
                </a:lnTo>
                <a:lnTo>
                  <a:pt x="388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3224" y="5107097"/>
            <a:ext cx="777875" cy="306705"/>
          </a:xfrm>
          <a:custGeom>
            <a:avLst/>
            <a:gdLst/>
            <a:ahLst/>
            <a:cxnLst/>
            <a:rect l="l" t="t" r="r" b="b"/>
            <a:pathLst>
              <a:path w="777875" h="306704">
                <a:moveTo>
                  <a:pt x="388782" y="0"/>
                </a:moveTo>
                <a:lnTo>
                  <a:pt x="325719" y="2004"/>
                </a:lnTo>
                <a:lnTo>
                  <a:pt x="265897" y="7805"/>
                </a:lnTo>
                <a:lnTo>
                  <a:pt x="210114" y="17090"/>
                </a:lnTo>
                <a:lnTo>
                  <a:pt x="159172" y="29542"/>
                </a:lnTo>
                <a:lnTo>
                  <a:pt x="113871" y="44846"/>
                </a:lnTo>
                <a:lnTo>
                  <a:pt x="75012" y="62687"/>
                </a:lnTo>
                <a:lnTo>
                  <a:pt x="19820" y="104718"/>
                </a:lnTo>
                <a:lnTo>
                  <a:pt x="0" y="153115"/>
                </a:lnTo>
                <a:lnTo>
                  <a:pt x="5088" y="177951"/>
                </a:lnTo>
                <a:lnTo>
                  <a:pt x="43395" y="223480"/>
                </a:lnTo>
                <a:lnTo>
                  <a:pt x="113871" y="261384"/>
                </a:lnTo>
                <a:lnTo>
                  <a:pt x="159172" y="276688"/>
                </a:lnTo>
                <a:lnTo>
                  <a:pt x="210114" y="289140"/>
                </a:lnTo>
                <a:lnTo>
                  <a:pt x="265897" y="298425"/>
                </a:lnTo>
                <a:lnTo>
                  <a:pt x="325719" y="304227"/>
                </a:lnTo>
                <a:lnTo>
                  <a:pt x="388782" y="306231"/>
                </a:lnTo>
                <a:lnTo>
                  <a:pt x="451844" y="304227"/>
                </a:lnTo>
                <a:lnTo>
                  <a:pt x="511667" y="298425"/>
                </a:lnTo>
                <a:lnTo>
                  <a:pt x="567449" y="289140"/>
                </a:lnTo>
                <a:lnTo>
                  <a:pt x="618391" y="276688"/>
                </a:lnTo>
                <a:lnTo>
                  <a:pt x="663692" y="261384"/>
                </a:lnTo>
                <a:lnTo>
                  <a:pt x="702551" y="243543"/>
                </a:lnTo>
                <a:lnTo>
                  <a:pt x="757743" y="201511"/>
                </a:lnTo>
                <a:lnTo>
                  <a:pt x="777563" y="153115"/>
                </a:lnTo>
                <a:lnTo>
                  <a:pt x="772475" y="128278"/>
                </a:lnTo>
                <a:lnTo>
                  <a:pt x="734168" y="82749"/>
                </a:lnTo>
                <a:lnTo>
                  <a:pt x="663692" y="44846"/>
                </a:lnTo>
                <a:lnTo>
                  <a:pt x="618391" y="29542"/>
                </a:lnTo>
                <a:lnTo>
                  <a:pt x="567449" y="17090"/>
                </a:lnTo>
                <a:lnTo>
                  <a:pt x="511667" y="7805"/>
                </a:lnTo>
                <a:lnTo>
                  <a:pt x="451844" y="2004"/>
                </a:lnTo>
                <a:lnTo>
                  <a:pt x="388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19100" y="5235515"/>
            <a:ext cx="787400" cy="170180"/>
          </a:xfrm>
          <a:custGeom>
            <a:avLst/>
            <a:gdLst/>
            <a:ahLst/>
            <a:cxnLst/>
            <a:rect l="l" t="t" r="r" b="b"/>
            <a:pathLst>
              <a:path w="787400" h="170179">
                <a:moveTo>
                  <a:pt x="0" y="169908"/>
                </a:moveTo>
                <a:lnTo>
                  <a:pt x="786841" y="169908"/>
                </a:lnTo>
                <a:lnTo>
                  <a:pt x="786841" y="0"/>
                </a:lnTo>
                <a:lnTo>
                  <a:pt x="0" y="0"/>
                </a:lnTo>
                <a:lnTo>
                  <a:pt x="0" y="169908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8378" y="5251322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4"/>
                </a:lnTo>
                <a:lnTo>
                  <a:pt x="0" y="154103"/>
                </a:lnTo>
                <a:lnTo>
                  <a:pt x="5088" y="179099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6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1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3"/>
                </a:lnTo>
                <a:lnTo>
                  <a:pt x="772474" y="129106"/>
                </a:lnTo>
                <a:lnTo>
                  <a:pt x="734168" y="83283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00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8378" y="5081413"/>
            <a:ext cx="777875" cy="308610"/>
          </a:xfrm>
          <a:custGeom>
            <a:avLst/>
            <a:gdLst/>
            <a:ahLst/>
            <a:cxnLst/>
            <a:rect l="l" t="t" r="r" b="b"/>
            <a:pathLst>
              <a:path w="777875" h="308610">
                <a:moveTo>
                  <a:pt x="388782" y="0"/>
                </a:moveTo>
                <a:lnTo>
                  <a:pt x="325719" y="2016"/>
                </a:lnTo>
                <a:lnTo>
                  <a:pt x="265896" y="7856"/>
                </a:lnTo>
                <a:lnTo>
                  <a:pt x="210114" y="17200"/>
                </a:lnTo>
                <a:lnTo>
                  <a:pt x="159172" y="29732"/>
                </a:lnTo>
                <a:lnTo>
                  <a:pt x="113871" y="45135"/>
                </a:lnTo>
                <a:lnTo>
                  <a:pt x="75012" y="63091"/>
                </a:lnTo>
                <a:lnTo>
                  <a:pt x="19820" y="105395"/>
                </a:lnTo>
                <a:lnTo>
                  <a:pt x="0" y="154104"/>
                </a:lnTo>
                <a:lnTo>
                  <a:pt x="5088" y="179100"/>
                </a:lnTo>
                <a:lnTo>
                  <a:pt x="43395" y="224923"/>
                </a:lnTo>
                <a:lnTo>
                  <a:pt x="113871" y="263071"/>
                </a:lnTo>
                <a:lnTo>
                  <a:pt x="159172" y="278474"/>
                </a:lnTo>
                <a:lnTo>
                  <a:pt x="210114" y="291006"/>
                </a:lnTo>
                <a:lnTo>
                  <a:pt x="265896" y="300351"/>
                </a:lnTo>
                <a:lnTo>
                  <a:pt x="325719" y="306190"/>
                </a:lnTo>
                <a:lnTo>
                  <a:pt x="388782" y="308207"/>
                </a:lnTo>
                <a:lnTo>
                  <a:pt x="451844" y="306190"/>
                </a:lnTo>
                <a:lnTo>
                  <a:pt x="511667" y="300351"/>
                </a:lnTo>
                <a:lnTo>
                  <a:pt x="567449" y="291006"/>
                </a:lnTo>
                <a:lnTo>
                  <a:pt x="618391" y="278474"/>
                </a:lnTo>
                <a:lnTo>
                  <a:pt x="663691" y="263071"/>
                </a:lnTo>
                <a:lnTo>
                  <a:pt x="702551" y="245115"/>
                </a:lnTo>
                <a:lnTo>
                  <a:pt x="757743" y="202812"/>
                </a:lnTo>
                <a:lnTo>
                  <a:pt x="777563" y="154104"/>
                </a:lnTo>
                <a:lnTo>
                  <a:pt x="772474" y="129107"/>
                </a:lnTo>
                <a:lnTo>
                  <a:pt x="734168" y="83284"/>
                </a:lnTo>
                <a:lnTo>
                  <a:pt x="663691" y="45135"/>
                </a:lnTo>
                <a:lnTo>
                  <a:pt x="618391" y="29732"/>
                </a:lnTo>
                <a:lnTo>
                  <a:pt x="567449" y="17200"/>
                </a:lnTo>
                <a:lnTo>
                  <a:pt x="511667" y="7856"/>
                </a:lnTo>
                <a:lnTo>
                  <a:pt x="451844" y="2016"/>
                </a:lnTo>
                <a:lnTo>
                  <a:pt x="388782" y="0"/>
                </a:lnTo>
                <a:close/>
              </a:path>
            </a:pathLst>
          </a:custGeom>
          <a:solidFill>
            <a:srgbClr val="67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35801" y="5120639"/>
            <a:ext cx="785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616074" y="3101974"/>
            <a:ext cx="1831975" cy="0"/>
          </a:xfrm>
          <a:custGeom>
            <a:avLst/>
            <a:gdLst/>
            <a:ahLst/>
            <a:cxnLst/>
            <a:rect l="l" t="t" r="r" b="b"/>
            <a:pathLst>
              <a:path w="1831975">
                <a:moveTo>
                  <a:pt x="0" y="0"/>
                </a:moveTo>
                <a:lnTo>
                  <a:pt x="1831974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587499" y="30591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390900" y="305911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317239" y="24079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79039" y="31699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08502" y="3453576"/>
            <a:ext cx="383540" cy="1560830"/>
          </a:xfrm>
          <a:custGeom>
            <a:avLst/>
            <a:gdLst/>
            <a:ahLst/>
            <a:cxnLst/>
            <a:rect l="l" t="t" r="r" b="b"/>
            <a:pathLst>
              <a:path w="383540" h="1560829">
                <a:moveTo>
                  <a:pt x="0" y="1560573"/>
                </a:moveTo>
                <a:lnTo>
                  <a:pt x="383245" y="0"/>
                </a:lnTo>
              </a:path>
            </a:pathLst>
          </a:custGeom>
          <a:ln w="2857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0506" y="4948425"/>
            <a:ext cx="83820" cy="93980"/>
          </a:xfrm>
          <a:custGeom>
            <a:avLst/>
            <a:gdLst/>
            <a:ahLst/>
            <a:cxnLst/>
            <a:rect l="l" t="t" r="r" b="b"/>
            <a:pathLst>
              <a:path w="83819" h="93979">
                <a:moveTo>
                  <a:pt x="0" y="0"/>
                </a:moveTo>
                <a:lnTo>
                  <a:pt x="21180" y="93474"/>
                </a:lnTo>
                <a:lnTo>
                  <a:pt x="83251" y="20445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136492" y="3425824"/>
            <a:ext cx="83820" cy="93980"/>
          </a:xfrm>
          <a:custGeom>
            <a:avLst/>
            <a:gdLst/>
            <a:ahLst/>
            <a:cxnLst/>
            <a:rect l="l" t="t" r="r" b="b"/>
            <a:pathLst>
              <a:path w="83819" h="93979">
                <a:moveTo>
                  <a:pt x="62069" y="0"/>
                </a:moveTo>
                <a:lnTo>
                  <a:pt x="0" y="73028"/>
                </a:lnTo>
                <a:lnTo>
                  <a:pt x="83251" y="93473"/>
                </a:lnTo>
                <a:lnTo>
                  <a:pt x="6206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3900" y="3975099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24188" y="0"/>
                </a:moveTo>
                <a:lnTo>
                  <a:pt x="215828" y="128692"/>
                </a:lnTo>
                <a:lnTo>
                  <a:pt x="260526" y="143869"/>
                </a:lnTo>
                <a:lnTo>
                  <a:pt x="124040" y="254148"/>
                </a:lnTo>
                <a:lnTo>
                  <a:pt x="168737" y="272562"/>
                </a:lnTo>
                <a:lnTo>
                  <a:pt x="0" y="457200"/>
                </a:lnTo>
                <a:lnTo>
                  <a:pt x="286158" y="315700"/>
                </a:lnTo>
                <a:lnTo>
                  <a:pt x="231584" y="296058"/>
                </a:lnTo>
                <a:lnTo>
                  <a:pt x="409384" y="205422"/>
                </a:lnTo>
                <a:lnTo>
                  <a:pt x="345672" y="177419"/>
                </a:lnTo>
                <a:lnTo>
                  <a:pt x="533399" y="82337"/>
                </a:lnTo>
                <a:lnTo>
                  <a:pt x="324188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3899" y="3975099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24188" y="0"/>
                </a:moveTo>
                <a:lnTo>
                  <a:pt x="215829" y="128693"/>
                </a:lnTo>
                <a:lnTo>
                  <a:pt x="260526" y="143869"/>
                </a:lnTo>
                <a:lnTo>
                  <a:pt x="124040" y="254148"/>
                </a:lnTo>
                <a:lnTo>
                  <a:pt x="168737" y="272563"/>
                </a:lnTo>
                <a:lnTo>
                  <a:pt x="0" y="457199"/>
                </a:lnTo>
                <a:lnTo>
                  <a:pt x="286159" y="315700"/>
                </a:lnTo>
                <a:lnTo>
                  <a:pt x="231584" y="296058"/>
                </a:lnTo>
                <a:lnTo>
                  <a:pt x="409384" y="205422"/>
                </a:lnTo>
                <a:lnTo>
                  <a:pt x="345672" y="177418"/>
                </a:lnTo>
                <a:lnTo>
                  <a:pt x="533399" y="82338"/>
                </a:lnTo>
                <a:lnTo>
                  <a:pt x="324188" y="0"/>
                </a:lnTo>
                <a:close/>
              </a:path>
            </a:pathLst>
          </a:custGeom>
          <a:ln w="9524">
            <a:solidFill>
              <a:srgbClr val="434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183639" y="416051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387" y="1581722"/>
            <a:ext cx="6417310" cy="42278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6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DV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protocol with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hop count as</a:t>
            </a:r>
            <a:r>
              <a:rPr sz="2400" spc="-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metric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14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Infinity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value is 16 hops;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limits network</a:t>
            </a:r>
            <a:r>
              <a:rPr sz="2000" spc="-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size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30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Includes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split horizon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with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poison</a:t>
            </a:r>
            <a:r>
              <a:rPr sz="2000" spc="-1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reverse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Lucida Sans Unicode"/>
              <a:buChar char="◆"/>
            </a:pPr>
            <a:endParaRPr sz="2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Routers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send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vectors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every 30</a:t>
            </a:r>
            <a:r>
              <a:rPr sz="2400" spc="-2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seconds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6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With triggered updates for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link</a:t>
            </a:r>
            <a:r>
              <a:rPr sz="2000" spc="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failures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0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Time-out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in 180 seconds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to detect failures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Lucida Sans Unicode"/>
              <a:buChar char="◆"/>
            </a:pPr>
            <a:endParaRPr sz="2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RIPv1 specified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in</a:t>
            </a:r>
            <a:r>
              <a:rPr sz="2400" spc="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RFC1058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6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www.ietf.org/rfc/rfc1058.txt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9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RIPv2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(adds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authentication etc.)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in</a:t>
            </a:r>
            <a:r>
              <a:rPr sz="2400" spc="2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RFC1388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6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000" u="sng" spc="-5" dirty="0">
                <a:solidFill>
                  <a:srgbClr val="232323"/>
                </a:solidFill>
                <a:uFill>
                  <a:solidFill>
                    <a:srgbClr val="2F2F2F"/>
                  </a:solidFill>
                </a:uFill>
                <a:latin typeface="Arial"/>
                <a:cs typeface="Arial"/>
                <a:hlinkClick r:id="rId3"/>
              </a:rPr>
              <a:t>www.ietf.org/rfc/rfc1388.txt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447" y="540327"/>
            <a:ext cx="7198822" cy="8104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4174" y="653754"/>
            <a:ext cx="710819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3595" algn="l"/>
                <a:tab pos="5044440" algn="l"/>
              </a:tabLst>
            </a:pPr>
            <a:r>
              <a:rPr spc="-5" dirty="0" smtClean="0"/>
              <a:t>Routing</a:t>
            </a:r>
            <a:r>
              <a:rPr lang="en-IN" spc="-5" dirty="0" smtClean="0"/>
              <a:t> </a:t>
            </a:r>
            <a:r>
              <a:rPr spc="-5" dirty="0" smtClean="0"/>
              <a:t>Information</a:t>
            </a:r>
            <a:r>
              <a:rPr lang="en-IN" spc="-5" dirty="0"/>
              <a:t> </a:t>
            </a:r>
            <a:r>
              <a:rPr spc="-5" dirty="0" smtClean="0"/>
              <a:t>Protocol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8600" y="196735"/>
            <a:ext cx="73545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Link-state </a:t>
            </a:r>
            <a:r>
              <a:rPr i="1" dirty="0">
                <a:latin typeface="Arial"/>
                <a:cs typeface="Arial"/>
              </a:rPr>
              <a:t>vs. </a:t>
            </a:r>
            <a:r>
              <a:rPr spc="-5" dirty="0"/>
              <a:t>Distance-vector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sz="half" idx="1"/>
          </p:nvPr>
        </p:nvSpPr>
        <p:spPr>
          <a:xfrm>
            <a:off x="381000" y="866084"/>
            <a:ext cx="3886200" cy="566373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/>
              <a:t>Message</a:t>
            </a:r>
            <a:r>
              <a:rPr sz="2400" spc="-5" dirty="0"/>
              <a:t> complexity</a:t>
            </a:r>
          </a:p>
          <a:p>
            <a:pPr marL="355600" marR="414020" indent="-342900">
              <a:lnSpc>
                <a:spcPct val="100800"/>
              </a:lnSpc>
              <a:spcBef>
                <a:spcPts val="380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  <a:tab pos="877569" algn="l"/>
              </a:tabLst>
            </a:pPr>
            <a:r>
              <a:rPr sz="24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</a:rPr>
              <a:t>LS</a:t>
            </a:r>
            <a:r>
              <a:rPr sz="2400" spc="-5" dirty="0">
                <a:solidFill>
                  <a:srgbClr val="0000FF"/>
                </a:solidFill>
              </a:rPr>
              <a:t>:	</a:t>
            </a:r>
            <a:r>
              <a:rPr sz="2400" spc="-5" dirty="0">
                <a:solidFill>
                  <a:srgbClr val="000000"/>
                </a:solidFill>
              </a:rPr>
              <a:t>with </a:t>
            </a:r>
            <a:r>
              <a:rPr sz="2400" i="1" dirty="0">
                <a:solidFill>
                  <a:srgbClr val="000000"/>
                </a:solidFill>
                <a:latin typeface="Arial"/>
                <a:cs typeface="Arial"/>
              </a:rPr>
              <a:t>n </a:t>
            </a:r>
            <a:r>
              <a:rPr sz="2400" dirty="0">
                <a:solidFill>
                  <a:srgbClr val="000000"/>
                </a:solidFill>
              </a:rPr>
              <a:t>nodes, </a:t>
            </a:r>
            <a:r>
              <a:rPr sz="2400" i="1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sz="2400" i="1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links,  </a:t>
            </a:r>
            <a:r>
              <a:rPr sz="2400" spc="-5" dirty="0">
                <a:solidFill>
                  <a:srgbClr val="000000"/>
                </a:solidFill>
              </a:rPr>
              <a:t>O(nE) </a:t>
            </a:r>
            <a:r>
              <a:rPr sz="2400" dirty="0">
                <a:solidFill>
                  <a:srgbClr val="000000"/>
                </a:solidFill>
              </a:rPr>
              <a:t>messages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sent</a:t>
            </a:r>
            <a:endParaRPr sz="2400" dirty="0">
              <a:latin typeface="Arial"/>
              <a:cs typeface="Arial"/>
            </a:endParaRPr>
          </a:p>
          <a:p>
            <a:pPr marL="355600" marR="625475" indent="-342900">
              <a:lnSpc>
                <a:spcPct val="100800"/>
              </a:lnSpc>
              <a:spcBef>
                <a:spcPts val="459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  <a:tab pos="919480" algn="l"/>
              </a:tabLst>
            </a:pPr>
            <a:r>
              <a:rPr sz="24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</a:rPr>
              <a:t>DV</a:t>
            </a:r>
            <a:r>
              <a:rPr sz="2400" spc="-5" dirty="0">
                <a:solidFill>
                  <a:srgbClr val="0000FF"/>
                </a:solidFill>
              </a:rPr>
              <a:t>:	</a:t>
            </a:r>
            <a:r>
              <a:rPr sz="2400" dirty="0">
                <a:solidFill>
                  <a:srgbClr val="000000"/>
                </a:solidFill>
              </a:rPr>
              <a:t>exchange</a:t>
            </a:r>
            <a:r>
              <a:rPr sz="2400" spc="-7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between  </a:t>
            </a:r>
            <a:r>
              <a:rPr sz="2400" dirty="0">
                <a:solidFill>
                  <a:srgbClr val="000000"/>
                </a:solidFill>
              </a:rPr>
              <a:t>neighbors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only</a:t>
            </a:r>
            <a:endParaRPr sz="2400" dirty="0"/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333399"/>
              </a:buClr>
              <a:buFont typeface="Arial"/>
              <a:buChar char=""/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/>
              <a:t>Speed of</a:t>
            </a:r>
            <a:r>
              <a:rPr sz="2400" spc="-30" dirty="0"/>
              <a:t> </a:t>
            </a:r>
            <a:r>
              <a:rPr sz="2400" dirty="0"/>
              <a:t>Convergence</a:t>
            </a: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  <a:tab pos="877569" algn="l"/>
              </a:tabLst>
            </a:pPr>
            <a:r>
              <a:rPr sz="24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</a:rPr>
              <a:t>LS</a:t>
            </a:r>
            <a:r>
              <a:rPr sz="2400" spc="-5" dirty="0">
                <a:solidFill>
                  <a:srgbClr val="0000FF"/>
                </a:solidFill>
              </a:rPr>
              <a:t>:	</a:t>
            </a:r>
            <a:r>
              <a:rPr sz="2400" spc="-5" dirty="0">
                <a:solidFill>
                  <a:srgbClr val="000000"/>
                </a:solidFill>
              </a:rPr>
              <a:t>relatively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fast</a:t>
            </a:r>
            <a:endParaRPr sz="2400" dirty="0"/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  <a:tab pos="919480" algn="l"/>
              </a:tabLst>
            </a:pPr>
            <a:r>
              <a:rPr sz="24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</a:rPr>
              <a:t>DV</a:t>
            </a:r>
            <a:r>
              <a:rPr sz="2400" spc="-5" dirty="0">
                <a:solidFill>
                  <a:srgbClr val="0000FF"/>
                </a:solidFill>
              </a:rPr>
              <a:t>:	</a:t>
            </a:r>
            <a:r>
              <a:rPr sz="2400" dirty="0">
                <a:solidFill>
                  <a:srgbClr val="000000"/>
                </a:solidFill>
              </a:rPr>
              <a:t>convergence </a:t>
            </a:r>
            <a:r>
              <a:rPr sz="2400" spc="-5" dirty="0">
                <a:solidFill>
                  <a:srgbClr val="000000"/>
                </a:solidFill>
              </a:rPr>
              <a:t>time</a:t>
            </a:r>
            <a:r>
              <a:rPr sz="2400" spc="-8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varies</a:t>
            </a:r>
            <a:endParaRPr sz="2400" dirty="0"/>
          </a:p>
          <a:p>
            <a:pPr marL="755650" lvl="1" indent="-28575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May be </a:t>
            </a:r>
            <a:r>
              <a:rPr sz="2400" spc="-5" dirty="0">
                <a:latin typeface="Arial"/>
                <a:cs typeface="Arial"/>
              </a:rPr>
              <a:t>routing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loops</a:t>
            </a: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Clr>
                <a:srgbClr val="333399"/>
              </a:buClr>
              <a:buSzPct val="50000"/>
              <a:buFont typeface="Lucida Sans Unicode"/>
              <a:buChar char="◆"/>
              <a:tabLst>
                <a:tab pos="755015" algn="l"/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Count-to-infinity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451350" y="4246181"/>
            <a:ext cx="548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"/>
                <a:cs typeface="Arial"/>
              </a:rPr>
              <a:t>D</a:t>
            </a:r>
            <a:r>
              <a:rPr sz="2400" u="heavy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"/>
                <a:cs typeface="Arial"/>
              </a:rPr>
              <a:t>V</a:t>
            </a:r>
            <a:r>
              <a:rPr sz="2800" u="heavy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5134" y="1295400"/>
            <a:ext cx="3702685" cy="43815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Robustness: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what</a:t>
            </a:r>
            <a:r>
              <a:rPr sz="2400" spc="-5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2323"/>
                </a:solidFill>
                <a:latin typeface="Arial"/>
                <a:cs typeface="Arial"/>
              </a:rPr>
              <a:t>happens  if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router</a:t>
            </a:r>
            <a:r>
              <a:rPr sz="2400" spc="-2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2323"/>
                </a:solidFill>
                <a:latin typeface="Arial"/>
                <a:cs typeface="Arial"/>
              </a:rPr>
              <a:t>malfunctions?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u="heavy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"/>
                <a:cs typeface="Arial"/>
              </a:rPr>
              <a:t>LS: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ts val="2360"/>
              </a:lnSpc>
              <a:spcBef>
                <a:spcPts val="525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Node can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advertise</a:t>
            </a:r>
            <a:r>
              <a:rPr sz="2000" spc="-4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incorrect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ts val="2360"/>
              </a:lnSpc>
            </a:pP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link</a:t>
            </a:r>
            <a:r>
              <a:rPr sz="2000" i="1" spc="-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cost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Each node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computes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only</a:t>
            </a:r>
            <a:r>
              <a:rPr sz="2000" spc="-5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its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own</a:t>
            </a:r>
            <a:r>
              <a:rPr sz="2000" i="1" spc="-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table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360"/>
              </a:lnSpc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Node can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advertise</a:t>
            </a:r>
            <a:r>
              <a:rPr sz="2000" spc="-4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incorrect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ts val="2360"/>
              </a:lnSpc>
            </a:pPr>
            <a:r>
              <a:rPr sz="2000" i="1" dirty="0">
                <a:solidFill>
                  <a:srgbClr val="232323"/>
                </a:solidFill>
                <a:latin typeface="Arial"/>
                <a:cs typeface="Arial"/>
              </a:rPr>
              <a:t>path</a:t>
            </a:r>
            <a:r>
              <a:rPr sz="2000" i="1" spc="-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cost</a:t>
            </a:r>
            <a:endParaRPr sz="2000" dirty="0">
              <a:latin typeface="Arial"/>
              <a:cs typeface="Arial"/>
            </a:endParaRPr>
          </a:p>
          <a:p>
            <a:pPr marL="355600" marR="288925" indent="-342900">
              <a:lnSpc>
                <a:spcPct val="100800"/>
              </a:lnSpc>
              <a:spcBef>
                <a:spcPts val="459"/>
              </a:spcBef>
              <a:buClr>
                <a:srgbClr val="333399"/>
              </a:buClr>
              <a:buSzPct val="50000"/>
              <a:buChar char="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Each </a:t>
            </a:r>
            <a:r>
              <a:rPr sz="2000" spc="-170" dirty="0">
                <a:solidFill>
                  <a:srgbClr val="232323"/>
                </a:solidFill>
                <a:latin typeface="Arial"/>
                <a:cs typeface="Arial"/>
              </a:rPr>
              <a:t>node</a:t>
            </a:r>
            <a:r>
              <a:rPr sz="2000" spc="-170" dirty="0">
                <a:solidFill>
                  <a:srgbClr val="232323"/>
                </a:solidFill>
                <a:latin typeface="MS PGothic"/>
                <a:cs typeface="MS PGothic"/>
              </a:rPr>
              <a:t>ʼ</a:t>
            </a:r>
            <a:r>
              <a:rPr sz="2000" spc="-170" dirty="0">
                <a:solidFill>
                  <a:srgbClr val="232323"/>
                </a:solidFill>
                <a:latin typeface="Arial"/>
                <a:cs typeface="Arial"/>
              </a:rPr>
              <a:t>s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table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used by 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others </a:t>
            </a:r>
            <a:r>
              <a:rPr sz="2000" dirty="0">
                <a:solidFill>
                  <a:srgbClr val="232323"/>
                </a:solidFill>
                <a:latin typeface="Arial"/>
                <a:cs typeface="Arial"/>
              </a:rPr>
              <a:t>(error</a:t>
            </a:r>
            <a:r>
              <a:rPr sz="2000" spc="-1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2323"/>
                </a:solidFill>
                <a:latin typeface="Arial"/>
                <a:cs typeface="Arial"/>
              </a:rPr>
              <a:t>propagates)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1141</Words>
  <Application>Microsoft Office PowerPoint</Application>
  <PresentationFormat>On-screen Show (4:3)</PresentationFormat>
  <Paragraphs>513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MS PGothic</vt:lpstr>
      <vt:lpstr>Arial</vt:lpstr>
      <vt:lpstr>Calibri</vt:lpstr>
      <vt:lpstr>Calibri Light</vt:lpstr>
      <vt:lpstr>Comic Sans MS</vt:lpstr>
      <vt:lpstr>Lucida Sans Unicode</vt:lpstr>
      <vt:lpstr>Symbol</vt:lpstr>
      <vt:lpstr>Times New Roman</vt:lpstr>
      <vt:lpstr>Office Theme</vt:lpstr>
      <vt:lpstr> Distance-vector Routing</vt:lpstr>
      <vt:lpstr>Overview</vt:lpstr>
      <vt:lpstr>Bellman-Ford Algorithm</vt:lpstr>
      <vt:lpstr>Distance Vector Algorithm</vt:lpstr>
      <vt:lpstr>Step-by-Step</vt:lpstr>
      <vt:lpstr>Example: Initial State</vt:lpstr>
      <vt:lpstr>D sends vector to E</vt:lpstr>
      <vt:lpstr>B sends vector to A</vt:lpstr>
      <vt:lpstr>E sends vector to A</vt:lpstr>
      <vt:lpstr>…until Convergence</vt:lpstr>
      <vt:lpstr>Node Bʼs distance vectors</vt:lpstr>
      <vt:lpstr>Handling Link Failure</vt:lpstr>
      <vt:lpstr>Counting to Infinity</vt:lpstr>
      <vt:lpstr>Why so High?</vt:lpstr>
      <vt:lpstr>Mitigation Strategies</vt:lpstr>
      <vt:lpstr>Poison Reverse Example</vt:lpstr>
      <vt:lpstr>Split Horizon Limitations</vt:lpstr>
      <vt:lpstr>Routing Information Protocol</vt:lpstr>
      <vt:lpstr>Link-state vs. Distance-vector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123-fa10-l13.pptx</dc:title>
  <dc:creator>Alex C. Snoeren</dc:creator>
  <cp:lastModifiedBy>ponharish jeyakumar</cp:lastModifiedBy>
  <cp:revision>3</cp:revision>
  <dcterms:created xsi:type="dcterms:W3CDTF">2019-02-24T16:34:06Z</dcterms:created>
  <dcterms:modified xsi:type="dcterms:W3CDTF">2020-02-27T08:27:54Z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2010-11-16T00:00:00Z</vt:filetime>
  </property>
  <property fmtid="{D5CDD505-2E9C-101B-9397-08002B2CF9AE}" pid="3" name="Creator">
    <vt:lpwstr>Microsoft PowerPoint</vt:lpwstr>
  </property>
  <property fmtid="{D5CDD505-2E9C-101B-9397-08002B2CF9AE}" pid="4" name="LastSaved">
    <vt:filetime>2019-02-24T00:00:00Z</vt:filetime>
  </property>
</Properties>
</file>