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70" r:id="rId4"/>
    <p:sldId id="298" r:id="rId5"/>
    <p:sldId id="294" r:id="rId6"/>
    <p:sldId id="295" r:id="rId7"/>
    <p:sldId id="296" r:id="rId8"/>
    <p:sldId id="297" r:id="rId9"/>
    <p:sldId id="285" r:id="rId10"/>
    <p:sldId id="286" r:id="rId11"/>
    <p:sldId id="287" r:id="rId12"/>
    <p:sldId id="288" r:id="rId13"/>
    <p:sldId id="274" r:id="rId14"/>
    <p:sldId id="275" r:id="rId15"/>
    <p:sldId id="258" r:id="rId16"/>
    <p:sldId id="261" r:id="rId17"/>
    <p:sldId id="292" r:id="rId18"/>
    <p:sldId id="262" r:id="rId19"/>
    <p:sldId id="263" r:id="rId20"/>
    <p:sldId id="289" r:id="rId21"/>
    <p:sldId id="290" r:id="rId22"/>
    <p:sldId id="291" r:id="rId23"/>
    <p:sldId id="264" r:id="rId24"/>
    <p:sldId id="277" r:id="rId25"/>
    <p:sldId id="278" r:id="rId26"/>
    <p:sldId id="284"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C08A71-FE4E-405A-8170-006C58589067}" type="datetimeFigureOut">
              <a:rPr lang="en-IN" smtClean="0"/>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C192E-01F5-4F90-9E22-B62832C5BC4B}" type="slidenum">
              <a:rPr lang="en-IN" smtClean="0"/>
              <a:t>‹#›</a:t>
            </a:fld>
            <a:endParaRPr lang="en-IN"/>
          </a:p>
        </p:txBody>
      </p:sp>
    </p:spTree>
    <p:extLst>
      <p:ext uri="{BB962C8B-B14F-4D97-AF65-F5344CB8AC3E}">
        <p14:creationId xmlns:p14="http://schemas.microsoft.com/office/powerpoint/2010/main" val="26928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C99EA79-3C24-4E8D-B719-B6CC20381839}" type="slidenum">
              <a:rPr lang="en-US" altLang="en-US" sz="1200" b="0" baseline="0">
                <a:latin typeface="Times New Roman" panose="02020603050405020304" pitchFamily="18" charset="0"/>
              </a:rPr>
              <a:pPr/>
              <a:t>2</a:t>
            </a:fld>
            <a:endParaRPr lang="en-US" altLang="en-US" sz="1200" b="0" baseline="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73059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3C164A4-63B0-46D4-BC7F-2A7DCD692BDE}" type="slidenum">
              <a:rPr lang="en-US" altLang="en-US" sz="1200" b="0" baseline="0">
                <a:latin typeface="Times New Roman" panose="02020603050405020304" pitchFamily="18" charset="0"/>
              </a:rPr>
              <a:pPr/>
              <a:t>4</a:t>
            </a:fld>
            <a:endParaRPr lang="en-US" altLang="en-US" sz="1200" b="0" baseline="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077113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AFE3913-C569-4BC7-8827-C854914DB835}" type="slidenum">
              <a:rPr lang="en-IN" smtClean="0"/>
              <a:t>9</a:t>
            </a:fld>
            <a:endParaRPr lang="en-IN"/>
          </a:p>
        </p:txBody>
      </p:sp>
    </p:spTree>
    <p:extLst>
      <p:ext uri="{BB962C8B-B14F-4D97-AF65-F5344CB8AC3E}">
        <p14:creationId xmlns:p14="http://schemas.microsoft.com/office/powerpoint/2010/main" val="1337294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247BFD7-8C27-49D7-9821-4546EB1E8AB1}" type="slidenum">
              <a:rPr lang="en-US" altLang="en-US" sz="1200" b="0" baseline="0">
                <a:latin typeface="Times New Roman" panose="02020603050405020304" pitchFamily="18" charset="0"/>
              </a:rPr>
              <a:pPr/>
              <a:t>13</a:t>
            </a:fld>
            <a:endParaRPr lang="en-US" altLang="en-US" sz="1200" b="0" baseline="0">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665735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9880CCD-BADD-42D4-9C11-D0D908789C8D}" type="slidenum">
              <a:rPr lang="en-US" altLang="en-US" sz="1200" b="0" baseline="0">
                <a:latin typeface="Times New Roman" panose="02020603050405020304" pitchFamily="18" charset="0"/>
              </a:rPr>
              <a:pPr/>
              <a:t>14</a:t>
            </a:fld>
            <a:endParaRPr lang="en-US" altLang="en-US" sz="1200" b="0" baseline="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352085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5771FBC-1911-4951-B9B7-17173D31FB04}" type="slidenum">
              <a:rPr lang="en-US" altLang="en-US" sz="1200" b="0" baseline="0">
                <a:latin typeface="Times New Roman" panose="02020603050405020304" pitchFamily="18" charset="0"/>
              </a:rPr>
              <a:pPr/>
              <a:t>15</a:t>
            </a:fld>
            <a:endParaRPr lang="en-US" altLang="en-US" sz="1200" b="0" baseline="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17642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1D31B05-4F01-4216-8AAE-21379AD9D5A0}" type="slidenum">
              <a:rPr lang="en-US" altLang="en-US" sz="1200" b="0" baseline="0">
                <a:latin typeface="Times New Roman" panose="02020603050405020304" pitchFamily="18" charset="0"/>
              </a:rPr>
              <a:pPr/>
              <a:t>16</a:t>
            </a:fld>
            <a:endParaRPr lang="en-US" altLang="en-US" sz="1200" b="0" baseline="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62500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66A5E97-5978-471E-8214-D45A73ABEAED}" type="slidenum">
              <a:rPr lang="en-US" altLang="en-US" sz="1200" b="0" baseline="0">
                <a:latin typeface="Times New Roman" panose="02020603050405020304" pitchFamily="18" charset="0"/>
              </a:rPr>
              <a:pPr/>
              <a:t>18</a:t>
            </a:fld>
            <a:endParaRPr lang="en-US" altLang="en-US" sz="1200" b="0" baseline="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236404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28292C5-B5AF-4FD2-A976-BB7F70FE6B47}" type="slidenum">
              <a:rPr lang="en-US" altLang="en-US" sz="1200" b="0" baseline="0">
                <a:latin typeface="Times New Roman" panose="02020603050405020304" pitchFamily="18" charset="0"/>
              </a:rPr>
              <a:pPr/>
              <a:t>19</a:t>
            </a:fld>
            <a:endParaRPr lang="en-US" altLang="en-US" sz="1200" b="0" baseline="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35622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41C95B3-82A2-4BD7-9CAA-D0B99CCF42F7}" type="slidenum">
              <a:rPr lang="en-US" altLang="en-US" sz="1200" b="0" baseline="0">
                <a:latin typeface="Times New Roman" panose="02020603050405020304" pitchFamily="18" charset="0"/>
              </a:rPr>
              <a:pPr/>
              <a:t>23</a:t>
            </a:fld>
            <a:endParaRPr lang="en-US" altLang="en-US" sz="1200" b="0" baseline="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35043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8902817-0B34-4C43-994D-3F88E4A70B8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606599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8902817-0B34-4C43-994D-3F88E4A70B8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393577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902817-0B34-4C43-994D-3F88E4A70B8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2167575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8902817-0B34-4C43-994D-3F88E4A70B8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2257252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8902817-0B34-4C43-994D-3F88E4A70B86}"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1268318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8902817-0B34-4C43-994D-3F88E4A70B86}"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1407187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902817-0B34-4C43-994D-3F88E4A70B86}"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3330820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902817-0B34-4C43-994D-3F88E4A70B8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994636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902817-0B34-4C43-994D-3F88E4A70B86}"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186143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8902817-0B34-4C43-994D-3F88E4A70B8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179598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8902817-0B34-4C43-994D-3F88E4A70B86}"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A6D9C9-E7E9-4312-A833-ED4E826CAB0E}" type="slidenum">
              <a:rPr lang="en-IN" smtClean="0"/>
              <a:t>‹#›</a:t>
            </a:fld>
            <a:endParaRPr lang="en-IN"/>
          </a:p>
        </p:txBody>
      </p:sp>
    </p:spTree>
    <p:extLst>
      <p:ext uri="{BB962C8B-B14F-4D97-AF65-F5344CB8AC3E}">
        <p14:creationId xmlns:p14="http://schemas.microsoft.com/office/powerpoint/2010/main" val="1071359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02817-0B34-4C43-994D-3F88E4A70B86}" type="datetimeFigureOut">
              <a:rPr lang="en-IN" smtClean="0"/>
              <a:t>22-09-2025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6D9C9-E7E9-4312-A833-ED4E826CAB0E}" type="slidenum">
              <a:rPr lang="en-IN" smtClean="0"/>
              <a:t>‹#›</a:t>
            </a:fld>
            <a:endParaRPr lang="en-IN"/>
          </a:p>
        </p:txBody>
      </p:sp>
    </p:spTree>
    <p:extLst>
      <p:ext uri="{BB962C8B-B14F-4D97-AF65-F5344CB8AC3E}">
        <p14:creationId xmlns:p14="http://schemas.microsoft.com/office/powerpoint/2010/main" val="3364338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www.geeksforgeeks.org/dynamic-programming-set-23-bellman-ford-algorithm/"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b="1" dirty="0">
                <a:solidFill>
                  <a:srgbClr val="7030A0"/>
                </a:solidFill>
                <a:latin typeface="+mn-lt"/>
              </a:rPr>
              <a:t>R</a:t>
            </a:r>
            <a:r>
              <a:rPr lang="en-IN" sz="6600" b="1" dirty="0" smtClean="0">
                <a:solidFill>
                  <a:srgbClr val="7030A0"/>
                </a:solidFill>
                <a:latin typeface="+mn-lt"/>
              </a:rPr>
              <a:t>outing Protocols</a:t>
            </a:r>
            <a:endParaRPr lang="en-IN" sz="6600" b="1" dirty="0">
              <a:solidFill>
                <a:srgbClr val="7030A0"/>
              </a:solidFill>
              <a:latin typeface="+mn-lt"/>
            </a:endParaRPr>
          </a:p>
        </p:txBody>
      </p:sp>
    </p:spTree>
    <p:extLst>
      <p:ext uri="{BB962C8B-B14F-4D97-AF65-F5344CB8AC3E}">
        <p14:creationId xmlns:p14="http://schemas.microsoft.com/office/powerpoint/2010/main" val="26878257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32EF45BE-0A68-4608-9C2A-D69970F001C2}" type="slidenum">
              <a:rPr lang="en-US" altLang="en-US" sz="2000" baseline="0">
                <a:solidFill>
                  <a:schemeClr val="bg2"/>
                </a:solidFill>
              </a:rPr>
              <a:pPr/>
              <a:t>2</a:t>
            </a:fld>
            <a:endParaRPr lang="en-US" altLang="en-US" sz="2000" baseline="0">
              <a:solidFill>
                <a:schemeClr val="bg2"/>
              </a:solidFill>
            </a:endParaRPr>
          </a:p>
        </p:txBody>
      </p:sp>
      <p:sp>
        <p:nvSpPr>
          <p:cNvPr id="61445" name="Text Box 4"/>
          <p:cNvSpPr txBox="1">
            <a:spLocks noChangeArrowheads="1"/>
          </p:cNvSpPr>
          <p:nvPr/>
        </p:nvSpPr>
        <p:spPr bwMode="auto">
          <a:xfrm>
            <a:off x="605308" y="218340"/>
            <a:ext cx="41358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baseline="0" dirty="0" smtClean="0">
                <a:solidFill>
                  <a:srgbClr val="FF0000"/>
                </a:solidFill>
                <a:latin typeface="Times New Roman" panose="02020603050405020304" pitchFamily="18" charset="0"/>
              </a:rPr>
              <a:t>Popular </a:t>
            </a:r>
            <a:r>
              <a:rPr lang="en-US" altLang="en-US" sz="2800" baseline="0" dirty="0">
                <a:solidFill>
                  <a:srgbClr val="FF0000"/>
                </a:solidFill>
                <a:latin typeface="Times New Roman" panose="02020603050405020304" pitchFamily="18" charset="0"/>
              </a:rPr>
              <a:t>routing protocols</a:t>
            </a:r>
          </a:p>
        </p:txBody>
      </p:sp>
      <p:pic>
        <p:nvPicPr>
          <p:cNvPr id="6144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158" y="974346"/>
            <a:ext cx="10354614" cy="4887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56810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7538" y="2420086"/>
            <a:ext cx="6468694" cy="830997"/>
          </a:xfrm>
          <a:prstGeom prst="rect">
            <a:avLst/>
          </a:prstGeom>
        </p:spPr>
        <p:txBody>
          <a:bodyPr wrap="none">
            <a:spAutoFit/>
          </a:bodyPr>
          <a:lstStyle/>
          <a:p>
            <a:r>
              <a:rPr lang="en-US" altLang="en-US" sz="4800" b="1" baseline="0" dirty="0" smtClean="0">
                <a:solidFill>
                  <a:srgbClr val="FF0000"/>
                </a:solidFill>
                <a:latin typeface="Times New Roman" panose="02020603050405020304" pitchFamily="18" charset="0"/>
              </a:rPr>
              <a:t>Distance vector routing </a:t>
            </a:r>
            <a:endParaRPr lang="en-IN" sz="4800" b="1" dirty="0"/>
          </a:p>
        </p:txBody>
      </p:sp>
    </p:spTree>
    <p:extLst>
      <p:ext uri="{BB962C8B-B14F-4D97-AF65-F5344CB8AC3E}">
        <p14:creationId xmlns:p14="http://schemas.microsoft.com/office/powerpoint/2010/main" val="32841918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4B3D69C7-3A3F-4773-9EA3-8764ED728F26}" type="slidenum">
              <a:rPr lang="en-US" altLang="en-US" sz="2000" baseline="0">
                <a:solidFill>
                  <a:schemeClr val="bg2"/>
                </a:solidFill>
              </a:rPr>
              <a:pPr/>
              <a:t>4</a:t>
            </a:fld>
            <a:endParaRPr lang="en-US" altLang="en-US" sz="2000" baseline="0">
              <a:solidFill>
                <a:schemeClr val="bg2"/>
              </a:solidFill>
            </a:endParaRPr>
          </a:p>
        </p:txBody>
      </p:sp>
      <p:sp>
        <p:nvSpPr>
          <p:cNvPr id="67596" name="Rectangle 11"/>
          <p:cNvSpPr>
            <a:spLocks noChangeArrowheads="1"/>
          </p:cNvSpPr>
          <p:nvPr/>
        </p:nvSpPr>
        <p:spPr bwMode="auto">
          <a:xfrm>
            <a:off x="276727" y="711335"/>
            <a:ext cx="11597594" cy="255454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0" baseline="0" dirty="0"/>
              <a:t>In distance vector routing, each node shares its routing table with its</a:t>
            </a:r>
          </a:p>
          <a:p>
            <a:pPr algn="ctr"/>
            <a:r>
              <a:rPr lang="en-US" altLang="en-US" b="0" baseline="0" dirty="0"/>
              <a:t>immediate neighbors periodically and when there is a change</a:t>
            </a:r>
            <a:r>
              <a:rPr lang="en-US" altLang="en-US" b="0" baseline="0" dirty="0" smtClean="0"/>
              <a:t>.</a:t>
            </a:r>
          </a:p>
          <a:p>
            <a:pPr algn="ctr"/>
            <a:endParaRPr lang="en-US" altLang="en-US" baseline="0" dirty="0"/>
          </a:p>
          <a:p>
            <a:pPr algn="ctr"/>
            <a:r>
              <a:rPr lang="en-US" altLang="en-US" baseline="0" dirty="0"/>
              <a:t>Tell your neighbors when you know about everyone</a:t>
            </a:r>
          </a:p>
        </p:txBody>
      </p:sp>
    </p:spTree>
    <p:extLst>
      <p:ext uri="{BB962C8B-B14F-4D97-AF65-F5344CB8AC3E}">
        <p14:creationId xmlns:p14="http://schemas.microsoft.com/office/powerpoint/2010/main" val="26514650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ltLang="en-US"/>
              <a:t>Network Layer</a:t>
            </a:r>
            <a:endParaRPr lang="en-US" altLang="en-US">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r>
              <a:rPr lang="en-US" altLang="en-US"/>
              <a:t>4-</a:t>
            </a:r>
            <a:fld id="{AF7204BE-785E-45AD-97E8-DEC6508ECDA3}" type="slidenum">
              <a:rPr lang="en-US" altLang="en-US"/>
              <a:pPr/>
              <a:t>5</a:t>
            </a:fld>
            <a:endParaRPr lang="en-US" altLang="en-US"/>
          </a:p>
        </p:txBody>
      </p:sp>
      <p:sp>
        <p:nvSpPr>
          <p:cNvPr id="466946" name="Rectangle 2"/>
          <p:cNvSpPr>
            <a:spLocks noGrp="1" noChangeArrowheads="1"/>
          </p:cNvSpPr>
          <p:nvPr>
            <p:ph type="title"/>
          </p:nvPr>
        </p:nvSpPr>
        <p:spPr/>
        <p:txBody>
          <a:bodyPr/>
          <a:lstStyle/>
          <a:p>
            <a:r>
              <a:rPr lang="en-US" altLang="en-US" b="1" dirty="0"/>
              <a:t>Distance Vector </a:t>
            </a:r>
            <a:r>
              <a:rPr lang="en-US" altLang="en-US" b="1" dirty="0" smtClean="0"/>
              <a:t>Algorithm</a:t>
            </a:r>
            <a:endParaRPr lang="en-US" altLang="en-US" b="1" dirty="0"/>
          </a:p>
        </p:txBody>
      </p:sp>
      <p:sp>
        <p:nvSpPr>
          <p:cNvPr id="466947" name="Rectangle 3"/>
          <p:cNvSpPr>
            <a:spLocks noGrp="1" noChangeArrowheads="1"/>
          </p:cNvSpPr>
          <p:nvPr>
            <p:ph type="body" idx="1"/>
          </p:nvPr>
        </p:nvSpPr>
        <p:spPr>
          <a:xfrm>
            <a:off x="553453" y="1600200"/>
            <a:ext cx="11393905" cy="4648200"/>
          </a:xfrm>
        </p:spPr>
        <p:txBody>
          <a:bodyPr/>
          <a:lstStyle/>
          <a:p>
            <a:pPr>
              <a:buFont typeface="ZapfDingbats" pitchFamily="82" charset="2"/>
              <a:buNone/>
            </a:pPr>
            <a:r>
              <a:rPr lang="en-US" altLang="en-US" u="sng" dirty="0">
                <a:solidFill>
                  <a:srgbClr val="FF0000"/>
                </a:solidFill>
              </a:rPr>
              <a:t>Bellman-Ford Equation (dynamic programming)</a:t>
            </a:r>
          </a:p>
          <a:p>
            <a:pPr>
              <a:buFont typeface="ZapfDingbats" pitchFamily="82" charset="2"/>
              <a:buNone/>
            </a:pPr>
            <a:r>
              <a:rPr lang="en-US" altLang="en-US" dirty="0"/>
              <a:t>Define</a:t>
            </a:r>
          </a:p>
          <a:p>
            <a:pPr>
              <a:buFont typeface="ZapfDingbats" pitchFamily="82" charset="2"/>
              <a:buNone/>
            </a:pPr>
            <a:r>
              <a:rPr lang="en-US" altLang="en-US" dirty="0"/>
              <a:t>d</a:t>
            </a:r>
            <a:r>
              <a:rPr lang="en-US" altLang="en-US" baseline="-25000" dirty="0"/>
              <a:t>x</a:t>
            </a:r>
            <a:r>
              <a:rPr lang="en-US" altLang="en-US" dirty="0"/>
              <a:t>(y) := cost of least-cost path from x to y</a:t>
            </a:r>
          </a:p>
          <a:p>
            <a:pPr>
              <a:buFont typeface="ZapfDingbats" pitchFamily="82" charset="2"/>
              <a:buNone/>
            </a:pPr>
            <a:endParaRPr lang="en-US" altLang="en-US" sz="1600" dirty="0"/>
          </a:p>
          <a:p>
            <a:pPr>
              <a:buFont typeface="ZapfDingbats" pitchFamily="82" charset="2"/>
              <a:buNone/>
            </a:pPr>
            <a:r>
              <a:rPr lang="en-US" altLang="en-US" dirty="0"/>
              <a:t>Then</a:t>
            </a:r>
          </a:p>
          <a:p>
            <a:pPr>
              <a:buFont typeface="ZapfDingbats" pitchFamily="82" charset="2"/>
              <a:buNone/>
            </a:pPr>
            <a:endParaRPr lang="en-US" altLang="en-US" sz="1200" dirty="0"/>
          </a:p>
          <a:p>
            <a:pPr>
              <a:buFont typeface="ZapfDingbats" pitchFamily="82" charset="2"/>
              <a:buNone/>
            </a:pPr>
            <a:r>
              <a:rPr lang="en-US" altLang="en-US" b="1" dirty="0">
                <a:solidFill>
                  <a:srgbClr val="FF0000"/>
                </a:solidFill>
              </a:rPr>
              <a:t>d</a:t>
            </a:r>
            <a:r>
              <a:rPr lang="en-US" altLang="en-US" b="1" baseline="-25000" dirty="0">
                <a:solidFill>
                  <a:srgbClr val="FF0000"/>
                </a:solidFill>
              </a:rPr>
              <a:t>x</a:t>
            </a:r>
            <a:r>
              <a:rPr lang="en-US" altLang="en-US" b="1" dirty="0">
                <a:solidFill>
                  <a:srgbClr val="FF0000"/>
                </a:solidFill>
              </a:rPr>
              <a:t>(y) = min {c(</a:t>
            </a:r>
            <a:r>
              <a:rPr lang="en-US" altLang="en-US" b="1" dirty="0" err="1">
                <a:solidFill>
                  <a:srgbClr val="FF0000"/>
                </a:solidFill>
              </a:rPr>
              <a:t>x,v</a:t>
            </a:r>
            <a:r>
              <a:rPr lang="en-US" altLang="en-US" b="1" dirty="0">
                <a:solidFill>
                  <a:srgbClr val="FF0000"/>
                </a:solidFill>
              </a:rPr>
              <a:t>) + d</a:t>
            </a:r>
            <a:r>
              <a:rPr lang="en-US" altLang="en-US" b="1" baseline="-25000" dirty="0">
                <a:solidFill>
                  <a:srgbClr val="FF0000"/>
                </a:solidFill>
              </a:rPr>
              <a:t>v</a:t>
            </a:r>
            <a:r>
              <a:rPr lang="en-US" altLang="en-US" b="1" dirty="0">
                <a:solidFill>
                  <a:srgbClr val="FF0000"/>
                </a:solidFill>
              </a:rPr>
              <a:t>(y) }</a:t>
            </a:r>
          </a:p>
          <a:p>
            <a:pPr>
              <a:buFont typeface="ZapfDingbats" pitchFamily="82" charset="2"/>
              <a:buNone/>
            </a:pPr>
            <a:endParaRPr lang="en-US" altLang="en-US" sz="1800" dirty="0"/>
          </a:p>
          <a:p>
            <a:pPr>
              <a:buFont typeface="ZapfDingbats" pitchFamily="82" charset="2"/>
              <a:buNone/>
            </a:pPr>
            <a:r>
              <a:rPr lang="en-US" altLang="en-US" dirty="0"/>
              <a:t>where min is taken over all neighbors of x</a:t>
            </a:r>
          </a:p>
        </p:txBody>
      </p:sp>
    </p:spTree>
    <p:extLst>
      <p:ext uri="{BB962C8B-B14F-4D97-AF65-F5344CB8AC3E}">
        <p14:creationId xmlns:p14="http://schemas.microsoft.com/office/powerpoint/2010/main" val="15693366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Footer Placeholder 3"/>
          <p:cNvSpPr>
            <a:spLocks noGrp="1"/>
          </p:cNvSpPr>
          <p:nvPr>
            <p:ph type="ftr" sz="quarter" idx="11"/>
          </p:nvPr>
        </p:nvSpPr>
        <p:spPr/>
        <p:txBody>
          <a:bodyPr/>
          <a:lstStyle/>
          <a:p>
            <a:r>
              <a:rPr lang="en-US" altLang="en-US"/>
              <a:t>Network Layer</a:t>
            </a:r>
            <a:endParaRPr lang="en-US" altLang="en-US">
              <a:latin typeface="Times New Roman" panose="02020603050405020304" pitchFamily="18" charset="0"/>
            </a:endParaRPr>
          </a:p>
        </p:txBody>
      </p:sp>
      <p:sp>
        <p:nvSpPr>
          <p:cNvPr id="78" name="Slide Number Placeholder 4"/>
          <p:cNvSpPr>
            <a:spLocks noGrp="1"/>
          </p:cNvSpPr>
          <p:nvPr>
            <p:ph type="sldNum" sz="quarter" idx="12"/>
          </p:nvPr>
        </p:nvSpPr>
        <p:spPr/>
        <p:txBody>
          <a:bodyPr/>
          <a:lstStyle/>
          <a:p>
            <a:r>
              <a:rPr lang="en-US" altLang="en-US"/>
              <a:t>4-</a:t>
            </a:r>
            <a:fld id="{69FC4D55-A174-413D-949C-411E84AD3F76}" type="slidenum">
              <a:rPr lang="en-US" altLang="en-US"/>
              <a:pPr/>
              <a:t>6</a:t>
            </a:fld>
            <a:endParaRPr lang="en-US" altLang="en-US"/>
          </a:p>
        </p:txBody>
      </p:sp>
      <p:sp>
        <p:nvSpPr>
          <p:cNvPr id="467970" name="Rectangle 2"/>
          <p:cNvSpPr>
            <a:spLocks noGrp="1" noChangeArrowheads="1"/>
          </p:cNvSpPr>
          <p:nvPr>
            <p:ph type="title"/>
          </p:nvPr>
        </p:nvSpPr>
        <p:spPr>
          <a:xfrm>
            <a:off x="541339" y="160189"/>
            <a:ext cx="10515600" cy="1325563"/>
          </a:xfrm>
        </p:spPr>
        <p:txBody>
          <a:bodyPr/>
          <a:lstStyle/>
          <a:p>
            <a:r>
              <a:rPr lang="en-US" altLang="en-US" dirty="0"/>
              <a:t>Bellman-Ford </a:t>
            </a:r>
            <a:r>
              <a:rPr lang="en-US" altLang="en-US" dirty="0" smtClean="0"/>
              <a:t>example</a:t>
            </a:r>
            <a:endParaRPr lang="en-US" altLang="en-US" dirty="0"/>
          </a:p>
        </p:txBody>
      </p:sp>
      <p:grpSp>
        <p:nvGrpSpPr>
          <p:cNvPr id="467971" name="Group 3"/>
          <p:cNvGrpSpPr>
            <a:grpSpLocks/>
          </p:cNvGrpSpPr>
          <p:nvPr/>
        </p:nvGrpSpPr>
        <p:grpSpPr bwMode="auto">
          <a:xfrm>
            <a:off x="1800226" y="1470025"/>
            <a:ext cx="3571875" cy="2236788"/>
            <a:chOff x="3162" y="1071"/>
            <a:chExt cx="2250" cy="1409"/>
          </a:xfrm>
        </p:grpSpPr>
        <p:sp>
          <p:nvSpPr>
            <p:cNvPr id="467972" name="Freeform 4"/>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3" name="Freeform 5"/>
            <p:cNvSpPr>
              <a:spLocks/>
            </p:cNvSpPr>
            <p:nvPr/>
          </p:nvSpPr>
          <p:spPr bwMode="auto">
            <a:xfrm>
              <a:off x="3498" y="1620"/>
              <a:ext cx="342" cy="186"/>
            </a:xfrm>
            <a:custGeom>
              <a:avLst/>
              <a:gdLst>
                <a:gd name="T0" fmla="*/ 0 w 342"/>
                <a:gd name="T1" fmla="*/ 186 h 186"/>
                <a:gd name="T2" fmla="*/ 342 w 342"/>
                <a:gd name="T3" fmla="*/ 0 h 186"/>
              </a:gdLst>
              <a:ahLst/>
              <a:cxnLst>
                <a:cxn ang="0">
                  <a:pos x="T0" y="T1"/>
                </a:cxn>
                <a:cxn ang="0">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4" name="Oval 6"/>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5" name="Line 7"/>
            <p:cNvSpPr>
              <a:spLocks noChangeShapeType="1"/>
            </p:cNvSpPr>
            <p:nvPr/>
          </p:nvSpPr>
          <p:spPr bwMode="auto">
            <a:xfrm>
              <a:off x="3238"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6" name="Line 8"/>
            <p:cNvSpPr>
              <a:spLocks noChangeShapeType="1"/>
            </p:cNvSpPr>
            <p:nvPr/>
          </p:nvSpPr>
          <p:spPr bwMode="auto">
            <a:xfrm>
              <a:off x="3551" y="1855"/>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7" name="Rectangle 9"/>
            <p:cNvSpPr>
              <a:spLocks noChangeArrowheads="1"/>
            </p:cNvSpPr>
            <p:nvPr/>
          </p:nvSpPr>
          <p:spPr bwMode="auto">
            <a:xfrm>
              <a:off x="3238" y="1855"/>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7978" name="Oval 10"/>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79" name="Oval 11"/>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0" name="Line 12"/>
            <p:cNvSpPr>
              <a:spLocks noChangeShapeType="1"/>
            </p:cNvSpPr>
            <p:nvPr/>
          </p:nvSpPr>
          <p:spPr bwMode="auto">
            <a:xfrm>
              <a:off x="3712"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1" name="Line 13"/>
            <p:cNvSpPr>
              <a:spLocks noChangeShapeType="1"/>
            </p:cNvSpPr>
            <p:nvPr/>
          </p:nvSpPr>
          <p:spPr bwMode="auto">
            <a:xfrm>
              <a:off x="4025" y="224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2" name="Rectangle 14"/>
            <p:cNvSpPr>
              <a:spLocks noChangeArrowheads="1"/>
            </p:cNvSpPr>
            <p:nvPr/>
          </p:nvSpPr>
          <p:spPr bwMode="auto">
            <a:xfrm>
              <a:off x="3712" y="224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7983" name="Oval 15"/>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4" name="Oval 16"/>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5" name="Line 17"/>
            <p:cNvSpPr>
              <a:spLocks noChangeShapeType="1"/>
            </p:cNvSpPr>
            <p:nvPr/>
          </p:nvSpPr>
          <p:spPr bwMode="auto">
            <a:xfrm>
              <a:off x="3708"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6" name="Line 18"/>
            <p:cNvSpPr>
              <a:spLocks noChangeShapeType="1"/>
            </p:cNvSpPr>
            <p:nvPr/>
          </p:nvSpPr>
          <p:spPr bwMode="auto">
            <a:xfrm>
              <a:off x="4021" y="1552"/>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7" name="Rectangle 19"/>
            <p:cNvSpPr>
              <a:spLocks noChangeArrowheads="1"/>
            </p:cNvSpPr>
            <p:nvPr/>
          </p:nvSpPr>
          <p:spPr bwMode="auto">
            <a:xfrm>
              <a:off x="3708" y="1552"/>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7988" name="Oval 20"/>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89" name="Oval 21"/>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0" name="Line 22"/>
            <p:cNvSpPr>
              <a:spLocks noChangeShapeType="1"/>
            </p:cNvSpPr>
            <p:nvPr/>
          </p:nvSpPr>
          <p:spPr bwMode="auto">
            <a:xfrm>
              <a:off x="4391"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1" name="Line 23"/>
            <p:cNvSpPr>
              <a:spLocks noChangeShapeType="1"/>
            </p:cNvSpPr>
            <p:nvPr/>
          </p:nvSpPr>
          <p:spPr bwMode="auto">
            <a:xfrm>
              <a:off x="4703" y="154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2" name="Rectangle 24"/>
            <p:cNvSpPr>
              <a:spLocks noChangeArrowheads="1"/>
            </p:cNvSpPr>
            <p:nvPr/>
          </p:nvSpPr>
          <p:spPr bwMode="auto">
            <a:xfrm>
              <a:off x="4391" y="1548"/>
              <a:ext cx="309"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7993" name="Oval 25"/>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4" name="Oval 26"/>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5" name="Line 27"/>
            <p:cNvSpPr>
              <a:spLocks noChangeShapeType="1"/>
            </p:cNvSpPr>
            <p:nvPr/>
          </p:nvSpPr>
          <p:spPr bwMode="auto">
            <a:xfrm>
              <a:off x="4401"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6" name="Line 28"/>
            <p:cNvSpPr>
              <a:spLocks noChangeShapeType="1"/>
            </p:cNvSpPr>
            <p:nvPr/>
          </p:nvSpPr>
          <p:spPr bwMode="auto">
            <a:xfrm>
              <a:off x="4714" y="2239"/>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7" name="Rectangle 29"/>
            <p:cNvSpPr>
              <a:spLocks noChangeArrowheads="1"/>
            </p:cNvSpPr>
            <p:nvPr/>
          </p:nvSpPr>
          <p:spPr bwMode="auto">
            <a:xfrm>
              <a:off x="4401" y="2239"/>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7998" name="Oval 30"/>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7999" name="Oval 31"/>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0" name="Line 32"/>
            <p:cNvSpPr>
              <a:spLocks noChangeShapeType="1"/>
            </p:cNvSpPr>
            <p:nvPr/>
          </p:nvSpPr>
          <p:spPr bwMode="auto">
            <a:xfrm>
              <a:off x="4966"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1" name="Line 33"/>
            <p:cNvSpPr>
              <a:spLocks noChangeShapeType="1"/>
            </p:cNvSpPr>
            <p:nvPr/>
          </p:nvSpPr>
          <p:spPr bwMode="auto">
            <a:xfrm>
              <a:off x="5279" y="1898"/>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2" name="Rectangle 34"/>
            <p:cNvSpPr>
              <a:spLocks noChangeArrowheads="1"/>
            </p:cNvSpPr>
            <p:nvPr/>
          </p:nvSpPr>
          <p:spPr bwMode="auto">
            <a:xfrm>
              <a:off x="4966" y="1898"/>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68003" name="Oval 35"/>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4" name="Freeform 36"/>
            <p:cNvSpPr>
              <a:spLocks/>
            </p:cNvSpPr>
            <p:nvPr/>
          </p:nvSpPr>
          <p:spPr bwMode="auto">
            <a:xfrm>
              <a:off x="4557" y="1647"/>
              <a:ext cx="1" cy="522"/>
            </a:xfrm>
            <a:custGeom>
              <a:avLst/>
              <a:gdLst>
                <a:gd name="T0" fmla="*/ 0 w 1"/>
                <a:gd name="T1" fmla="*/ 0 h 522"/>
                <a:gd name="T2" fmla="*/ 0 w 1"/>
                <a:gd name="T3" fmla="*/ 522 h 522"/>
              </a:gdLst>
              <a:ahLst/>
              <a:cxnLst>
                <a:cxn ang="0">
                  <a:pos x="T0" y="T1"/>
                </a:cxn>
                <a:cxn ang="0">
                  <a:pos x="T2" y="T3"/>
                </a:cxn>
              </a:cxnLst>
              <a:rect l="0" t="0" r="r" b="b"/>
              <a:pathLst>
                <a:path w="1" h="522">
                  <a:moveTo>
                    <a:pt x="0" y="0"/>
                  </a:moveTo>
                  <a:lnTo>
                    <a:pt x="0" y="52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5" name="Freeform 37"/>
            <p:cNvSpPr>
              <a:spLocks/>
            </p:cNvSpPr>
            <p:nvPr/>
          </p:nvSpPr>
          <p:spPr bwMode="auto">
            <a:xfrm>
              <a:off x="3864" y="1653"/>
              <a:ext cx="1" cy="537"/>
            </a:xfrm>
            <a:custGeom>
              <a:avLst/>
              <a:gdLst>
                <a:gd name="T0" fmla="*/ 0 w 1"/>
                <a:gd name="T1" fmla="*/ 0 h 537"/>
                <a:gd name="T2" fmla="*/ 0 w 1"/>
                <a:gd name="T3" fmla="*/ 537 h 537"/>
              </a:gdLst>
              <a:ahLst/>
              <a:cxnLst>
                <a:cxn ang="0">
                  <a:pos x="T0" y="T1"/>
                </a:cxn>
                <a:cxn ang="0">
                  <a:pos x="T2" y="T3"/>
                </a:cxn>
              </a:cxnLst>
              <a:rect l="0" t="0" r="r" b="b"/>
              <a:pathLst>
                <a:path w="1" h="537">
                  <a:moveTo>
                    <a:pt x="0" y="0"/>
                  </a:moveTo>
                  <a:lnTo>
                    <a:pt x="0" y="537"/>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6" name="Freeform 38"/>
            <p:cNvSpPr>
              <a:spLocks/>
            </p:cNvSpPr>
            <p:nvPr/>
          </p:nvSpPr>
          <p:spPr bwMode="auto">
            <a:xfrm>
              <a:off x="4029" y="1638"/>
              <a:ext cx="504" cy="600"/>
            </a:xfrm>
            <a:custGeom>
              <a:avLst/>
              <a:gdLst>
                <a:gd name="T0" fmla="*/ 0 w 378"/>
                <a:gd name="T1" fmla="*/ 174 h 174"/>
                <a:gd name="T2" fmla="*/ 378 w 378"/>
                <a:gd name="T3" fmla="*/ 0 h 174"/>
              </a:gdLst>
              <a:ahLst/>
              <a:cxnLst>
                <a:cxn ang="0">
                  <a:pos x="T0" y="T1"/>
                </a:cxn>
                <a:cxn ang="0">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7" name="Freeform 39"/>
            <p:cNvSpPr>
              <a:spLocks/>
            </p:cNvSpPr>
            <p:nvPr/>
          </p:nvSpPr>
          <p:spPr bwMode="auto">
            <a:xfrm>
              <a:off x="4716" y="1986"/>
              <a:ext cx="366" cy="270"/>
            </a:xfrm>
            <a:custGeom>
              <a:avLst/>
              <a:gdLst>
                <a:gd name="T0" fmla="*/ 0 w 366"/>
                <a:gd name="T1" fmla="*/ 270 h 270"/>
                <a:gd name="T2" fmla="*/ 366 w 366"/>
                <a:gd name="T3" fmla="*/ 0 h 270"/>
              </a:gdLst>
              <a:ahLst/>
              <a:cxnLst>
                <a:cxn ang="0">
                  <a:pos x="T0" y="T1"/>
                </a:cxn>
                <a:cxn ang="0">
                  <a:pos x="T2" y="T3"/>
                </a:cxn>
              </a:cxnLst>
              <a:rect l="0" t="0" r="r" b="b"/>
              <a:pathLst>
                <a:path w="366" h="270">
                  <a:moveTo>
                    <a:pt x="0" y="270"/>
                  </a:moveTo>
                  <a:lnTo>
                    <a:pt x="366"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8" name="Freeform 40"/>
            <p:cNvSpPr>
              <a:spLocks/>
            </p:cNvSpPr>
            <p:nvPr/>
          </p:nvSpPr>
          <p:spPr bwMode="auto">
            <a:xfrm>
              <a:off x="4035" y="226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09" name="Freeform 41"/>
            <p:cNvSpPr>
              <a:spLocks/>
            </p:cNvSpPr>
            <p:nvPr/>
          </p:nvSpPr>
          <p:spPr bwMode="auto">
            <a:xfrm>
              <a:off x="3444" y="1944"/>
              <a:ext cx="276" cy="264"/>
            </a:xfrm>
            <a:custGeom>
              <a:avLst/>
              <a:gdLst>
                <a:gd name="T0" fmla="*/ 276 w 276"/>
                <a:gd name="T1" fmla="*/ 264 h 264"/>
                <a:gd name="T2" fmla="*/ 0 w 276"/>
                <a:gd name="T3" fmla="*/ 0 h 264"/>
              </a:gdLst>
              <a:ahLst/>
              <a:cxnLst>
                <a:cxn ang="0">
                  <a:pos x="T0" y="T1"/>
                </a:cxn>
                <a:cxn ang="0">
                  <a:pos x="T2" y="T3"/>
                </a:cxn>
              </a:cxnLst>
              <a:rect l="0" t="0" r="r" b="b"/>
              <a:pathLst>
                <a:path w="276" h="264">
                  <a:moveTo>
                    <a:pt x="276" y="264"/>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10" name="Freeform 42"/>
            <p:cNvSpPr>
              <a:spLocks/>
            </p:cNvSpPr>
            <p:nvPr/>
          </p:nvSpPr>
          <p:spPr bwMode="auto">
            <a:xfrm>
              <a:off x="4029" y="1578"/>
              <a:ext cx="366" cy="1"/>
            </a:xfrm>
            <a:custGeom>
              <a:avLst/>
              <a:gdLst>
                <a:gd name="T0" fmla="*/ 366 w 366"/>
                <a:gd name="T1" fmla="*/ 0 h 1"/>
                <a:gd name="T2" fmla="*/ 0 w 366"/>
                <a:gd name="T3" fmla="*/ 0 h 1"/>
              </a:gdLst>
              <a:ahLst/>
              <a:cxnLst>
                <a:cxn ang="0">
                  <a:pos x="T0" y="T1"/>
                </a:cxn>
                <a:cxn ang="0">
                  <a:pos x="T2" y="T3"/>
                </a:cxn>
              </a:cxnLst>
              <a:rect l="0" t="0" r="r" b="b"/>
              <a:pathLst>
                <a:path w="366" h="1">
                  <a:moveTo>
                    <a:pt x="366" y="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11" name="Freeform 43"/>
            <p:cNvSpPr>
              <a:spLocks/>
            </p:cNvSpPr>
            <p:nvPr/>
          </p:nvSpPr>
          <p:spPr bwMode="auto">
            <a:xfrm>
              <a:off x="4704" y="1575"/>
              <a:ext cx="396" cy="267"/>
            </a:xfrm>
            <a:custGeom>
              <a:avLst/>
              <a:gdLst>
                <a:gd name="T0" fmla="*/ 396 w 396"/>
                <a:gd name="T1" fmla="*/ 267 h 267"/>
                <a:gd name="T2" fmla="*/ 0 w 396"/>
                <a:gd name="T3" fmla="*/ 0 h 267"/>
              </a:gdLst>
              <a:ahLst/>
              <a:cxnLst>
                <a:cxn ang="0">
                  <a:pos x="T0" y="T1"/>
                </a:cxn>
                <a:cxn ang="0">
                  <a:pos x="T2" y="T3"/>
                </a:cxn>
              </a:cxnLst>
              <a:rect l="0" t="0" r="r" b="b"/>
              <a:pathLst>
                <a:path w="396" h="267">
                  <a:moveTo>
                    <a:pt x="396" y="267"/>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12" name="Freeform 44"/>
            <p:cNvSpPr>
              <a:spLocks/>
            </p:cNvSpPr>
            <p:nvPr/>
          </p:nvSpPr>
          <p:spPr bwMode="auto">
            <a:xfrm>
              <a:off x="3387" y="1146"/>
              <a:ext cx="1110" cy="645"/>
            </a:xfrm>
            <a:custGeom>
              <a:avLst/>
              <a:gdLst>
                <a:gd name="T0" fmla="*/ 1110 w 1110"/>
                <a:gd name="T1" fmla="*/ 342 h 645"/>
                <a:gd name="T2" fmla="*/ 0 w 1110"/>
                <a:gd name="T3" fmla="*/ 645 h 645"/>
              </a:gdLst>
              <a:ahLst/>
              <a:cxnLst>
                <a:cxn ang="0">
                  <a:pos x="T0" y="T1"/>
                </a:cxn>
                <a:cxn ang="0">
                  <a:pos x="T2" y="T3"/>
                </a:cxn>
              </a:cxnLst>
              <a:rect l="0" t="0" r="r" b="b"/>
              <a:pathLst>
                <a:path w="1110" h="645">
                  <a:moveTo>
                    <a:pt x="1110" y="342"/>
                  </a:moveTo>
                  <a:cubicBezTo>
                    <a:pt x="1104" y="0"/>
                    <a:pt x="21" y="63"/>
                    <a:pt x="0" y="645"/>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468013" name="Group 45"/>
            <p:cNvGrpSpPr>
              <a:grpSpLocks/>
            </p:cNvGrpSpPr>
            <p:nvPr/>
          </p:nvGrpSpPr>
          <p:grpSpPr bwMode="auto">
            <a:xfrm>
              <a:off x="3289" y="1748"/>
              <a:ext cx="201" cy="252"/>
              <a:chOff x="2956" y="2429"/>
              <a:chExt cx="204" cy="252"/>
            </a:xfrm>
          </p:grpSpPr>
          <p:sp>
            <p:nvSpPr>
              <p:cNvPr id="468014" name="Rectangle 46"/>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15" name="Text Box 47"/>
              <p:cNvSpPr txBox="1">
                <a:spLocks noChangeArrowheads="1"/>
              </p:cNvSpPr>
              <p:nvPr/>
            </p:nvSpPr>
            <p:spPr bwMode="auto">
              <a:xfrm>
                <a:off x="2956" y="2429"/>
                <a:ext cx="204"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t>u</a:t>
                </a:r>
                <a:endParaRPr lang="en-US" altLang="en-US" sz="2400">
                  <a:latin typeface="Times New Roman" panose="02020603050405020304" pitchFamily="18" charset="0"/>
                </a:endParaRPr>
              </a:p>
            </p:txBody>
          </p:sp>
        </p:grpSp>
        <p:grpSp>
          <p:nvGrpSpPr>
            <p:cNvPr id="468016" name="Group 48"/>
            <p:cNvGrpSpPr>
              <a:grpSpLocks/>
            </p:cNvGrpSpPr>
            <p:nvPr/>
          </p:nvGrpSpPr>
          <p:grpSpPr bwMode="auto">
            <a:xfrm>
              <a:off x="4463" y="2132"/>
              <a:ext cx="189" cy="252"/>
              <a:chOff x="2962" y="2429"/>
              <a:chExt cx="192" cy="252"/>
            </a:xfrm>
          </p:grpSpPr>
          <p:sp>
            <p:nvSpPr>
              <p:cNvPr id="468017" name="Rectangle 49"/>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18" name="Text Box 50"/>
              <p:cNvSpPr txBox="1">
                <a:spLocks noChangeArrowheads="1"/>
              </p:cNvSpPr>
              <p:nvPr/>
            </p:nvSpPr>
            <p:spPr bwMode="auto">
              <a:xfrm>
                <a:off x="2962" y="2429"/>
                <a:ext cx="19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t>y</a:t>
                </a:r>
                <a:endParaRPr lang="en-US" altLang="en-US" sz="2400">
                  <a:latin typeface="Times New Roman" panose="02020603050405020304" pitchFamily="18" charset="0"/>
                </a:endParaRPr>
              </a:p>
            </p:txBody>
          </p:sp>
        </p:grpSp>
        <p:grpSp>
          <p:nvGrpSpPr>
            <p:cNvPr id="468019" name="Group 51"/>
            <p:cNvGrpSpPr>
              <a:grpSpLocks/>
            </p:cNvGrpSpPr>
            <p:nvPr/>
          </p:nvGrpSpPr>
          <p:grpSpPr bwMode="auto">
            <a:xfrm>
              <a:off x="3776" y="2099"/>
              <a:ext cx="200" cy="291"/>
              <a:chOff x="2957" y="2399"/>
              <a:chExt cx="201" cy="291"/>
            </a:xfrm>
          </p:grpSpPr>
          <p:sp>
            <p:nvSpPr>
              <p:cNvPr id="468020" name="Rectangle 52"/>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21" name="Text Box 53"/>
              <p:cNvSpPr txBox="1">
                <a:spLocks noChangeArrowheads="1"/>
              </p:cNvSpPr>
              <p:nvPr/>
            </p:nvSpPr>
            <p:spPr bwMode="auto">
              <a:xfrm>
                <a:off x="2957" y="2399"/>
                <a:ext cx="20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a:t>x</a:t>
                </a:r>
              </a:p>
            </p:txBody>
          </p:sp>
        </p:grpSp>
        <p:grpSp>
          <p:nvGrpSpPr>
            <p:cNvPr id="468022" name="Group 54"/>
            <p:cNvGrpSpPr>
              <a:grpSpLocks/>
            </p:cNvGrpSpPr>
            <p:nvPr/>
          </p:nvGrpSpPr>
          <p:grpSpPr bwMode="auto">
            <a:xfrm>
              <a:off x="4439" y="1442"/>
              <a:ext cx="232" cy="252"/>
              <a:chOff x="2941" y="2429"/>
              <a:chExt cx="235" cy="252"/>
            </a:xfrm>
          </p:grpSpPr>
          <p:sp>
            <p:nvSpPr>
              <p:cNvPr id="468023" name="Rectangle 55"/>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24" name="Text Box 56"/>
              <p:cNvSpPr txBox="1">
                <a:spLocks noChangeArrowheads="1"/>
              </p:cNvSpPr>
              <p:nvPr/>
            </p:nvSpPr>
            <p:spPr bwMode="auto">
              <a:xfrm>
                <a:off x="2941" y="2429"/>
                <a:ext cx="235"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t>w</a:t>
                </a:r>
                <a:endParaRPr lang="en-US" altLang="en-US" sz="2400">
                  <a:latin typeface="Times New Roman" panose="02020603050405020304" pitchFamily="18" charset="0"/>
                </a:endParaRPr>
              </a:p>
            </p:txBody>
          </p:sp>
        </p:grpSp>
        <p:grpSp>
          <p:nvGrpSpPr>
            <p:cNvPr id="468025" name="Group 57"/>
            <p:cNvGrpSpPr>
              <a:grpSpLocks/>
            </p:cNvGrpSpPr>
            <p:nvPr/>
          </p:nvGrpSpPr>
          <p:grpSpPr bwMode="auto">
            <a:xfrm>
              <a:off x="3772" y="1442"/>
              <a:ext cx="194" cy="250"/>
              <a:chOff x="2959" y="2429"/>
              <a:chExt cx="197" cy="250"/>
            </a:xfrm>
          </p:grpSpPr>
          <p:sp>
            <p:nvSpPr>
              <p:cNvPr id="468026" name="Rectangle 58"/>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27" name="Text Box 59"/>
              <p:cNvSpPr txBox="1">
                <a:spLocks noChangeArrowheads="1"/>
              </p:cNvSpPr>
              <p:nvPr/>
            </p:nvSpPr>
            <p:spPr bwMode="auto">
              <a:xfrm>
                <a:off x="2959" y="2429"/>
                <a:ext cx="19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t>v</a:t>
                </a:r>
                <a:endParaRPr lang="en-US" altLang="en-US" sz="2400">
                  <a:latin typeface="Times New Roman" panose="02020603050405020304" pitchFamily="18" charset="0"/>
                </a:endParaRPr>
              </a:p>
            </p:txBody>
          </p:sp>
        </p:grpSp>
        <p:grpSp>
          <p:nvGrpSpPr>
            <p:cNvPr id="468028" name="Group 60"/>
            <p:cNvGrpSpPr>
              <a:grpSpLocks/>
            </p:cNvGrpSpPr>
            <p:nvPr/>
          </p:nvGrpSpPr>
          <p:grpSpPr bwMode="auto">
            <a:xfrm>
              <a:off x="5031" y="1760"/>
              <a:ext cx="193" cy="291"/>
              <a:chOff x="2959" y="2399"/>
              <a:chExt cx="195" cy="291"/>
            </a:xfrm>
          </p:grpSpPr>
          <p:sp>
            <p:nvSpPr>
              <p:cNvPr id="468029" name="Rectangle 61"/>
              <p:cNvSpPr>
                <a:spLocks noChangeArrowheads="1"/>
              </p:cNvSpPr>
              <p:nvPr/>
            </p:nvSpPr>
            <p:spPr bwMode="auto">
              <a:xfrm>
                <a:off x="2982" y="2490"/>
                <a:ext cx="144" cy="13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68030" name="Text Box 62"/>
              <p:cNvSpPr txBox="1">
                <a:spLocks noChangeArrowheads="1"/>
              </p:cNvSpPr>
              <p:nvPr/>
            </p:nvSpPr>
            <p:spPr bwMode="auto">
              <a:xfrm>
                <a:off x="2959" y="2399"/>
                <a:ext cx="19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a:t>z</a:t>
                </a:r>
              </a:p>
            </p:txBody>
          </p:sp>
        </p:grpSp>
        <p:sp>
          <p:nvSpPr>
            <p:cNvPr id="468031" name="Text Box 63"/>
            <p:cNvSpPr txBox="1">
              <a:spLocks noChangeArrowheads="1"/>
            </p:cNvSpPr>
            <p:nvPr/>
          </p:nvSpPr>
          <p:spPr bwMode="auto">
            <a:xfrm>
              <a:off x="3496" y="1571"/>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2</a:t>
              </a:r>
              <a:endParaRPr lang="en-US" altLang="en-US" sz="2400">
                <a:latin typeface="Times New Roman" panose="02020603050405020304" pitchFamily="18" charset="0"/>
              </a:endParaRPr>
            </a:p>
          </p:txBody>
        </p:sp>
        <p:sp>
          <p:nvSpPr>
            <p:cNvPr id="468032" name="Text Box 64"/>
            <p:cNvSpPr txBox="1">
              <a:spLocks noChangeArrowheads="1"/>
            </p:cNvSpPr>
            <p:nvPr/>
          </p:nvSpPr>
          <p:spPr bwMode="auto">
            <a:xfrm>
              <a:off x="3844" y="1790"/>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2</a:t>
              </a:r>
              <a:endParaRPr lang="en-US" altLang="en-US" sz="2400">
                <a:latin typeface="Times New Roman" panose="02020603050405020304" pitchFamily="18" charset="0"/>
              </a:endParaRPr>
            </a:p>
          </p:txBody>
        </p:sp>
        <p:sp>
          <p:nvSpPr>
            <p:cNvPr id="468033" name="Text Box 65"/>
            <p:cNvSpPr txBox="1">
              <a:spLocks noChangeArrowheads="1"/>
            </p:cNvSpPr>
            <p:nvPr/>
          </p:nvSpPr>
          <p:spPr bwMode="auto">
            <a:xfrm>
              <a:off x="3408" y="2003"/>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1</a:t>
              </a:r>
              <a:endParaRPr lang="en-US" altLang="en-US" sz="2400">
                <a:latin typeface="Times New Roman" panose="02020603050405020304" pitchFamily="18" charset="0"/>
              </a:endParaRPr>
            </a:p>
          </p:txBody>
        </p:sp>
        <p:sp>
          <p:nvSpPr>
            <p:cNvPr id="468034" name="Text Box 66"/>
            <p:cNvSpPr txBox="1">
              <a:spLocks noChangeArrowheads="1"/>
            </p:cNvSpPr>
            <p:nvPr/>
          </p:nvSpPr>
          <p:spPr bwMode="auto">
            <a:xfrm>
              <a:off x="4228" y="1883"/>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3</a:t>
              </a:r>
              <a:endParaRPr lang="en-US" altLang="en-US" sz="2400">
                <a:latin typeface="Times New Roman" panose="02020603050405020304" pitchFamily="18" charset="0"/>
              </a:endParaRPr>
            </a:p>
          </p:txBody>
        </p:sp>
        <p:sp>
          <p:nvSpPr>
            <p:cNvPr id="468035" name="Text Box 67"/>
            <p:cNvSpPr txBox="1">
              <a:spLocks noChangeArrowheads="1"/>
            </p:cNvSpPr>
            <p:nvPr/>
          </p:nvSpPr>
          <p:spPr bwMode="auto">
            <a:xfrm>
              <a:off x="4164" y="2237"/>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1</a:t>
              </a:r>
              <a:endParaRPr lang="en-US" altLang="en-US" sz="2400">
                <a:latin typeface="Times New Roman" panose="02020603050405020304" pitchFamily="18" charset="0"/>
              </a:endParaRPr>
            </a:p>
          </p:txBody>
        </p:sp>
        <p:sp>
          <p:nvSpPr>
            <p:cNvPr id="468036" name="Text Box 68"/>
            <p:cNvSpPr txBox="1">
              <a:spLocks noChangeArrowheads="1"/>
            </p:cNvSpPr>
            <p:nvPr/>
          </p:nvSpPr>
          <p:spPr bwMode="auto">
            <a:xfrm>
              <a:off x="4524" y="1808"/>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1</a:t>
              </a:r>
              <a:endParaRPr lang="en-US" altLang="en-US" sz="2400">
                <a:latin typeface="Times New Roman" panose="02020603050405020304" pitchFamily="18" charset="0"/>
              </a:endParaRPr>
            </a:p>
          </p:txBody>
        </p:sp>
        <p:sp>
          <p:nvSpPr>
            <p:cNvPr id="468037" name="Text Box 69"/>
            <p:cNvSpPr txBox="1">
              <a:spLocks noChangeArrowheads="1"/>
            </p:cNvSpPr>
            <p:nvPr/>
          </p:nvSpPr>
          <p:spPr bwMode="auto">
            <a:xfrm>
              <a:off x="4885" y="2072"/>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2</a:t>
              </a:r>
              <a:endParaRPr lang="en-US" altLang="en-US" sz="2400">
                <a:latin typeface="Times New Roman" panose="02020603050405020304" pitchFamily="18" charset="0"/>
              </a:endParaRPr>
            </a:p>
          </p:txBody>
        </p:sp>
        <p:sp>
          <p:nvSpPr>
            <p:cNvPr id="468038" name="Text Box 70"/>
            <p:cNvSpPr txBox="1">
              <a:spLocks noChangeArrowheads="1"/>
            </p:cNvSpPr>
            <p:nvPr/>
          </p:nvSpPr>
          <p:spPr bwMode="auto">
            <a:xfrm>
              <a:off x="4858" y="1535"/>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5</a:t>
              </a:r>
              <a:endParaRPr lang="en-US" altLang="en-US" sz="2400">
                <a:latin typeface="Times New Roman" panose="02020603050405020304" pitchFamily="18" charset="0"/>
              </a:endParaRPr>
            </a:p>
          </p:txBody>
        </p:sp>
        <p:sp>
          <p:nvSpPr>
            <p:cNvPr id="468039" name="Text Box 71"/>
            <p:cNvSpPr txBox="1">
              <a:spLocks noChangeArrowheads="1"/>
            </p:cNvSpPr>
            <p:nvPr/>
          </p:nvSpPr>
          <p:spPr bwMode="auto">
            <a:xfrm>
              <a:off x="4123" y="1385"/>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3</a:t>
              </a:r>
              <a:endParaRPr lang="en-US" altLang="en-US" sz="2400">
                <a:latin typeface="Times New Roman" panose="02020603050405020304" pitchFamily="18" charset="0"/>
              </a:endParaRPr>
            </a:p>
          </p:txBody>
        </p:sp>
        <p:sp>
          <p:nvSpPr>
            <p:cNvPr id="468040" name="Text Box 72"/>
            <p:cNvSpPr txBox="1">
              <a:spLocks noChangeArrowheads="1"/>
            </p:cNvSpPr>
            <p:nvPr/>
          </p:nvSpPr>
          <p:spPr bwMode="auto">
            <a:xfrm>
              <a:off x="3772" y="1118"/>
              <a:ext cx="19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t>5</a:t>
              </a:r>
              <a:endParaRPr lang="en-US" altLang="en-US" sz="2400">
                <a:latin typeface="Times New Roman" panose="02020603050405020304" pitchFamily="18" charset="0"/>
              </a:endParaRPr>
            </a:p>
          </p:txBody>
        </p:sp>
      </p:grpSp>
      <p:sp>
        <p:nvSpPr>
          <p:cNvPr id="468041" name="Text Box 73"/>
          <p:cNvSpPr txBox="1">
            <a:spLocks noChangeArrowheads="1"/>
          </p:cNvSpPr>
          <p:nvPr/>
        </p:nvSpPr>
        <p:spPr bwMode="auto">
          <a:xfrm>
            <a:off x="5178426" y="1776414"/>
            <a:ext cx="45325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Clearly, d</a:t>
            </a:r>
            <a:r>
              <a:rPr lang="en-US" altLang="en-US" sz="2400" baseline="-25000"/>
              <a:t>v</a:t>
            </a:r>
            <a:r>
              <a:rPr lang="en-US" altLang="en-US" sz="2400"/>
              <a:t>(z) = 5, d</a:t>
            </a:r>
            <a:r>
              <a:rPr lang="en-US" altLang="en-US" sz="2400" baseline="-25000"/>
              <a:t>x</a:t>
            </a:r>
            <a:r>
              <a:rPr lang="en-US" altLang="en-US" sz="2400"/>
              <a:t>(z) = 3, d</a:t>
            </a:r>
            <a:r>
              <a:rPr lang="en-US" altLang="en-US" sz="2400" baseline="-25000"/>
              <a:t>w</a:t>
            </a:r>
            <a:r>
              <a:rPr lang="en-US" altLang="en-US" sz="2400"/>
              <a:t>(z) = 3</a:t>
            </a:r>
          </a:p>
        </p:txBody>
      </p:sp>
      <p:sp>
        <p:nvSpPr>
          <p:cNvPr id="468042" name="Text Box 74"/>
          <p:cNvSpPr txBox="1">
            <a:spLocks noChangeArrowheads="1"/>
          </p:cNvSpPr>
          <p:nvPr/>
        </p:nvSpPr>
        <p:spPr bwMode="auto">
          <a:xfrm>
            <a:off x="5799139" y="2935288"/>
            <a:ext cx="34115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d</a:t>
            </a:r>
            <a:r>
              <a:rPr lang="en-US" altLang="en-US" sz="2400" baseline="-25000" dirty="0"/>
              <a:t>u</a:t>
            </a:r>
            <a:r>
              <a:rPr lang="en-US" altLang="en-US" sz="2400" dirty="0"/>
              <a:t>(z) = min { c(</a:t>
            </a:r>
            <a:r>
              <a:rPr lang="en-US" altLang="en-US" sz="2400" dirty="0" err="1"/>
              <a:t>u,v</a:t>
            </a:r>
            <a:r>
              <a:rPr lang="en-US" altLang="en-US" sz="2400" dirty="0"/>
              <a:t>) + d</a:t>
            </a:r>
            <a:r>
              <a:rPr lang="en-US" altLang="en-US" sz="2400" baseline="-25000" dirty="0"/>
              <a:t>v</a:t>
            </a:r>
            <a:r>
              <a:rPr lang="en-US" altLang="en-US" sz="2400" dirty="0"/>
              <a:t>(z),</a:t>
            </a:r>
          </a:p>
          <a:p>
            <a:r>
              <a:rPr lang="en-US" altLang="en-US" sz="2400" dirty="0"/>
              <a:t>                    c(</a:t>
            </a:r>
            <a:r>
              <a:rPr lang="en-US" altLang="en-US" sz="2400" dirty="0" err="1"/>
              <a:t>u,x</a:t>
            </a:r>
            <a:r>
              <a:rPr lang="en-US" altLang="en-US" sz="2400" dirty="0"/>
              <a:t>) + d</a:t>
            </a:r>
            <a:r>
              <a:rPr lang="en-US" altLang="en-US" sz="2400" baseline="-25000" dirty="0"/>
              <a:t>x</a:t>
            </a:r>
            <a:r>
              <a:rPr lang="en-US" altLang="en-US" sz="2400" dirty="0"/>
              <a:t>(z),</a:t>
            </a:r>
          </a:p>
          <a:p>
            <a:r>
              <a:rPr lang="en-US" altLang="en-US" sz="2400" dirty="0"/>
              <a:t>                    c(</a:t>
            </a:r>
            <a:r>
              <a:rPr lang="en-US" altLang="en-US" sz="2400" dirty="0" err="1"/>
              <a:t>u,w</a:t>
            </a:r>
            <a:r>
              <a:rPr lang="en-US" altLang="en-US" sz="2400" dirty="0"/>
              <a:t>) + </a:t>
            </a:r>
            <a:r>
              <a:rPr lang="en-US" altLang="en-US" sz="2400" dirty="0" err="1"/>
              <a:t>d</a:t>
            </a:r>
            <a:r>
              <a:rPr lang="en-US" altLang="en-US" sz="2400" baseline="-25000" dirty="0" err="1"/>
              <a:t>w</a:t>
            </a:r>
            <a:r>
              <a:rPr lang="en-US" altLang="en-US" sz="2400" dirty="0"/>
              <a:t>(z) }</a:t>
            </a:r>
          </a:p>
          <a:p>
            <a:r>
              <a:rPr lang="en-US" altLang="en-US" sz="2400" dirty="0"/>
              <a:t>         = min {2 + 5,</a:t>
            </a:r>
          </a:p>
          <a:p>
            <a:r>
              <a:rPr lang="en-US" altLang="en-US" sz="2400" dirty="0"/>
              <a:t>                    1 + 3,</a:t>
            </a:r>
          </a:p>
          <a:p>
            <a:r>
              <a:rPr lang="en-US" altLang="en-US" sz="2400" dirty="0"/>
              <a:t>                    5 + 3}  = 4</a:t>
            </a:r>
          </a:p>
        </p:txBody>
      </p:sp>
      <p:sp>
        <p:nvSpPr>
          <p:cNvPr id="468043" name="Text Box 75"/>
          <p:cNvSpPr txBox="1">
            <a:spLocks noChangeArrowheads="1"/>
          </p:cNvSpPr>
          <p:nvPr/>
        </p:nvSpPr>
        <p:spPr bwMode="auto">
          <a:xfrm>
            <a:off x="1985964" y="5332414"/>
            <a:ext cx="53011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FF0000"/>
                </a:solidFill>
              </a:rPr>
              <a:t>Node that achieves minimum is next</a:t>
            </a:r>
          </a:p>
          <a:p>
            <a:r>
              <a:rPr lang="en-US" altLang="en-US" sz="2400">
                <a:solidFill>
                  <a:srgbClr val="FF0000"/>
                </a:solidFill>
              </a:rPr>
              <a:t>hop in shortest path </a:t>
            </a:r>
            <a:r>
              <a:rPr lang="en-US" altLang="en-US" sz="2400">
                <a:solidFill>
                  <a:srgbClr val="FF0000"/>
                </a:solidFill>
                <a:latin typeface="MS Mincho" pitchFamily="49" charset="-128"/>
                <a:ea typeface="MS Mincho" pitchFamily="49" charset="-128"/>
              </a:rPr>
              <a:t>➜ </a:t>
            </a:r>
            <a:r>
              <a:rPr lang="en-US" altLang="en-US" sz="2400">
                <a:solidFill>
                  <a:srgbClr val="FF0000"/>
                </a:solidFill>
              </a:rPr>
              <a:t>forwarding table</a:t>
            </a:r>
          </a:p>
        </p:txBody>
      </p:sp>
      <p:sp>
        <p:nvSpPr>
          <p:cNvPr id="468044" name="Text Box 76"/>
          <p:cNvSpPr txBox="1">
            <a:spLocks noChangeArrowheads="1"/>
          </p:cNvSpPr>
          <p:nvPr/>
        </p:nvSpPr>
        <p:spPr bwMode="auto">
          <a:xfrm>
            <a:off x="5386388" y="2473326"/>
            <a:ext cx="24446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B-F equation says:</a:t>
            </a:r>
          </a:p>
        </p:txBody>
      </p:sp>
    </p:spTree>
    <p:extLst>
      <p:ext uri="{BB962C8B-B14F-4D97-AF65-F5344CB8AC3E}">
        <p14:creationId xmlns:p14="http://schemas.microsoft.com/office/powerpoint/2010/main" val="16666184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Network Layer</a:t>
            </a:r>
            <a:endParaRPr lang="en-US" altLang="en-US">
              <a:latin typeface="Times New Roman" panose="02020603050405020304" pitchFamily="18" charset="0"/>
            </a:endParaRPr>
          </a:p>
        </p:txBody>
      </p:sp>
      <p:sp>
        <p:nvSpPr>
          <p:cNvPr id="5" name="Slide Number Placeholder 5"/>
          <p:cNvSpPr>
            <a:spLocks noGrp="1"/>
          </p:cNvSpPr>
          <p:nvPr>
            <p:ph type="sldNum" sz="quarter" idx="12"/>
          </p:nvPr>
        </p:nvSpPr>
        <p:spPr/>
        <p:txBody>
          <a:bodyPr/>
          <a:lstStyle/>
          <a:p>
            <a:r>
              <a:rPr lang="en-US" altLang="en-US"/>
              <a:t>4-</a:t>
            </a:r>
            <a:fld id="{812BE232-6DCF-4EC0-BA85-2B80E1DDE65B}" type="slidenum">
              <a:rPr lang="en-US" altLang="en-US"/>
              <a:pPr/>
              <a:t>7</a:t>
            </a:fld>
            <a:endParaRPr lang="en-US" altLang="en-US"/>
          </a:p>
        </p:txBody>
      </p:sp>
      <p:sp>
        <p:nvSpPr>
          <p:cNvPr id="468994" name="Rectangle 2"/>
          <p:cNvSpPr>
            <a:spLocks noGrp="1" noChangeArrowheads="1"/>
          </p:cNvSpPr>
          <p:nvPr>
            <p:ph type="title"/>
          </p:nvPr>
        </p:nvSpPr>
        <p:spPr/>
        <p:txBody>
          <a:bodyPr/>
          <a:lstStyle/>
          <a:p>
            <a:r>
              <a:rPr lang="en-US" altLang="en-US" dirty="0"/>
              <a:t>Distance Vector </a:t>
            </a:r>
            <a:r>
              <a:rPr lang="en-US" altLang="en-US" dirty="0" smtClean="0"/>
              <a:t>Algorithm</a:t>
            </a:r>
            <a:endParaRPr lang="en-US" altLang="en-US" dirty="0"/>
          </a:p>
        </p:txBody>
      </p:sp>
      <p:sp>
        <p:nvSpPr>
          <p:cNvPr id="468995" name="Rectangle 3"/>
          <p:cNvSpPr>
            <a:spLocks noGrp="1" noChangeArrowheads="1"/>
          </p:cNvSpPr>
          <p:nvPr>
            <p:ph type="body" idx="1"/>
          </p:nvPr>
        </p:nvSpPr>
        <p:spPr/>
        <p:txBody>
          <a:bodyPr/>
          <a:lstStyle/>
          <a:p>
            <a:r>
              <a:rPr lang="en-US" altLang="en-US" dirty="0" err="1">
                <a:solidFill>
                  <a:srgbClr val="FF0000"/>
                </a:solidFill>
              </a:rPr>
              <a:t>D</a:t>
            </a:r>
            <a:r>
              <a:rPr lang="en-US" altLang="en-US" baseline="-25000" dirty="0" err="1">
                <a:solidFill>
                  <a:srgbClr val="FF0000"/>
                </a:solidFill>
              </a:rPr>
              <a:t>x</a:t>
            </a:r>
            <a:r>
              <a:rPr lang="en-US" altLang="en-US" dirty="0">
                <a:solidFill>
                  <a:srgbClr val="FF0000"/>
                </a:solidFill>
              </a:rPr>
              <a:t>(y)</a:t>
            </a:r>
            <a:r>
              <a:rPr lang="en-US" altLang="en-US" dirty="0"/>
              <a:t> = estimate of least cost from x to y</a:t>
            </a:r>
          </a:p>
          <a:p>
            <a:r>
              <a:rPr lang="en-US" altLang="en-US" dirty="0"/>
              <a:t>Distance vector: </a:t>
            </a:r>
            <a:r>
              <a:rPr lang="en-US" altLang="en-US" b="1" dirty="0" err="1">
                <a:solidFill>
                  <a:srgbClr val="FF0000"/>
                </a:solidFill>
              </a:rPr>
              <a:t>D</a:t>
            </a:r>
            <a:r>
              <a:rPr lang="en-US" altLang="en-US" baseline="-25000" dirty="0" err="1">
                <a:solidFill>
                  <a:srgbClr val="FF0000"/>
                </a:solidFill>
              </a:rPr>
              <a:t>x</a:t>
            </a:r>
            <a:r>
              <a:rPr lang="en-US" altLang="en-US" dirty="0">
                <a:solidFill>
                  <a:srgbClr val="FF0000"/>
                </a:solidFill>
              </a:rPr>
              <a:t> = [</a:t>
            </a:r>
            <a:r>
              <a:rPr lang="en-US" altLang="en-US" dirty="0" err="1">
                <a:solidFill>
                  <a:srgbClr val="FF0000"/>
                </a:solidFill>
              </a:rPr>
              <a:t>D</a:t>
            </a:r>
            <a:r>
              <a:rPr lang="en-US" altLang="en-US" baseline="-25000" dirty="0" err="1">
                <a:solidFill>
                  <a:srgbClr val="FF0000"/>
                </a:solidFill>
              </a:rPr>
              <a:t>x</a:t>
            </a:r>
            <a:r>
              <a:rPr lang="en-US" altLang="en-US" dirty="0">
                <a:solidFill>
                  <a:srgbClr val="FF0000"/>
                </a:solidFill>
              </a:rPr>
              <a:t>(y): y </a:t>
            </a:r>
            <a:r>
              <a:rPr lang="ru-RU" altLang="en-US" dirty="0">
                <a:solidFill>
                  <a:srgbClr val="FF0000"/>
                </a:solidFill>
              </a:rPr>
              <a:t>є</a:t>
            </a:r>
            <a:r>
              <a:rPr lang="en-US" altLang="en-US" dirty="0">
                <a:solidFill>
                  <a:srgbClr val="FF0000"/>
                </a:solidFill>
              </a:rPr>
              <a:t> N ]</a:t>
            </a:r>
            <a:endParaRPr lang="ru-RU" altLang="en-US" dirty="0">
              <a:solidFill>
                <a:srgbClr val="FF0000"/>
              </a:solidFill>
            </a:endParaRPr>
          </a:p>
          <a:p>
            <a:r>
              <a:rPr lang="en-US" altLang="en-US" dirty="0"/>
              <a:t>Node x knows cost to each neighbor v: </a:t>
            </a:r>
            <a:r>
              <a:rPr lang="en-US" altLang="en-US" dirty="0">
                <a:solidFill>
                  <a:srgbClr val="FF0000"/>
                </a:solidFill>
              </a:rPr>
              <a:t>c(</a:t>
            </a:r>
            <a:r>
              <a:rPr lang="en-US" altLang="en-US" dirty="0" err="1">
                <a:solidFill>
                  <a:srgbClr val="FF0000"/>
                </a:solidFill>
              </a:rPr>
              <a:t>x,v</a:t>
            </a:r>
            <a:r>
              <a:rPr lang="en-US" altLang="en-US" dirty="0">
                <a:solidFill>
                  <a:srgbClr val="FF0000"/>
                </a:solidFill>
              </a:rPr>
              <a:t>)</a:t>
            </a:r>
          </a:p>
          <a:p>
            <a:r>
              <a:rPr lang="en-US" altLang="en-US" dirty="0"/>
              <a:t>Node x maintains </a:t>
            </a:r>
            <a:r>
              <a:rPr lang="en-US" altLang="en-US" b="1" dirty="0" err="1">
                <a:solidFill>
                  <a:srgbClr val="FF0000"/>
                </a:solidFill>
              </a:rPr>
              <a:t>D</a:t>
            </a:r>
            <a:r>
              <a:rPr lang="en-US" altLang="en-US" baseline="-25000" dirty="0" err="1">
                <a:solidFill>
                  <a:srgbClr val="FF0000"/>
                </a:solidFill>
              </a:rPr>
              <a:t>x</a:t>
            </a:r>
            <a:r>
              <a:rPr lang="en-US" altLang="en-US" dirty="0">
                <a:solidFill>
                  <a:srgbClr val="FF0000"/>
                </a:solidFill>
              </a:rPr>
              <a:t> = [</a:t>
            </a:r>
            <a:r>
              <a:rPr lang="en-US" altLang="en-US" dirty="0" err="1">
                <a:solidFill>
                  <a:srgbClr val="FF0000"/>
                </a:solidFill>
              </a:rPr>
              <a:t>D</a:t>
            </a:r>
            <a:r>
              <a:rPr lang="en-US" altLang="en-US" baseline="-25000" dirty="0" err="1">
                <a:solidFill>
                  <a:srgbClr val="FF0000"/>
                </a:solidFill>
              </a:rPr>
              <a:t>x</a:t>
            </a:r>
            <a:r>
              <a:rPr lang="en-US" altLang="en-US" dirty="0">
                <a:solidFill>
                  <a:srgbClr val="FF0000"/>
                </a:solidFill>
              </a:rPr>
              <a:t>(y): y </a:t>
            </a:r>
            <a:r>
              <a:rPr lang="ru-RU" altLang="en-US" dirty="0">
                <a:solidFill>
                  <a:srgbClr val="FF0000"/>
                </a:solidFill>
              </a:rPr>
              <a:t>є</a:t>
            </a:r>
            <a:r>
              <a:rPr lang="en-US" altLang="en-US" dirty="0">
                <a:solidFill>
                  <a:srgbClr val="FF0000"/>
                </a:solidFill>
              </a:rPr>
              <a:t> N ]</a:t>
            </a:r>
          </a:p>
          <a:p>
            <a:r>
              <a:rPr lang="en-US" altLang="en-US" dirty="0"/>
              <a:t>Node x also maintains its neighbors’ distance vectors</a:t>
            </a:r>
          </a:p>
          <a:p>
            <a:pPr lvl="1"/>
            <a:r>
              <a:rPr lang="en-US" altLang="en-US" dirty="0"/>
              <a:t>For each neighbor v, x maintains </a:t>
            </a:r>
            <a:br>
              <a:rPr lang="en-US" altLang="en-US" dirty="0"/>
            </a:br>
            <a:r>
              <a:rPr lang="en-US" altLang="en-US" b="1" dirty="0" err="1">
                <a:solidFill>
                  <a:srgbClr val="FF0000"/>
                </a:solidFill>
              </a:rPr>
              <a:t>D</a:t>
            </a:r>
            <a:r>
              <a:rPr lang="en-US" altLang="en-US" baseline="-25000" dirty="0" err="1">
                <a:solidFill>
                  <a:srgbClr val="FF0000"/>
                </a:solidFill>
              </a:rPr>
              <a:t>v</a:t>
            </a:r>
            <a:r>
              <a:rPr lang="en-US" altLang="en-US" dirty="0">
                <a:solidFill>
                  <a:srgbClr val="FF0000"/>
                </a:solidFill>
              </a:rPr>
              <a:t> = [</a:t>
            </a:r>
            <a:r>
              <a:rPr lang="en-US" altLang="en-US" dirty="0" err="1">
                <a:solidFill>
                  <a:srgbClr val="FF0000"/>
                </a:solidFill>
              </a:rPr>
              <a:t>D</a:t>
            </a:r>
            <a:r>
              <a:rPr lang="en-US" altLang="en-US" baseline="-25000" dirty="0" err="1">
                <a:solidFill>
                  <a:srgbClr val="FF0000"/>
                </a:solidFill>
              </a:rPr>
              <a:t>v</a:t>
            </a:r>
            <a:r>
              <a:rPr lang="en-US" altLang="en-US" dirty="0">
                <a:solidFill>
                  <a:srgbClr val="FF0000"/>
                </a:solidFill>
              </a:rPr>
              <a:t>(y): y </a:t>
            </a:r>
            <a:r>
              <a:rPr lang="ru-RU" altLang="en-US" dirty="0">
                <a:solidFill>
                  <a:srgbClr val="FF0000"/>
                </a:solidFill>
              </a:rPr>
              <a:t>є</a:t>
            </a:r>
            <a:r>
              <a:rPr lang="en-US" altLang="en-US" dirty="0">
                <a:solidFill>
                  <a:srgbClr val="FF0000"/>
                </a:solidFill>
              </a:rPr>
              <a:t> N ]</a:t>
            </a:r>
            <a:endParaRPr lang="en-US" altLang="en-US" dirty="0"/>
          </a:p>
          <a:p>
            <a:pPr>
              <a:buFont typeface="ZapfDingbats" pitchFamily="82" charset="2"/>
              <a:buNone/>
            </a:pPr>
            <a:endParaRPr lang="en-US" altLang="en-US" dirty="0">
              <a:solidFill>
                <a:srgbClr val="FF0000"/>
              </a:solidFill>
            </a:endParaRPr>
          </a:p>
          <a:p>
            <a:endParaRPr lang="en-US" altLang="en-US" dirty="0"/>
          </a:p>
        </p:txBody>
      </p:sp>
    </p:spTree>
    <p:extLst>
      <p:ext uri="{BB962C8B-B14F-4D97-AF65-F5344CB8AC3E}">
        <p14:creationId xmlns:p14="http://schemas.microsoft.com/office/powerpoint/2010/main" val="28609777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ltLang="en-US"/>
              <a:t>Network Layer</a:t>
            </a:r>
            <a:endParaRPr lang="en-US" altLang="en-US">
              <a:latin typeface="Times New Roman" panose="02020603050405020304" pitchFamily="18" charset="0"/>
            </a:endParaRPr>
          </a:p>
        </p:txBody>
      </p:sp>
      <p:sp>
        <p:nvSpPr>
          <p:cNvPr id="7" name="Slide Number Placeholder 5"/>
          <p:cNvSpPr>
            <a:spLocks noGrp="1"/>
          </p:cNvSpPr>
          <p:nvPr>
            <p:ph type="sldNum" sz="quarter" idx="12"/>
          </p:nvPr>
        </p:nvSpPr>
        <p:spPr/>
        <p:txBody>
          <a:bodyPr/>
          <a:lstStyle/>
          <a:p>
            <a:r>
              <a:rPr lang="en-US" altLang="en-US"/>
              <a:t>4-</a:t>
            </a:r>
            <a:fld id="{B216D3F1-AB63-4E2E-A6A0-B6E1B67473AB}" type="slidenum">
              <a:rPr lang="en-US" altLang="en-US"/>
              <a:pPr/>
              <a:t>8</a:t>
            </a:fld>
            <a:endParaRPr lang="en-US" altLang="en-US"/>
          </a:p>
        </p:txBody>
      </p:sp>
      <p:sp>
        <p:nvSpPr>
          <p:cNvPr id="470018" name="Rectangle 2"/>
          <p:cNvSpPr>
            <a:spLocks noGrp="1" noChangeArrowheads="1"/>
          </p:cNvSpPr>
          <p:nvPr>
            <p:ph type="title"/>
          </p:nvPr>
        </p:nvSpPr>
        <p:spPr>
          <a:xfrm>
            <a:off x="405063" y="138434"/>
            <a:ext cx="10515600" cy="1325563"/>
          </a:xfrm>
        </p:spPr>
        <p:txBody>
          <a:bodyPr/>
          <a:lstStyle/>
          <a:p>
            <a:r>
              <a:rPr lang="en-US" altLang="en-US" b="1" dirty="0"/>
              <a:t>Distance vector </a:t>
            </a:r>
            <a:r>
              <a:rPr lang="en-US" altLang="en-US" b="1" dirty="0" smtClean="0"/>
              <a:t>algorithm</a:t>
            </a:r>
            <a:endParaRPr lang="en-US" altLang="en-US" b="1" dirty="0"/>
          </a:p>
        </p:txBody>
      </p:sp>
      <p:sp>
        <p:nvSpPr>
          <p:cNvPr id="470019" name="Rectangle 3"/>
          <p:cNvSpPr>
            <a:spLocks noGrp="1" noChangeArrowheads="1"/>
          </p:cNvSpPr>
          <p:nvPr>
            <p:ph type="body" idx="1"/>
          </p:nvPr>
        </p:nvSpPr>
        <p:spPr>
          <a:xfrm>
            <a:off x="405063" y="1275707"/>
            <a:ext cx="11506199" cy="2414588"/>
          </a:xfrm>
        </p:spPr>
        <p:txBody>
          <a:bodyPr>
            <a:normAutofit/>
          </a:bodyPr>
          <a:lstStyle/>
          <a:p>
            <a:pPr>
              <a:lnSpc>
                <a:spcPct val="90000"/>
              </a:lnSpc>
              <a:buFont typeface="ZapfDingbats" pitchFamily="82" charset="2"/>
              <a:buNone/>
            </a:pPr>
            <a:r>
              <a:rPr lang="en-US" altLang="en-US" u="sng" dirty="0">
                <a:solidFill>
                  <a:srgbClr val="FF0000"/>
                </a:solidFill>
              </a:rPr>
              <a:t>Basic idea:</a:t>
            </a:r>
            <a:r>
              <a:rPr lang="en-US" altLang="en-US" dirty="0"/>
              <a:t> </a:t>
            </a:r>
          </a:p>
          <a:p>
            <a:pPr>
              <a:lnSpc>
                <a:spcPct val="90000"/>
              </a:lnSpc>
            </a:pPr>
            <a:r>
              <a:rPr lang="en-US" altLang="en-US" dirty="0"/>
              <a:t>Each node periodically sends its own distance vector estimate to neighbors</a:t>
            </a:r>
          </a:p>
          <a:p>
            <a:pPr>
              <a:lnSpc>
                <a:spcPct val="90000"/>
              </a:lnSpc>
            </a:pPr>
            <a:r>
              <a:rPr lang="en-US" altLang="en-US" dirty="0"/>
              <a:t>When node a node x receives new DV estimate from neighbor, it updates its own DV using B-F equation:</a:t>
            </a:r>
          </a:p>
        </p:txBody>
      </p:sp>
      <p:sp>
        <p:nvSpPr>
          <p:cNvPr id="470020" name="Rectangle 4"/>
          <p:cNvSpPr>
            <a:spLocks noChangeArrowheads="1"/>
          </p:cNvSpPr>
          <p:nvPr/>
        </p:nvSpPr>
        <p:spPr bwMode="auto">
          <a:xfrm>
            <a:off x="2281238" y="3906194"/>
            <a:ext cx="65357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2400" i="1">
                <a:solidFill>
                  <a:srgbClr val="FF0000"/>
                </a:solidFill>
                <a:latin typeface="Times" panose="02020603050405020304" pitchFamily="18" charset="0"/>
                <a:cs typeface="Times New Roman" panose="02020603050405020304" pitchFamily="18" charset="0"/>
              </a:rPr>
              <a:t>D</a:t>
            </a:r>
            <a:r>
              <a:rPr lang="en-US" altLang="en-US" sz="2400" i="1" baseline="-30000">
                <a:solidFill>
                  <a:srgbClr val="FF0000"/>
                </a:solidFill>
                <a:latin typeface="Times" panose="02020603050405020304" pitchFamily="18" charset="0"/>
                <a:cs typeface="Times New Roman" panose="02020603050405020304" pitchFamily="18" charset="0"/>
              </a:rPr>
              <a:t>x</a:t>
            </a:r>
            <a:r>
              <a:rPr lang="en-US" altLang="en-US" sz="2400" i="1">
                <a:solidFill>
                  <a:srgbClr val="FF0000"/>
                </a:solidFill>
                <a:latin typeface="Times" panose="02020603050405020304" pitchFamily="18" charset="0"/>
                <a:cs typeface="Times New Roman" panose="02020603050405020304" pitchFamily="18" charset="0"/>
              </a:rPr>
              <a:t>(y) </a:t>
            </a:r>
            <a:r>
              <a:rPr lang="en-US" altLang="en-US" sz="2400" i="1">
                <a:solidFill>
                  <a:srgbClr val="FF0000"/>
                </a:solidFill>
                <a:latin typeface="Times" panose="02020603050405020304" pitchFamily="18" charset="0"/>
                <a:ea typeface="Times New Roman" panose="02020603050405020304" pitchFamily="18" charset="0"/>
                <a:cs typeface="Times" panose="02020603050405020304" pitchFamily="18" charset="0"/>
              </a:rPr>
              <a:t>←</a:t>
            </a:r>
            <a:r>
              <a:rPr lang="en-US" altLang="en-US" sz="2400" i="1">
                <a:solidFill>
                  <a:srgbClr val="FF0000"/>
                </a:solidFill>
                <a:latin typeface="Times" panose="02020603050405020304" pitchFamily="18" charset="0"/>
                <a:cs typeface="Times New Roman" panose="02020603050405020304" pitchFamily="18" charset="0"/>
              </a:rPr>
              <a:t> min</a:t>
            </a:r>
            <a:r>
              <a:rPr lang="en-US" altLang="en-US" sz="2400" i="1" baseline="-30000">
                <a:solidFill>
                  <a:srgbClr val="FF0000"/>
                </a:solidFill>
                <a:latin typeface="Times" panose="02020603050405020304" pitchFamily="18" charset="0"/>
                <a:cs typeface="Times New Roman" panose="02020603050405020304" pitchFamily="18" charset="0"/>
              </a:rPr>
              <a:t>v</a:t>
            </a:r>
            <a:r>
              <a:rPr lang="en-US" altLang="en-US" sz="2400" i="1">
                <a:solidFill>
                  <a:srgbClr val="FF0000"/>
                </a:solidFill>
                <a:latin typeface="Times" panose="02020603050405020304" pitchFamily="18" charset="0"/>
                <a:cs typeface="Times New Roman" panose="02020603050405020304" pitchFamily="18" charset="0"/>
              </a:rPr>
              <a:t>{c(x,v) + D</a:t>
            </a:r>
            <a:r>
              <a:rPr lang="en-US" altLang="en-US" sz="2400" i="1" baseline="-30000">
                <a:solidFill>
                  <a:srgbClr val="FF0000"/>
                </a:solidFill>
                <a:latin typeface="Times" panose="02020603050405020304" pitchFamily="18" charset="0"/>
                <a:cs typeface="Times New Roman" panose="02020603050405020304" pitchFamily="18" charset="0"/>
              </a:rPr>
              <a:t>v</a:t>
            </a:r>
            <a:r>
              <a:rPr lang="en-US" altLang="en-US" sz="2400" i="1">
                <a:solidFill>
                  <a:srgbClr val="FF0000"/>
                </a:solidFill>
                <a:latin typeface="Times" panose="02020603050405020304" pitchFamily="18" charset="0"/>
                <a:cs typeface="Times New Roman" panose="02020603050405020304" pitchFamily="18" charset="0"/>
              </a:rPr>
              <a:t>(y)}    for each node y </a:t>
            </a:r>
            <a:r>
              <a:rPr lang="en-US" altLang="en-US" sz="2400" i="1">
                <a:solidFill>
                  <a:srgbClr val="FF0000"/>
                </a:solidFill>
                <a:latin typeface="MS Mincho" pitchFamily="49" charset="-128"/>
                <a:ea typeface="MS Mincho" pitchFamily="49" charset="-128"/>
              </a:rPr>
              <a:t>∊</a:t>
            </a:r>
            <a:r>
              <a:rPr lang="en-US" altLang="en-US" sz="2400" i="1">
                <a:solidFill>
                  <a:srgbClr val="FF0000"/>
                </a:solidFill>
                <a:latin typeface="Times" panose="02020603050405020304" pitchFamily="18" charset="0"/>
                <a:cs typeface="Times New Roman" panose="02020603050405020304" pitchFamily="18" charset="0"/>
              </a:rPr>
              <a:t> N</a:t>
            </a:r>
          </a:p>
        </p:txBody>
      </p:sp>
      <p:sp>
        <p:nvSpPr>
          <p:cNvPr id="470021" name="Rectangle 5"/>
          <p:cNvSpPr>
            <a:spLocks noChangeArrowheads="1"/>
          </p:cNvSpPr>
          <p:nvPr/>
        </p:nvSpPr>
        <p:spPr bwMode="auto">
          <a:xfrm>
            <a:off x="1909763" y="4640264"/>
            <a:ext cx="7772400"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pPr>
            <a:r>
              <a:rPr lang="en-US" altLang="en-US" sz="2400"/>
              <a:t>Under minor, natural conditions, the estimate </a:t>
            </a:r>
            <a:r>
              <a:rPr lang="en-US" altLang="en-US" sz="2400" i="1">
                <a:latin typeface="Times" panose="02020603050405020304" pitchFamily="18" charset="0"/>
                <a:cs typeface="Times New Roman" panose="02020603050405020304" pitchFamily="18" charset="0"/>
              </a:rPr>
              <a:t>D</a:t>
            </a:r>
            <a:r>
              <a:rPr lang="en-US" altLang="en-US" sz="2400" i="1" baseline="-30000">
                <a:latin typeface="Times" panose="02020603050405020304" pitchFamily="18" charset="0"/>
                <a:cs typeface="Times New Roman" panose="02020603050405020304" pitchFamily="18" charset="0"/>
              </a:rPr>
              <a:t>x</a:t>
            </a:r>
            <a:r>
              <a:rPr lang="en-US" altLang="en-US" sz="2400" i="1">
                <a:latin typeface="Times" panose="02020603050405020304" pitchFamily="18" charset="0"/>
                <a:cs typeface="Times New Roman" panose="02020603050405020304" pitchFamily="18" charset="0"/>
              </a:rPr>
              <a:t>(y) converge the actual least cost </a:t>
            </a:r>
            <a:r>
              <a:rPr lang="en-US" altLang="en-US" sz="2400"/>
              <a:t>d</a:t>
            </a:r>
            <a:r>
              <a:rPr lang="en-US" altLang="en-US" sz="2400" baseline="-25000"/>
              <a:t>x</a:t>
            </a:r>
            <a:r>
              <a:rPr lang="en-US" altLang="en-US" sz="2400"/>
              <a:t>(y) </a:t>
            </a:r>
          </a:p>
        </p:txBody>
      </p:sp>
    </p:spTree>
    <p:extLst>
      <p:ext uri="{BB962C8B-B14F-4D97-AF65-F5344CB8AC3E}">
        <p14:creationId xmlns:p14="http://schemas.microsoft.com/office/powerpoint/2010/main" val="24194425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3144" y="473914"/>
            <a:ext cx="5150485" cy="689932"/>
          </a:xfrm>
          <a:prstGeom prst="rect">
            <a:avLst/>
          </a:prstGeom>
        </p:spPr>
        <p:txBody>
          <a:bodyPr vert="horz" wrap="square" lIns="0" tIns="12700" rIns="0" bIns="0" rtlCol="0" anchor="ctr">
            <a:spAutoFit/>
          </a:bodyPr>
          <a:lstStyle/>
          <a:p>
            <a:pPr marL="12700">
              <a:lnSpc>
                <a:spcPct val="100000"/>
              </a:lnSpc>
              <a:spcBef>
                <a:spcPts val="100"/>
              </a:spcBef>
              <a:tabLst>
                <a:tab pos="2808605" algn="l"/>
              </a:tabLst>
            </a:pPr>
            <a:r>
              <a:rPr b="1" spc="-5" dirty="0"/>
              <a:t>Overview</a:t>
            </a:r>
          </a:p>
        </p:txBody>
      </p:sp>
      <p:sp>
        <p:nvSpPr>
          <p:cNvPr id="6" name="object 6"/>
          <p:cNvSpPr txBox="1">
            <a:spLocks noGrp="1"/>
          </p:cNvSpPr>
          <p:nvPr>
            <p:ph type="sldNum" sz="quarter" idx="12"/>
          </p:nvPr>
        </p:nvSpPr>
        <p:spPr>
          <a:xfrm>
            <a:off x="10134600" y="6429908"/>
            <a:ext cx="2743200" cy="218008"/>
          </a:xfrm>
          <a:prstGeom prst="rect">
            <a:avLst/>
          </a:prstGeom>
        </p:spPr>
        <p:txBody>
          <a:bodyPr vert="horz" wrap="square" lIns="0" tIns="0" rIns="0" bIns="0" rtlCol="0" anchor="ctr">
            <a:spAutoFit/>
          </a:bodyPr>
          <a:lstStyle/>
          <a:p>
            <a:pPr marL="25400">
              <a:lnSpc>
                <a:spcPts val="1650"/>
              </a:lnSpc>
            </a:pPr>
            <a:fld id="{81D60167-4931-47E6-BA6A-407CBD079E47}" type="slidenum">
              <a:rPr dirty="0"/>
              <a:pPr marL="25400">
                <a:lnSpc>
                  <a:spcPts val="1650"/>
                </a:lnSpc>
              </a:pPr>
              <a:t>9</a:t>
            </a:fld>
            <a:endParaRPr dirty="0"/>
          </a:p>
        </p:txBody>
      </p:sp>
      <p:sp>
        <p:nvSpPr>
          <p:cNvPr id="4" name="object 4"/>
          <p:cNvSpPr txBox="1"/>
          <p:nvPr/>
        </p:nvSpPr>
        <p:spPr>
          <a:xfrm>
            <a:off x="576681" y="1353985"/>
            <a:ext cx="10929519" cy="3973267"/>
          </a:xfrm>
          <a:prstGeom prst="rect">
            <a:avLst/>
          </a:prstGeom>
        </p:spPr>
        <p:txBody>
          <a:bodyPr vert="horz" wrap="square" lIns="0" tIns="76835" rIns="0" bIns="0" rtlCol="0">
            <a:spAutoFit/>
          </a:bodyPr>
          <a:lstStyle/>
          <a:p>
            <a:pPr marL="355600" indent="-342900" algn="just">
              <a:spcBef>
                <a:spcPts val="605"/>
              </a:spcBef>
              <a:buClr>
                <a:srgbClr val="333399"/>
              </a:buClr>
              <a:buSzPct val="50000"/>
              <a:buChar char=""/>
              <a:tabLst>
                <a:tab pos="354965" algn="l"/>
                <a:tab pos="355600" algn="l"/>
              </a:tabLst>
            </a:pPr>
            <a:r>
              <a:rPr sz="2400" spc="-5" dirty="0">
                <a:solidFill>
                  <a:srgbClr val="232323"/>
                </a:solidFill>
                <a:latin typeface="Arial"/>
                <a:cs typeface="Arial"/>
              </a:rPr>
              <a:t>Distance vector</a:t>
            </a:r>
            <a:endParaRPr sz="2400" dirty="0">
              <a:latin typeface="Arial"/>
              <a:cs typeface="Arial"/>
            </a:endParaRPr>
          </a:p>
          <a:p>
            <a:pPr marL="748665" marR="5080" lvl="1" indent="-279400" algn="just">
              <a:lnSpc>
                <a:spcPct val="100800"/>
              </a:lnSpc>
              <a:spcBef>
                <a:spcPts val="405"/>
              </a:spcBef>
              <a:buClr>
                <a:srgbClr val="333399"/>
              </a:buClr>
              <a:buSzPct val="50000"/>
              <a:buFont typeface="Lucida Sans Unicode"/>
              <a:buChar char="◆"/>
              <a:tabLst>
                <a:tab pos="755015" algn="l"/>
                <a:tab pos="755650" algn="l"/>
              </a:tabLst>
            </a:pPr>
            <a:r>
              <a:rPr sz="2400" dirty="0">
                <a:solidFill>
                  <a:srgbClr val="232323"/>
                </a:solidFill>
                <a:latin typeface="Arial"/>
                <a:cs typeface="Arial"/>
              </a:rPr>
              <a:t>Assume each </a:t>
            </a:r>
            <a:r>
              <a:rPr sz="2400" spc="-5" dirty="0">
                <a:solidFill>
                  <a:srgbClr val="232323"/>
                </a:solidFill>
                <a:latin typeface="Arial"/>
                <a:cs typeface="Arial"/>
              </a:rPr>
              <a:t>router </a:t>
            </a:r>
            <a:r>
              <a:rPr sz="2400" dirty="0">
                <a:solidFill>
                  <a:srgbClr val="232323"/>
                </a:solidFill>
                <a:latin typeface="Arial"/>
                <a:cs typeface="Arial"/>
              </a:rPr>
              <a:t>knows </a:t>
            </a:r>
            <a:r>
              <a:rPr sz="2400" spc="-5" dirty="0">
                <a:solidFill>
                  <a:srgbClr val="232323"/>
                </a:solidFill>
                <a:latin typeface="Arial"/>
                <a:cs typeface="Arial"/>
              </a:rPr>
              <a:t>its </a:t>
            </a:r>
            <a:r>
              <a:rPr sz="2400" dirty="0">
                <a:solidFill>
                  <a:srgbClr val="232323"/>
                </a:solidFill>
                <a:latin typeface="Arial"/>
                <a:cs typeface="Arial"/>
              </a:rPr>
              <a:t>own address and cost </a:t>
            </a:r>
            <a:r>
              <a:rPr sz="2400" spc="-5" dirty="0">
                <a:solidFill>
                  <a:srgbClr val="232323"/>
                </a:solidFill>
                <a:latin typeface="Arial"/>
                <a:cs typeface="Arial"/>
              </a:rPr>
              <a:t>to</a:t>
            </a:r>
            <a:r>
              <a:rPr sz="2400" spc="-75" dirty="0">
                <a:solidFill>
                  <a:srgbClr val="232323"/>
                </a:solidFill>
                <a:latin typeface="Arial"/>
                <a:cs typeface="Arial"/>
              </a:rPr>
              <a:t> </a:t>
            </a:r>
            <a:r>
              <a:rPr sz="2400" dirty="0">
                <a:solidFill>
                  <a:srgbClr val="232323"/>
                </a:solidFill>
                <a:latin typeface="Arial"/>
                <a:cs typeface="Arial"/>
              </a:rPr>
              <a:t>reach  each of </a:t>
            </a:r>
            <a:r>
              <a:rPr sz="2400" spc="-5" dirty="0">
                <a:solidFill>
                  <a:srgbClr val="232323"/>
                </a:solidFill>
                <a:latin typeface="Arial"/>
                <a:cs typeface="Arial"/>
              </a:rPr>
              <a:t>its directly connected</a:t>
            </a:r>
            <a:r>
              <a:rPr sz="2400" spc="-10" dirty="0">
                <a:solidFill>
                  <a:srgbClr val="232323"/>
                </a:solidFill>
                <a:latin typeface="Arial"/>
                <a:cs typeface="Arial"/>
              </a:rPr>
              <a:t> </a:t>
            </a:r>
            <a:r>
              <a:rPr sz="2400" dirty="0">
                <a:solidFill>
                  <a:srgbClr val="232323"/>
                </a:solidFill>
                <a:latin typeface="Arial"/>
                <a:cs typeface="Arial"/>
              </a:rPr>
              <a:t>neighbors</a:t>
            </a:r>
            <a:endParaRPr sz="2400" dirty="0">
              <a:latin typeface="Arial"/>
              <a:cs typeface="Arial"/>
            </a:endParaRPr>
          </a:p>
          <a:p>
            <a:pPr lvl="1" algn="just">
              <a:lnSpc>
                <a:spcPct val="100000"/>
              </a:lnSpc>
              <a:buClr>
                <a:srgbClr val="333399"/>
              </a:buClr>
              <a:buFont typeface="Lucida Sans Unicode"/>
              <a:buChar char="◆"/>
            </a:pPr>
            <a:endParaRPr sz="2400" dirty="0">
              <a:latin typeface="Times New Roman"/>
              <a:cs typeface="Times New Roman"/>
            </a:endParaRPr>
          </a:p>
          <a:p>
            <a:pPr marL="355600" indent="-342900" algn="just">
              <a:spcBef>
                <a:spcPts val="1550"/>
              </a:spcBef>
              <a:buClr>
                <a:srgbClr val="333399"/>
              </a:buClr>
              <a:buSzPct val="50000"/>
              <a:buChar char=""/>
              <a:tabLst>
                <a:tab pos="354965" algn="l"/>
                <a:tab pos="355600" algn="l"/>
              </a:tabLst>
            </a:pPr>
            <a:r>
              <a:rPr sz="2400" spc="-5" dirty="0">
                <a:solidFill>
                  <a:srgbClr val="232323"/>
                </a:solidFill>
                <a:latin typeface="Arial"/>
                <a:cs typeface="Arial"/>
              </a:rPr>
              <a:t>Bellman-Ford algorithm</a:t>
            </a:r>
            <a:endParaRPr sz="2400" dirty="0">
              <a:latin typeface="Arial"/>
              <a:cs typeface="Arial"/>
            </a:endParaRPr>
          </a:p>
          <a:p>
            <a:pPr marL="755650" lvl="1" indent="-286385" algn="just">
              <a:spcBef>
                <a:spcPts val="420"/>
              </a:spcBef>
              <a:buClr>
                <a:srgbClr val="333399"/>
              </a:buClr>
              <a:buSzPct val="50000"/>
              <a:buFont typeface="Lucida Sans Unicode"/>
              <a:buChar char="◆"/>
              <a:tabLst>
                <a:tab pos="755015" algn="l"/>
                <a:tab pos="755650" algn="l"/>
              </a:tabLst>
            </a:pPr>
            <a:r>
              <a:rPr sz="2400" spc="-5" dirty="0">
                <a:solidFill>
                  <a:srgbClr val="232323"/>
                </a:solidFill>
                <a:latin typeface="Arial"/>
                <a:cs typeface="Arial"/>
              </a:rPr>
              <a:t>Distributed route computation </a:t>
            </a:r>
            <a:r>
              <a:rPr sz="2400" dirty="0">
                <a:solidFill>
                  <a:srgbClr val="232323"/>
                </a:solidFill>
                <a:latin typeface="Arial"/>
                <a:cs typeface="Arial"/>
              </a:rPr>
              <a:t>using only neighbor’s</a:t>
            </a:r>
            <a:r>
              <a:rPr sz="2400" spc="10" dirty="0">
                <a:solidFill>
                  <a:srgbClr val="232323"/>
                </a:solidFill>
                <a:latin typeface="Arial"/>
                <a:cs typeface="Arial"/>
              </a:rPr>
              <a:t> </a:t>
            </a:r>
            <a:r>
              <a:rPr sz="2400" spc="-5" dirty="0">
                <a:solidFill>
                  <a:srgbClr val="232323"/>
                </a:solidFill>
                <a:latin typeface="Arial"/>
                <a:cs typeface="Arial"/>
              </a:rPr>
              <a:t>info</a:t>
            </a:r>
            <a:endParaRPr sz="2400" dirty="0">
              <a:latin typeface="Arial"/>
              <a:cs typeface="Arial"/>
            </a:endParaRPr>
          </a:p>
          <a:p>
            <a:pPr lvl="1" algn="just">
              <a:lnSpc>
                <a:spcPct val="100000"/>
              </a:lnSpc>
              <a:buClr>
                <a:srgbClr val="333399"/>
              </a:buClr>
              <a:buFont typeface="Lucida Sans Unicode"/>
              <a:buChar char="◆"/>
            </a:pPr>
            <a:endParaRPr sz="2400" dirty="0">
              <a:latin typeface="Times New Roman"/>
              <a:cs typeface="Times New Roman"/>
            </a:endParaRPr>
          </a:p>
          <a:p>
            <a:pPr marL="355600" indent="-342900" algn="just">
              <a:spcBef>
                <a:spcPts val="1570"/>
              </a:spcBef>
              <a:buClr>
                <a:srgbClr val="333399"/>
              </a:buClr>
              <a:buSzPct val="50000"/>
              <a:buChar char=""/>
              <a:tabLst>
                <a:tab pos="354965" algn="l"/>
                <a:tab pos="355600" algn="l"/>
              </a:tabLst>
            </a:pPr>
            <a:r>
              <a:rPr sz="2400" spc="-5" dirty="0">
                <a:solidFill>
                  <a:srgbClr val="232323"/>
                </a:solidFill>
                <a:latin typeface="Arial"/>
                <a:cs typeface="Arial"/>
              </a:rPr>
              <a:t>Mitigating </a:t>
            </a:r>
            <a:r>
              <a:rPr sz="2400" dirty="0">
                <a:solidFill>
                  <a:srgbClr val="232323"/>
                </a:solidFill>
                <a:latin typeface="Arial"/>
                <a:cs typeface="Arial"/>
              </a:rPr>
              <a:t>loops</a:t>
            </a:r>
            <a:endParaRPr sz="2400" dirty="0">
              <a:latin typeface="Arial"/>
              <a:cs typeface="Arial"/>
            </a:endParaRPr>
          </a:p>
          <a:p>
            <a:pPr marL="755650" lvl="1" indent="-286385" algn="just">
              <a:spcBef>
                <a:spcPts val="420"/>
              </a:spcBef>
              <a:buClr>
                <a:srgbClr val="333399"/>
              </a:buClr>
              <a:buSzPct val="50000"/>
              <a:buFont typeface="Lucida Sans Unicode"/>
              <a:buChar char="◆"/>
              <a:tabLst>
                <a:tab pos="755015" algn="l"/>
                <a:tab pos="755650" algn="l"/>
              </a:tabLst>
            </a:pPr>
            <a:r>
              <a:rPr sz="2400" dirty="0">
                <a:solidFill>
                  <a:srgbClr val="232323"/>
                </a:solidFill>
                <a:latin typeface="Arial"/>
                <a:cs typeface="Arial"/>
              </a:rPr>
              <a:t>Split horizon and posion</a:t>
            </a:r>
            <a:r>
              <a:rPr sz="2400" spc="-25" dirty="0">
                <a:solidFill>
                  <a:srgbClr val="232323"/>
                </a:solidFill>
                <a:latin typeface="Arial"/>
                <a:cs typeface="Arial"/>
              </a:rPr>
              <a:t> </a:t>
            </a:r>
            <a:r>
              <a:rPr sz="2400" dirty="0">
                <a:solidFill>
                  <a:srgbClr val="232323"/>
                </a:solidFill>
                <a:latin typeface="Arial"/>
                <a:cs typeface="Arial"/>
              </a:rPr>
              <a:t>reverse</a:t>
            </a:r>
            <a:endParaRPr sz="2400" dirty="0">
              <a:latin typeface="Arial"/>
              <a:cs typeface="Arial"/>
            </a:endParaRPr>
          </a:p>
        </p:txBody>
      </p:sp>
    </p:spTree>
    <p:extLst>
      <p:ext uri="{BB962C8B-B14F-4D97-AF65-F5344CB8AC3E}">
        <p14:creationId xmlns:p14="http://schemas.microsoft.com/office/powerpoint/2010/main" val="8771991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41424" y="1419383"/>
            <a:ext cx="7204744" cy="1744067"/>
          </a:xfrm>
          <a:prstGeom prst="rect">
            <a:avLst/>
          </a:prstGeom>
        </p:spPr>
        <p:txBody>
          <a:bodyPr vert="horz" wrap="square" lIns="0" tIns="73660" rIns="0" bIns="0" rtlCol="0">
            <a:spAutoFit/>
          </a:bodyPr>
          <a:lstStyle/>
          <a:p>
            <a:pPr marL="406400" indent="-342900">
              <a:spcBef>
                <a:spcPts val="580"/>
              </a:spcBef>
              <a:buClr>
                <a:srgbClr val="333399"/>
              </a:buClr>
              <a:buSzPct val="50000"/>
              <a:buChar char=""/>
              <a:tabLst>
                <a:tab pos="405765" algn="l"/>
                <a:tab pos="406400" algn="l"/>
              </a:tabLst>
            </a:pPr>
            <a:r>
              <a:rPr sz="2400" spc="-5" dirty="0">
                <a:solidFill>
                  <a:srgbClr val="232323"/>
                </a:solidFill>
                <a:latin typeface="Arial"/>
                <a:cs typeface="Arial"/>
              </a:rPr>
              <a:t>Define distances </a:t>
            </a:r>
            <a:r>
              <a:rPr sz="2400" dirty="0">
                <a:solidFill>
                  <a:srgbClr val="232323"/>
                </a:solidFill>
                <a:latin typeface="Arial"/>
                <a:cs typeface="Arial"/>
              </a:rPr>
              <a:t>at each node</a:t>
            </a:r>
            <a:r>
              <a:rPr sz="2400" spc="-15" dirty="0">
                <a:solidFill>
                  <a:srgbClr val="232323"/>
                </a:solidFill>
                <a:latin typeface="Arial"/>
                <a:cs typeface="Arial"/>
              </a:rPr>
              <a:t> </a:t>
            </a:r>
            <a:r>
              <a:rPr sz="2400" i="1" dirty="0">
                <a:solidFill>
                  <a:srgbClr val="232323"/>
                </a:solidFill>
                <a:latin typeface="Arial"/>
                <a:cs typeface="Arial"/>
              </a:rPr>
              <a:t>X</a:t>
            </a:r>
            <a:endParaRPr sz="2400">
              <a:latin typeface="Arial"/>
              <a:cs typeface="Arial"/>
            </a:endParaRPr>
          </a:p>
          <a:p>
            <a:pPr marL="356235" marR="641350" lvl="1" indent="-356235" algn="r">
              <a:spcBef>
                <a:spcPts val="400"/>
              </a:spcBef>
              <a:buClr>
                <a:srgbClr val="333399"/>
              </a:buClr>
              <a:buSzPct val="50000"/>
              <a:buFont typeface="Lucida Sans Unicode"/>
              <a:buChar char="◆"/>
              <a:tabLst>
                <a:tab pos="356235" algn="l"/>
                <a:tab pos="356870" algn="l"/>
              </a:tabLst>
            </a:pPr>
            <a:r>
              <a:rPr sz="2400" dirty="0">
                <a:solidFill>
                  <a:srgbClr val="232323"/>
                </a:solidFill>
                <a:latin typeface="Arial"/>
                <a:cs typeface="Arial"/>
              </a:rPr>
              <a:t>d</a:t>
            </a:r>
            <a:r>
              <a:rPr sz="2400" baseline="-21367" dirty="0">
                <a:solidFill>
                  <a:srgbClr val="2F2F2F"/>
                </a:solidFill>
                <a:latin typeface="Arial"/>
                <a:cs typeface="Arial"/>
              </a:rPr>
              <a:t>x</a:t>
            </a:r>
            <a:r>
              <a:rPr sz="2400" dirty="0">
                <a:solidFill>
                  <a:srgbClr val="232323"/>
                </a:solidFill>
                <a:latin typeface="Arial"/>
                <a:cs typeface="Arial"/>
              </a:rPr>
              <a:t>(y) = cost of </a:t>
            </a:r>
            <a:r>
              <a:rPr sz="2400" spc="-5" dirty="0">
                <a:solidFill>
                  <a:srgbClr val="232323"/>
                </a:solidFill>
                <a:latin typeface="Arial"/>
                <a:cs typeface="Arial"/>
              </a:rPr>
              <a:t>least-cost </a:t>
            </a:r>
            <a:r>
              <a:rPr sz="2400" i="1" dirty="0">
                <a:solidFill>
                  <a:srgbClr val="232323"/>
                </a:solidFill>
                <a:latin typeface="Arial"/>
                <a:cs typeface="Arial"/>
              </a:rPr>
              <a:t>path </a:t>
            </a:r>
            <a:r>
              <a:rPr sz="2400" spc="-5" dirty="0">
                <a:solidFill>
                  <a:srgbClr val="232323"/>
                </a:solidFill>
                <a:latin typeface="Arial"/>
                <a:cs typeface="Arial"/>
              </a:rPr>
              <a:t>from </a:t>
            </a:r>
            <a:r>
              <a:rPr sz="2400" i="1" dirty="0">
                <a:solidFill>
                  <a:srgbClr val="232323"/>
                </a:solidFill>
                <a:latin typeface="Arial"/>
                <a:cs typeface="Arial"/>
              </a:rPr>
              <a:t>X </a:t>
            </a:r>
            <a:r>
              <a:rPr sz="2400" dirty="0">
                <a:solidFill>
                  <a:srgbClr val="232323"/>
                </a:solidFill>
                <a:latin typeface="Arial"/>
                <a:cs typeface="Arial"/>
              </a:rPr>
              <a:t>to</a:t>
            </a:r>
            <a:r>
              <a:rPr sz="2400" spc="-50" dirty="0">
                <a:solidFill>
                  <a:srgbClr val="232323"/>
                </a:solidFill>
                <a:latin typeface="Arial"/>
                <a:cs typeface="Arial"/>
              </a:rPr>
              <a:t> </a:t>
            </a:r>
            <a:r>
              <a:rPr sz="2400" i="1" dirty="0">
                <a:solidFill>
                  <a:srgbClr val="232323"/>
                </a:solidFill>
                <a:latin typeface="Arial"/>
                <a:cs typeface="Arial"/>
              </a:rPr>
              <a:t>Y</a:t>
            </a:r>
            <a:endParaRPr sz="2400">
              <a:latin typeface="Arial"/>
              <a:cs typeface="Arial"/>
            </a:endParaRPr>
          </a:p>
          <a:p>
            <a:pPr marL="342265" marR="617220" indent="-342265" algn="r">
              <a:spcBef>
                <a:spcPts val="595"/>
              </a:spcBef>
              <a:buClr>
                <a:srgbClr val="333399"/>
              </a:buClr>
              <a:buSzPct val="50000"/>
              <a:buChar char=""/>
              <a:tabLst>
                <a:tab pos="342265" algn="l"/>
                <a:tab pos="406400" algn="l"/>
              </a:tabLst>
            </a:pPr>
            <a:r>
              <a:rPr sz="2400" spc="-5" dirty="0">
                <a:solidFill>
                  <a:srgbClr val="232323"/>
                </a:solidFill>
                <a:latin typeface="Arial"/>
                <a:cs typeface="Arial"/>
              </a:rPr>
              <a:t>Update distances </a:t>
            </a:r>
            <a:r>
              <a:rPr sz="2400" dirty="0">
                <a:solidFill>
                  <a:srgbClr val="232323"/>
                </a:solidFill>
                <a:latin typeface="Arial"/>
                <a:cs typeface="Arial"/>
              </a:rPr>
              <a:t>based on</a:t>
            </a:r>
            <a:r>
              <a:rPr sz="2400" spc="-30" dirty="0">
                <a:solidFill>
                  <a:srgbClr val="232323"/>
                </a:solidFill>
                <a:latin typeface="Arial"/>
                <a:cs typeface="Arial"/>
              </a:rPr>
              <a:t> </a:t>
            </a:r>
            <a:r>
              <a:rPr sz="2400" dirty="0">
                <a:solidFill>
                  <a:srgbClr val="232323"/>
                </a:solidFill>
                <a:latin typeface="Arial"/>
                <a:cs typeface="Arial"/>
              </a:rPr>
              <a:t>neighbors</a:t>
            </a:r>
            <a:endParaRPr sz="2400">
              <a:latin typeface="Arial"/>
              <a:cs typeface="Arial"/>
            </a:endParaRPr>
          </a:p>
          <a:p>
            <a:pPr marL="876935" lvl="1" indent="-357505">
              <a:spcBef>
                <a:spcPts val="525"/>
              </a:spcBef>
              <a:buClr>
                <a:srgbClr val="333399"/>
              </a:buClr>
              <a:buSzPct val="50000"/>
              <a:buFont typeface="Lucida Sans Unicode"/>
              <a:buChar char="◆"/>
              <a:tabLst>
                <a:tab pos="876935" algn="l"/>
                <a:tab pos="877569" algn="l"/>
              </a:tabLst>
            </a:pPr>
            <a:r>
              <a:rPr sz="2400" dirty="0">
                <a:solidFill>
                  <a:srgbClr val="232323"/>
                </a:solidFill>
                <a:latin typeface="Arial"/>
                <a:cs typeface="Arial"/>
              </a:rPr>
              <a:t>d</a:t>
            </a:r>
            <a:r>
              <a:rPr sz="2400" baseline="-21367" dirty="0">
                <a:solidFill>
                  <a:srgbClr val="2F2F2F"/>
                </a:solidFill>
                <a:latin typeface="Arial"/>
                <a:cs typeface="Arial"/>
              </a:rPr>
              <a:t>x</a:t>
            </a:r>
            <a:r>
              <a:rPr sz="2400" dirty="0">
                <a:solidFill>
                  <a:srgbClr val="232323"/>
                </a:solidFill>
                <a:latin typeface="Arial"/>
                <a:cs typeface="Arial"/>
              </a:rPr>
              <a:t>(y) = min </a:t>
            </a:r>
            <a:r>
              <a:rPr sz="2400" spc="-5" dirty="0">
                <a:solidFill>
                  <a:srgbClr val="232323"/>
                </a:solidFill>
                <a:latin typeface="Arial"/>
                <a:cs typeface="Arial"/>
              </a:rPr>
              <a:t>{c(x,v) </a:t>
            </a:r>
            <a:r>
              <a:rPr sz="2400" dirty="0">
                <a:solidFill>
                  <a:srgbClr val="232323"/>
                </a:solidFill>
                <a:latin typeface="Arial"/>
                <a:cs typeface="Arial"/>
              </a:rPr>
              <a:t>+ d</a:t>
            </a:r>
            <a:r>
              <a:rPr sz="2400" baseline="-21367" dirty="0">
                <a:solidFill>
                  <a:srgbClr val="2F2F2F"/>
                </a:solidFill>
                <a:latin typeface="Arial"/>
                <a:cs typeface="Arial"/>
              </a:rPr>
              <a:t>v</a:t>
            </a:r>
            <a:r>
              <a:rPr sz="2400" dirty="0">
                <a:solidFill>
                  <a:srgbClr val="232323"/>
                </a:solidFill>
                <a:latin typeface="Arial"/>
                <a:cs typeface="Arial"/>
              </a:rPr>
              <a:t>(y)} over all neighbors</a:t>
            </a:r>
            <a:r>
              <a:rPr sz="2400" spc="-60" dirty="0">
                <a:solidFill>
                  <a:srgbClr val="232323"/>
                </a:solidFill>
                <a:latin typeface="Arial"/>
                <a:cs typeface="Arial"/>
              </a:rPr>
              <a:t> </a:t>
            </a:r>
            <a:r>
              <a:rPr sz="2400" i="1" dirty="0">
                <a:solidFill>
                  <a:srgbClr val="232323"/>
                </a:solidFill>
                <a:latin typeface="Arial"/>
                <a:cs typeface="Arial"/>
              </a:rPr>
              <a:t>V</a:t>
            </a:r>
            <a:endParaRPr sz="2400">
              <a:latin typeface="Arial"/>
              <a:cs typeface="Arial"/>
            </a:endParaRPr>
          </a:p>
        </p:txBody>
      </p:sp>
      <p:sp>
        <p:nvSpPr>
          <p:cNvPr id="3" name="object 3"/>
          <p:cNvSpPr/>
          <p:nvPr/>
        </p:nvSpPr>
        <p:spPr>
          <a:xfrm>
            <a:off x="2497138" y="4421188"/>
            <a:ext cx="287655" cy="252729"/>
          </a:xfrm>
          <a:custGeom>
            <a:avLst/>
            <a:gdLst/>
            <a:ahLst/>
            <a:cxnLst/>
            <a:rect l="l" t="t" r="r" b="b"/>
            <a:pathLst>
              <a:path w="287655" h="252729">
                <a:moveTo>
                  <a:pt x="143670" y="0"/>
                </a:moveTo>
                <a:lnTo>
                  <a:pt x="98259" y="6434"/>
                </a:lnTo>
                <a:lnTo>
                  <a:pt x="58820" y="24350"/>
                </a:lnTo>
                <a:lnTo>
                  <a:pt x="27719" y="51670"/>
                </a:lnTo>
                <a:lnTo>
                  <a:pt x="7324" y="86315"/>
                </a:lnTo>
                <a:lnTo>
                  <a:pt x="0" y="126206"/>
                </a:lnTo>
                <a:lnTo>
                  <a:pt x="7324" y="166097"/>
                </a:lnTo>
                <a:lnTo>
                  <a:pt x="27719" y="200741"/>
                </a:lnTo>
                <a:lnTo>
                  <a:pt x="58820" y="228061"/>
                </a:lnTo>
                <a:lnTo>
                  <a:pt x="98259" y="245978"/>
                </a:lnTo>
                <a:lnTo>
                  <a:pt x="143670" y="252412"/>
                </a:lnTo>
                <a:lnTo>
                  <a:pt x="189080" y="245978"/>
                </a:lnTo>
                <a:lnTo>
                  <a:pt x="228518" y="228061"/>
                </a:lnTo>
                <a:lnTo>
                  <a:pt x="259618" y="200741"/>
                </a:lnTo>
                <a:lnTo>
                  <a:pt x="280014" y="166097"/>
                </a:lnTo>
                <a:lnTo>
                  <a:pt x="287338" y="126206"/>
                </a:lnTo>
                <a:lnTo>
                  <a:pt x="280014" y="86315"/>
                </a:lnTo>
                <a:lnTo>
                  <a:pt x="259618" y="51670"/>
                </a:lnTo>
                <a:lnTo>
                  <a:pt x="228518" y="24350"/>
                </a:lnTo>
                <a:lnTo>
                  <a:pt x="189080" y="6434"/>
                </a:lnTo>
                <a:lnTo>
                  <a:pt x="143670" y="0"/>
                </a:lnTo>
                <a:close/>
              </a:path>
            </a:pathLst>
          </a:custGeom>
          <a:solidFill>
            <a:srgbClr val="EFEFEF"/>
          </a:solidFill>
        </p:spPr>
        <p:txBody>
          <a:bodyPr wrap="square" lIns="0" tIns="0" rIns="0" bIns="0" rtlCol="0"/>
          <a:lstStyle/>
          <a:p>
            <a:endParaRPr/>
          </a:p>
        </p:txBody>
      </p:sp>
      <p:sp>
        <p:nvSpPr>
          <p:cNvPr id="4" name="object 4"/>
          <p:cNvSpPr/>
          <p:nvPr/>
        </p:nvSpPr>
        <p:spPr>
          <a:xfrm>
            <a:off x="3359150" y="5092700"/>
            <a:ext cx="287655" cy="252729"/>
          </a:xfrm>
          <a:custGeom>
            <a:avLst/>
            <a:gdLst/>
            <a:ahLst/>
            <a:cxnLst/>
            <a:rect l="l" t="t" r="r" b="b"/>
            <a:pathLst>
              <a:path w="287655" h="252729">
                <a:moveTo>
                  <a:pt x="143668" y="0"/>
                </a:moveTo>
                <a:lnTo>
                  <a:pt x="98258" y="6434"/>
                </a:lnTo>
                <a:lnTo>
                  <a:pt x="58819" y="24350"/>
                </a:lnTo>
                <a:lnTo>
                  <a:pt x="27719" y="51670"/>
                </a:lnTo>
                <a:lnTo>
                  <a:pt x="7324" y="86316"/>
                </a:lnTo>
                <a:lnTo>
                  <a:pt x="0" y="126207"/>
                </a:lnTo>
                <a:lnTo>
                  <a:pt x="7324" y="166098"/>
                </a:lnTo>
                <a:lnTo>
                  <a:pt x="27719" y="200743"/>
                </a:lnTo>
                <a:lnTo>
                  <a:pt x="58819" y="228063"/>
                </a:lnTo>
                <a:lnTo>
                  <a:pt x="98258" y="245979"/>
                </a:lnTo>
                <a:lnTo>
                  <a:pt x="143668" y="252413"/>
                </a:lnTo>
                <a:lnTo>
                  <a:pt x="189079" y="245979"/>
                </a:lnTo>
                <a:lnTo>
                  <a:pt x="228517" y="228063"/>
                </a:lnTo>
                <a:lnTo>
                  <a:pt x="259617" y="200743"/>
                </a:lnTo>
                <a:lnTo>
                  <a:pt x="280013" y="166098"/>
                </a:lnTo>
                <a:lnTo>
                  <a:pt x="287337" y="126207"/>
                </a:lnTo>
                <a:lnTo>
                  <a:pt x="280013" y="86316"/>
                </a:lnTo>
                <a:lnTo>
                  <a:pt x="259617" y="51670"/>
                </a:lnTo>
                <a:lnTo>
                  <a:pt x="228517" y="24350"/>
                </a:lnTo>
                <a:lnTo>
                  <a:pt x="189079" y="6434"/>
                </a:lnTo>
                <a:lnTo>
                  <a:pt x="143668" y="0"/>
                </a:lnTo>
                <a:close/>
              </a:path>
            </a:pathLst>
          </a:custGeom>
          <a:solidFill>
            <a:srgbClr val="EFEFEF"/>
          </a:solidFill>
        </p:spPr>
        <p:txBody>
          <a:bodyPr wrap="square" lIns="0" tIns="0" rIns="0" bIns="0" rtlCol="0"/>
          <a:lstStyle/>
          <a:p>
            <a:endParaRPr/>
          </a:p>
        </p:txBody>
      </p:sp>
      <p:sp>
        <p:nvSpPr>
          <p:cNvPr id="5" name="object 5"/>
          <p:cNvSpPr/>
          <p:nvPr/>
        </p:nvSpPr>
        <p:spPr>
          <a:xfrm>
            <a:off x="3454400" y="3833813"/>
            <a:ext cx="287655" cy="250825"/>
          </a:xfrm>
          <a:custGeom>
            <a:avLst/>
            <a:gdLst/>
            <a:ahLst/>
            <a:cxnLst/>
            <a:rect l="l" t="t" r="r" b="b"/>
            <a:pathLst>
              <a:path w="287655" h="250825">
                <a:moveTo>
                  <a:pt x="143668" y="0"/>
                </a:moveTo>
                <a:lnTo>
                  <a:pt x="98258" y="6393"/>
                </a:lnTo>
                <a:lnTo>
                  <a:pt x="58819" y="24197"/>
                </a:lnTo>
                <a:lnTo>
                  <a:pt x="27719" y="51345"/>
                </a:lnTo>
                <a:lnTo>
                  <a:pt x="7324" y="85773"/>
                </a:lnTo>
                <a:lnTo>
                  <a:pt x="0" y="125413"/>
                </a:lnTo>
                <a:lnTo>
                  <a:pt x="7324" y="165053"/>
                </a:lnTo>
                <a:lnTo>
                  <a:pt x="27719" y="199480"/>
                </a:lnTo>
                <a:lnTo>
                  <a:pt x="58819" y="226628"/>
                </a:lnTo>
                <a:lnTo>
                  <a:pt x="98258" y="244432"/>
                </a:lnTo>
                <a:lnTo>
                  <a:pt x="143668" y="250826"/>
                </a:lnTo>
                <a:lnTo>
                  <a:pt x="189079" y="244432"/>
                </a:lnTo>
                <a:lnTo>
                  <a:pt x="228517" y="226628"/>
                </a:lnTo>
                <a:lnTo>
                  <a:pt x="259617" y="199480"/>
                </a:lnTo>
                <a:lnTo>
                  <a:pt x="280013" y="165053"/>
                </a:lnTo>
                <a:lnTo>
                  <a:pt x="287337" y="125413"/>
                </a:lnTo>
                <a:lnTo>
                  <a:pt x="280013" y="85773"/>
                </a:lnTo>
                <a:lnTo>
                  <a:pt x="259617" y="51345"/>
                </a:lnTo>
                <a:lnTo>
                  <a:pt x="228517" y="24197"/>
                </a:lnTo>
                <a:lnTo>
                  <a:pt x="189079" y="6393"/>
                </a:lnTo>
                <a:lnTo>
                  <a:pt x="143668" y="0"/>
                </a:lnTo>
                <a:close/>
              </a:path>
            </a:pathLst>
          </a:custGeom>
          <a:solidFill>
            <a:srgbClr val="EFEFEF"/>
          </a:solidFill>
        </p:spPr>
        <p:txBody>
          <a:bodyPr wrap="square" lIns="0" tIns="0" rIns="0" bIns="0" rtlCol="0"/>
          <a:lstStyle/>
          <a:p>
            <a:endParaRPr/>
          </a:p>
        </p:txBody>
      </p:sp>
      <p:sp>
        <p:nvSpPr>
          <p:cNvPr id="6" name="object 6"/>
          <p:cNvSpPr/>
          <p:nvPr/>
        </p:nvSpPr>
        <p:spPr>
          <a:xfrm>
            <a:off x="4221163" y="4505325"/>
            <a:ext cx="287655" cy="252729"/>
          </a:xfrm>
          <a:custGeom>
            <a:avLst/>
            <a:gdLst/>
            <a:ahLst/>
            <a:cxnLst/>
            <a:rect l="l" t="t" r="r" b="b"/>
            <a:pathLst>
              <a:path w="287655" h="252729">
                <a:moveTo>
                  <a:pt x="143668" y="0"/>
                </a:moveTo>
                <a:lnTo>
                  <a:pt x="98258" y="6434"/>
                </a:lnTo>
                <a:lnTo>
                  <a:pt x="58819" y="24350"/>
                </a:lnTo>
                <a:lnTo>
                  <a:pt x="27719" y="51670"/>
                </a:lnTo>
                <a:lnTo>
                  <a:pt x="7324" y="86316"/>
                </a:lnTo>
                <a:lnTo>
                  <a:pt x="0" y="126207"/>
                </a:lnTo>
                <a:lnTo>
                  <a:pt x="7324" y="166098"/>
                </a:lnTo>
                <a:lnTo>
                  <a:pt x="27719" y="200743"/>
                </a:lnTo>
                <a:lnTo>
                  <a:pt x="58819" y="228063"/>
                </a:lnTo>
                <a:lnTo>
                  <a:pt x="98258" y="245979"/>
                </a:lnTo>
                <a:lnTo>
                  <a:pt x="143668" y="252413"/>
                </a:lnTo>
                <a:lnTo>
                  <a:pt x="189079" y="245979"/>
                </a:lnTo>
                <a:lnTo>
                  <a:pt x="228518" y="228063"/>
                </a:lnTo>
                <a:lnTo>
                  <a:pt x="259618" y="200743"/>
                </a:lnTo>
                <a:lnTo>
                  <a:pt x="280014" y="166098"/>
                </a:lnTo>
                <a:lnTo>
                  <a:pt x="287338" y="126207"/>
                </a:lnTo>
                <a:lnTo>
                  <a:pt x="280014" y="86316"/>
                </a:lnTo>
                <a:lnTo>
                  <a:pt x="259618" y="51670"/>
                </a:lnTo>
                <a:lnTo>
                  <a:pt x="228518" y="24350"/>
                </a:lnTo>
                <a:lnTo>
                  <a:pt x="189079" y="6434"/>
                </a:lnTo>
                <a:lnTo>
                  <a:pt x="143668" y="0"/>
                </a:lnTo>
                <a:close/>
              </a:path>
            </a:pathLst>
          </a:custGeom>
          <a:solidFill>
            <a:srgbClr val="EFEFEF"/>
          </a:solidFill>
        </p:spPr>
        <p:txBody>
          <a:bodyPr wrap="square" lIns="0" tIns="0" rIns="0" bIns="0" rtlCol="0"/>
          <a:lstStyle/>
          <a:p>
            <a:endParaRPr/>
          </a:p>
        </p:txBody>
      </p:sp>
      <p:sp>
        <p:nvSpPr>
          <p:cNvPr id="7" name="object 7"/>
          <p:cNvSpPr/>
          <p:nvPr/>
        </p:nvSpPr>
        <p:spPr>
          <a:xfrm>
            <a:off x="5083176" y="5092700"/>
            <a:ext cx="287655" cy="252729"/>
          </a:xfrm>
          <a:custGeom>
            <a:avLst/>
            <a:gdLst/>
            <a:ahLst/>
            <a:cxnLst/>
            <a:rect l="l" t="t" r="r" b="b"/>
            <a:pathLst>
              <a:path w="287654" h="252729">
                <a:moveTo>
                  <a:pt x="143668" y="0"/>
                </a:moveTo>
                <a:lnTo>
                  <a:pt x="98258" y="6434"/>
                </a:lnTo>
                <a:lnTo>
                  <a:pt x="58819" y="24350"/>
                </a:lnTo>
                <a:lnTo>
                  <a:pt x="27719" y="51670"/>
                </a:lnTo>
                <a:lnTo>
                  <a:pt x="7324" y="86316"/>
                </a:lnTo>
                <a:lnTo>
                  <a:pt x="0" y="126207"/>
                </a:lnTo>
                <a:lnTo>
                  <a:pt x="7324" y="166098"/>
                </a:lnTo>
                <a:lnTo>
                  <a:pt x="27719" y="200743"/>
                </a:lnTo>
                <a:lnTo>
                  <a:pt x="58819" y="228063"/>
                </a:lnTo>
                <a:lnTo>
                  <a:pt x="98258" y="245979"/>
                </a:lnTo>
                <a:lnTo>
                  <a:pt x="143668" y="252413"/>
                </a:lnTo>
                <a:lnTo>
                  <a:pt x="189079" y="245979"/>
                </a:lnTo>
                <a:lnTo>
                  <a:pt x="228517" y="228063"/>
                </a:lnTo>
                <a:lnTo>
                  <a:pt x="259617" y="200743"/>
                </a:lnTo>
                <a:lnTo>
                  <a:pt x="280013" y="166098"/>
                </a:lnTo>
                <a:lnTo>
                  <a:pt x="287337" y="126207"/>
                </a:lnTo>
                <a:lnTo>
                  <a:pt x="280013" y="86316"/>
                </a:lnTo>
                <a:lnTo>
                  <a:pt x="259617" y="51670"/>
                </a:lnTo>
                <a:lnTo>
                  <a:pt x="228517" y="24350"/>
                </a:lnTo>
                <a:lnTo>
                  <a:pt x="189079" y="6434"/>
                </a:lnTo>
                <a:lnTo>
                  <a:pt x="143668" y="0"/>
                </a:lnTo>
                <a:close/>
              </a:path>
            </a:pathLst>
          </a:custGeom>
          <a:solidFill>
            <a:srgbClr val="EFEFEF"/>
          </a:solidFill>
        </p:spPr>
        <p:txBody>
          <a:bodyPr wrap="square" lIns="0" tIns="0" rIns="0" bIns="0" rtlCol="0"/>
          <a:lstStyle/>
          <a:p>
            <a:endParaRPr/>
          </a:p>
        </p:txBody>
      </p:sp>
      <p:sp>
        <p:nvSpPr>
          <p:cNvPr id="8" name="object 8"/>
          <p:cNvSpPr/>
          <p:nvPr/>
        </p:nvSpPr>
        <p:spPr>
          <a:xfrm>
            <a:off x="5083176" y="3833813"/>
            <a:ext cx="287655" cy="250825"/>
          </a:xfrm>
          <a:custGeom>
            <a:avLst/>
            <a:gdLst/>
            <a:ahLst/>
            <a:cxnLst/>
            <a:rect l="l" t="t" r="r" b="b"/>
            <a:pathLst>
              <a:path w="287654" h="250825">
                <a:moveTo>
                  <a:pt x="143668" y="0"/>
                </a:moveTo>
                <a:lnTo>
                  <a:pt x="98258" y="6393"/>
                </a:lnTo>
                <a:lnTo>
                  <a:pt x="58819" y="24197"/>
                </a:lnTo>
                <a:lnTo>
                  <a:pt x="27719" y="51345"/>
                </a:lnTo>
                <a:lnTo>
                  <a:pt x="7324" y="85773"/>
                </a:lnTo>
                <a:lnTo>
                  <a:pt x="0" y="125413"/>
                </a:lnTo>
                <a:lnTo>
                  <a:pt x="7324" y="165053"/>
                </a:lnTo>
                <a:lnTo>
                  <a:pt x="27719" y="199480"/>
                </a:lnTo>
                <a:lnTo>
                  <a:pt x="58819" y="226628"/>
                </a:lnTo>
                <a:lnTo>
                  <a:pt x="98258" y="244432"/>
                </a:lnTo>
                <a:lnTo>
                  <a:pt x="143668" y="250826"/>
                </a:lnTo>
                <a:lnTo>
                  <a:pt x="189079" y="244432"/>
                </a:lnTo>
                <a:lnTo>
                  <a:pt x="228517" y="226628"/>
                </a:lnTo>
                <a:lnTo>
                  <a:pt x="259617" y="199480"/>
                </a:lnTo>
                <a:lnTo>
                  <a:pt x="280013" y="165053"/>
                </a:lnTo>
                <a:lnTo>
                  <a:pt x="287337" y="125413"/>
                </a:lnTo>
                <a:lnTo>
                  <a:pt x="280013" y="85773"/>
                </a:lnTo>
                <a:lnTo>
                  <a:pt x="259617" y="51345"/>
                </a:lnTo>
                <a:lnTo>
                  <a:pt x="228517" y="24197"/>
                </a:lnTo>
                <a:lnTo>
                  <a:pt x="189079" y="6393"/>
                </a:lnTo>
                <a:lnTo>
                  <a:pt x="143668" y="0"/>
                </a:lnTo>
                <a:close/>
              </a:path>
            </a:pathLst>
          </a:custGeom>
          <a:solidFill>
            <a:srgbClr val="EFEFEF"/>
          </a:solidFill>
        </p:spPr>
        <p:txBody>
          <a:bodyPr wrap="square" lIns="0" tIns="0" rIns="0" bIns="0" rtlCol="0"/>
          <a:lstStyle/>
          <a:p>
            <a:endParaRPr/>
          </a:p>
        </p:txBody>
      </p:sp>
      <p:sp>
        <p:nvSpPr>
          <p:cNvPr id="9" name="object 9"/>
          <p:cNvSpPr/>
          <p:nvPr/>
        </p:nvSpPr>
        <p:spPr>
          <a:xfrm>
            <a:off x="4316413" y="5597525"/>
            <a:ext cx="287655" cy="252729"/>
          </a:xfrm>
          <a:custGeom>
            <a:avLst/>
            <a:gdLst/>
            <a:ahLst/>
            <a:cxnLst/>
            <a:rect l="l" t="t" r="r" b="b"/>
            <a:pathLst>
              <a:path w="287655" h="252729">
                <a:moveTo>
                  <a:pt x="143668" y="0"/>
                </a:moveTo>
                <a:lnTo>
                  <a:pt x="98258" y="6434"/>
                </a:lnTo>
                <a:lnTo>
                  <a:pt x="58819" y="24350"/>
                </a:lnTo>
                <a:lnTo>
                  <a:pt x="27719" y="51670"/>
                </a:lnTo>
                <a:lnTo>
                  <a:pt x="7324" y="86315"/>
                </a:lnTo>
                <a:lnTo>
                  <a:pt x="0" y="126206"/>
                </a:lnTo>
                <a:lnTo>
                  <a:pt x="7324" y="166097"/>
                </a:lnTo>
                <a:lnTo>
                  <a:pt x="27719" y="200742"/>
                </a:lnTo>
                <a:lnTo>
                  <a:pt x="58819" y="228063"/>
                </a:lnTo>
                <a:lnTo>
                  <a:pt x="98258" y="245979"/>
                </a:lnTo>
                <a:lnTo>
                  <a:pt x="143668" y="252413"/>
                </a:lnTo>
                <a:lnTo>
                  <a:pt x="189079" y="245979"/>
                </a:lnTo>
                <a:lnTo>
                  <a:pt x="228518" y="228063"/>
                </a:lnTo>
                <a:lnTo>
                  <a:pt x="259618" y="200742"/>
                </a:lnTo>
                <a:lnTo>
                  <a:pt x="280014" y="166097"/>
                </a:lnTo>
                <a:lnTo>
                  <a:pt x="287338" y="126206"/>
                </a:lnTo>
                <a:lnTo>
                  <a:pt x="280014" y="86315"/>
                </a:lnTo>
                <a:lnTo>
                  <a:pt x="259618" y="51670"/>
                </a:lnTo>
                <a:lnTo>
                  <a:pt x="228518" y="24350"/>
                </a:lnTo>
                <a:lnTo>
                  <a:pt x="189079" y="6434"/>
                </a:lnTo>
                <a:lnTo>
                  <a:pt x="143668" y="0"/>
                </a:lnTo>
                <a:close/>
              </a:path>
            </a:pathLst>
          </a:custGeom>
          <a:solidFill>
            <a:srgbClr val="EFEFEF"/>
          </a:solidFill>
        </p:spPr>
        <p:txBody>
          <a:bodyPr wrap="square" lIns="0" tIns="0" rIns="0" bIns="0" rtlCol="0"/>
          <a:lstStyle/>
          <a:p>
            <a:endParaRPr/>
          </a:p>
        </p:txBody>
      </p:sp>
      <p:sp>
        <p:nvSpPr>
          <p:cNvPr id="10" name="object 10"/>
          <p:cNvSpPr/>
          <p:nvPr/>
        </p:nvSpPr>
        <p:spPr>
          <a:xfrm>
            <a:off x="6040438" y="4421188"/>
            <a:ext cx="287655" cy="252729"/>
          </a:xfrm>
          <a:custGeom>
            <a:avLst/>
            <a:gdLst/>
            <a:ahLst/>
            <a:cxnLst/>
            <a:rect l="l" t="t" r="r" b="b"/>
            <a:pathLst>
              <a:path w="287654" h="252729">
                <a:moveTo>
                  <a:pt x="143668" y="0"/>
                </a:moveTo>
                <a:lnTo>
                  <a:pt x="98258" y="6434"/>
                </a:lnTo>
                <a:lnTo>
                  <a:pt x="58819" y="24350"/>
                </a:lnTo>
                <a:lnTo>
                  <a:pt x="27719" y="51670"/>
                </a:lnTo>
                <a:lnTo>
                  <a:pt x="7324" y="86315"/>
                </a:lnTo>
                <a:lnTo>
                  <a:pt x="0" y="126206"/>
                </a:lnTo>
                <a:lnTo>
                  <a:pt x="7324" y="166097"/>
                </a:lnTo>
                <a:lnTo>
                  <a:pt x="27719" y="200741"/>
                </a:lnTo>
                <a:lnTo>
                  <a:pt x="58819" y="228061"/>
                </a:lnTo>
                <a:lnTo>
                  <a:pt x="98258" y="245978"/>
                </a:lnTo>
                <a:lnTo>
                  <a:pt x="143668" y="252412"/>
                </a:lnTo>
                <a:lnTo>
                  <a:pt x="189079" y="245978"/>
                </a:lnTo>
                <a:lnTo>
                  <a:pt x="228517" y="228061"/>
                </a:lnTo>
                <a:lnTo>
                  <a:pt x="259617" y="200741"/>
                </a:lnTo>
                <a:lnTo>
                  <a:pt x="280013" y="166097"/>
                </a:lnTo>
                <a:lnTo>
                  <a:pt x="287337" y="126206"/>
                </a:lnTo>
                <a:lnTo>
                  <a:pt x="280013" y="86315"/>
                </a:lnTo>
                <a:lnTo>
                  <a:pt x="259617" y="51670"/>
                </a:lnTo>
                <a:lnTo>
                  <a:pt x="228517" y="24350"/>
                </a:lnTo>
                <a:lnTo>
                  <a:pt x="189079" y="6434"/>
                </a:lnTo>
                <a:lnTo>
                  <a:pt x="143668" y="0"/>
                </a:lnTo>
                <a:close/>
              </a:path>
            </a:pathLst>
          </a:custGeom>
          <a:solidFill>
            <a:srgbClr val="EFEFEF"/>
          </a:solidFill>
        </p:spPr>
        <p:txBody>
          <a:bodyPr wrap="square" lIns="0" tIns="0" rIns="0" bIns="0" rtlCol="0"/>
          <a:lstStyle/>
          <a:p>
            <a:endParaRPr/>
          </a:p>
        </p:txBody>
      </p:sp>
      <p:sp>
        <p:nvSpPr>
          <p:cNvPr id="11" name="object 11"/>
          <p:cNvSpPr/>
          <p:nvPr/>
        </p:nvSpPr>
        <p:spPr>
          <a:xfrm>
            <a:off x="2784475" y="4000500"/>
            <a:ext cx="669925" cy="504825"/>
          </a:xfrm>
          <a:custGeom>
            <a:avLst/>
            <a:gdLst/>
            <a:ahLst/>
            <a:cxnLst/>
            <a:rect l="l" t="t" r="r" b="b"/>
            <a:pathLst>
              <a:path w="669925" h="504825">
                <a:moveTo>
                  <a:pt x="0" y="504824"/>
                </a:moveTo>
                <a:lnTo>
                  <a:pt x="669924" y="0"/>
                </a:lnTo>
              </a:path>
            </a:pathLst>
          </a:custGeom>
          <a:ln w="28574">
            <a:solidFill>
              <a:srgbClr val="4349AA"/>
            </a:solidFill>
          </a:ln>
        </p:spPr>
        <p:txBody>
          <a:bodyPr wrap="square" lIns="0" tIns="0" rIns="0" bIns="0" rtlCol="0"/>
          <a:lstStyle/>
          <a:p>
            <a:endParaRPr/>
          </a:p>
        </p:txBody>
      </p:sp>
      <p:sp>
        <p:nvSpPr>
          <p:cNvPr id="12" name="object 12"/>
          <p:cNvSpPr/>
          <p:nvPr/>
        </p:nvSpPr>
        <p:spPr>
          <a:xfrm>
            <a:off x="2728913" y="4660899"/>
            <a:ext cx="624205" cy="532130"/>
          </a:xfrm>
          <a:custGeom>
            <a:avLst/>
            <a:gdLst/>
            <a:ahLst/>
            <a:cxnLst/>
            <a:rect l="l" t="t" r="r" b="b"/>
            <a:pathLst>
              <a:path w="624205" h="532129">
                <a:moveTo>
                  <a:pt x="0" y="0"/>
                </a:moveTo>
                <a:lnTo>
                  <a:pt x="623886" y="531812"/>
                </a:lnTo>
              </a:path>
            </a:pathLst>
          </a:custGeom>
          <a:ln w="28574">
            <a:solidFill>
              <a:srgbClr val="4349AA"/>
            </a:solidFill>
          </a:ln>
        </p:spPr>
        <p:txBody>
          <a:bodyPr wrap="square" lIns="0" tIns="0" rIns="0" bIns="0" rtlCol="0"/>
          <a:lstStyle/>
          <a:p>
            <a:endParaRPr/>
          </a:p>
        </p:txBody>
      </p:sp>
      <p:sp>
        <p:nvSpPr>
          <p:cNvPr id="13" name="object 13"/>
          <p:cNvSpPr/>
          <p:nvPr/>
        </p:nvSpPr>
        <p:spPr>
          <a:xfrm>
            <a:off x="3694113" y="4014787"/>
            <a:ext cx="574675" cy="532130"/>
          </a:xfrm>
          <a:custGeom>
            <a:avLst/>
            <a:gdLst/>
            <a:ahLst/>
            <a:cxnLst/>
            <a:rect l="l" t="t" r="r" b="b"/>
            <a:pathLst>
              <a:path w="574675" h="532129">
                <a:moveTo>
                  <a:pt x="0" y="0"/>
                </a:moveTo>
                <a:lnTo>
                  <a:pt x="574674" y="531811"/>
                </a:lnTo>
              </a:path>
            </a:pathLst>
          </a:custGeom>
          <a:ln w="28574">
            <a:solidFill>
              <a:srgbClr val="4349AA"/>
            </a:solidFill>
          </a:ln>
        </p:spPr>
        <p:txBody>
          <a:bodyPr wrap="square" lIns="0" tIns="0" rIns="0" bIns="0" rtlCol="0"/>
          <a:lstStyle/>
          <a:p>
            <a:endParaRPr/>
          </a:p>
        </p:txBody>
      </p:sp>
      <p:sp>
        <p:nvSpPr>
          <p:cNvPr id="14" name="object 14"/>
          <p:cNvSpPr/>
          <p:nvPr/>
        </p:nvSpPr>
        <p:spPr>
          <a:xfrm>
            <a:off x="3598862" y="5260975"/>
            <a:ext cx="717550" cy="421005"/>
          </a:xfrm>
          <a:custGeom>
            <a:avLst/>
            <a:gdLst/>
            <a:ahLst/>
            <a:cxnLst/>
            <a:rect l="l" t="t" r="r" b="b"/>
            <a:pathLst>
              <a:path w="717550" h="421004">
                <a:moveTo>
                  <a:pt x="0" y="0"/>
                </a:moveTo>
                <a:lnTo>
                  <a:pt x="717549" y="420687"/>
                </a:lnTo>
              </a:path>
            </a:pathLst>
          </a:custGeom>
          <a:ln w="28574">
            <a:solidFill>
              <a:srgbClr val="4349AA"/>
            </a:solidFill>
          </a:ln>
        </p:spPr>
        <p:txBody>
          <a:bodyPr wrap="square" lIns="0" tIns="0" rIns="0" bIns="0" rtlCol="0"/>
          <a:lstStyle/>
          <a:p>
            <a:endParaRPr/>
          </a:p>
        </p:txBody>
      </p:sp>
      <p:sp>
        <p:nvSpPr>
          <p:cNvPr id="15" name="object 15"/>
          <p:cNvSpPr/>
          <p:nvPr/>
        </p:nvSpPr>
        <p:spPr>
          <a:xfrm>
            <a:off x="3630613" y="4714875"/>
            <a:ext cx="638175" cy="421005"/>
          </a:xfrm>
          <a:custGeom>
            <a:avLst/>
            <a:gdLst/>
            <a:ahLst/>
            <a:cxnLst/>
            <a:rect l="l" t="t" r="r" b="b"/>
            <a:pathLst>
              <a:path w="638175" h="421004">
                <a:moveTo>
                  <a:pt x="0" y="420687"/>
                </a:moveTo>
                <a:lnTo>
                  <a:pt x="638174" y="0"/>
                </a:lnTo>
              </a:path>
            </a:pathLst>
          </a:custGeom>
          <a:ln w="28574">
            <a:solidFill>
              <a:srgbClr val="4349AA"/>
            </a:solidFill>
          </a:ln>
        </p:spPr>
        <p:txBody>
          <a:bodyPr wrap="square" lIns="0" tIns="0" rIns="0" bIns="0" rtlCol="0"/>
          <a:lstStyle/>
          <a:p>
            <a:endParaRPr/>
          </a:p>
        </p:txBody>
      </p:sp>
      <p:sp>
        <p:nvSpPr>
          <p:cNvPr id="16" name="object 16"/>
          <p:cNvSpPr/>
          <p:nvPr/>
        </p:nvSpPr>
        <p:spPr>
          <a:xfrm>
            <a:off x="4460875" y="4729162"/>
            <a:ext cx="654050" cy="392430"/>
          </a:xfrm>
          <a:custGeom>
            <a:avLst/>
            <a:gdLst/>
            <a:ahLst/>
            <a:cxnLst/>
            <a:rect l="l" t="t" r="r" b="b"/>
            <a:pathLst>
              <a:path w="654050" h="392429">
                <a:moveTo>
                  <a:pt x="0" y="0"/>
                </a:moveTo>
                <a:lnTo>
                  <a:pt x="654049" y="392111"/>
                </a:lnTo>
              </a:path>
            </a:pathLst>
          </a:custGeom>
          <a:ln w="28574">
            <a:solidFill>
              <a:srgbClr val="4349AA"/>
            </a:solidFill>
          </a:ln>
        </p:spPr>
        <p:txBody>
          <a:bodyPr wrap="square" lIns="0" tIns="0" rIns="0" bIns="0" rtlCol="0"/>
          <a:lstStyle/>
          <a:p>
            <a:endParaRPr/>
          </a:p>
        </p:txBody>
      </p:sp>
      <p:sp>
        <p:nvSpPr>
          <p:cNvPr id="17" name="object 17"/>
          <p:cNvSpPr/>
          <p:nvPr/>
        </p:nvSpPr>
        <p:spPr>
          <a:xfrm>
            <a:off x="4556124" y="5303836"/>
            <a:ext cx="590550" cy="335280"/>
          </a:xfrm>
          <a:custGeom>
            <a:avLst/>
            <a:gdLst/>
            <a:ahLst/>
            <a:cxnLst/>
            <a:rect l="l" t="t" r="r" b="b"/>
            <a:pathLst>
              <a:path w="590550" h="335279">
                <a:moveTo>
                  <a:pt x="0" y="334961"/>
                </a:moveTo>
                <a:lnTo>
                  <a:pt x="590549" y="0"/>
                </a:lnTo>
              </a:path>
            </a:pathLst>
          </a:custGeom>
          <a:ln w="28574">
            <a:solidFill>
              <a:srgbClr val="4349AA"/>
            </a:solidFill>
          </a:ln>
        </p:spPr>
        <p:txBody>
          <a:bodyPr wrap="square" lIns="0" tIns="0" rIns="0" bIns="0" rtlCol="0"/>
          <a:lstStyle/>
          <a:p>
            <a:endParaRPr/>
          </a:p>
        </p:txBody>
      </p:sp>
      <p:sp>
        <p:nvSpPr>
          <p:cNvPr id="18" name="object 18"/>
          <p:cNvSpPr/>
          <p:nvPr/>
        </p:nvSpPr>
        <p:spPr>
          <a:xfrm>
            <a:off x="4508501" y="4546600"/>
            <a:ext cx="1532255" cy="98425"/>
          </a:xfrm>
          <a:custGeom>
            <a:avLst/>
            <a:gdLst/>
            <a:ahLst/>
            <a:cxnLst/>
            <a:rect l="l" t="t" r="r" b="b"/>
            <a:pathLst>
              <a:path w="1532254" h="98425">
                <a:moveTo>
                  <a:pt x="0" y="98424"/>
                </a:moveTo>
                <a:lnTo>
                  <a:pt x="1531937" y="0"/>
                </a:lnTo>
              </a:path>
            </a:pathLst>
          </a:custGeom>
          <a:ln w="28574">
            <a:solidFill>
              <a:srgbClr val="4349AA"/>
            </a:solidFill>
          </a:ln>
        </p:spPr>
        <p:txBody>
          <a:bodyPr wrap="square" lIns="0" tIns="0" rIns="0" bIns="0" rtlCol="0"/>
          <a:lstStyle/>
          <a:p>
            <a:endParaRPr/>
          </a:p>
        </p:txBody>
      </p:sp>
      <p:sp>
        <p:nvSpPr>
          <p:cNvPr id="19" name="object 19"/>
          <p:cNvSpPr/>
          <p:nvPr/>
        </p:nvSpPr>
        <p:spPr>
          <a:xfrm>
            <a:off x="3709988" y="3944937"/>
            <a:ext cx="1373505" cy="14604"/>
          </a:xfrm>
          <a:custGeom>
            <a:avLst/>
            <a:gdLst/>
            <a:ahLst/>
            <a:cxnLst/>
            <a:rect l="l" t="t" r="r" b="b"/>
            <a:pathLst>
              <a:path w="1373504" h="14604">
                <a:moveTo>
                  <a:pt x="0" y="0"/>
                </a:moveTo>
                <a:lnTo>
                  <a:pt x="1373186" y="14287"/>
                </a:lnTo>
              </a:path>
            </a:pathLst>
          </a:custGeom>
          <a:ln w="28574">
            <a:solidFill>
              <a:srgbClr val="4349AA"/>
            </a:solidFill>
          </a:ln>
        </p:spPr>
        <p:txBody>
          <a:bodyPr wrap="square" lIns="0" tIns="0" rIns="0" bIns="0" rtlCol="0"/>
          <a:lstStyle/>
          <a:p>
            <a:endParaRPr/>
          </a:p>
        </p:txBody>
      </p:sp>
      <p:sp>
        <p:nvSpPr>
          <p:cNvPr id="20" name="object 20"/>
          <p:cNvSpPr/>
          <p:nvPr/>
        </p:nvSpPr>
        <p:spPr>
          <a:xfrm>
            <a:off x="5354637" y="4043362"/>
            <a:ext cx="767080" cy="419100"/>
          </a:xfrm>
          <a:custGeom>
            <a:avLst/>
            <a:gdLst/>
            <a:ahLst/>
            <a:cxnLst/>
            <a:rect l="l" t="t" r="r" b="b"/>
            <a:pathLst>
              <a:path w="767079" h="419100">
                <a:moveTo>
                  <a:pt x="0" y="0"/>
                </a:moveTo>
                <a:lnTo>
                  <a:pt x="766761" y="419099"/>
                </a:lnTo>
              </a:path>
            </a:pathLst>
          </a:custGeom>
          <a:ln w="28574">
            <a:solidFill>
              <a:srgbClr val="4349AA"/>
            </a:solidFill>
          </a:ln>
        </p:spPr>
        <p:txBody>
          <a:bodyPr wrap="square" lIns="0" tIns="0" rIns="0" bIns="0" rtlCol="0"/>
          <a:lstStyle/>
          <a:p>
            <a:endParaRPr/>
          </a:p>
        </p:txBody>
      </p:sp>
      <p:sp>
        <p:nvSpPr>
          <p:cNvPr id="21" name="object 21"/>
          <p:cNvSpPr txBox="1"/>
          <p:nvPr/>
        </p:nvSpPr>
        <p:spPr>
          <a:xfrm>
            <a:off x="2906077" y="381285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3</a:t>
            </a:r>
            <a:endParaRPr sz="2400">
              <a:latin typeface="Times New Roman"/>
              <a:cs typeface="Times New Roman"/>
            </a:endParaRPr>
          </a:p>
        </p:txBody>
      </p:sp>
      <p:sp>
        <p:nvSpPr>
          <p:cNvPr id="22" name="object 22"/>
          <p:cNvSpPr txBox="1"/>
          <p:nvPr/>
        </p:nvSpPr>
        <p:spPr>
          <a:xfrm>
            <a:off x="4263389" y="346360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2</a:t>
            </a:r>
            <a:endParaRPr sz="2400">
              <a:latin typeface="Times New Roman"/>
              <a:cs typeface="Times New Roman"/>
            </a:endParaRPr>
          </a:p>
        </p:txBody>
      </p:sp>
      <p:sp>
        <p:nvSpPr>
          <p:cNvPr id="23" name="object 23"/>
          <p:cNvSpPr txBox="1"/>
          <p:nvPr/>
        </p:nvSpPr>
        <p:spPr>
          <a:xfrm>
            <a:off x="3018789" y="448595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2</a:t>
            </a:r>
            <a:endParaRPr sz="2400">
              <a:latin typeface="Times New Roman"/>
              <a:cs typeface="Times New Roman"/>
            </a:endParaRPr>
          </a:p>
        </p:txBody>
      </p:sp>
      <p:sp>
        <p:nvSpPr>
          <p:cNvPr id="24" name="object 24"/>
          <p:cNvSpPr txBox="1"/>
          <p:nvPr/>
        </p:nvSpPr>
        <p:spPr>
          <a:xfrm>
            <a:off x="4023677" y="3911282"/>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1</a:t>
            </a:r>
            <a:endParaRPr sz="2400">
              <a:latin typeface="Times New Roman"/>
              <a:cs typeface="Times New Roman"/>
            </a:endParaRPr>
          </a:p>
        </p:txBody>
      </p:sp>
      <p:sp>
        <p:nvSpPr>
          <p:cNvPr id="25" name="object 25"/>
          <p:cNvSpPr txBox="1"/>
          <p:nvPr/>
        </p:nvSpPr>
        <p:spPr>
          <a:xfrm>
            <a:off x="3720464" y="455580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1</a:t>
            </a:r>
            <a:endParaRPr sz="2400">
              <a:latin typeface="Times New Roman"/>
              <a:cs typeface="Times New Roman"/>
            </a:endParaRPr>
          </a:p>
        </p:txBody>
      </p:sp>
      <p:sp>
        <p:nvSpPr>
          <p:cNvPr id="26" name="object 26"/>
          <p:cNvSpPr txBox="1"/>
          <p:nvPr/>
        </p:nvSpPr>
        <p:spPr>
          <a:xfrm>
            <a:off x="4998402" y="414940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4</a:t>
            </a:r>
            <a:endParaRPr sz="2400">
              <a:latin typeface="Times New Roman"/>
              <a:cs typeface="Times New Roman"/>
            </a:endParaRPr>
          </a:p>
        </p:txBody>
      </p:sp>
      <p:sp>
        <p:nvSpPr>
          <p:cNvPr id="27" name="object 27"/>
          <p:cNvSpPr txBox="1"/>
          <p:nvPr/>
        </p:nvSpPr>
        <p:spPr>
          <a:xfrm>
            <a:off x="5700077" y="374300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1</a:t>
            </a:r>
            <a:endParaRPr sz="2400">
              <a:latin typeface="Times New Roman"/>
              <a:cs typeface="Times New Roman"/>
            </a:endParaRPr>
          </a:p>
        </p:txBody>
      </p:sp>
      <p:sp>
        <p:nvSpPr>
          <p:cNvPr id="28" name="object 28"/>
          <p:cNvSpPr txBox="1"/>
          <p:nvPr/>
        </p:nvSpPr>
        <p:spPr>
          <a:xfrm>
            <a:off x="4522152" y="4828857"/>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5</a:t>
            </a:r>
            <a:endParaRPr sz="2400">
              <a:latin typeface="Times New Roman"/>
              <a:cs typeface="Times New Roman"/>
            </a:endParaRPr>
          </a:p>
        </p:txBody>
      </p:sp>
      <p:sp>
        <p:nvSpPr>
          <p:cNvPr id="29" name="object 29"/>
          <p:cNvSpPr txBox="1"/>
          <p:nvPr/>
        </p:nvSpPr>
        <p:spPr>
          <a:xfrm>
            <a:off x="4919027" y="5395594"/>
            <a:ext cx="177800" cy="391160"/>
          </a:xfrm>
          <a:prstGeom prst="rect">
            <a:avLst/>
          </a:prstGeom>
        </p:spPr>
        <p:txBody>
          <a:bodyPr vert="horz" wrap="square" lIns="0" tIns="12700" rIns="0" bIns="0" rtlCol="0">
            <a:spAutoFit/>
          </a:bodyPr>
          <a:lstStyle/>
          <a:p>
            <a:pPr marL="12700">
              <a:spcBef>
                <a:spcPts val="100"/>
              </a:spcBef>
            </a:pPr>
            <a:r>
              <a:rPr sz="2400" dirty="0">
                <a:solidFill>
                  <a:srgbClr val="333399"/>
                </a:solidFill>
                <a:latin typeface="Times New Roman"/>
                <a:cs typeface="Times New Roman"/>
              </a:rPr>
              <a:t>3</a:t>
            </a:r>
            <a:endParaRPr sz="2400">
              <a:latin typeface="Times New Roman"/>
              <a:cs typeface="Times New Roman"/>
            </a:endParaRPr>
          </a:p>
        </p:txBody>
      </p:sp>
      <p:sp>
        <p:nvSpPr>
          <p:cNvPr id="30" name="object 30"/>
          <p:cNvSpPr txBox="1"/>
          <p:nvPr/>
        </p:nvSpPr>
        <p:spPr>
          <a:xfrm>
            <a:off x="2180590" y="4347844"/>
            <a:ext cx="180975"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u</a:t>
            </a:r>
            <a:endParaRPr sz="2000">
              <a:latin typeface="Arial"/>
              <a:cs typeface="Arial"/>
            </a:endParaRPr>
          </a:p>
        </p:txBody>
      </p:sp>
      <p:sp>
        <p:nvSpPr>
          <p:cNvPr id="31" name="object 31"/>
          <p:cNvSpPr txBox="1"/>
          <p:nvPr/>
        </p:nvSpPr>
        <p:spPr>
          <a:xfrm>
            <a:off x="3453765" y="3477894"/>
            <a:ext cx="167005"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v</a:t>
            </a:r>
            <a:endParaRPr sz="2000">
              <a:latin typeface="Arial"/>
              <a:cs typeface="Arial"/>
            </a:endParaRPr>
          </a:p>
        </p:txBody>
      </p:sp>
      <p:sp>
        <p:nvSpPr>
          <p:cNvPr id="32" name="object 32"/>
          <p:cNvSpPr txBox="1"/>
          <p:nvPr/>
        </p:nvSpPr>
        <p:spPr>
          <a:xfrm>
            <a:off x="3352165" y="5295582"/>
            <a:ext cx="523875" cy="391160"/>
          </a:xfrm>
          <a:prstGeom prst="rect">
            <a:avLst/>
          </a:prstGeom>
        </p:spPr>
        <p:txBody>
          <a:bodyPr vert="horz" wrap="square" lIns="0" tIns="12700" rIns="0" bIns="0" rtlCol="0">
            <a:spAutoFit/>
          </a:bodyPr>
          <a:lstStyle/>
          <a:p>
            <a:pPr marL="38100">
              <a:spcBef>
                <a:spcPts val="100"/>
              </a:spcBef>
            </a:pPr>
            <a:r>
              <a:rPr sz="2000" b="1" dirty="0">
                <a:solidFill>
                  <a:srgbClr val="0000FF"/>
                </a:solidFill>
                <a:latin typeface="Arial"/>
                <a:cs typeface="Arial"/>
              </a:rPr>
              <a:t>w</a:t>
            </a:r>
            <a:r>
              <a:rPr sz="2000" b="1" spc="135" dirty="0">
                <a:solidFill>
                  <a:srgbClr val="0000FF"/>
                </a:solidFill>
                <a:latin typeface="Arial"/>
                <a:cs typeface="Arial"/>
              </a:rPr>
              <a:t> </a:t>
            </a:r>
            <a:r>
              <a:rPr sz="3600" baseline="-13888" dirty="0">
                <a:solidFill>
                  <a:srgbClr val="333399"/>
                </a:solidFill>
                <a:latin typeface="Times New Roman"/>
                <a:cs typeface="Times New Roman"/>
              </a:rPr>
              <a:t>4</a:t>
            </a:r>
            <a:endParaRPr sz="3600" baseline="-13888">
              <a:latin typeface="Times New Roman"/>
              <a:cs typeface="Times New Roman"/>
            </a:endParaRPr>
          </a:p>
        </p:txBody>
      </p:sp>
      <p:sp>
        <p:nvSpPr>
          <p:cNvPr id="33" name="object 33"/>
          <p:cNvSpPr txBox="1"/>
          <p:nvPr/>
        </p:nvSpPr>
        <p:spPr>
          <a:xfrm>
            <a:off x="4352290" y="4181157"/>
            <a:ext cx="167005"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x</a:t>
            </a:r>
            <a:endParaRPr sz="2000">
              <a:latin typeface="Arial"/>
              <a:cs typeface="Arial"/>
            </a:endParaRPr>
          </a:p>
        </p:txBody>
      </p:sp>
      <p:sp>
        <p:nvSpPr>
          <p:cNvPr id="34" name="object 34"/>
          <p:cNvSpPr txBox="1"/>
          <p:nvPr/>
        </p:nvSpPr>
        <p:spPr>
          <a:xfrm>
            <a:off x="5160328" y="3489007"/>
            <a:ext cx="167005"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y</a:t>
            </a:r>
            <a:endParaRPr sz="2000">
              <a:latin typeface="Arial"/>
              <a:cs typeface="Arial"/>
            </a:endParaRPr>
          </a:p>
        </p:txBody>
      </p:sp>
      <p:sp>
        <p:nvSpPr>
          <p:cNvPr id="35" name="object 35"/>
          <p:cNvSpPr txBox="1"/>
          <p:nvPr/>
        </p:nvSpPr>
        <p:spPr>
          <a:xfrm>
            <a:off x="6435089" y="4335144"/>
            <a:ext cx="152400"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z</a:t>
            </a:r>
            <a:endParaRPr sz="2000">
              <a:latin typeface="Arial"/>
              <a:cs typeface="Arial"/>
            </a:endParaRPr>
          </a:p>
        </p:txBody>
      </p:sp>
      <p:sp>
        <p:nvSpPr>
          <p:cNvPr id="36" name="object 36"/>
          <p:cNvSpPr txBox="1"/>
          <p:nvPr/>
        </p:nvSpPr>
        <p:spPr>
          <a:xfrm>
            <a:off x="4601528" y="5692457"/>
            <a:ext cx="167005"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s</a:t>
            </a:r>
            <a:endParaRPr sz="2000">
              <a:latin typeface="Arial"/>
              <a:cs typeface="Arial"/>
            </a:endParaRPr>
          </a:p>
        </p:txBody>
      </p:sp>
      <p:sp>
        <p:nvSpPr>
          <p:cNvPr id="37" name="object 37"/>
          <p:cNvSpPr txBox="1"/>
          <p:nvPr/>
        </p:nvSpPr>
        <p:spPr>
          <a:xfrm>
            <a:off x="5495290" y="5025707"/>
            <a:ext cx="110489" cy="330200"/>
          </a:xfrm>
          <a:prstGeom prst="rect">
            <a:avLst/>
          </a:prstGeom>
        </p:spPr>
        <p:txBody>
          <a:bodyPr vert="horz" wrap="square" lIns="0" tIns="12700" rIns="0" bIns="0" rtlCol="0">
            <a:spAutoFit/>
          </a:bodyPr>
          <a:lstStyle/>
          <a:p>
            <a:pPr marL="12700">
              <a:spcBef>
                <a:spcPts val="100"/>
              </a:spcBef>
            </a:pPr>
            <a:r>
              <a:rPr sz="2000" b="1" dirty="0">
                <a:solidFill>
                  <a:srgbClr val="0000FF"/>
                </a:solidFill>
                <a:latin typeface="Arial"/>
                <a:cs typeface="Arial"/>
              </a:rPr>
              <a:t>t</a:t>
            </a:r>
            <a:endParaRPr sz="2000">
              <a:latin typeface="Arial"/>
              <a:cs typeface="Arial"/>
            </a:endParaRPr>
          </a:p>
        </p:txBody>
      </p:sp>
      <p:sp>
        <p:nvSpPr>
          <p:cNvPr id="38" name="object 38"/>
          <p:cNvSpPr txBox="1"/>
          <p:nvPr/>
        </p:nvSpPr>
        <p:spPr>
          <a:xfrm>
            <a:off x="5995353" y="4900295"/>
            <a:ext cx="4130675" cy="871219"/>
          </a:xfrm>
          <a:prstGeom prst="rect">
            <a:avLst/>
          </a:prstGeom>
        </p:spPr>
        <p:txBody>
          <a:bodyPr vert="horz" wrap="square" lIns="0" tIns="12700" rIns="0" bIns="0" rtlCol="0">
            <a:spAutoFit/>
          </a:bodyPr>
          <a:lstStyle/>
          <a:p>
            <a:pPr marR="118745" algn="r">
              <a:lnSpc>
                <a:spcPts val="3329"/>
              </a:lnSpc>
              <a:spcBef>
                <a:spcPts val="100"/>
              </a:spcBef>
            </a:pPr>
            <a:r>
              <a:rPr sz="2800" dirty="0">
                <a:solidFill>
                  <a:srgbClr val="333399"/>
                </a:solidFill>
                <a:latin typeface="Arial"/>
                <a:cs typeface="Arial"/>
              </a:rPr>
              <a:t>d</a:t>
            </a:r>
            <a:r>
              <a:rPr sz="2775" baseline="-21021" dirty="0">
                <a:solidFill>
                  <a:srgbClr val="4349AA"/>
                </a:solidFill>
                <a:latin typeface="Arial"/>
                <a:cs typeface="Arial"/>
              </a:rPr>
              <a:t>u</a:t>
            </a:r>
            <a:r>
              <a:rPr sz="2800" dirty="0">
                <a:solidFill>
                  <a:srgbClr val="333399"/>
                </a:solidFill>
                <a:latin typeface="Arial"/>
                <a:cs typeface="Arial"/>
              </a:rPr>
              <a:t>(z) = </a:t>
            </a:r>
            <a:r>
              <a:rPr sz="2800" spc="-5" dirty="0">
                <a:solidFill>
                  <a:srgbClr val="333399"/>
                </a:solidFill>
                <a:latin typeface="Arial"/>
                <a:cs typeface="Arial"/>
              </a:rPr>
              <a:t>min{c(u,v) </a:t>
            </a:r>
            <a:r>
              <a:rPr sz="2800" dirty="0">
                <a:solidFill>
                  <a:srgbClr val="333399"/>
                </a:solidFill>
                <a:latin typeface="Arial"/>
                <a:cs typeface="Arial"/>
              </a:rPr>
              <a:t>+</a:t>
            </a:r>
            <a:r>
              <a:rPr sz="2800" spc="-50" dirty="0">
                <a:solidFill>
                  <a:srgbClr val="333399"/>
                </a:solidFill>
                <a:latin typeface="Arial"/>
                <a:cs typeface="Arial"/>
              </a:rPr>
              <a:t> </a:t>
            </a:r>
            <a:r>
              <a:rPr sz="2800" dirty="0">
                <a:solidFill>
                  <a:srgbClr val="333399"/>
                </a:solidFill>
                <a:latin typeface="Arial"/>
                <a:cs typeface="Arial"/>
              </a:rPr>
              <a:t>d</a:t>
            </a:r>
            <a:r>
              <a:rPr sz="2775" baseline="-21021" dirty="0">
                <a:solidFill>
                  <a:srgbClr val="4349AA"/>
                </a:solidFill>
                <a:latin typeface="Arial"/>
                <a:cs typeface="Arial"/>
              </a:rPr>
              <a:t>v</a:t>
            </a:r>
            <a:r>
              <a:rPr sz="2800" dirty="0">
                <a:solidFill>
                  <a:srgbClr val="333399"/>
                </a:solidFill>
                <a:latin typeface="Arial"/>
                <a:cs typeface="Arial"/>
              </a:rPr>
              <a:t>(z),</a:t>
            </a:r>
            <a:endParaRPr sz="2800">
              <a:latin typeface="Arial"/>
              <a:cs typeface="Arial"/>
            </a:endParaRPr>
          </a:p>
          <a:p>
            <a:pPr marR="30480" algn="r">
              <a:lnSpc>
                <a:spcPts val="3329"/>
              </a:lnSpc>
            </a:pPr>
            <a:r>
              <a:rPr sz="2800" spc="-5" dirty="0">
                <a:solidFill>
                  <a:srgbClr val="333399"/>
                </a:solidFill>
                <a:latin typeface="Arial"/>
                <a:cs typeface="Arial"/>
              </a:rPr>
              <a:t>c(u,w) </a:t>
            </a:r>
            <a:r>
              <a:rPr sz="2800" dirty="0">
                <a:solidFill>
                  <a:srgbClr val="333399"/>
                </a:solidFill>
                <a:latin typeface="Arial"/>
                <a:cs typeface="Arial"/>
              </a:rPr>
              <a:t>+</a:t>
            </a:r>
            <a:r>
              <a:rPr sz="2800" spc="-65" dirty="0">
                <a:solidFill>
                  <a:srgbClr val="333399"/>
                </a:solidFill>
                <a:latin typeface="Arial"/>
                <a:cs typeface="Arial"/>
              </a:rPr>
              <a:t> </a:t>
            </a:r>
            <a:r>
              <a:rPr sz="2800" dirty="0">
                <a:solidFill>
                  <a:srgbClr val="333399"/>
                </a:solidFill>
                <a:latin typeface="Arial"/>
                <a:cs typeface="Arial"/>
              </a:rPr>
              <a:t>d</a:t>
            </a:r>
            <a:r>
              <a:rPr sz="2775" baseline="-21021" dirty="0">
                <a:solidFill>
                  <a:srgbClr val="4349AA"/>
                </a:solidFill>
                <a:latin typeface="Arial"/>
                <a:cs typeface="Arial"/>
              </a:rPr>
              <a:t>w</a:t>
            </a:r>
            <a:r>
              <a:rPr sz="2800" dirty="0">
                <a:solidFill>
                  <a:srgbClr val="333399"/>
                </a:solidFill>
                <a:latin typeface="Arial"/>
                <a:cs typeface="Arial"/>
              </a:rPr>
              <a:t>(z)}</a:t>
            </a:r>
            <a:endParaRPr sz="2800">
              <a:latin typeface="Arial"/>
              <a:cs typeface="Arial"/>
            </a:endParaRPr>
          </a:p>
        </p:txBody>
      </p:sp>
      <p:sp>
        <p:nvSpPr>
          <p:cNvPr id="40" name="object 40"/>
          <p:cNvSpPr txBox="1">
            <a:spLocks noGrp="1"/>
          </p:cNvSpPr>
          <p:nvPr>
            <p:ph type="title"/>
          </p:nvPr>
        </p:nvSpPr>
        <p:spPr>
          <a:xfrm>
            <a:off x="794385" y="487609"/>
            <a:ext cx="5895340" cy="695960"/>
          </a:xfrm>
          <a:prstGeom prst="rect">
            <a:avLst/>
          </a:prstGeom>
        </p:spPr>
        <p:txBody>
          <a:bodyPr vert="horz" wrap="square" lIns="0" tIns="12700" rIns="0" bIns="0" rtlCol="0" anchor="ctr">
            <a:spAutoFit/>
          </a:bodyPr>
          <a:lstStyle/>
          <a:p>
            <a:pPr marL="12700">
              <a:lnSpc>
                <a:spcPct val="100000"/>
              </a:lnSpc>
              <a:spcBef>
                <a:spcPts val="100"/>
              </a:spcBef>
            </a:pPr>
            <a:r>
              <a:rPr b="1" spc="-5" dirty="0">
                <a:solidFill>
                  <a:srgbClr val="FF0000"/>
                </a:solidFill>
              </a:rPr>
              <a:t>Bellman-Ford Algorithm</a:t>
            </a:r>
          </a:p>
        </p:txBody>
      </p:sp>
      <p:sp>
        <p:nvSpPr>
          <p:cNvPr id="42" name="object 42"/>
          <p:cNvSpPr txBox="1">
            <a:spLocks noGrp="1"/>
          </p:cNvSpPr>
          <p:nvPr>
            <p:ph type="sldNum" sz="quarter" idx="12"/>
          </p:nvPr>
        </p:nvSpPr>
        <p:spPr>
          <a:xfrm>
            <a:off x="10134600" y="6429908"/>
            <a:ext cx="2743200" cy="218008"/>
          </a:xfrm>
          <a:prstGeom prst="rect">
            <a:avLst/>
          </a:prstGeom>
        </p:spPr>
        <p:txBody>
          <a:bodyPr vert="horz" wrap="square" lIns="0" tIns="0" rIns="0" bIns="0" rtlCol="0" anchor="ctr">
            <a:spAutoFit/>
          </a:bodyPr>
          <a:lstStyle/>
          <a:p>
            <a:pPr marL="25400">
              <a:lnSpc>
                <a:spcPts val="1650"/>
              </a:lnSpc>
            </a:pPr>
            <a:fld id="{81D60167-4931-47E6-BA6A-407CBD079E47}" type="slidenum">
              <a:rPr dirty="0"/>
              <a:pPr marL="25400">
                <a:lnSpc>
                  <a:spcPts val="1650"/>
                </a:lnSpc>
              </a:pPr>
              <a:t>10</a:t>
            </a:fld>
            <a:endParaRPr dirty="0"/>
          </a:p>
        </p:txBody>
      </p:sp>
    </p:spTree>
    <p:extLst>
      <p:ext uri="{BB962C8B-B14F-4D97-AF65-F5344CB8AC3E}">
        <p14:creationId xmlns:p14="http://schemas.microsoft.com/office/powerpoint/2010/main" val="6148655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3453" y="1506539"/>
            <a:ext cx="5674941" cy="4892878"/>
          </a:xfrm>
          <a:prstGeom prst="rect">
            <a:avLst/>
          </a:prstGeom>
        </p:spPr>
        <p:txBody>
          <a:bodyPr vert="horz" wrap="square" lIns="0" tIns="73660" rIns="0" bIns="0" rtlCol="0">
            <a:spAutoFit/>
          </a:bodyPr>
          <a:lstStyle/>
          <a:p>
            <a:pPr marL="354965" marR="175260" indent="-342900">
              <a:lnSpc>
                <a:spcPts val="2400"/>
              </a:lnSpc>
              <a:spcBef>
                <a:spcPts val="580"/>
              </a:spcBef>
            </a:pPr>
            <a:r>
              <a:rPr sz="2800" b="1" spc="-5" dirty="0">
                <a:latin typeface="Arial"/>
                <a:cs typeface="Arial"/>
              </a:rPr>
              <a:t>Iterative, </a:t>
            </a:r>
            <a:r>
              <a:rPr sz="2800" b="1" dirty="0">
                <a:latin typeface="Arial"/>
                <a:cs typeface="Arial"/>
              </a:rPr>
              <a:t>asynchronous:</a:t>
            </a:r>
            <a:r>
              <a:rPr sz="2800" b="1" spc="-70" dirty="0">
                <a:latin typeface="Arial"/>
                <a:cs typeface="Arial"/>
              </a:rPr>
              <a:t> </a:t>
            </a:r>
            <a:endParaRPr lang="en-IN" sz="2800" b="1" spc="-70" dirty="0" smtClean="0">
              <a:latin typeface="Arial"/>
              <a:cs typeface="Arial"/>
            </a:endParaRPr>
          </a:p>
          <a:p>
            <a:pPr marL="354965" marR="175260" indent="-342900">
              <a:lnSpc>
                <a:spcPts val="2400"/>
              </a:lnSpc>
              <a:spcBef>
                <a:spcPts val="580"/>
              </a:spcBef>
            </a:pPr>
            <a:r>
              <a:rPr lang="en-IN" sz="2800" spc="-70" dirty="0">
                <a:latin typeface="Arial"/>
                <a:cs typeface="Arial"/>
              </a:rPr>
              <a:t> </a:t>
            </a:r>
            <a:r>
              <a:rPr lang="en-IN" sz="2800" spc="-70" dirty="0" smtClean="0">
                <a:latin typeface="Arial"/>
                <a:cs typeface="Arial"/>
              </a:rPr>
              <a:t>   </a:t>
            </a:r>
            <a:r>
              <a:rPr sz="2800" dirty="0" smtClean="0">
                <a:latin typeface="Arial"/>
                <a:cs typeface="Arial"/>
              </a:rPr>
              <a:t>each  </a:t>
            </a:r>
            <a:r>
              <a:rPr sz="2800" dirty="0">
                <a:latin typeface="Arial"/>
                <a:cs typeface="Arial"/>
              </a:rPr>
              <a:t>local </a:t>
            </a:r>
            <a:r>
              <a:rPr sz="2800" spc="-5" dirty="0">
                <a:latin typeface="Arial"/>
                <a:cs typeface="Arial"/>
              </a:rPr>
              <a:t>iteration </a:t>
            </a:r>
            <a:r>
              <a:rPr sz="2800" dirty="0">
                <a:latin typeface="Arial"/>
                <a:cs typeface="Arial"/>
              </a:rPr>
              <a:t>caused</a:t>
            </a:r>
            <a:r>
              <a:rPr sz="2800" spc="-10" dirty="0">
                <a:latin typeface="Arial"/>
                <a:cs typeface="Arial"/>
              </a:rPr>
              <a:t> </a:t>
            </a:r>
            <a:r>
              <a:rPr sz="2800" dirty="0">
                <a:latin typeface="Arial"/>
                <a:cs typeface="Arial"/>
              </a:rPr>
              <a:t>by:</a:t>
            </a:r>
          </a:p>
          <a:p>
            <a:pPr marL="355600" indent="-342900">
              <a:spcBef>
                <a:spcPts val="400"/>
              </a:spcBef>
              <a:buClr>
                <a:srgbClr val="333399"/>
              </a:buClr>
              <a:buSzPct val="50000"/>
              <a:buChar char=""/>
              <a:tabLst>
                <a:tab pos="354965" algn="l"/>
                <a:tab pos="355600" algn="l"/>
              </a:tabLst>
            </a:pPr>
            <a:r>
              <a:rPr sz="2800" dirty="0">
                <a:latin typeface="Arial"/>
                <a:cs typeface="Arial"/>
              </a:rPr>
              <a:t>Local link cost</a:t>
            </a:r>
            <a:r>
              <a:rPr sz="2800" spc="-25" dirty="0">
                <a:latin typeface="Arial"/>
                <a:cs typeface="Arial"/>
              </a:rPr>
              <a:t> </a:t>
            </a:r>
            <a:r>
              <a:rPr sz="2800" dirty="0">
                <a:latin typeface="Arial"/>
                <a:cs typeface="Arial"/>
              </a:rPr>
              <a:t>change</a:t>
            </a:r>
          </a:p>
          <a:p>
            <a:pPr marL="354965" marR="5080" indent="-342900">
              <a:lnSpc>
                <a:spcPct val="100800"/>
              </a:lnSpc>
              <a:spcBef>
                <a:spcPts val="480"/>
              </a:spcBef>
              <a:buClr>
                <a:srgbClr val="333399"/>
              </a:buClr>
              <a:buSzPct val="50000"/>
              <a:buChar char=""/>
              <a:tabLst>
                <a:tab pos="354965" algn="l"/>
                <a:tab pos="355600" algn="l"/>
              </a:tabLst>
            </a:pPr>
            <a:r>
              <a:rPr sz="2800" spc="-5" dirty="0">
                <a:latin typeface="Arial"/>
                <a:cs typeface="Arial"/>
              </a:rPr>
              <a:t>Distance vector update </a:t>
            </a:r>
            <a:r>
              <a:rPr sz="2800" dirty="0">
                <a:latin typeface="Arial"/>
                <a:cs typeface="Arial"/>
              </a:rPr>
              <a:t>message  </a:t>
            </a:r>
            <a:r>
              <a:rPr sz="2800" spc="-5" dirty="0">
                <a:latin typeface="Arial"/>
                <a:cs typeface="Arial"/>
              </a:rPr>
              <a:t>from</a:t>
            </a:r>
            <a:r>
              <a:rPr sz="2800" spc="-10" dirty="0">
                <a:latin typeface="Arial"/>
                <a:cs typeface="Arial"/>
              </a:rPr>
              <a:t> </a:t>
            </a:r>
            <a:r>
              <a:rPr sz="2800" dirty="0">
                <a:latin typeface="Arial"/>
                <a:cs typeface="Arial"/>
              </a:rPr>
              <a:t>neighbor</a:t>
            </a:r>
          </a:p>
          <a:p>
            <a:pPr>
              <a:spcBef>
                <a:spcPts val="25"/>
              </a:spcBef>
              <a:buClr>
                <a:srgbClr val="333399"/>
              </a:buClr>
              <a:buFont typeface="Arial"/>
              <a:buChar char=""/>
            </a:pPr>
            <a:endParaRPr sz="2800" dirty="0">
              <a:latin typeface="Times New Roman"/>
              <a:cs typeface="Times New Roman"/>
            </a:endParaRPr>
          </a:p>
          <a:p>
            <a:pPr marL="12700"/>
            <a:r>
              <a:rPr sz="2800" b="1" spc="-5" dirty="0">
                <a:latin typeface="Arial"/>
                <a:cs typeface="Arial"/>
              </a:rPr>
              <a:t>Distributed:</a:t>
            </a:r>
            <a:endParaRPr sz="2800" b="1" dirty="0">
              <a:latin typeface="Arial"/>
              <a:cs typeface="Arial"/>
            </a:endParaRPr>
          </a:p>
          <a:p>
            <a:pPr marL="355600" indent="-342900">
              <a:spcBef>
                <a:spcPts val="425"/>
              </a:spcBef>
              <a:buClr>
                <a:srgbClr val="333399"/>
              </a:buClr>
              <a:buSzPct val="50000"/>
              <a:buChar char=""/>
              <a:tabLst>
                <a:tab pos="354965" algn="l"/>
                <a:tab pos="355600" algn="l"/>
              </a:tabLst>
            </a:pPr>
            <a:r>
              <a:rPr sz="2800" dirty="0">
                <a:latin typeface="Arial"/>
                <a:cs typeface="Arial"/>
              </a:rPr>
              <a:t>Each node </a:t>
            </a:r>
            <a:r>
              <a:rPr sz="2800" spc="-5" dirty="0">
                <a:latin typeface="Arial"/>
                <a:cs typeface="Arial"/>
              </a:rPr>
              <a:t>notifies</a:t>
            </a:r>
            <a:r>
              <a:rPr sz="2800" spc="-30" dirty="0">
                <a:latin typeface="Arial"/>
                <a:cs typeface="Arial"/>
              </a:rPr>
              <a:t> </a:t>
            </a:r>
            <a:r>
              <a:rPr sz="2800" dirty="0">
                <a:latin typeface="Arial"/>
                <a:cs typeface="Arial"/>
              </a:rPr>
              <a:t>neighbors</a:t>
            </a:r>
          </a:p>
          <a:p>
            <a:pPr marL="354965">
              <a:spcBef>
                <a:spcPts val="20"/>
              </a:spcBef>
            </a:pPr>
            <a:r>
              <a:rPr sz="2800" i="1" dirty="0">
                <a:latin typeface="Arial"/>
                <a:cs typeface="Arial"/>
              </a:rPr>
              <a:t>only </a:t>
            </a:r>
            <a:r>
              <a:rPr sz="2800" dirty="0">
                <a:latin typeface="Arial"/>
                <a:cs typeface="Arial"/>
              </a:rPr>
              <a:t>when </a:t>
            </a:r>
            <a:r>
              <a:rPr sz="2800" spc="-5" dirty="0">
                <a:latin typeface="Arial"/>
                <a:cs typeface="Arial"/>
              </a:rPr>
              <a:t>its </a:t>
            </a:r>
            <a:r>
              <a:rPr sz="2800" dirty="0">
                <a:latin typeface="Arial"/>
                <a:cs typeface="Arial"/>
              </a:rPr>
              <a:t>DV</a:t>
            </a:r>
            <a:r>
              <a:rPr sz="2800" spc="-30" dirty="0">
                <a:latin typeface="Arial"/>
                <a:cs typeface="Arial"/>
              </a:rPr>
              <a:t> </a:t>
            </a:r>
            <a:r>
              <a:rPr sz="2800" dirty="0">
                <a:latin typeface="Arial"/>
                <a:cs typeface="Arial"/>
              </a:rPr>
              <a:t>changes</a:t>
            </a:r>
          </a:p>
          <a:p>
            <a:pPr marL="354965" marR="739140" indent="-342900">
              <a:lnSpc>
                <a:spcPct val="100800"/>
              </a:lnSpc>
              <a:spcBef>
                <a:spcPts val="459"/>
              </a:spcBef>
              <a:buClr>
                <a:srgbClr val="333399"/>
              </a:buClr>
              <a:buSzPct val="50000"/>
              <a:buChar char=""/>
              <a:tabLst>
                <a:tab pos="354965" algn="l"/>
                <a:tab pos="355600" algn="l"/>
              </a:tabLst>
            </a:pPr>
            <a:r>
              <a:rPr sz="2800" dirty="0">
                <a:latin typeface="Arial"/>
                <a:cs typeface="Arial"/>
              </a:rPr>
              <a:t>Neighbors </a:t>
            </a:r>
            <a:r>
              <a:rPr sz="2800" spc="-5" dirty="0">
                <a:latin typeface="Arial"/>
                <a:cs typeface="Arial"/>
              </a:rPr>
              <a:t>then notify</a:t>
            </a:r>
            <a:r>
              <a:rPr sz="2800" spc="-50" dirty="0">
                <a:latin typeface="Arial"/>
                <a:cs typeface="Arial"/>
              </a:rPr>
              <a:t> </a:t>
            </a:r>
            <a:r>
              <a:rPr sz="2800" spc="-5" dirty="0">
                <a:latin typeface="Arial"/>
                <a:cs typeface="Arial"/>
              </a:rPr>
              <a:t>their  </a:t>
            </a:r>
            <a:r>
              <a:rPr sz="2800" dirty="0">
                <a:latin typeface="Arial"/>
                <a:cs typeface="Arial"/>
              </a:rPr>
              <a:t>neighbors if</a:t>
            </a:r>
            <a:r>
              <a:rPr sz="2800" spc="-35" dirty="0">
                <a:latin typeface="Arial"/>
                <a:cs typeface="Arial"/>
              </a:rPr>
              <a:t> </a:t>
            </a:r>
            <a:r>
              <a:rPr sz="2800" dirty="0">
                <a:latin typeface="Arial"/>
                <a:cs typeface="Arial"/>
              </a:rPr>
              <a:t>necessary</a:t>
            </a:r>
          </a:p>
        </p:txBody>
      </p:sp>
      <p:sp>
        <p:nvSpPr>
          <p:cNvPr id="3" name="object 3"/>
          <p:cNvSpPr txBox="1"/>
          <p:nvPr/>
        </p:nvSpPr>
        <p:spPr>
          <a:xfrm>
            <a:off x="6785634" y="4889499"/>
            <a:ext cx="3536315" cy="703580"/>
          </a:xfrm>
          <a:prstGeom prst="rect">
            <a:avLst/>
          </a:prstGeom>
        </p:spPr>
        <p:txBody>
          <a:bodyPr vert="horz" wrap="square" lIns="0" tIns="5080" rIns="0" bIns="0" rtlCol="0">
            <a:spAutoFit/>
          </a:bodyPr>
          <a:lstStyle/>
          <a:p>
            <a:pPr marL="12700" marR="5080">
              <a:lnSpc>
                <a:spcPct val="102499"/>
              </a:lnSpc>
              <a:spcBef>
                <a:spcPts val="40"/>
              </a:spcBef>
            </a:pPr>
            <a:r>
              <a:rPr sz="2000" dirty="0">
                <a:solidFill>
                  <a:srgbClr val="333399"/>
                </a:solidFill>
                <a:latin typeface="Arial"/>
                <a:cs typeface="Arial"/>
              </a:rPr>
              <a:t>if </a:t>
            </a:r>
            <a:r>
              <a:rPr sz="2000" spc="-5" dirty="0">
                <a:solidFill>
                  <a:srgbClr val="333399"/>
                </a:solidFill>
                <a:latin typeface="Arial"/>
                <a:cs typeface="Arial"/>
              </a:rPr>
              <a:t>distance to </a:t>
            </a:r>
            <a:r>
              <a:rPr sz="2000" dirty="0">
                <a:solidFill>
                  <a:srgbClr val="333399"/>
                </a:solidFill>
                <a:latin typeface="Arial"/>
                <a:cs typeface="Arial"/>
              </a:rPr>
              <a:t>any </a:t>
            </a:r>
            <a:r>
              <a:rPr sz="2000" spc="-5" dirty="0">
                <a:solidFill>
                  <a:srgbClr val="333399"/>
                </a:solidFill>
                <a:latin typeface="Arial"/>
                <a:cs typeface="Arial"/>
              </a:rPr>
              <a:t>destination  </a:t>
            </a:r>
            <a:r>
              <a:rPr sz="2000" dirty="0">
                <a:solidFill>
                  <a:srgbClr val="333399"/>
                </a:solidFill>
                <a:latin typeface="Arial"/>
                <a:cs typeface="Arial"/>
              </a:rPr>
              <a:t>has changed, </a:t>
            </a:r>
            <a:r>
              <a:rPr sz="2400" i="1" dirty="0">
                <a:solidFill>
                  <a:srgbClr val="0000FF"/>
                </a:solidFill>
                <a:latin typeface="Arial"/>
                <a:cs typeface="Arial"/>
              </a:rPr>
              <a:t>notify</a:t>
            </a:r>
            <a:r>
              <a:rPr sz="2400" i="1" spc="-225" dirty="0">
                <a:solidFill>
                  <a:srgbClr val="0000FF"/>
                </a:solidFill>
                <a:latin typeface="Arial"/>
                <a:cs typeface="Arial"/>
              </a:rPr>
              <a:t> </a:t>
            </a:r>
            <a:r>
              <a:rPr sz="2000" dirty="0">
                <a:solidFill>
                  <a:srgbClr val="333399"/>
                </a:solidFill>
                <a:latin typeface="Arial"/>
                <a:cs typeface="Arial"/>
              </a:rPr>
              <a:t>neighbors</a:t>
            </a:r>
            <a:endParaRPr sz="2000">
              <a:latin typeface="Arial"/>
              <a:cs typeface="Arial"/>
            </a:endParaRPr>
          </a:p>
        </p:txBody>
      </p:sp>
      <p:sp>
        <p:nvSpPr>
          <p:cNvPr id="4" name="object 4"/>
          <p:cNvSpPr/>
          <p:nvPr/>
        </p:nvSpPr>
        <p:spPr>
          <a:xfrm>
            <a:off x="8305863" y="3143249"/>
            <a:ext cx="0" cy="571500"/>
          </a:xfrm>
          <a:custGeom>
            <a:avLst/>
            <a:gdLst/>
            <a:ahLst/>
            <a:cxnLst/>
            <a:rect l="l" t="t" r="r" b="b"/>
            <a:pathLst>
              <a:path h="571500">
                <a:moveTo>
                  <a:pt x="0" y="0"/>
                </a:moveTo>
                <a:lnTo>
                  <a:pt x="0" y="571499"/>
                </a:lnTo>
              </a:path>
            </a:pathLst>
          </a:custGeom>
          <a:ln w="31749">
            <a:solidFill>
              <a:srgbClr val="0433FF"/>
            </a:solidFill>
          </a:ln>
        </p:spPr>
        <p:txBody>
          <a:bodyPr wrap="square" lIns="0" tIns="0" rIns="0" bIns="0" rtlCol="0"/>
          <a:lstStyle/>
          <a:p>
            <a:endParaRPr/>
          </a:p>
        </p:txBody>
      </p:sp>
      <p:sp>
        <p:nvSpPr>
          <p:cNvPr id="5" name="object 5"/>
          <p:cNvSpPr/>
          <p:nvPr/>
        </p:nvSpPr>
        <p:spPr>
          <a:xfrm>
            <a:off x="8226488" y="3638549"/>
            <a:ext cx="158750" cy="95250"/>
          </a:xfrm>
          <a:custGeom>
            <a:avLst/>
            <a:gdLst/>
            <a:ahLst/>
            <a:cxnLst/>
            <a:rect l="l" t="t" r="r" b="b"/>
            <a:pathLst>
              <a:path w="158750" h="95250">
                <a:moveTo>
                  <a:pt x="158750" y="0"/>
                </a:moveTo>
                <a:lnTo>
                  <a:pt x="0" y="0"/>
                </a:lnTo>
                <a:lnTo>
                  <a:pt x="79375" y="95250"/>
                </a:lnTo>
                <a:lnTo>
                  <a:pt x="158750" y="0"/>
                </a:lnTo>
                <a:close/>
              </a:path>
            </a:pathLst>
          </a:custGeom>
          <a:solidFill>
            <a:srgbClr val="0433FF"/>
          </a:solidFill>
        </p:spPr>
        <p:txBody>
          <a:bodyPr wrap="square" lIns="0" tIns="0" rIns="0" bIns="0" rtlCol="0"/>
          <a:lstStyle/>
          <a:p>
            <a:endParaRPr/>
          </a:p>
        </p:txBody>
      </p:sp>
      <p:sp>
        <p:nvSpPr>
          <p:cNvPr id="6" name="object 6"/>
          <p:cNvSpPr/>
          <p:nvPr/>
        </p:nvSpPr>
        <p:spPr>
          <a:xfrm>
            <a:off x="8305863" y="4210050"/>
            <a:ext cx="0" cy="571500"/>
          </a:xfrm>
          <a:custGeom>
            <a:avLst/>
            <a:gdLst/>
            <a:ahLst/>
            <a:cxnLst/>
            <a:rect l="l" t="t" r="r" b="b"/>
            <a:pathLst>
              <a:path h="571500">
                <a:moveTo>
                  <a:pt x="0" y="0"/>
                </a:moveTo>
                <a:lnTo>
                  <a:pt x="0" y="571499"/>
                </a:lnTo>
              </a:path>
            </a:pathLst>
          </a:custGeom>
          <a:ln w="31749">
            <a:solidFill>
              <a:srgbClr val="0433FF"/>
            </a:solidFill>
          </a:ln>
        </p:spPr>
        <p:txBody>
          <a:bodyPr wrap="square" lIns="0" tIns="0" rIns="0" bIns="0" rtlCol="0"/>
          <a:lstStyle/>
          <a:p>
            <a:endParaRPr/>
          </a:p>
        </p:txBody>
      </p:sp>
      <p:sp>
        <p:nvSpPr>
          <p:cNvPr id="7" name="object 7"/>
          <p:cNvSpPr/>
          <p:nvPr/>
        </p:nvSpPr>
        <p:spPr>
          <a:xfrm>
            <a:off x="8226488" y="4705349"/>
            <a:ext cx="158750" cy="95250"/>
          </a:xfrm>
          <a:custGeom>
            <a:avLst/>
            <a:gdLst/>
            <a:ahLst/>
            <a:cxnLst/>
            <a:rect l="l" t="t" r="r" b="b"/>
            <a:pathLst>
              <a:path w="158750" h="95250">
                <a:moveTo>
                  <a:pt x="158750" y="0"/>
                </a:moveTo>
                <a:lnTo>
                  <a:pt x="0" y="0"/>
                </a:lnTo>
                <a:lnTo>
                  <a:pt x="79375" y="95250"/>
                </a:lnTo>
                <a:lnTo>
                  <a:pt x="158750" y="0"/>
                </a:lnTo>
                <a:close/>
              </a:path>
            </a:pathLst>
          </a:custGeom>
          <a:solidFill>
            <a:srgbClr val="0433FF"/>
          </a:solidFill>
        </p:spPr>
        <p:txBody>
          <a:bodyPr wrap="square" lIns="0" tIns="0" rIns="0" bIns="0" rtlCol="0"/>
          <a:lstStyle/>
          <a:p>
            <a:endParaRPr/>
          </a:p>
        </p:txBody>
      </p:sp>
      <p:sp>
        <p:nvSpPr>
          <p:cNvPr id="8" name="object 8"/>
          <p:cNvSpPr/>
          <p:nvPr/>
        </p:nvSpPr>
        <p:spPr>
          <a:xfrm>
            <a:off x="6476998" y="2057399"/>
            <a:ext cx="1836420" cy="4191000"/>
          </a:xfrm>
          <a:custGeom>
            <a:avLst/>
            <a:gdLst/>
            <a:ahLst/>
            <a:cxnLst/>
            <a:rect l="l" t="t" r="r" b="b"/>
            <a:pathLst>
              <a:path w="1836420" h="4191000">
                <a:moveTo>
                  <a:pt x="1801811" y="3733798"/>
                </a:moveTo>
                <a:lnTo>
                  <a:pt x="1804193" y="4190999"/>
                </a:lnTo>
                <a:lnTo>
                  <a:pt x="0" y="4190999"/>
                </a:lnTo>
                <a:lnTo>
                  <a:pt x="0" y="0"/>
                </a:lnTo>
                <a:lnTo>
                  <a:pt x="1835943" y="0"/>
                </a:lnTo>
                <a:lnTo>
                  <a:pt x="1835943" y="269081"/>
                </a:lnTo>
              </a:path>
            </a:pathLst>
          </a:custGeom>
          <a:ln w="31749">
            <a:solidFill>
              <a:srgbClr val="0433FF"/>
            </a:solidFill>
          </a:ln>
        </p:spPr>
        <p:txBody>
          <a:bodyPr wrap="square" lIns="0" tIns="0" rIns="0" bIns="0" rtlCol="0"/>
          <a:lstStyle/>
          <a:p>
            <a:endParaRPr/>
          </a:p>
        </p:txBody>
      </p:sp>
      <p:sp>
        <p:nvSpPr>
          <p:cNvPr id="9" name="object 9"/>
          <p:cNvSpPr/>
          <p:nvPr/>
        </p:nvSpPr>
        <p:spPr>
          <a:xfrm>
            <a:off x="8233567" y="2250280"/>
            <a:ext cx="158750" cy="95250"/>
          </a:xfrm>
          <a:custGeom>
            <a:avLst/>
            <a:gdLst/>
            <a:ahLst/>
            <a:cxnLst/>
            <a:rect l="l" t="t" r="r" b="b"/>
            <a:pathLst>
              <a:path w="158750" h="95250">
                <a:moveTo>
                  <a:pt x="158750" y="0"/>
                </a:moveTo>
                <a:lnTo>
                  <a:pt x="0" y="0"/>
                </a:lnTo>
                <a:lnTo>
                  <a:pt x="79375" y="95250"/>
                </a:lnTo>
                <a:lnTo>
                  <a:pt x="158750" y="0"/>
                </a:lnTo>
                <a:close/>
              </a:path>
            </a:pathLst>
          </a:custGeom>
          <a:solidFill>
            <a:srgbClr val="0433FF"/>
          </a:solidFill>
        </p:spPr>
        <p:txBody>
          <a:bodyPr wrap="square" lIns="0" tIns="0" rIns="0" bIns="0" rtlCol="0"/>
          <a:lstStyle/>
          <a:p>
            <a:endParaRPr/>
          </a:p>
        </p:txBody>
      </p:sp>
      <p:sp>
        <p:nvSpPr>
          <p:cNvPr id="10" name="object 10"/>
          <p:cNvSpPr txBox="1"/>
          <p:nvPr/>
        </p:nvSpPr>
        <p:spPr>
          <a:xfrm>
            <a:off x="6476365" y="1412558"/>
            <a:ext cx="3921125" cy="2741584"/>
          </a:xfrm>
          <a:prstGeom prst="rect">
            <a:avLst/>
          </a:prstGeom>
        </p:spPr>
        <p:txBody>
          <a:bodyPr vert="horz" wrap="square" lIns="0" tIns="12700" rIns="0" bIns="0" rtlCol="0">
            <a:spAutoFit/>
          </a:bodyPr>
          <a:lstStyle/>
          <a:p>
            <a:pPr marL="12700">
              <a:spcBef>
                <a:spcPts val="100"/>
              </a:spcBef>
            </a:pPr>
            <a:r>
              <a:rPr sz="2400" dirty="0">
                <a:latin typeface="Arial"/>
                <a:cs typeface="Arial"/>
              </a:rPr>
              <a:t>Each</a:t>
            </a:r>
            <a:r>
              <a:rPr sz="2400" spc="-5" dirty="0">
                <a:latin typeface="Arial"/>
                <a:cs typeface="Arial"/>
              </a:rPr>
              <a:t> </a:t>
            </a:r>
            <a:r>
              <a:rPr sz="2400" dirty="0">
                <a:latin typeface="Arial"/>
                <a:cs typeface="Arial"/>
              </a:rPr>
              <a:t>node:</a:t>
            </a:r>
            <a:endParaRPr sz="2400">
              <a:latin typeface="Arial"/>
              <a:cs typeface="Arial"/>
            </a:endParaRPr>
          </a:p>
          <a:p>
            <a:pPr>
              <a:spcBef>
                <a:spcPts val="45"/>
              </a:spcBef>
            </a:pPr>
            <a:endParaRPr sz="3450">
              <a:latin typeface="Times New Roman"/>
              <a:cs typeface="Times New Roman"/>
            </a:endParaRPr>
          </a:p>
          <a:p>
            <a:pPr marL="321945" marR="5080">
              <a:lnSpc>
                <a:spcPct val="102800"/>
              </a:lnSpc>
              <a:spcBef>
                <a:spcPts val="5"/>
              </a:spcBef>
            </a:pPr>
            <a:r>
              <a:rPr sz="2400" i="1" dirty="0">
                <a:solidFill>
                  <a:srgbClr val="0000FF"/>
                </a:solidFill>
                <a:latin typeface="Arial"/>
                <a:cs typeface="Arial"/>
              </a:rPr>
              <a:t>wait </a:t>
            </a:r>
            <a:r>
              <a:rPr sz="2000" spc="-5" dirty="0">
                <a:solidFill>
                  <a:srgbClr val="333399"/>
                </a:solidFill>
                <a:latin typeface="Arial"/>
                <a:cs typeface="Arial"/>
              </a:rPr>
              <a:t>for </a:t>
            </a:r>
            <a:r>
              <a:rPr sz="2000" dirty="0">
                <a:solidFill>
                  <a:srgbClr val="333399"/>
                </a:solidFill>
                <a:latin typeface="Arial"/>
                <a:cs typeface="Arial"/>
              </a:rPr>
              <a:t>(change in local link  cost or message </a:t>
            </a:r>
            <a:r>
              <a:rPr sz="2000" spc="-5" dirty="0">
                <a:solidFill>
                  <a:srgbClr val="333399"/>
                </a:solidFill>
                <a:latin typeface="Arial"/>
                <a:cs typeface="Arial"/>
              </a:rPr>
              <a:t>from</a:t>
            </a:r>
            <a:r>
              <a:rPr sz="2000" spc="-100" dirty="0">
                <a:solidFill>
                  <a:srgbClr val="333399"/>
                </a:solidFill>
                <a:latin typeface="Arial"/>
                <a:cs typeface="Arial"/>
              </a:rPr>
              <a:t> </a:t>
            </a:r>
            <a:r>
              <a:rPr sz="2000" dirty="0">
                <a:solidFill>
                  <a:srgbClr val="333399"/>
                </a:solidFill>
                <a:latin typeface="Arial"/>
                <a:cs typeface="Arial"/>
              </a:rPr>
              <a:t>neighbor)</a:t>
            </a:r>
            <a:endParaRPr sz="2000">
              <a:latin typeface="Arial"/>
              <a:cs typeface="Arial"/>
            </a:endParaRPr>
          </a:p>
          <a:p>
            <a:pPr>
              <a:lnSpc>
                <a:spcPct val="100000"/>
              </a:lnSpc>
            </a:pPr>
            <a:endParaRPr sz="2200">
              <a:latin typeface="Times New Roman"/>
              <a:cs typeface="Times New Roman"/>
            </a:endParaRPr>
          </a:p>
          <a:p>
            <a:pPr>
              <a:spcBef>
                <a:spcPts val="45"/>
              </a:spcBef>
            </a:pPr>
            <a:endParaRPr sz="2750">
              <a:latin typeface="Times New Roman"/>
              <a:cs typeface="Times New Roman"/>
            </a:endParaRPr>
          </a:p>
          <a:p>
            <a:pPr marL="321945"/>
            <a:r>
              <a:rPr sz="2400" i="1" spc="-5" dirty="0">
                <a:solidFill>
                  <a:srgbClr val="0000FF"/>
                </a:solidFill>
                <a:latin typeface="Arial"/>
                <a:cs typeface="Arial"/>
              </a:rPr>
              <a:t>recompute</a:t>
            </a:r>
            <a:r>
              <a:rPr sz="2400" i="1" spc="-120" dirty="0">
                <a:solidFill>
                  <a:srgbClr val="0000FF"/>
                </a:solidFill>
                <a:latin typeface="Arial"/>
                <a:cs typeface="Arial"/>
              </a:rPr>
              <a:t> </a:t>
            </a:r>
            <a:r>
              <a:rPr sz="2000" spc="-5" dirty="0">
                <a:solidFill>
                  <a:srgbClr val="333399"/>
                </a:solidFill>
                <a:latin typeface="Arial"/>
                <a:cs typeface="Arial"/>
              </a:rPr>
              <a:t>estimates</a:t>
            </a:r>
            <a:endParaRPr sz="2000">
              <a:latin typeface="Arial"/>
              <a:cs typeface="Arial"/>
            </a:endParaRPr>
          </a:p>
        </p:txBody>
      </p:sp>
      <p:sp>
        <p:nvSpPr>
          <p:cNvPr id="12" name="object 12"/>
          <p:cNvSpPr txBox="1">
            <a:spLocks noGrp="1"/>
          </p:cNvSpPr>
          <p:nvPr>
            <p:ph type="title"/>
          </p:nvPr>
        </p:nvSpPr>
        <p:spPr>
          <a:xfrm>
            <a:off x="553453" y="227749"/>
            <a:ext cx="6485890" cy="695960"/>
          </a:xfrm>
          <a:prstGeom prst="rect">
            <a:avLst/>
          </a:prstGeom>
        </p:spPr>
        <p:txBody>
          <a:bodyPr vert="horz" wrap="square" lIns="0" tIns="12700" rIns="0" bIns="0" rtlCol="0" anchor="ctr">
            <a:spAutoFit/>
          </a:bodyPr>
          <a:lstStyle/>
          <a:p>
            <a:pPr marL="12700">
              <a:lnSpc>
                <a:spcPct val="100000"/>
              </a:lnSpc>
              <a:spcBef>
                <a:spcPts val="100"/>
              </a:spcBef>
            </a:pPr>
            <a:r>
              <a:rPr b="1" spc="-5" dirty="0">
                <a:solidFill>
                  <a:srgbClr val="FF0000"/>
                </a:solidFill>
              </a:rPr>
              <a:t>Distance Vector</a:t>
            </a:r>
            <a:r>
              <a:rPr b="1" dirty="0">
                <a:solidFill>
                  <a:srgbClr val="FF0000"/>
                </a:solidFill>
              </a:rPr>
              <a:t> </a:t>
            </a:r>
            <a:r>
              <a:rPr b="1" spc="-5" dirty="0">
                <a:solidFill>
                  <a:srgbClr val="FF0000"/>
                </a:solidFill>
              </a:rPr>
              <a:t>Algorithm</a:t>
            </a:r>
          </a:p>
        </p:txBody>
      </p:sp>
      <p:sp>
        <p:nvSpPr>
          <p:cNvPr id="14" name="object 14"/>
          <p:cNvSpPr txBox="1">
            <a:spLocks noGrp="1"/>
          </p:cNvSpPr>
          <p:nvPr>
            <p:ph type="sldNum" sz="quarter" idx="12"/>
          </p:nvPr>
        </p:nvSpPr>
        <p:spPr>
          <a:xfrm>
            <a:off x="10134600" y="6429908"/>
            <a:ext cx="2743200" cy="218008"/>
          </a:xfrm>
          <a:prstGeom prst="rect">
            <a:avLst/>
          </a:prstGeom>
        </p:spPr>
        <p:txBody>
          <a:bodyPr vert="horz" wrap="square" lIns="0" tIns="0" rIns="0" bIns="0" rtlCol="0" anchor="ctr">
            <a:spAutoFit/>
          </a:bodyPr>
          <a:lstStyle/>
          <a:p>
            <a:pPr marL="25400">
              <a:lnSpc>
                <a:spcPts val="1650"/>
              </a:lnSpc>
            </a:pPr>
            <a:fld id="{81D60167-4931-47E6-BA6A-407CBD079E47}" type="slidenum">
              <a:rPr dirty="0"/>
              <a:pPr marL="25400">
                <a:lnSpc>
                  <a:spcPts val="1650"/>
                </a:lnSpc>
              </a:pPr>
              <a:t>11</a:t>
            </a:fld>
            <a:endParaRPr dirty="0"/>
          </a:p>
        </p:txBody>
      </p:sp>
    </p:spTree>
    <p:extLst>
      <p:ext uri="{BB962C8B-B14F-4D97-AF65-F5344CB8AC3E}">
        <p14:creationId xmlns:p14="http://schemas.microsoft.com/office/powerpoint/2010/main" val="2408110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1879" y="842850"/>
            <a:ext cx="11706725" cy="5371342"/>
          </a:xfrm>
          <a:prstGeom prst="rect">
            <a:avLst/>
          </a:prstGeom>
        </p:spPr>
        <p:txBody>
          <a:bodyPr vert="horz" wrap="square" lIns="0" tIns="33655" rIns="0" bIns="0" rtlCol="0">
            <a:spAutoFit/>
          </a:bodyPr>
          <a:lstStyle/>
          <a:p>
            <a:pPr marL="393700" indent="-342900">
              <a:spcBef>
                <a:spcPts val="265"/>
              </a:spcBef>
              <a:buClr>
                <a:srgbClr val="333399"/>
              </a:buClr>
              <a:buSzPct val="50000"/>
              <a:buFont typeface="Arial"/>
              <a:buChar char=""/>
              <a:tabLst>
                <a:tab pos="393065" algn="l"/>
                <a:tab pos="393700" algn="l"/>
              </a:tabLst>
            </a:pPr>
            <a:r>
              <a:rPr sz="2800" i="1" spc="-5" dirty="0">
                <a:solidFill>
                  <a:srgbClr val="0000FF"/>
                </a:solidFill>
                <a:latin typeface="Arial"/>
                <a:cs typeface="Arial"/>
              </a:rPr>
              <a:t>c(x,v) </a:t>
            </a:r>
            <a:r>
              <a:rPr sz="2800" i="1" dirty="0">
                <a:solidFill>
                  <a:srgbClr val="232323"/>
                </a:solidFill>
                <a:latin typeface="Arial"/>
                <a:cs typeface="Arial"/>
              </a:rPr>
              <a:t>= </a:t>
            </a:r>
            <a:r>
              <a:rPr sz="2800" dirty="0">
                <a:solidFill>
                  <a:srgbClr val="232323"/>
                </a:solidFill>
                <a:latin typeface="Arial"/>
                <a:cs typeface="Arial"/>
              </a:rPr>
              <a:t>cost </a:t>
            </a:r>
            <a:r>
              <a:rPr sz="2800" spc="-5" dirty="0">
                <a:solidFill>
                  <a:srgbClr val="232323"/>
                </a:solidFill>
                <a:latin typeface="Arial"/>
                <a:cs typeface="Arial"/>
              </a:rPr>
              <a:t>for </a:t>
            </a:r>
            <a:r>
              <a:rPr sz="2800" dirty="0">
                <a:solidFill>
                  <a:srgbClr val="232323"/>
                </a:solidFill>
                <a:latin typeface="Arial"/>
                <a:cs typeface="Arial"/>
              </a:rPr>
              <a:t>direct link </a:t>
            </a:r>
            <a:r>
              <a:rPr sz="2800" spc="-5" dirty="0">
                <a:solidFill>
                  <a:srgbClr val="232323"/>
                </a:solidFill>
                <a:latin typeface="Arial"/>
                <a:cs typeface="Arial"/>
              </a:rPr>
              <a:t>from </a:t>
            </a:r>
            <a:r>
              <a:rPr sz="2800" i="1" dirty="0">
                <a:solidFill>
                  <a:srgbClr val="232323"/>
                </a:solidFill>
                <a:latin typeface="Arial"/>
                <a:cs typeface="Arial"/>
              </a:rPr>
              <a:t>x </a:t>
            </a:r>
            <a:r>
              <a:rPr sz="2800" dirty="0">
                <a:solidFill>
                  <a:srgbClr val="232323"/>
                </a:solidFill>
                <a:latin typeface="Arial"/>
                <a:cs typeface="Arial"/>
              </a:rPr>
              <a:t>to</a:t>
            </a:r>
            <a:r>
              <a:rPr sz="2800" spc="-40" dirty="0">
                <a:solidFill>
                  <a:srgbClr val="232323"/>
                </a:solidFill>
                <a:latin typeface="Arial"/>
                <a:cs typeface="Arial"/>
              </a:rPr>
              <a:t> </a:t>
            </a:r>
            <a:r>
              <a:rPr sz="2800" i="1" dirty="0">
                <a:solidFill>
                  <a:srgbClr val="232323"/>
                </a:solidFill>
                <a:latin typeface="Arial"/>
                <a:cs typeface="Arial"/>
              </a:rPr>
              <a:t>v</a:t>
            </a:r>
            <a:endParaRPr sz="2800" dirty="0">
              <a:latin typeface="Arial"/>
              <a:cs typeface="Arial"/>
            </a:endParaRPr>
          </a:p>
          <a:p>
            <a:pPr marL="793750" lvl="1" indent="-286385">
              <a:spcBef>
                <a:spcPts val="140"/>
              </a:spcBef>
              <a:buClr>
                <a:srgbClr val="333399"/>
              </a:buClr>
              <a:buSzPct val="50000"/>
              <a:buFont typeface="Lucida Sans Unicode"/>
              <a:buChar char="◆"/>
              <a:tabLst>
                <a:tab pos="793115" algn="l"/>
                <a:tab pos="793750" algn="l"/>
              </a:tabLst>
            </a:pPr>
            <a:r>
              <a:rPr sz="2800" dirty="0">
                <a:solidFill>
                  <a:srgbClr val="232323"/>
                </a:solidFill>
                <a:latin typeface="Arial"/>
                <a:cs typeface="Arial"/>
              </a:rPr>
              <a:t>Node x </a:t>
            </a:r>
            <a:r>
              <a:rPr sz="2800" spc="-5" dirty="0">
                <a:solidFill>
                  <a:srgbClr val="232323"/>
                </a:solidFill>
                <a:latin typeface="Arial"/>
                <a:cs typeface="Arial"/>
              </a:rPr>
              <a:t>maintains costs </a:t>
            </a:r>
            <a:r>
              <a:rPr sz="2800" dirty="0">
                <a:solidFill>
                  <a:srgbClr val="232323"/>
                </a:solidFill>
                <a:latin typeface="Arial"/>
                <a:cs typeface="Arial"/>
              </a:rPr>
              <a:t>of direct links</a:t>
            </a:r>
            <a:r>
              <a:rPr sz="2800" spc="-25" dirty="0">
                <a:solidFill>
                  <a:srgbClr val="232323"/>
                </a:solidFill>
                <a:latin typeface="Arial"/>
                <a:cs typeface="Arial"/>
              </a:rPr>
              <a:t> </a:t>
            </a:r>
            <a:r>
              <a:rPr sz="2800" i="1" spc="-5" dirty="0">
                <a:solidFill>
                  <a:srgbClr val="0000FF"/>
                </a:solidFill>
                <a:latin typeface="Arial"/>
                <a:cs typeface="Arial"/>
              </a:rPr>
              <a:t>c(x,v)</a:t>
            </a:r>
            <a:endParaRPr sz="2800" dirty="0">
              <a:latin typeface="Arial"/>
              <a:cs typeface="Arial"/>
            </a:endParaRPr>
          </a:p>
          <a:p>
            <a:pPr lvl="1">
              <a:spcBef>
                <a:spcPts val="40"/>
              </a:spcBef>
              <a:buClr>
                <a:srgbClr val="333399"/>
              </a:buClr>
              <a:buFont typeface="Lucida Sans Unicode"/>
              <a:buChar char="◆"/>
            </a:pPr>
            <a:endParaRPr sz="2800" dirty="0">
              <a:latin typeface="Times New Roman"/>
              <a:cs typeface="Times New Roman"/>
            </a:endParaRPr>
          </a:p>
          <a:p>
            <a:pPr marL="393700" indent="-342900">
              <a:spcBef>
                <a:spcPts val="5"/>
              </a:spcBef>
              <a:buClr>
                <a:srgbClr val="333399"/>
              </a:buClr>
              <a:buSzPct val="50000"/>
              <a:buFont typeface="Arial"/>
              <a:buChar char=""/>
              <a:tabLst>
                <a:tab pos="393065" algn="l"/>
                <a:tab pos="393700" algn="l"/>
              </a:tabLst>
            </a:pPr>
            <a:r>
              <a:rPr sz="2800" i="1" dirty="0">
                <a:solidFill>
                  <a:srgbClr val="0000FF"/>
                </a:solidFill>
                <a:latin typeface="Arial"/>
                <a:cs typeface="Arial"/>
              </a:rPr>
              <a:t>D</a:t>
            </a:r>
            <a:r>
              <a:rPr sz="2800" i="1" baseline="-20833" dirty="0">
                <a:solidFill>
                  <a:srgbClr val="0000FF"/>
                </a:solidFill>
                <a:latin typeface="Arial"/>
                <a:cs typeface="Arial"/>
              </a:rPr>
              <a:t>x</a:t>
            </a:r>
            <a:r>
              <a:rPr sz="2800" i="1" dirty="0">
                <a:solidFill>
                  <a:srgbClr val="0000FF"/>
                </a:solidFill>
                <a:latin typeface="Arial"/>
                <a:cs typeface="Arial"/>
              </a:rPr>
              <a:t>(y) </a:t>
            </a:r>
            <a:r>
              <a:rPr sz="2800" i="1" dirty="0">
                <a:solidFill>
                  <a:srgbClr val="232323"/>
                </a:solidFill>
                <a:latin typeface="Arial"/>
                <a:cs typeface="Arial"/>
              </a:rPr>
              <a:t>= </a:t>
            </a:r>
            <a:r>
              <a:rPr sz="2800" spc="-5" dirty="0">
                <a:solidFill>
                  <a:srgbClr val="232323"/>
                </a:solidFill>
                <a:latin typeface="Arial"/>
                <a:cs typeface="Arial"/>
              </a:rPr>
              <a:t>estimate </a:t>
            </a:r>
            <a:r>
              <a:rPr sz="2800" dirty="0">
                <a:solidFill>
                  <a:srgbClr val="232323"/>
                </a:solidFill>
                <a:latin typeface="Arial"/>
                <a:cs typeface="Arial"/>
              </a:rPr>
              <a:t>of least cost </a:t>
            </a:r>
            <a:r>
              <a:rPr sz="2800" spc="-5" dirty="0">
                <a:solidFill>
                  <a:srgbClr val="232323"/>
                </a:solidFill>
                <a:latin typeface="Arial"/>
                <a:cs typeface="Arial"/>
              </a:rPr>
              <a:t>from </a:t>
            </a:r>
            <a:r>
              <a:rPr sz="2800" i="1" dirty="0">
                <a:solidFill>
                  <a:srgbClr val="232323"/>
                </a:solidFill>
                <a:latin typeface="Arial"/>
                <a:cs typeface="Arial"/>
              </a:rPr>
              <a:t>x </a:t>
            </a:r>
            <a:r>
              <a:rPr sz="2800" dirty="0">
                <a:solidFill>
                  <a:srgbClr val="232323"/>
                </a:solidFill>
                <a:latin typeface="Arial"/>
                <a:cs typeface="Arial"/>
              </a:rPr>
              <a:t>to</a:t>
            </a:r>
            <a:r>
              <a:rPr sz="2800" spc="-40" dirty="0">
                <a:solidFill>
                  <a:srgbClr val="232323"/>
                </a:solidFill>
                <a:latin typeface="Arial"/>
                <a:cs typeface="Arial"/>
              </a:rPr>
              <a:t> </a:t>
            </a:r>
            <a:r>
              <a:rPr sz="2800" i="1" dirty="0">
                <a:solidFill>
                  <a:srgbClr val="232323"/>
                </a:solidFill>
                <a:latin typeface="Arial"/>
                <a:cs typeface="Arial"/>
              </a:rPr>
              <a:t>y</a:t>
            </a:r>
            <a:endParaRPr sz="2800" dirty="0">
              <a:latin typeface="Arial"/>
              <a:cs typeface="Arial"/>
            </a:endParaRPr>
          </a:p>
          <a:p>
            <a:pPr marL="793750" lvl="1" indent="-286385">
              <a:spcBef>
                <a:spcPts val="260"/>
              </a:spcBef>
              <a:buClr>
                <a:srgbClr val="333399"/>
              </a:buClr>
              <a:buSzPct val="50000"/>
              <a:buFont typeface="Lucida Sans Unicode"/>
              <a:buChar char="◆"/>
              <a:tabLst>
                <a:tab pos="793115" algn="l"/>
                <a:tab pos="793750" algn="l"/>
              </a:tabLst>
            </a:pPr>
            <a:r>
              <a:rPr sz="2800" spc="-5" dirty="0">
                <a:solidFill>
                  <a:srgbClr val="232323"/>
                </a:solidFill>
                <a:latin typeface="Arial"/>
                <a:cs typeface="Arial"/>
              </a:rPr>
              <a:t>Node </a:t>
            </a:r>
            <a:r>
              <a:rPr sz="2800" i="1" dirty="0">
                <a:solidFill>
                  <a:srgbClr val="232323"/>
                </a:solidFill>
                <a:latin typeface="Arial"/>
                <a:cs typeface="Arial"/>
              </a:rPr>
              <a:t>x </a:t>
            </a:r>
            <a:r>
              <a:rPr sz="2800" spc="-5" dirty="0">
                <a:solidFill>
                  <a:srgbClr val="232323"/>
                </a:solidFill>
                <a:latin typeface="Arial"/>
                <a:cs typeface="Arial"/>
              </a:rPr>
              <a:t>maintains distance vector </a:t>
            </a:r>
            <a:r>
              <a:rPr sz="2800" b="1" i="1" spc="5" dirty="0">
                <a:solidFill>
                  <a:srgbClr val="0000FF"/>
                </a:solidFill>
                <a:latin typeface="Arial"/>
                <a:cs typeface="Arial"/>
              </a:rPr>
              <a:t>D</a:t>
            </a:r>
            <a:r>
              <a:rPr sz="2800" i="1" spc="7" baseline="-21367" dirty="0">
                <a:solidFill>
                  <a:srgbClr val="0000FF"/>
                </a:solidFill>
                <a:latin typeface="Arial"/>
                <a:cs typeface="Arial"/>
              </a:rPr>
              <a:t>x </a:t>
            </a:r>
            <a:r>
              <a:rPr sz="2800" i="1" dirty="0">
                <a:solidFill>
                  <a:srgbClr val="0000FF"/>
                </a:solidFill>
                <a:latin typeface="Arial"/>
                <a:cs typeface="Arial"/>
              </a:rPr>
              <a:t>= [D</a:t>
            </a:r>
            <a:r>
              <a:rPr sz="2800" i="1" baseline="-21367" dirty="0">
                <a:solidFill>
                  <a:srgbClr val="0000FF"/>
                </a:solidFill>
                <a:latin typeface="Arial"/>
                <a:cs typeface="Arial"/>
              </a:rPr>
              <a:t>x</a:t>
            </a:r>
            <a:r>
              <a:rPr sz="2800" i="1" dirty="0">
                <a:solidFill>
                  <a:srgbClr val="0000FF"/>
                </a:solidFill>
                <a:latin typeface="Arial"/>
                <a:cs typeface="Arial"/>
              </a:rPr>
              <a:t>(y): y є N</a:t>
            </a:r>
            <a:r>
              <a:rPr sz="2800" i="1" spc="-175" dirty="0">
                <a:solidFill>
                  <a:srgbClr val="0000FF"/>
                </a:solidFill>
                <a:latin typeface="Arial"/>
                <a:cs typeface="Arial"/>
              </a:rPr>
              <a:t> </a:t>
            </a:r>
            <a:r>
              <a:rPr sz="2800" i="1" dirty="0">
                <a:solidFill>
                  <a:srgbClr val="0000FF"/>
                </a:solidFill>
                <a:latin typeface="Arial"/>
                <a:cs typeface="Arial"/>
              </a:rPr>
              <a:t>]</a:t>
            </a:r>
            <a:endParaRPr sz="2800" dirty="0">
              <a:latin typeface="Arial"/>
              <a:cs typeface="Arial"/>
            </a:endParaRPr>
          </a:p>
          <a:p>
            <a:pPr lvl="1">
              <a:lnSpc>
                <a:spcPct val="100000"/>
              </a:lnSpc>
              <a:buClr>
                <a:srgbClr val="333399"/>
              </a:buClr>
              <a:buFont typeface="Lucida Sans Unicode"/>
              <a:buChar char="◆"/>
            </a:pPr>
            <a:endParaRPr sz="2800" dirty="0">
              <a:latin typeface="Times New Roman"/>
              <a:cs typeface="Times New Roman"/>
            </a:endParaRPr>
          </a:p>
          <a:p>
            <a:pPr marL="393700" indent="-342900">
              <a:buClr>
                <a:srgbClr val="333399"/>
              </a:buClr>
              <a:buSzPct val="50000"/>
              <a:buChar char=""/>
              <a:tabLst>
                <a:tab pos="393065" algn="l"/>
                <a:tab pos="393700" algn="l"/>
              </a:tabLst>
            </a:pPr>
            <a:r>
              <a:rPr sz="2800" spc="-5" dirty="0">
                <a:solidFill>
                  <a:srgbClr val="232323"/>
                </a:solidFill>
                <a:latin typeface="Arial"/>
                <a:cs typeface="Arial"/>
              </a:rPr>
              <a:t>Node </a:t>
            </a:r>
            <a:r>
              <a:rPr sz="2800" i="1" dirty="0">
                <a:solidFill>
                  <a:srgbClr val="232323"/>
                </a:solidFill>
                <a:latin typeface="Arial"/>
                <a:cs typeface="Arial"/>
              </a:rPr>
              <a:t>x </a:t>
            </a:r>
            <a:r>
              <a:rPr sz="2800" spc="-5" dirty="0">
                <a:solidFill>
                  <a:srgbClr val="232323"/>
                </a:solidFill>
                <a:latin typeface="Arial"/>
                <a:cs typeface="Arial"/>
              </a:rPr>
              <a:t>maintains its </a:t>
            </a:r>
            <a:r>
              <a:rPr sz="2800" spc="-125" dirty="0">
                <a:solidFill>
                  <a:srgbClr val="232323"/>
                </a:solidFill>
                <a:latin typeface="Arial"/>
                <a:cs typeface="Arial"/>
              </a:rPr>
              <a:t>neighbors</a:t>
            </a:r>
            <a:r>
              <a:rPr sz="2800" spc="-125" dirty="0">
                <a:solidFill>
                  <a:srgbClr val="232323"/>
                </a:solidFill>
                <a:latin typeface="MS PGothic"/>
                <a:cs typeface="MS PGothic"/>
              </a:rPr>
              <a:t>ʼ </a:t>
            </a:r>
            <a:r>
              <a:rPr sz="2800" spc="-5" dirty="0">
                <a:solidFill>
                  <a:srgbClr val="232323"/>
                </a:solidFill>
                <a:latin typeface="Arial"/>
                <a:cs typeface="Arial"/>
              </a:rPr>
              <a:t>distance</a:t>
            </a:r>
            <a:r>
              <a:rPr sz="2800" spc="105" dirty="0">
                <a:solidFill>
                  <a:srgbClr val="232323"/>
                </a:solidFill>
                <a:latin typeface="Arial"/>
                <a:cs typeface="Arial"/>
              </a:rPr>
              <a:t> </a:t>
            </a:r>
            <a:r>
              <a:rPr sz="2800" spc="-5" dirty="0">
                <a:solidFill>
                  <a:srgbClr val="232323"/>
                </a:solidFill>
                <a:latin typeface="Arial"/>
                <a:cs typeface="Arial"/>
              </a:rPr>
              <a:t>vectors</a:t>
            </a:r>
            <a:endParaRPr sz="2800" dirty="0">
              <a:latin typeface="Arial"/>
              <a:cs typeface="Arial"/>
            </a:endParaRPr>
          </a:p>
          <a:p>
            <a:pPr marL="793750" lvl="1" indent="-286385">
              <a:spcBef>
                <a:spcPts val="265"/>
              </a:spcBef>
              <a:buClr>
                <a:srgbClr val="333399"/>
              </a:buClr>
              <a:buSzPct val="50000"/>
              <a:buFont typeface="Lucida Sans Unicode"/>
              <a:buChar char="◆"/>
              <a:tabLst>
                <a:tab pos="793115" algn="l"/>
                <a:tab pos="793750" algn="l"/>
              </a:tabLst>
            </a:pPr>
            <a:r>
              <a:rPr sz="2800" spc="-5" dirty="0">
                <a:solidFill>
                  <a:srgbClr val="232323"/>
                </a:solidFill>
                <a:latin typeface="Arial"/>
                <a:cs typeface="Arial"/>
              </a:rPr>
              <a:t>For </a:t>
            </a:r>
            <a:r>
              <a:rPr sz="2800" dirty="0">
                <a:solidFill>
                  <a:srgbClr val="232323"/>
                </a:solidFill>
                <a:latin typeface="Arial"/>
                <a:cs typeface="Arial"/>
              </a:rPr>
              <a:t>each neighbor </a:t>
            </a:r>
            <a:r>
              <a:rPr sz="2800" i="1" dirty="0">
                <a:solidFill>
                  <a:srgbClr val="232323"/>
                </a:solidFill>
                <a:latin typeface="Arial"/>
                <a:cs typeface="Arial"/>
              </a:rPr>
              <a:t>v, x </a:t>
            </a:r>
            <a:r>
              <a:rPr sz="2800" spc="-5" dirty="0">
                <a:solidFill>
                  <a:srgbClr val="232323"/>
                </a:solidFill>
                <a:latin typeface="Arial"/>
                <a:cs typeface="Arial"/>
              </a:rPr>
              <a:t>maintains </a:t>
            </a:r>
            <a:r>
              <a:rPr sz="2800" b="1" i="1" spc="5" dirty="0">
                <a:solidFill>
                  <a:srgbClr val="0000FF"/>
                </a:solidFill>
                <a:latin typeface="Arial"/>
                <a:cs typeface="Arial"/>
              </a:rPr>
              <a:t>D</a:t>
            </a:r>
            <a:r>
              <a:rPr sz="2800" i="1" spc="7" baseline="-21367" dirty="0">
                <a:solidFill>
                  <a:srgbClr val="0000FF"/>
                </a:solidFill>
                <a:latin typeface="Arial"/>
                <a:cs typeface="Arial"/>
              </a:rPr>
              <a:t>v </a:t>
            </a:r>
            <a:r>
              <a:rPr sz="2800" i="1" dirty="0">
                <a:solidFill>
                  <a:srgbClr val="0000FF"/>
                </a:solidFill>
                <a:latin typeface="Arial"/>
                <a:cs typeface="Arial"/>
              </a:rPr>
              <a:t>= [D</a:t>
            </a:r>
            <a:r>
              <a:rPr sz="2800" i="1" baseline="-21367" dirty="0">
                <a:solidFill>
                  <a:srgbClr val="0000FF"/>
                </a:solidFill>
                <a:latin typeface="Arial"/>
                <a:cs typeface="Arial"/>
              </a:rPr>
              <a:t>v</a:t>
            </a:r>
            <a:r>
              <a:rPr sz="2800" i="1" dirty="0">
                <a:solidFill>
                  <a:srgbClr val="0000FF"/>
                </a:solidFill>
                <a:latin typeface="Arial"/>
                <a:cs typeface="Arial"/>
              </a:rPr>
              <a:t>(y): y є N</a:t>
            </a:r>
            <a:r>
              <a:rPr sz="2800" i="1" spc="-225" dirty="0">
                <a:solidFill>
                  <a:srgbClr val="0000FF"/>
                </a:solidFill>
                <a:latin typeface="Arial"/>
                <a:cs typeface="Arial"/>
              </a:rPr>
              <a:t> </a:t>
            </a:r>
            <a:r>
              <a:rPr sz="2800" i="1" dirty="0">
                <a:solidFill>
                  <a:srgbClr val="0000FF"/>
                </a:solidFill>
                <a:latin typeface="Arial"/>
                <a:cs typeface="Arial"/>
              </a:rPr>
              <a:t>]</a:t>
            </a:r>
            <a:endParaRPr sz="2800" dirty="0">
              <a:latin typeface="Arial"/>
              <a:cs typeface="Arial"/>
            </a:endParaRPr>
          </a:p>
          <a:p>
            <a:pPr lvl="1">
              <a:spcBef>
                <a:spcPts val="55"/>
              </a:spcBef>
              <a:buClr>
                <a:srgbClr val="333399"/>
              </a:buClr>
              <a:buFont typeface="Lucida Sans Unicode"/>
              <a:buChar char="◆"/>
            </a:pPr>
            <a:endParaRPr sz="2800" dirty="0">
              <a:latin typeface="Times New Roman"/>
              <a:cs typeface="Times New Roman"/>
            </a:endParaRPr>
          </a:p>
          <a:p>
            <a:pPr marL="393700" indent="-342900">
              <a:buClr>
                <a:srgbClr val="333399"/>
              </a:buClr>
              <a:buSzPct val="50000"/>
              <a:buChar char=""/>
              <a:tabLst>
                <a:tab pos="393065" algn="l"/>
                <a:tab pos="393700" algn="l"/>
              </a:tabLst>
            </a:pPr>
            <a:r>
              <a:rPr sz="2800" dirty="0">
                <a:solidFill>
                  <a:srgbClr val="232323"/>
                </a:solidFill>
                <a:latin typeface="Arial"/>
                <a:cs typeface="Arial"/>
              </a:rPr>
              <a:t>Each node </a:t>
            </a:r>
            <a:r>
              <a:rPr sz="2800" i="1" dirty="0">
                <a:solidFill>
                  <a:srgbClr val="232323"/>
                </a:solidFill>
                <a:latin typeface="Arial"/>
                <a:cs typeface="Arial"/>
              </a:rPr>
              <a:t>v </a:t>
            </a:r>
            <a:r>
              <a:rPr sz="2800" dirty="0">
                <a:solidFill>
                  <a:srgbClr val="232323"/>
                </a:solidFill>
                <a:latin typeface="Arial"/>
                <a:cs typeface="Arial"/>
              </a:rPr>
              <a:t>periodically sends </a:t>
            </a:r>
            <a:r>
              <a:rPr sz="2800" i="1" dirty="0">
                <a:solidFill>
                  <a:srgbClr val="232323"/>
                </a:solidFill>
                <a:latin typeface="Arial"/>
                <a:cs typeface="Arial"/>
              </a:rPr>
              <a:t>D</a:t>
            </a:r>
            <a:r>
              <a:rPr sz="2800" i="1" baseline="-20833" dirty="0">
                <a:solidFill>
                  <a:srgbClr val="232323"/>
                </a:solidFill>
                <a:latin typeface="Arial"/>
                <a:cs typeface="Arial"/>
              </a:rPr>
              <a:t>v </a:t>
            </a:r>
            <a:r>
              <a:rPr sz="2800" spc="-5" dirty="0">
                <a:solidFill>
                  <a:srgbClr val="232323"/>
                </a:solidFill>
                <a:latin typeface="Arial"/>
                <a:cs typeface="Arial"/>
              </a:rPr>
              <a:t>to its</a:t>
            </a:r>
            <a:r>
              <a:rPr sz="2800" spc="-325" dirty="0">
                <a:solidFill>
                  <a:srgbClr val="232323"/>
                </a:solidFill>
                <a:latin typeface="Arial"/>
                <a:cs typeface="Arial"/>
              </a:rPr>
              <a:t> </a:t>
            </a:r>
            <a:r>
              <a:rPr sz="2800" dirty="0">
                <a:solidFill>
                  <a:srgbClr val="232323"/>
                </a:solidFill>
                <a:latin typeface="Arial"/>
                <a:cs typeface="Arial"/>
              </a:rPr>
              <a:t>neighbors</a:t>
            </a:r>
            <a:endParaRPr sz="2800" dirty="0">
              <a:latin typeface="Arial"/>
              <a:cs typeface="Arial"/>
            </a:endParaRPr>
          </a:p>
          <a:p>
            <a:pPr marL="793750" lvl="1" indent="-286385">
              <a:spcBef>
                <a:spcPts val="265"/>
              </a:spcBef>
              <a:buClr>
                <a:srgbClr val="333399"/>
              </a:buClr>
              <a:buSzPct val="50000"/>
              <a:buFont typeface="Lucida Sans Unicode"/>
              <a:buChar char="◆"/>
              <a:tabLst>
                <a:tab pos="793115" algn="l"/>
                <a:tab pos="793750" algn="l"/>
              </a:tabLst>
            </a:pPr>
            <a:r>
              <a:rPr sz="2800" dirty="0">
                <a:solidFill>
                  <a:srgbClr val="232323"/>
                </a:solidFill>
                <a:latin typeface="Arial"/>
                <a:cs typeface="Arial"/>
              </a:rPr>
              <a:t>And neighbors </a:t>
            </a:r>
            <a:r>
              <a:rPr sz="2800" spc="-5" dirty="0">
                <a:solidFill>
                  <a:srgbClr val="232323"/>
                </a:solidFill>
                <a:latin typeface="Arial"/>
                <a:cs typeface="Arial"/>
              </a:rPr>
              <a:t>update their </a:t>
            </a:r>
            <a:r>
              <a:rPr sz="2800" dirty="0">
                <a:solidFill>
                  <a:srgbClr val="232323"/>
                </a:solidFill>
                <a:latin typeface="Arial"/>
                <a:cs typeface="Arial"/>
              </a:rPr>
              <a:t>own </a:t>
            </a:r>
            <a:r>
              <a:rPr sz="2800" spc="-5" dirty="0">
                <a:solidFill>
                  <a:srgbClr val="232323"/>
                </a:solidFill>
                <a:latin typeface="Arial"/>
                <a:cs typeface="Arial"/>
              </a:rPr>
              <a:t>distance</a:t>
            </a:r>
            <a:r>
              <a:rPr sz="2800" dirty="0">
                <a:solidFill>
                  <a:srgbClr val="232323"/>
                </a:solidFill>
                <a:latin typeface="Arial"/>
                <a:cs typeface="Arial"/>
              </a:rPr>
              <a:t> </a:t>
            </a:r>
            <a:r>
              <a:rPr sz="2800" spc="-5" dirty="0">
                <a:solidFill>
                  <a:srgbClr val="232323"/>
                </a:solidFill>
                <a:latin typeface="Arial"/>
                <a:cs typeface="Arial"/>
              </a:rPr>
              <a:t>vectors</a:t>
            </a:r>
            <a:endParaRPr sz="2800" dirty="0">
              <a:latin typeface="Arial"/>
              <a:cs typeface="Arial"/>
            </a:endParaRPr>
          </a:p>
          <a:p>
            <a:pPr marL="793750" lvl="1" indent="-286385">
              <a:spcBef>
                <a:spcPts val="150"/>
              </a:spcBef>
              <a:buClr>
                <a:srgbClr val="333399"/>
              </a:buClr>
              <a:buSzPct val="50000"/>
              <a:buFont typeface="Lucida Sans Unicode"/>
              <a:buChar char="◆"/>
              <a:tabLst>
                <a:tab pos="793115" algn="l"/>
                <a:tab pos="793750" algn="l"/>
              </a:tabLst>
            </a:pPr>
            <a:r>
              <a:rPr sz="2800" i="1" dirty="0">
                <a:solidFill>
                  <a:srgbClr val="0000FF"/>
                </a:solidFill>
                <a:latin typeface="Arial"/>
                <a:cs typeface="Arial"/>
              </a:rPr>
              <a:t>D</a:t>
            </a:r>
            <a:r>
              <a:rPr sz="2800" i="1" baseline="-21367" dirty="0">
                <a:solidFill>
                  <a:srgbClr val="0000FF"/>
                </a:solidFill>
                <a:latin typeface="Arial"/>
                <a:cs typeface="Arial"/>
              </a:rPr>
              <a:t>x</a:t>
            </a:r>
            <a:r>
              <a:rPr sz="2800" i="1" dirty="0">
                <a:solidFill>
                  <a:srgbClr val="0000FF"/>
                </a:solidFill>
                <a:latin typeface="Arial"/>
                <a:cs typeface="Arial"/>
              </a:rPr>
              <a:t>(y) ← min</a:t>
            </a:r>
            <a:r>
              <a:rPr sz="2800" i="1" baseline="-21367" dirty="0">
                <a:solidFill>
                  <a:srgbClr val="0000FF"/>
                </a:solidFill>
                <a:latin typeface="Arial"/>
                <a:cs typeface="Arial"/>
              </a:rPr>
              <a:t>v</a:t>
            </a:r>
            <a:r>
              <a:rPr sz="2800" i="1" dirty="0">
                <a:solidFill>
                  <a:srgbClr val="0000FF"/>
                </a:solidFill>
                <a:latin typeface="Arial"/>
                <a:cs typeface="Arial"/>
              </a:rPr>
              <a:t>{c(x,v) + D</a:t>
            </a:r>
            <a:r>
              <a:rPr sz="2800" i="1" baseline="-21367" dirty="0">
                <a:solidFill>
                  <a:srgbClr val="0000FF"/>
                </a:solidFill>
                <a:latin typeface="Arial"/>
                <a:cs typeface="Arial"/>
              </a:rPr>
              <a:t>v</a:t>
            </a:r>
            <a:r>
              <a:rPr sz="2800" i="1" dirty="0">
                <a:solidFill>
                  <a:srgbClr val="0000FF"/>
                </a:solidFill>
                <a:latin typeface="Arial"/>
                <a:cs typeface="Arial"/>
              </a:rPr>
              <a:t>(y)} </a:t>
            </a:r>
            <a:r>
              <a:rPr sz="2800" spc="-5" dirty="0">
                <a:solidFill>
                  <a:srgbClr val="232323"/>
                </a:solidFill>
                <a:latin typeface="Arial"/>
                <a:cs typeface="Arial"/>
              </a:rPr>
              <a:t>for </a:t>
            </a:r>
            <a:r>
              <a:rPr sz="2800" dirty="0">
                <a:solidFill>
                  <a:srgbClr val="232323"/>
                </a:solidFill>
                <a:latin typeface="Arial"/>
                <a:cs typeface="Arial"/>
              </a:rPr>
              <a:t>each node </a:t>
            </a:r>
            <a:r>
              <a:rPr sz="2800" i="1" dirty="0">
                <a:solidFill>
                  <a:srgbClr val="232323"/>
                </a:solidFill>
                <a:latin typeface="Arial"/>
                <a:cs typeface="Arial"/>
              </a:rPr>
              <a:t>y </a:t>
            </a:r>
            <a:r>
              <a:rPr sz="2800" i="1" spc="-25" dirty="0">
                <a:solidFill>
                  <a:srgbClr val="2F2F2F"/>
                </a:solidFill>
                <a:latin typeface="MS PGothic"/>
                <a:cs typeface="MS PGothic"/>
              </a:rPr>
              <a:t>∊</a:t>
            </a:r>
            <a:r>
              <a:rPr sz="2800" i="1" spc="-110" dirty="0">
                <a:solidFill>
                  <a:srgbClr val="2F2F2F"/>
                </a:solidFill>
                <a:latin typeface="MS PGothic"/>
                <a:cs typeface="MS PGothic"/>
              </a:rPr>
              <a:t> </a:t>
            </a:r>
            <a:r>
              <a:rPr sz="2800" i="1" dirty="0">
                <a:solidFill>
                  <a:srgbClr val="232323"/>
                </a:solidFill>
                <a:latin typeface="Arial"/>
                <a:cs typeface="Arial"/>
              </a:rPr>
              <a:t>N</a:t>
            </a:r>
            <a:endParaRPr sz="2800" dirty="0">
              <a:latin typeface="Arial"/>
              <a:cs typeface="Arial"/>
            </a:endParaRPr>
          </a:p>
        </p:txBody>
      </p:sp>
      <p:sp>
        <p:nvSpPr>
          <p:cNvPr id="4" name="object 4"/>
          <p:cNvSpPr txBox="1">
            <a:spLocks noGrp="1"/>
          </p:cNvSpPr>
          <p:nvPr>
            <p:ph type="title"/>
          </p:nvPr>
        </p:nvSpPr>
        <p:spPr>
          <a:xfrm>
            <a:off x="271879" y="146890"/>
            <a:ext cx="3286760" cy="695960"/>
          </a:xfrm>
          <a:prstGeom prst="rect">
            <a:avLst/>
          </a:prstGeom>
        </p:spPr>
        <p:txBody>
          <a:bodyPr vert="horz" wrap="square" lIns="0" tIns="12700" rIns="0" bIns="0" rtlCol="0" anchor="ctr">
            <a:spAutoFit/>
          </a:bodyPr>
          <a:lstStyle/>
          <a:p>
            <a:pPr marL="12700">
              <a:lnSpc>
                <a:spcPct val="100000"/>
              </a:lnSpc>
              <a:spcBef>
                <a:spcPts val="100"/>
              </a:spcBef>
            </a:pPr>
            <a:r>
              <a:rPr b="1" spc="-5" dirty="0">
                <a:solidFill>
                  <a:srgbClr val="FF0000"/>
                </a:solidFill>
              </a:rPr>
              <a:t>Step-by-Step</a:t>
            </a:r>
          </a:p>
        </p:txBody>
      </p:sp>
      <p:sp>
        <p:nvSpPr>
          <p:cNvPr id="6" name="object 6"/>
          <p:cNvSpPr txBox="1">
            <a:spLocks noGrp="1"/>
          </p:cNvSpPr>
          <p:nvPr>
            <p:ph type="sldNum" sz="quarter" idx="12"/>
          </p:nvPr>
        </p:nvSpPr>
        <p:spPr>
          <a:xfrm>
            <a:off x="10134600" y="6429908"/>
            <a:ext cx="2743200" cy="218008"/>
          </a:xfrm>
          <a:prstGeom prst="rect">
            <a:avLst/>
          </a:prstGeom>
        </p:spPr>
        <p:txBody>
          <a:bodyPr vert="horz" wrap="square" lIns="0" tIns="0" rIns="0" bIns="0" rtlCol="0" anchor="ctr">
            <a:spAutoFit/>
          </a:bodyPr>
          <a:lstStyle/>
          <a:p>
            <a:pPr marL="25400">
              <a:lnSpc>
                <a:spcPts val="1650"/>
              </a:lnSpc>
            </a:pPr>
            <a:fld id="{81D60167-4931-47E6-BA6A-407CBD079E47}" type="slidenum">
              <a:rPr dirty="0"/>
              <a:pPr marL="25400">
                <a:lnSpc>
                  <a:spcPts val="1650"/>
                </a:lnSpc>
              </a:pPr>
              <a:t>12</a:t>
            </a:fld>
            <a:endParaRPr dirty="0"/>
          </a:p>
        </p:txBody>
      </p:sp>
    </p:spTree>
    <p:extLst>
      <p:ext uri="{BB962C8B-B14F-4D97-AF65-F5344CB8AC3E}">
        <p14:creationId xmlns:p14="http://schemas.microsoft.com/office/powerpoint/2010/main" val="36642009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FA6DC533-2058-4D59-8B61-2727B28DF9E7}" type="slidenum">
              <a:rPr lang="en-US" altLang="en-US" sz="2000" baseline="0">
                <a:solidFill>
                  <a:schemeClr val="bg2"/>
                </a:solidFill>
              </a:rPr>
              <a:pPr/>
              <a:t>13</a:t>
            </a:fld>
            <a:endParaRPr lang="en-US" altLang="en-US" sz="2000" baseline="0">
              <a:solidFill>
                <a:schemeClr val="bg2"/>
              </a:solidFill>
            </a:endParaRPr>
          </a:p>
        </p:txBody>
      </p:sp>
      <p:sp>
        <p:nvSpPr>
          <p:cNvPr id="86019" name="Text Box 2"/>
          <p:cNvSpPr txBox="1">
            <a:spLocks noChangeArrowheads="1"/>
          </p:cNvSpPr>
          <p:nvPr/>
        </p:nvSpPr>
        <p:spPr bwMode="auto">
          <a:xfrm>
            <a:off x="495292" y="173609"/>
            <a:ext cx="34290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Routing </a:t>
            </a:r>
            <a:r>
              <a:rPr lang="en-US" altLang="en-US" sz="2400" baseline="0" dirty="0">
                <a:solidFill>
                  <a:srgbClr val="FF0000"/>
                </a:solidFill>
                <a:latin typeface="Times New Roman" panose="02020603050405020304" pitchFamily="18" charset="0"/>
              </a:rPr>
              <a:t>table for node A</a:t>
            </a:r>
          </a:p>
        </p:txBody>
      </p:sp>
      <p:pic>
        <p:nvPicPr>
          <p:cNvPr id="860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13" y="1038674"/>
            <a:ext cx="4054122" cy="3208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8791" y="773978"/>
            <a:ext cx="7044188" cy="488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54001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2D0B9B9F-3C4C-4700-A34C-30EEEB3A2619}" type="slidenum">
              <a:rPr lang="en-US" altLang="en-US" sz="2000" baseline="0">
                <a:solidFill>
                  <a:schemeClr val="bg2"/>
                </a:solidFill>
              </a:rPr>
              <a:pPr/>
              <a:t>14</a:t>
            </a:fld>
            <a:endParaRPr lang="en-US" altLang="en-US" sz="2000" baseline="0">
              <a:solidFill>
                <a:schemeClr val="bg2"/>
              </a:solidFill>
            </a:endParaRPr>
          </a:p>
        </p:txBody>
      </p:sp>
      <p:sp>
        <p:nvSpPr>
          <p:cNvPr id="65541" name="Text Box 4"/>
          <p:cNvSpPr txBox="1">
            <a:spLocks noChangeArrowheads="1"/>
          </p:cNvSpPr>
          <p:nvPr/>
        </p:nvSpPr>
        <p:spPr bwMode="auto">
          <a:xfrm>
            <a:off x="167426" y="328195"/>
            <a:ext cx="64797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Initialization </a:t>
            </a:r>
            <a:r>
              <a:rPr lang="en-US" altLang="en-US" sz="2400" baseline="0" dirty="0">
                <a:solidFill>
                  <a:srgbClr val="FF0000"/>
                </a:solidFill>
                <a:latin typeface="Times New Roman" panose="02020603050405020304" pitchFamily="18" charset="0"/>
              </a:rPr>
              <a:t>of tables in distance vector routing</a:t>
            </a:r>
          </a:p>
        </p:txBody>
      </p:sp>
      <p:pic>
        <p:nvPicPr>
          <p:cNvPr id="6554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972" y="1038673"/>
            <a:ext cx="11320529" cy="5317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54959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3C301B19-1E6B-4E65-B33B-2EC254D856B9}" type="slidenum">
              <a:rPr lang="en-US" altLang="en-US" sz="2000" baseline="0">
                <a:solidFill>
                  <a:schemeClr val="bg2"/>
                </a:solidFill>
              </a:rPr>
              <a:pPr/>
              <a:t>15</a:t>
            </a:fld>
            <a:endParaRPr lang="en-US" altLang="en-US" sz="2000" baseline="0">
              <a:solidFill>
                <a:schemeClr val="bg2"/>
              </a:solidFill>
            </a:endParaRPr>
          </a:p>
        </p:txBody>
      </p:sp>
      <p:sp>
        <p:nvSpPr>
          <p:cNvPr id="63493" name="Text Box 4"/>
          <p:cNvSpPr txBox="1">
            <a:spLocks noChangeArrowheads="1"/>
          </p:cNvSpPr>
          <p:nvPr/>
        </p:nvSpPr>
        <p:spPr bwMode="auto">
          <a:xfrm>
            <a:off x="542516" y="381000"/>
            <a:ext cx="40960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Distance </a:t>
            </a:r>
            <a:r>
              <a:rPr lang="en-US" altLang="en-US" sz="2400" baseline="0" dirty="0">
                <a:solidFill>
                  <a:srgbClr val="FF0000"/>
                </a:solidFill>
                <a:latin typeface="Times New Roman" panose="02020603050405020304" pitchFamily="18" charset="0"/>
              </a:rPr>
              <a:t>vector routing tables</a:t>
            </a:r>
          </a:p>
        </p:txBody>
      </p:sp>
      <p:pic>
        <p:nvPicPr>
          <p:cNvPr id="6349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516" y="1004552"/>
            <a:ext cx="11280290" cy="541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54565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AF4C8D6B-74D0-4335-A037-4DE4783AF33C}" type="slidenum">
              <a:rPr lang="en-US" altLang="en-US" sz="2000" baseline="0">
                <a:solidFill>
                  <a:schemeClr val="bg2"/>
                </a:solidFill>
              </a:rPr>
              <a:pPr/>
              <a:t>16</a:t>
            </a:fld>
            <a:endParaRPr lang="en-US" altLang="en-US" sz="2000" baseline="0">
              <a:solidFill>
                <a:schemeClr val="bg2"/>
              </a:solidFill>
            </a:endParaRPr>
          </a:p>
        </p:txBody>
      </p:sp>
      <p:sp>
        <p:nvSpPr>
          <p:cNvPr id="69637" name="Text Box 4"/>
          <p:cNvSpPr txBox="1">
            <a:spLocks noChangeArrowheads="1"/>
          </p:cNvSpPr>
          <p:nvPr/>
        </p:nvSpPr>
        <p:spPr bwMode="auto">
          <a:xfrm>
            <a:off x="551563" y="277969"/>
            <a:ext cx="4841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Updating </a:t>
            </a:r>
            <a:r>
              <a:rPr lang="en-US" altLang="en-US" sz="2400" baseline="0" dirty="0">
                <a:solidFill>
                  <a:srgbClr val="FF0000"/>
                </a:solidFill>
                <a:latin typeface="Times New Roman" panose="02020603050405020304" pitchFamily="18" charset="0"/>
              </a:rPr>
              <a:t>in distance vector routing</a:t>
            </a:r>
          </a:p>
        </p:txBody>
      </p:sp>
      <p:pic>
        <p:nvPicPr>
          <p:cNvPr id="6963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5" y="1001535"/>
            <a:ext cx="10840791" cy="5200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36089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1065" y="669482"/>
            <a:ext cx="10883992" cy="5769955"/>
          </a:xfrm>
          <a:prstGeom prst="rect">
            <a:avLst/>
          </a:prstGeom>
        </p:spPr>
      </p:pic>
    </p:spTree>
    <p:extLst>
      <p:ext uri="{BB962C8B-B14F-4D97-AF65-F5344CB8AC3E}">
        <p14:creationId xmlns:p14="http://schemas.microsoft.com/office/powerpoint/2010/main" val="41545572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EAE1926B-DC65-4D3B-8823-2E02AF5DFB02}" type="slidenum">
              <a:rPr lang="en-US" altLang="en-US" sz="2000" baseline="0">
                <a:solidFill>
                  <a:schemeClr val="bg2"/>
                </a:solidFill>
              </a:rPr>
              <a:pPr/>
              <a:t>18</a:t>
            </a:fld>
            <a:endParaRPr lang="en-US" altLang="en-US" sz="2000" baseline="0">
              <a:solidFill>
                <a:schemeClr val="bg2"/>
              </a:solidFill>
            </a:endParaRPr>
          </a:p>
        </p:txBody>
      </p:sp>
      <p:sp>
        <p:nvSpPr>
          <p:cNvPr id="71685" name="Text Box 4"/>
          <p:cNvSpPr txBox="1">
            <a:spLocks noChangeArrowheads="1"/>
          </p:cNvSpPr>
          <p:nvPr/>
        </p:nvSpPr>
        <p:spPr bwMode="auto">
          <a:xfrm>
            <a:off x="399246" y="334965"/>
            <a:ext cx="28725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Two-node </a:t>
            </a:r>
            <a:r>
              <a:rPr lang="en-US" altLang="en-US" sz="2400" baseline="0" dirty="0">
                <a:solidFill>
                  <a:srgbClr val="FF0000"/>
                </a:solidFill>
                <a:latin typeface="Times New Roman" panose="02020603050405020304" pitchFamily="18" charset="0"/>
              </a:rPr>
              <a:t>instability</a:t>
            </a:r>
          </a:p>
        </p:txBody>
      </p:sp>
      <p:pic>
        <p:nvPicPr>
          <p:cNvPr id="716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090" y="1011954"/>
            <a:ext cx="11272426" cy="5066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82194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0EC177AE-457F-43C1-94A7-A95C3E45BEDD}" type="slidenum">
              <a:rPr lang="en-US" altLang="en-US" sz="2000" baseline="0">
                <a:solidFill>
                  <a:schemeClr val="bg2"/>
                </a:solidFill>
              </a:rPr>
              <a:pPr/>
              <a:t>19</a:t>
            </a:fld>
            <a:endParaRPr lang="en-US" altLang="en-US" sz="2000" baseline="0">
              <a:solidFill>
                <a:schemeClr val="bg2"/>
              </a:solidFill>
            </a:endParaRPr>
          </a:p>
        </p:txBody>
      </p:sp>
      <p:sp>
        <p:nvSpPr>
          <p:cNvPr id="73733" name="Text Box 4"/>
          <p:cNvSpPr txBox="1">
            <a:spLocks noChangeArrowheads="1"/>
          </p:cNvSpPr>
          <p:nvPr/>
        </p:nvSpPr>
        <p:spPr bwMode="auto">
          <a:xfrm>
            <a:off x="498090" y="336461"/>
            <a:ext cx="30933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smtClean="0">
                <a:solidFill>
                  <a:srgbClr val="FF0000"/>
                </a:solidFill>
                <a:latin typeface="Times New Roman" panose="02020603050405020304" pitchFamily="18" charset="0"/>
              </a:rPr>
              <a:t>Three-node </a:t>
            </a:r>
            <a:r>
              <a:rPr lang="en-US" altLang="en-US" sz="2400" baseline="0" dirty="0">
                <a:solidFill>
                  <a:srgbClr val="FF0000"/>
                </a:solidFill>
                <a:latin typeface="Times New Roman" panose="02020603050405020304" pitchFamily="18" charset="0"/>
              </a:rPr>
              <a:t>instability</a:t>
            </a:r>
          </a:p>
        </p:txBody>
      </p:sp>
      <p:pic>
        <p:nvPicPr>
          <p:cNvPr id="7373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67" y="1075386"/>
            <a:ext cx="11391078" cy="5003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6832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007" y="96252"/>
            <a:ext cx="11837509" cy="2246769"/>
          </a:xfrm>
          <a:prstGeom prst="rect">
            <a:avLst/>
          </a:prstGeom>
        </p:spPr>
        <p:txBody>
          <a:bodyPr wrap="square">
            <a:spAutoFit/>
          </a:bodyPr>
          <a:lstStyle/>
          <a:p>
            <a:pPr marL="457200" indent="-457200" algn="just">
              <a:buFont typeface="Arial" panose="020B0604020202020204" pitchFamily="34" charset="0"/>
              <a:buChar char="•"/>
            </a:pPr>
            <a:r>
              <a:rPr lang="en-US" sz="2800" dirty="0" smtClean="0"/>
              <a:t>The </a:t>
            </a:r>
            <a:r>
              <a:rPr lang="en-US" sz="2800" dirty="0"/>
              <a:t>main issue with </a:t>
            </a:r>
            <a:r>
              <a:rPr lang="en-US" sz="2800" b="1" dirty="0"/>
              <a:t>D</a:t>
            </a:r>
            <a:r>
              <a:rPr lang="en-US" sz="2800" dirty="0"/>
              <a:t>istance Vector </a:t>
            </a:r>
            <a:r>
              <a:rPr lang="en-US" sz="2800" b="1" dirty="0"/>
              <a:t>R</a:t>
            </a:r>
            <a:r>
              <a:rPr lang="en-US" sz="2800" dirty="0"/>
              <a:t>outing (DVR) protocols is </a:t>
            </a:r>
            <a:r>
              <a:rPr lang="en-US" sz="2800" b="1" dirty="0">
                <a:solidFill>
                  <a:srgbClr val="FF0000"/>
                </a:solidFill>
              </a:rPr>
              <a:t>Routing Loops </a:t>
            </a:r>
            <a:r>
              <a:rPr lang="en-US" sz="2800" dirty="0"/>
              <a:t>since </a:t>
            </a:r>
            <a:r>
              <a:rPr lang="en-US" sz="2800" b="1" dirty="0">
                <a:hlinkClick r:id="rId2"/>
              </a:rPr>
              <a:t>Bellman-Ford Algorithm</a:t>
            </a:r>
            <a:r>
              <a:rPr lang="en-US" sz="2800" b="1" dirty="0"/>
              <a:t> </a:t>
            </a:r>
            <a:r>
              <a:rPr lang="en-US" sz="2800" dirty="0"/>
              <a:t>cannot prevent loops. </a:t>
            </a:r>
            <a:endParaRPr lang="en-US" sz="2800" dirty="0" smtClean="0"/>
          </a:p>
          <a:p>
            <a:pPr marL="457200" indent="-457200" algn="just">
              <a:buFont typeface="Arial" panose="020B0604020202020204" pitchFamily="34" charset="0"/>
              <a:buChar char="•"/>
            </a:pPr>
            <a:r>
              <a:rPr lang="en-US" sz="2800" dirty="0" smtClean="0"/>
              <a:t>This </a:t>
            </a:r>
            <a:r>
              <a:rPr lang="en-US" sz="2800" dirty="0"/>
              <a:t>routing loop in the DVR network causes the </a:t>
            </a:r>
            <a:r>
              <a:rPr lang="en-US" sz="2800" b="1" u="sng" dirty="0">
                <a:solidFill>
                  <a:srgbClr val="FF0000"/>
                </a:solidFill>
              </a:rPr>
              <a:t>Count to Infinity Problem</a:t>
            </a:r>
            <a:r>
              <a:rPr lang="en-US" sz="2800" dirty="0"/>
              <a:t>. </a:t>
            </a:r>
            <a:endParaRPr lang="en-US" sz="2800" dirty="0" smtClean="0"/>
          </a:p>
          <a:p>
            <a:pPr marL="457200" indent="-457200" algn="just">
              <a:buFont typeface="Arial" panose="020B0604020202020204" pitchFamily="34" charset="0"/>
              <a:buChar char="•"/>
            </a:pPr>
            <a:r>
              <a:rPr lang="en-US" sz="2800" dirty="0" smtClean="0"/>
              <a:t>Routing </a:t>
            </a:r>
            <a:r>
              <a:rPr lang="en-US" sz="2800" dirty="0"/>
              <a:t>loops usually occur when an interface goes down or two routers send updates at the same time. </a:t>
            </a:r>
            <a:endParaRPr lang="en-IN"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2389" y="2291758"/>
            <a:ext cx="9312443" cy="1356354"/>
          </a:xfrm>
          <a:prstGeom prst="rect">
            <a:avLst/>
          </a:prstGeom>
        </p:spPr>
      </p:pic>
      <p:sp>
        <p:nvSpPr>
          <p:cNvPr id="5" name="Rectangle 4"/>
          <p:cNvSpPr/>
          <p:nvPr/>
        </p:nvSpPr>
        <p:spPr>
          <a:xfrm>
            <a:off x="170007" y="3350448"/>
            <a:ext cx="11558336" cy="2893100"/>
          </a:xfrm>
          <a:prstGeom prst="rect">
            <a:avLst/>
          </a:prstGeom>
        </p:spPr>
        <p:txBody>
          <a:bodyPr wrap="square">
            <a:spAutoFit/>
          </a:bodyPr>
          <a:lstStyle/>
          <a:p>
            <a:pPr algn="just"/>
            <a:r>
              <a:rPr lang="en-US" sz="2600" dirty="0"/>
              <a:t>If the link between B and C is disconnected, then B will know that it can no longer get to C via that link and will remove it from its table. Before it can send any updates it’s possible that it will receive an update from A which will be advertising that it can get to C at a cost of 2. B can get to A at a cost of 1, so it will update a route to C via A at a cost of 3. A will then receive updates from B later and update its cost to 4. They will then go on feeding each other bad information toward infinity which is called as </a:t>
            </a:r>
            <a:r>
              <a:rPr lang="en-US" sz="2600" b="1" dirty="0">
                <a:solidFill>
                  <a:srgbClr val="FF0000"/>
                </a:solidFill>
              </a:rPr>
              <a:t>Count to Infinity problem</a:t>
            </a:r>
            <a:r>
              <a:rPr lang="en-US" sz="2600" dirty="0">
                <a:solidFill>
                  <a:srgbClr val="FF0000"/>
                </a:solidFill>
              </a:rPr>
              <a:t>.</a:t>
            </a:r>
            <a:r>
              <a:rPr lang="en-US" sz="2600" dirty="0"/>
              <a:t>  </a:t>
            </a:r>
            <a:endParaRPr lang="en-IN" sz="2600" dirty="0"/>
          </a:p>
        </p:txBody>
      </p:sp>
    </p:spTree>
    <p:extLst>
      <p:ext uri="{BB962C8B-B14F-4D97-AF65-F5344CB8AC3E}">
        <p14:creationId xmlns:p14="http://schemas.microsoft.com/office/powerpoint/2010/main" val="23905920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515" y="88549"/>
            <a:ext cx="11835063" cy="3416320"/>
          </a:xfrm>
          <a:prstGeom prst="rect">
            <a:avLst/>
          </a:prstGeom>
        </p:spPr>
        <p:txBody>
          <a:bodyPr wrap="square">
            <a:spAutoFit/>
          </a:bodyPr>
          <a:lstStyle/>
          <a:p>
            <a:r>
              <a:rPr lang="en-US" sz="2400" b="1" dirty="0">
                <a:solidFill>
                  <a:srgbClr val="FF0000"/>
                </a:solidFill>
              </a:rPr>
              <a:t>Solution for Count to Infinity problem:-</a:t>
            </a:r>
          </a:p>
          <a:p>
            <a:r>
              <a:rPr lang="en-US" sz="2400" b="1" dirty="0">
                <a:solidFill>
                  <a:srgbClr val="FF0000"/>
                </a:solidFill>
              </a:rPr>
              <a:t>Route Poisoning: </a:t>
            </a:r>
            <a:r>
              <a:rPr lang="en-US" sz="2400" dirty="0"/>
              <a:t/>
            </a:r>
            <a:br>
              <a:rPr lang="en-US" sz="2400" dirty="0"/>
            </a:br>
            <a:r>
              <a:rPr lang="en-US" sz="2400" dirty="0"/>
              <a:t>When a route fails, distance vector protocols spread the </a:t>
            </a:r>
            <a:r>
              <a:rPr lang="en-US" sz="2400" i="1" dirty="0"/>
              <a:t>bad news</a:t>
            </a:r>
            <a:r>
              <a:rPr lang="en-US" sz="2400" dirty="0"/>
              <a:t> about a route failure by poisoning the route. Route poisoning refers to the practice of advertising a route, but with a special metric value called Infinity. Routers consider routes advertised with an infinite metric to have failed. Each distance vector routing protocol uses the concept of an actual metric value that represents infinity. RIP defines infinity as 16. The main disadvantage of poison reverse is that it can significantly increase the size of routing announcements in certain fairly common network topologies.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579" y="3039310"/>
            <a:ext cx="7724273" cy="1485900"/>
          </a:xfrm>
          <a:prstGeom prst="rect">
            <a:avLst/>
          </a:prstGeom>
        </p:spPr>
      </p:pic>
      <p:sp>
        <p:nvSpPr>
          <p:cNvPr id="4" name="Rectangle 3"/>
          <p:cNvSpPr/>
          <p:nvPr/>
        </p:nvSpPr>
        <p:spPr>
          <a:xfrm>
            <a:off x="196515" y="3738808"/>
            <a:ext cx="11702717" cy="2308324"/>
          </a:xfrm>
          <a:prstGeom prst="rect">
            <a:avLst/>
          </a:prstGeom>
        </p:spPr>
        <p:txBody>
          <a:bodyPr wrap="square">
            <a:spAutoFit/>
          </a:bodyPr>
          <a:lstStyle/>
          <a:p>
            <a:r>
              <a:rPr lang="en-US" sz="2400" b="1" dirty="0">
                <a:solidFill>
                  <a:srgbClr val="FF0000"/>
                </a:solidFill>
              </a:rPr>
              <a:t>Split horizon: </a:t>
            </a:r>
            <a:br>
              <a:rPr lang="en-US" sz="2400" b="1" dirty="0">
                <a:solidFill>
                  <a:srgbClr val="FF0000"/>
                </a:solidFill>
              </a:rPr>
            </a:br>
            <a:r>
              <a:rPr lang="en-US" sz="2400" dirty="0"/>
              <a:t>If the link between B and C goes down, and B had received a route from A, B could end up using that route via A. A would send the packet right back to B, creating a loop. But according to the Split horizon Rule, Node A does not advertise its route for C (namely A to B to C) back to B. On the surface, this seems redundant since B will never route via node A because the route costs more than the direct route from B to C.</a:t>
            </a:r>
            <a:endParaRPr lang="en-IN" sz="24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851" y="5569584"/>
            <a:ext cx="3879150" cy="1288416"/>
          </a:xfrm>
          <a:prstGeom prst="rect">
            <a:avLst/>
          </a:prstGeom>
        </p:spPr>
      </p:pic>
    </p:spTree>
    <p:extLst>
      <p:ext uri="{BB962C8B-B14F-4D97-AF65-F5344CB8AC3E}">
        <p14:creationId xmlns:p14="http://schemas.microsoft.com/office/powerpoint/2010/main" val="26141201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462" y="439341"/>
            <a:ext cx="11438021" cy="3785652"/>
          </a:xfrm>
          <a:prstGeom prst="rect">
            <a:avLst/>
          </a:prstGeom>
        </p:spPr>
        <p:txBody>
          <a:bodyPr wrap="square">
            <a:spAutoFit/>
          </a:bodyPr>
          <a:lstStyle/>
          <a:p>
            <a:pPr algn="just">
              <a:buFont typeface="Arial" panose="020B0604020202020204" pitchFamily="34" charset="0"/>
              <a:buChar char="•"/>
            </a:pPr>
            <a:r>
              <a:rPr lang="en-US" sz="2400" dirty="0"/>
              <a:t>In addition to these, we can also use split horizon with route poisoning were above both techniques will be used combined to achieve efficiency and less increase the size of routing announcements</a:t>
            </a:r>
            <a:r>
              <a:rPr lang="en-US" sz="2400" dirty="0" smtClean="0"/>
              <a:t>.</a:t>
            </a:r>
          </a:p>
          <a:p>
            <a:pPr algn="just">
              <a:buFont typeface="Arial" panose="020B0604020202020204" pitchFamily="34" charset="0"/>
              <a:buChar char="•"/>
            </a:pPr>
            <a:endParaRPr lang="en-US" sz="2400" dirty="0"/>
          </a:p>
          <a:p>
            <a:pPr algn="just">
              <a:buFont typeface="Arial" panose="020B0604020202020204" pitchFamily="34" charset="0"/>
              <a:buChar char="•"/>
            </a:pPr>
            <a:r>
              <a:rPr lang="en-US" sz="2400" dirty="0"/>
              <a:t>Split horizon with Poison reverse technique is used by Routing Information Protocol (RIP) to reduce routing loops. Additionally, </a:t>
            </a:r>
            <a:r>
              <a:rPr lang="en-US" sz="2400" b="1" dirty="0" err="1"/>
              <a:t>Holddown</a:t>
            </a:r>
            <a:r>
              <a:rPr lang="en-US" sz="2400" b="1" dirty="0"/>
              <a:t> timers</a:t>
            </a:r>
            <a:r>
              <a:rPr lang="en-US" sz="2400" dirty="0"/>
              <a:t> can be used to avoid the formation of loops. The hold-down timer immediately starts when the router is informed that the attached link is down. Till this time, the router ignores all updates of the down route unless it receives an update from the router of that downed link. During the timer, If the downlink is reachable again, the routing table can be updated.</a:t>
            </a:r>
          </a:p>
        </p:txBody>
      </p:sp>
    </p:spTree>
    <p:extLst>
      <p:ext uri="{BB962C8B-B14F-4D97-AF65-F5344CB8AC3E}">
        <p14:creationId xmlns:p14="http://schemas.microsoft.com/office/powerpoint/2010/main" val="20731945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p:cNvSpPr>
            <a:spLocks noGrp="1"/>
          </p:cNvSpPr>
          <p:nvPr>
            <p:ph type="sldNum" sz="quarter" idx="10"/>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22.</a:t>
            </a:r>
            <a:fld id="{07B64AD5-0C46-4E1D-92DE-19EBBE578260}" type="slidenum">
              <a:rPr lang="en-US" altLang="en-US" sz="2000" baseline="0">
                <a:solidFill>
                  <a:schemeClr val="bg2"/>
                </a:solidFill>
              </a:rPr>
              <a:pPr/>
              <a:t>23</a:t>
            </a:fld>
            <a:endParaRPr lang="en-US" altLang="en-US" sz="2000" baseline="0">
              <a:solidFill>
                <a:schemeClr val="bg2"/>
              </a:solidFill>
            </a:endParaRPr>
          </a:p>
        </p:txBody>
      </p:sp>
      <p:sp>
        <p:nvSpPr>
          <p:cNvPr id="75781" name="Text Box 4"/>
          <p:cNvSpPr txBox="1">
            <a:spLocks noChangeArrowheads="1"/>
          </p:cNvSpPr>
          <p:nvPr/>
        </p:nvSpPr>
        <p:spPr bwMode="auto">
          <a:xfrm>
            <a:off x="244699" y="304771"/>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dirty="0" smtClean="0">
                <a:latin typeface="Times New Roman" panose="02020603050405020304" pitchFamily="18" charset="0"/>
              </a:rPr>
              <a:t>Example </a:t>
            </a:r>
            <a:r>
              <a:rPr lang="en-US" altLang="en-US" sz="2000" i="1" baseline="0" dirty="0">
                <a:latin typeface="Times New Roman" panose="02020603050405020304" pitchFamily="18" charset="0"/>
              </a:rPr>
              <a:t>of a domain using RIP</a:t>
            </a:r>
          </a:p>
        </p:txBody>
      </p:sp>
      <p:pic>
        <p:nvPicPr>
          <p:cNvPr id="7578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71" y="996235"/>
            <a:ext cx="11476150" cy="557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38274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1065" y="669482"/>
            <a:ext cx="10883992" cy="5769955"/>
          </a:xfrm>
          <a:prstGeom prst="rect">
            <a:avLst/>
          </a:prstGeom>
        </p:spPr>
      </p:pic>
    </p:spTree>
    <p:extLst>
      <p:ext uri="{BB962C8B-B14F-4D97-AF65-F5344CB8AC3E}">
        <p14:creationId xmlns:p14="http://schemas.microsoft.com/office/powerpoint/2010/main" val="2910778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031" y="572959"/>
            <a:ext cx="11977352" cy="2827064"/>
          </a:xfrm>
          <a:prstGeom prst="rect">
            <a:avLst/>
          </a:prstGeom>
        </p:spPr>
      </p:pic>
    </p:spTree>
    <p:extLst>
      <p:ext uri="{BB962C8B-B14F-4D97-AF65-F5344CB8AC3E}">
        <p14:creationId xmlns:p14="http://schemas.microsoft.com/office/powerpoint/2010/main" val="854030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7887" y="68228"/>
            <a:ext cx="11531887" cy="4878279"/>
          </a:xfrm>
          <a:prstGeom prst="rect">
            <a:avLst/>
          </a:prstGeom>
        </p:spPr>
      </p:pic>
      <p:pic>
        <p:nvPicPr>
          <p:cNvPr id="3" name="Picture 2"/>
          <p:cNvPicPr>
            <a:picLocks noChangeAspect="1"/>
          </p:cNvPicPr>
          <p:nvPr/>
        </p:nvPicPr>
        <p:blipFill>
          <a:blip r:embed="rId3"/>
          <a:stretch>
            <a:fillRect/>
          </a:stretch>
        </p:blipFill>
        <p:spPr>
          <a:xfrm>
            <a:off x="187887" y="4907870"/>
            <a:ext cx="12004113" cy="1840660"/>
          </a:xfrm>
          <a:prstGeom prst="rect">
            <a:avLst/>
          </a:prstGeom>
        </p:spPr>
      </p:pic>
    </p:spTree>
    <p:extLst>
      <p:ext uri="{BB962C8B-B14F-4D97-AF65-F5344CB8AC3E}">
        <p14:creationId xmlns:p14="http://schemas.microsoft.com/office/powerpoint/2010/main" val="3611990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4978" y="709142"/>
            <a:ext cx="9067800" cy="4229100"/>
          </a:xfrm>
          <a:prstGeom prst="rect">
            <a:avLst/>
          </a:prstGeom>
        </p:spPr>
      </p:pic>
    </p:spTree>
    <p:extLst>
      <p:ext uri="{BB962C8B-B14F-4D97-AF65-F5344CB8AC3E}">
        <p14:creationId xmlns:p14="http://schemas.microsoft.com/office/powerpoint/2010/main" val="3318141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55878" y="641998"/>
            <a:ext cx="1522927" cy="2646086"/>
          </a:xfrm>
          <a:prstGeom prst="rect">
            <a:avLst/>
          </a:prstGeom>
        </p:spPr>
      </p:pic>
      <p:pic>
        <p:nvPicPr>
          <p:cNvPr id="3" name="Picture 2"/>
          <p:cNvPicPr>
            <a:picLocks noChangeAspect="1"/>
          </p:cNvPicPr>
          <p:nvPr/>
        </p:nvPicPr>
        <p:blipFill>
          <a:blip r:embed="rId3"/>
          <a:stretch>
            <a:fillRect/>
          </a:stretch>
        </p:blipFill>
        <p:spPr>
          <a:xfrm>
            <a:off x="4003585" y="641998"/>
            <a:ext cx="2062364" cy="2461810"/>
          </a:xfrm>
          <a:prstGeom prst="rect">
            <a:avLst/>
          </a:prstGeom>
        </p:spPr>
      </p:pic>
      <p:pic>
        <p:nvPicPr>
          <p:cNvPr id="4" name="Picture 3"/>
          <p:cNvPicPr>
            <a:picLocks noChangeAspect="1"/>
          </p:cNvPicPr>
          <p:nvPr/>
        </p:nvPicPr>
        <p:blipFill>
          <a:blip r:embed="rId4"/>
          <a:stretch>
            <a:fillRect/>
          </a:stretch>
        </p:blipFill>
        <p:spPr>
          <a:xfrm>
            <a:off x="7684259" y="888977"/>
            <a:ext cx="1949051" cy="2214831"/>
          </a:xfrm>
          <a:prstGeom prst="rect">
            <a:avLst/>
          </a:prstGeom>
        </p:spPr>
      </p:pic>
      <p:pic>
        <p:nvPicPr>
          <p:cNvPr id="5" name="Picture 4"/>
          <p:cNvPicPr>
            <a:picLocks noChangeAspect="1"/>
          </p:cNvPicPr>
          <p:nvPr/>
        </p:nvPicPr>
        <p:blipFill>
          <a:blip r:embed="rId5"/>
          <a:stretch>
            <a:fillRect/>
          </a:stretch>
        </p:blipFill>
        <p:spPr>
          <a:xfrm>
            <a:off x="1155877" y="3694291"/>
            <a:ext cx="2656629" cy="2461810"/>
          </a:xfrm>
          <a:prstGeom prst="rect">
            <a:avLst/>
          </a:prstGeom>
        </p:spPr>
      </p:pic>
      <p:pic>
        <p:nvPicPr>
          <p:cNvPr id="6" name="Picture 5"/>
          <p:cNvPicPr>
            <a:picLocks noChangeAspect="1"/>
          </p:cNvPicPr>
          <p:nvPr/>
        </p:nvPicPr>
        <p:blipFill>
          <a:blip r:embed="rId6"/>
          <a:stretch>
            <a:fillRect/>
          </a:stretch>
        </p:blipFill>
        <p:spPr>
          <a:xfrm>
            <a:off x="5952453" y="3637393"/>
            <a:ext cx="4711253" cy="2518708"/>
          </a:xfrm>
          <a:prstGeom prst="rect">
            <a:avLst/>
          </a:prstGeom>
        </p:spPr>
      </p:pic>
    </p:spTree>
    <p:extLst>
      <p:ext uri="{BB962C8B-B14F-4D97-AF65-F5344CB8AC3E}">
        <p14:creationId xmlns:p14="http://schemas.microsoft.com/office/powerpoint/2010/main" val="1570930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1065</TotalTime>
  <Words>973</Words>
  <Application>Microsoft Office PowerPoint</Application>
  <PresentationFormat>Widescreen</PresentationFormat>
  <Paragraphs>168</Paragraphs>
  <Slides>28</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MS Mincho</vt:lpstr>
      <vt:lpstr>MS PGothic</vt:lpstr>
      <vt:lpstr>Arial</vt:lpstr>
      <vt:lpstr>Calibri</vt:lpstr>
      <vt:lpstr>Calibri Light</vt:lpstr>
      <vt:lpstr>Comic Sans MS</vt:lpstr>
      <vt:lpstr>Lucida Sans Unicode</vt:lpstr>
      <vt:lpstr>Times</vt:lpstr>
      <vt:lpstr>Times New Roman</vt:lpstr>
      <vt:lpstr>ZapfDingbats</vt:lpstr>
      <vt:lpstr>Office Theme</vt:lpstr>
      <vt:lpstr>Routing Protocols</vt:lpstr>
      <vt:lpstr>PowerPoint Presentation</vt:lpstr>
      <vt:lpstr>PowerPoint Presentation</vt:lpstr>
      <vt:lpstr>PowerPoint Presentation</vt:lpstr>
      <vt:lpstr>Distance Vector Algorithm</vt:lpstr>
      <vt:lpstr>Bellman-Ford example</vt:lpstr>
      <vt:lpstr>Distance Vector Algorithm</vt:lpstr>
      <vt:lpstr>Distance vector algorithm</vt:lpstr>
      <vt:lpstr>Overview</vt:lpstr>
      <vt:lpstr>Bellman-Ford Algorithm</vt:lpstr>
      <vt:lpstr>Distance Vector Algorithm</vt:lpstr>
      <vt:lpstr>Step-by-Step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protocols</dc:title>
  <dc:creator>ponharish jeyakumar</dc:creator>
  <cp:lastModifiedBy>Admin</cp:lastModifiedBy>
  <cp:revision>46</cp:revision>
  <dcterms:created xsi:type="dcterms:W3CDTF">2020-02-26T06:38:53Z</dcterms:created>
  <dcterms:modified xsi:type="dcterms:W3CDTF">2025-09-22T13:18:35Z</dcterms:modified>
</cp:coreProperties>
</file>